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title and the subtitle, then stop. Say plainly what the lesson is about: not whether people lie online, but why false stories move faster than corrections do. Tell them nobody will be asked whether they personally believe things.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minutes. Connect it to work they have already done, because today only makes sense on top of Topic 1 and Topic 3. Read the goal at the bottom out loud, twice: check a claim in about two minutes, and be able to say what you checked.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distinction the rest of the lesson uses, so do not rush it. Say the two definitions slowly and write both words on the board. Ask for one example of each. If they cannot tell which one they are looking at, that is the correct answer and worth saying.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forms, about a minute each. Spend the extra time on the third one, because it is the one they will meet most often. Show a real headline if you have one, and ask what it makes a reader believe that the article itself does not say.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example is about trust, not about the stock market. The account was one people had reason to believe, so the false post traveled before anyone checked it. Point out the recovery as well: corrections do work, but they arrive later and quieter.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tactics, four minutes. Bots are the one students usually get wrong, so be direct: a bot network is not trying to convince you, it is trying to make a claim look popular. End on emotion, because it is the tactic that carries the other three.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slide in the lesson. Walk the three steps left to right and have a student supply the third one. Nobody at the company decides to spread a lie; the ranking system measures reaction. If a student says that means the company is not responsible, hold that thought for Topic 6 rather than answering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Slow down. Give the design of the study before the result: how many rumors, how many years. Then the result. Then the second step, where the researchers removed the automated accounts and got the same answer. Ask what that tells us before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examples doing two jobs. Veles shows that the motive is often money rather than politics. Pizzagate shows that a false story with no evidence behind it can still move somebody to act. Deliver the second one plainly, without drama.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practical half of the lesson. Do not describe lateral reading, demonstrate it: take one claim, leave the page, open two tabs, and say what you are doing as you do it. Then walk the five questions. The line at the bottom is the standard their written work is graded against.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skip this slide. The strongest students are the most likely to leave this lesson deciding that nothing can be trusted, which is not the goal and is genuinely useful to people who spread disinformation. Define calibration, then give the one habit that does most of the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Fast pass, about thirty seconds each, because the Brief carries the detail. Pause on false voting information, because it changes whether people vote rather than who they support, and on the advertising rules, which is the handoff to Topic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honesty about evidence here. The echo chamber is the explanation they have heard most often and it is the least settled thing in the lesson. Point out that the 2015 study authors worked at Facebook, and ask what a careful reader does with that: read it closely, not throw it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summary, then set the three questions. Say out loud that Start Here and Push Further are both real answers, and that the confidence rating is not graded. On the way out, tell them tomorrow they get asked who should be allowed to run these 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1B1F"/>
        </a:solidFill>
      </p:bgPr>
    </p:bg>
    <p:spTree>
      <p:nvGrpSpPr>
        <p:cNvPr id="1" name=""/>
        <p:cNvGrpSpPr/>
        <p:nvPr/>
      </p:nvGrpSpPr>
      <p:grpSpPr>
        <a:xfrm>
          <a:off x="0" y="0"/>
          <a:ext cx="0" cy="0"/>
          <a:chOff x="0" y="0"/>
          <a:chExt cx="0" cy="0"/>
        </a:xfrm>
      </p:grpSpPr>
      <p:sp>
        <p:nvSpPr>
          <p:cNvPr id="2" name="Shape 0"/>
          <p:cNvSpPr/>
          <p:nvPr/>
        </p:nvSpPr>
        <p:spPr>
          <a:xfrm>
            <a:off x="548640" y="548640"/>
            <a:ext cx="512064" cy="512064"/>
          </a:xfrm>
          <a:prstGeom prst="ellipse">
            <a:avLst/>
          </a:prstGeom>
          <a:solidFill>
            <a:srgbClr val="B22222"/>
          </a:solidFill>
          <a:ln w="12700">
            <a:solidFill>
              <a:srgbClr val="B22222"/>
            </a:solidFill>
            <a:prstDash val="solid"/>
          </a:ln>
        </p:spPr>
      </p:sp>
      <p:sp>
        <p:nvSpPr>
          <p:cNvPr id="3" name="Text 1"/>
          <p:cNvSpPr/>
          <p:nvPr/>
        </p:nvSpPr>
        <p:spPr>
          <a:xfrm>
            <a:off x="548640" y="548640"/>
            <a:ext cx="512064" cy="512064"/>
          </a:xfrm>
          <a:prstGeom prst="rect">
            <a:avLst/>
          </a:prstGeom>
          <a:noFill/>
          <a:ln/>
        </p:spPr>
        <p:txBody>
          <a:bodyPr wrap="square" lIns="0" tIns="0" rIns="0" bIns="0" rtlCol="0" anchor="ctr"/>
          <a:lstStyle/>
          <a:p>
            <a:pPr algn="ctr" indent="0" marL="0">
              <a:buNone/>
            </a:pPr>
            <a:r>
              <a:rPr lang="en-US" sz="1400" b="1" dirty="0">
                <a:solidFill>
                  <a:srgbClr val="FFFEFB"/>
                </a:solidFill>
                <a:latin typeface="Courier New" pitchFamily="34" charset="0"/>
                <a:ea typeface="Courier New" pitchFamily="34" charset="-122"/>
                <a:cs typeface="Courier New" pitchFamily="34" charset="-120"/>
              </a:rPr>
              <a:t>05</a:t>
            </a:r>
            <a:endParaRPr lang="en-US" sz="1400" dirty="0"/>
          </a:p>
        </p:txBody>
      </p:sp>
      <p:sp>
        <p:nvSpPr>
          <p:cNvPr id="4" name="Text 2"/>
          <p:cNvSpPr/>
          <p:nvPr/>
        </p:nvSpPr>
        <p:spPr>
          <a:xfrm>
            <a:off x="1207008" y="685800"/>
            <a:ext cx="8046720" cy="237744"/>
          </a:xfrm>
          <a:prstGeom prst="rect">
            <a:avLst/>
          </a:prstGeom>
          <a:noFill/>
          <a:ln/>
        </p:spPr>
        <p:txBody>
          <a:bodyPr wrap="square" lIns="0" tIns="0" rIns="0" bIns="0" rtlCol="0" anchor="ctr"/>
          <a:lstStyle/>
          <a:p>
            <a:pPr indent="0" marL="0">
              <a:buNone/>
            </a:pPr>
            <a:r>
              <a:rPr lang="en-US" sz="1000" b="1" spc="140" kern="0" dirty="0">
                <a:solidFill>
                  <a:srgbClr val="E8A0A0"/>
                </a:solidFill>
                <a:latin typeface="Courier New" pitchFamily="34" charset="0"/>
                <a:ea typeface="Courier New" pitchFamily="34" charset="-122"/>
                <a:cs typeface="Courier New" pitchFamily="34" charset="-120"/>
              </a:rPr>
              <a:t>SOCIAL MEDIA · TOPIC 5</a:t>
            </a:r>
            <a:endParaRPr lang="en-US" sz="1000" dirty="0"/>
          </a:p>
        </p:txBody>
      </p:sp>
      <p:sp>
        <p:nvSpPr>
          <p:cNvPr id="5" name="Text 3"/>
          <p:cNvSpPr/>
          <p:nvPr/>
        </p:nvSpPr>
        <p:spPr>
          <a:xfrm>
            <a:off x="548640" y="1298448"/>
            <a:ext cx="8046720" cy="868680"/>
          </a:xfrm>
          <a:prstGeom prst="rect">
            <a:avLst/>
          </a:prstGeom>
          <a:noFill/>
          <a:ln/>
        </p:spPr>
        <p:txBody>
          <a:bodyPr wrap="square" lIns="0" tIns="0" rIns="0" bIns="0" rtlCol="0" anchor="t"/>
          <a:lstStyle/>
          <a:p>
            <a:pPr indent="0" marL="0">
              <a:lnSpc>
                <a:spcPct val="92000"/>
              </a:lnSpc>
              <a:buNone/>
            </a:pPr>
            <a:r>
              <a:rPr lang="en-US" sz="4200" b="1" dirty="0">
                <a:solidFill>
                  <a:srgbClr val="FFFEFB"/>
                </a:solidFill>
                <a:latin typeface="Cambria" pitchFamily="34" charset="0"/>
                <a:ea typeface="Cambria" pitchFamily="34" charset="-122"/>
                <a:cs typeface="Cambria" pitchFamily="34" charset="-120"/>
              </a:rPr>
              <a:t>How a Lie Travels</a:t>
            </a:r>
            <a:endParaRPr lang="en-US" sz="4200" dirty="0"/>
          </a:p>
        </p:txBody>
      </p:sp>
      <p:sp>
        <p:nvSpPr>
          <p:cNvPr id="6" name="Text 4"/>
          <p:cNvSpPr/>
          <p:nvPr/>
        </p:nvSpPr>
        <p:spPr>
          <a:xfrm>
            <a:off x="548640" y="2286000"/>
            <a:ext cx="6949440" cy="822960"/>
          </a:xfrm>
          <a:prstGeom prst="rect">
            <a:avLst/>
          </a:prstGeom>
          <a:noFill/>
          <a:ln/>
        </p:spPr>
        <p:txBody>
          <a:bodyPr wrap="square" lIns="0" tIns="0" rIns="0" bIns="0" rtlCol="0" anchor="t"/>
          <a:lstStyle/>
          <a:p>
            <a:pPr algn="l" indent="0" marL="0">
              <a:lnSpc>
                <a:spcPct val="115000"/>
              </a:lnSpc>
              <a:buNone/>
            </a:pPr>
            <a:r>
              <a:rPr lang="en-US" sz="1700" i="1" dirty="0">
                <a:solidFill>
                  <a:srgbClr val="A8B2BA"/>
                </a:solidFill>
                <a:latin typeface="Cambria" pitchFamily="34" charset="0"/>
                <a:ea typeface="Cambria" pitchFamily="34" charset="-122"/>
                <a:cs typeface="Cambria" pitchFamily="34" charset="-120"/>
              </a:rPr>
              <a:t>False stories often spread faster than the corrections that follow them. This reading explains why that happens, and what to do about it.</a:t>
            </a:r>
            <a:endParaRPr lang="en-US" sz="1700" dirty="0"/>
          </a:p>
        </p:txBody>
      </p:sp>
      <p:sp>
        <p:nvSpPr>
          <p:cNvPr id="7" name="Shape 5"/>
          <p:cNvSpPr/>
          <p:nvPr/>
        </p:nvSpPr>
        <p:spPr>
          <a:xfrm>
            <a:off x="548640" y="3108960"/>
            <a:ext cx="1371600" cy="329184"/>
          </a:xfrm>
          <a:prstGeom prst="roundRect">
            <a:avLst>
              <a:gd name="adj" fmla="val 16667"/>
            </a:avLst>
          </a:prstGeom>
          <a:solidFill>
            <a:srgbClr val="2B3238"/>
          </a:solidFill>
          <a:ln w="9525">
            <a:solidFill>
              <a:srgbClr val="2B3238"/>
            </a:solidFill>
            <a:prstDash val="solid"/>
          </a:ln>
        </p:spPr>
      </p:sp>
      <p:sp>
        <p:nvSpPr>
          <p:cNvPr id="8" name="Text 6"/>
          <p:cNvSpPr/>
          <p:nvPr/>
        </p:nvSpPr>
        <p:spPr>
          <a:xfrm>
            <a:off x="548640" y="3108960"/>
            <a:ext cx="1371600" cy="329184"/>
          </a:xfrm>
          <a:prstGeom prst="rect">
            <a:avLst/>
          </a:prstGeom>
          <a:noFill/>
          <a:ln/>
        </p:spPr>
        <p:txBody>
          <a:bodyPr wrap="square" lIns="0" tIns="0" rIns="0" bIns="0" rtlCol="0" anchor="ctr"/>
          <a:lstStyle/>
          <a:p>
            <a:pPr algn="ctr" indent="0" marL="0">
              <a:lnSpc>
                <a:spcPct val="106000"/>
              </a:lnSpc>
              <a:buNone/>
            </a:pPr>
            <a:r>
              <a:rPr lang="en-US" sz="900" b="1" dirty="0">
                <a:solidFill>
                  <a:srgbClr val="E8A0A0"/>
                </a:solidFill>
                <a:latin typeface="Courier New" pitchFamily="34" charset="0"/>
                <a:ea typeface="Courier New" pitchFamily="34" charset="-122"/>
                <a:cs typeface="Courier New" pitchFamily="34" charset="-120"/>
              </a:rPr>
              <a:t>SOURCING</a:t>
            </a:r>
            <a:endParaRPr lang="en-US" sz="900" dirty="0"/>
          </a:p>
        </p:txBody>
      </p:sp>
      <p:sp>
        <p:nvSpPr>
          <p:cNvPr id="9" name="Shape 7"/>
          <p:cNvSpPr/>
          <p:nvPr/>
        </p:nvSpPr>
        <p:spPr>
          <a:xfrm>
            <a:off x="2121408" y="3108960"/>
            <a:ext cx="1920240" cy="329184"/>
          </a:xfrm>
          <a:prstGeom prst="roundRect">
            <a:avLst>
              <a:gd name="adj" fmla="val 16667"/>
            </a:avLst>
          </a:prstGeom>
          <a:solidFill>
            <a:srgbClr val="2B3238"/>
          </a:solidFill>
          <a:ln w="9525">
            <a:solidFill>
              <a:srgbClr val="2B3238"/>
            </a:solidFill>
            <a:prstDash val="solid"/>
          </a:ln>
        </p:spPr>
      </p:sp>
      <p:sp>
        <p:nvSpPr>
          <p:cNvPr id="10" name="Text 8"/>
          <p:cNvSpPr/>
          <p:nvPr/>
        </p:nvSpPr>
        <p:spPr>
          <a:xfrm>
            <a:off x="2121408" y="3108960"/>
            <a:ext cx="1920240" cy="329184"/>
          </a:xfrm>
          <a:prstGeom prst="rect">
            <a:avLst/>
          </a:prstGeom>
          <a:noFill/>
          <a:ln/>
        </p:spPr>
        <p:txBody>
          <a:bodyPr wrap="square" lIns="0" tIns="0" rIns="0" bIns="0" rtlCol="0" anchor="ctr"/>
          <a:lstStyle/>
          <a:p>
            <a:pPr algn="ctr" indent="0" marL="0">
              <a:lnSpc>
                <a:spcPct val="106000"/>
              </a:lnSpc>
              <a:buNone/>
            </a:pPr>
            <a:r>
              <a:rPr lang="en-US" sz="900" b="1" dirty="0">
                <a:solidFill>
                  <a:srgbClr val="E8A0A0"/>
                </a:solidFill>
                <a:latin typeface="Courier New" pitchFamily="34" charset="0"/>
                <a:ea typeface="Courier New" pitchFamily="34" charset="-122"/>
                <a:cs typeface="Courier New" pitchFamily="34" charset="-120"/>
              </a:rPr>
              <a:t>CORROBORATION</a:t>
            </a:r>
            <a:endParaRPr lang="en-US" sz="900" dirty="0"/>
          </a:p>
        </p:txBody>
      </p:sp>
      <p:sp>
        <p:nvSpPr>
          <p:cNvPr id="12" name="Text 9"/>
          <p:cNvSpPr/>
          <p:nvPr/>
        </p:nvSpPr>
        <p:spPr>
          <a:xfrm>
            <a:off x="548640" y="4668012"/>
            <a:ext cx="8046720" cy="256032"/>
          </a:xfrm>
          <a:prstGeom prst="rect">
            <a:avLst/>
          </a:prstGeom>
          <a:noFill/>
          <a:ln/>
        </p:spPr>
        <p:txBody>
          <a:bodyPr wrap="square" lIns="0" tIns="0" rIns="0" bIns="0" rtlCol="0" anchor="ctr"/>
          <a:lstStyle/>
          <a:p>
            <a:pPr indent="0" marL="0">
              <a:buNone/>
            </a:pPr>
            <a:r>
              <a:rPr lang="en-US" sz="800" spc="100" kern="0" dirty="0">
                <a:solidFill>
                  <a:srgbClr val="A8B2BA"/>
                </a:solidFill>
                <a:latin typeface="Courier New" pitchFamily="34" charset="0"/>
                <a:ea typeface="Courier New" pitchFamily="34" charset="-122"/>
                <a:cs typeface="Courier New" pitchFamily="34" charset="-120"/>
              </a:rPr>
              <a:t>BECURRENT  ·  SOCIAL MEDIA  ·  TOPIC 5</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2ED"/>
        </a:solidFill>
      </p:bgPr>
    </p:bg>
    <p:spTree>
      <p:nvGrpSpPr>
        <p:cNvPr id="1" name=""/>
        <p:cNvGrpSpPr/>
        <p:nvPr/>
      </p:nvGrpSpPr>
      <p:grpSpPr>
        <a:xfrm>
          <a:off x="0" y="0"/>
          <a:ext cx="0" cy="0"/>
          <a:chOff x="0" y="0"/>
          <a:chExt cx="0" cy="0"/>
        </a:xfrm>
      </p:grpSpPr>
      <p:sp>
        <p:nvSpPr>
          <p:cNvPr id="2" name="Text 0"/>
          <p:cNvSpPr/>
          <p:nvPr/>
        </p:nvSpPr>
        <p:spPr>
          <a:xfrm>
            <a:off x="548640" y="365760"/>
            <a:ext cx="8046720" cy="237744"/>
          </a:xfrm>
          <a:prstGeom prst="rect">
            <a:avLst/>
          </a:prstGeom>
          <a:noFill/>
          <a:ln/>
        </p:spPr>
        <p:txBody>
          <a:bodyPr wrap="square" lIns="0" tIns="0" rIns="0" bIns="0" rtlCol="0" anchor="ctr"/>
          <a:lstStyle/>
          <a:p>
            <a:pPr indent="0" marL="0">
              <a:buNone/>
            </a:pPr>
            <a:r>
              <a:rPr lang="en-US" sz="1000" b="1" spc="140" kern="0" dirty="0">
                <a:solidFill>
                  <a:srgbClr val="B22222"/>
                </a:solidFill>
                <a:latin typeface="Courier New" pitchFamily="34" charset="0"/>
                <a:ea typeface="Courier New" pitchFamily="34" charset="-122"/>
                <a:cs typeface="Courier New" pitchFamily="34" charset="-120"/>
              </a:rPr>
              <a:t>BEFORE YOU READ</a:t>
            </a:r>
            <a:endParaRPr lang="en-US" sz="1000" dirty="0"/>
          </a:p>
        </p:txBody>
      </p:sp>
      <p:sp>
        <p:nvSpPr>
          <p:cNvPr id="3" name="Text 1"/>
          <p:cNvSpPr/>
          <p:nvPr/>
        </p:nvSpPr>
        <p:spPr>
          <a:xfrm>
            <a:off x="548640" y="713232"/>
            <a:ext cx="8046720" cy="731520"/>
          </a:xfrm>
          <a:prstGeom prst="rect">
            <a:avLst/>
          </a:prstGeom>
          <a:noFill/>
          <a:ln/>
        </p:spPr>
        <p:txBody>
          <a:bodyPr wrap="square" lIns="0" tIns="0" rIns="0" bIns="0" rtlCol="0" anchor="t"/>
          <a:lstStyle/>
          <a:p>
            <a:pPr indent="0" marL="0">
              <a:lnSpc>
                <a:spcPct val="92000"/>
              </a:lnSpc>
              <a:buNone/>
            </a:pPr>
            <a:r>
              <a:rPr lang="en-US" sz="3000" b="1" dirty="0">
                <a:solidFill>
                  <a:srgbClr val="14171A"/>
                </a:solidFill>
                <a:latin typeface="Cambria" pitchFamily="34" charset="0"/>
                <a:ea typeface="Cambria" pitchFamily="34" charset="-122"/>
                <a:cs typeface="Cambria" pitchFamily="34" charset="-120"/>
              </a:rPr>
              <a:t>What today builds on</a:t>
            </a:r>
            <a:endParaRPr lang="en-US" sz="3000" dirty="0"/>
          </a:p>
        </p:txBody>
      </p:sp>
      <p:sp>
        <p:nvSpPr>
          <p:cNvPr id="4" name="Shape 2"/>
          <p:cNvSpPr/>
          <p:nvPr/>
        </p:nvSpPr>
        <p:spPr>
          <a:xfrm>
            <a:off x="548640" y="1737360"/>
            <a:ext cx="402336" cy="402336"/>
          </a:xfrm>
          <a:prstGeom prst="ellipse">
            <a:avLst/>
          </a:prstGeom>
          <a:solidFill>
            <a:srgbClr val="2B3238"/>
          </a:solidFill>
          <a:ln w="12700">
            <a:solidFill>
              <a:srgbClr val="2B3238"/>
            </a:solidFill>
            <a:prstDash val="solid"/>
          </a:ln>
        </p:spPr>
      </p:sp>
      <p:sp>
        <p:nvSpPr>
          <p:cNvPr id="5" name="Text 3"/>
          <p:cNvSpPr/>
          <p:nvPr/>
        </p:nvSpPr>
        <p:spPr>
          <a:xfrm>
            <a:off x="548640" y="1737360"/>
            <a:ext cx="402336" cy="402336"/>
          </a:xfrm>
          <a:prstGeom prst="rect">
            <a:avLst/>
          </a:prstGeom>
          <a:noFill/>
          <a:ln/>
        </p:spPr>
        <p:txBody>
          <a:bodyPr wrap="square" lIns="0" tIns="0" rIns="0" bIns="0" rtlCol="0" anchor="ctr"/>
          <a:lstStyle/>
          <a:p>
            <a:pPr algn="ctr" indent="0" marL="0">
              <a:buNone/>
            </a:pPr>
            <a:r>
              <a:rPr lang="en-US" sz="1100" b="1" dirty="0">
                <a:solidFill>
                  <a:srgbClr val="FFFEFB"/>
                </a:solidFill>
                <a:latin typeface="Courier New" pitchFamily="34" charset="0"/>
                <a:ea typeface="Courier New" pitchFamily="34" charset="-122"/>
                <a:cs typeface="Courier New" pitchFamily="34" charset="-120"/>
              </a:rPr>
              <a:t>1</a:t>
            </a:r>
            <a:endParaRPr lang="en-US" sz="1100" dirty="0"/>
          </a:p>
        </p:txBody>
      </p:sp>
      <p:sp>
        <p:nvSpPr>
          <p:cNvPr id="6" name="Text 4"/>
          <p:cNvSpPr/>
          <p:nvPr/>
        </p:nvSpPr>
        <p:spPr>
          <a:xfrm>
            <a:off x="1097280" y="1719072"/>
            <a:ext cx="3566160" cy="237744"/>
          </a:xfrm>
          <a:prstGeom prst="rect">
            <a:avLst/>
          </a:prstGeom>
          <a:noFill/>
          <a:ln/>
        </p:spPr>
        <p:txBody>
          <a:bodyPr wrap="square" lIns="0" tIns="0" rIns="0" bIns="0" rtlCol="0" anchor="t"/>
          <a:lstStyle/>
          <a:p>
            <a:pPr algn="l" indent="0" marL="0">
              <a:lnSpc>
                <a:spcPct val="106000"/>
              </a:lnSpc>
              <a:buNone/>
            </a:pPr>
            <a:r>
              <a:rPr lang="en-US" sz="1200" b="1" dirty="0">
                <a:solidFill>
                  <a:srgbClr val="14171A"/>
                </a:solidFill>
                <a:latin typeface="Calibri" pitchFamily="34" charset="0"/>
                <a:ea typeface="Calibri" pitchFamily="34" charset="-122"/>
                <a:cs typeface="Calibri" pitchFamily="34" charset="-120"/>
              </a:rPr>
              <a:t>Where the Money Comes From</a:t>
            </a:r>
            <a:endParaRPr lang="en-US" sz="1200" dirty="0"/>
          </a:p>
        </p:txBody>
      </p:sp>
      <p:sp>
        <p:nvSpPr>
          <p:cNvPr id="7" name="Text 5"/>
          <p:cNvSpPr/>
          <p:nvPr/>
        </p:nvSpPr>
        <p:spPr>
          <a:xfrm>
            <a:off x="1097280" y="1956816"/>
            <a:ext cx="3566160" cy="475488"/>
          </a:xfrm>
          <a:prstGeom prst="rect">
            <a:avLst/>
          </a:prstGeom>
          <a:noFill/>
          <a:ln/>
        </p:spPr>
        <p:txBody>
          <a:bodyPr wrap="square" lIns="0" tIns="0" rIns="0" bIns="0" rtlCol="0" anchor="t"/>
          <a:lstStyle/>
          <a:p>
            <a:pPr algn="l" indent="0" marL="0">
              <a:lnSpc>
                <a:spcPct val="106000"/>
              </a:lnSpc>
              <a:buNone/>
            </a:pPr>
            <a:r>
              <a:rPr lang="en-US" sz="1300" dirty="0">
                <a:solidFill>
                  <a:srgbClr val="3C444C"/>
                </a:solidFill>
                <a:latin typeface="Calibri" pitchFamily="34" charset="0"/>
                <a:ea typeface="Calibri" pitchFamily="34" charset="-122"/>
                <a:cs typeface="Calibri" pitchFamily="34" charset="-120"/>
              </a:rPr>
              <a:t>Apps make money when people keep looking at them.</a:t>
            </a:r>
            <a:endParaRPr lang="en-US" sz="1300" dirty="0"/>
          </a:p>
        </p:txBody>
      </p:sp>
      <p:sp>
        <p:nvSpPr>
          <p:cNvPr id="8" name="Shape 6"/>
          <p:cNvSpPr/>
          <p:nvPr/>
        </p:nvSpPr>
        <p:spPr>
          <a:xfrm>
            <a:off x="548640" y="2560320"/>
            <a:ext cx="402336" cy="402336"/>
          </a:xfrm>
          <a:prstGeom prst="ellipse">
            <a:avLst/>
          </a:prstGeom>
          <a:solidFill>
            <a:srgbClr val="2B3238"/>
          </a:solidFill>
          <a:ln w="12700">
            <a:solidFill>
              <a:srgbClr val="2B3238"/>
            </a:solidFill>
            <a:prstDash val="solid"/>
          </a:ln>
        </p:spPr>
      </p:sp>
      <p:sp>
        <p:nvSpPr>
          <p:cNvPr id="9" name="Text 7"/>
          <p:cNvSpPr/>
          <p:nvPr/>
        </p:nvSpPr>
        <p:spPr>
          <a:xfrm>
            <a:off x="548640" y="2560320"/>
            <a:ext cx="402336" cy="402336"/>
          </a:xfrm>
          <a:prstGeom prst="rect">
            <a:avLst/>
          </a:prstGeom>
          <a:noFill/>
          <a:ln/>
        </p:spPr>
        <p:txBody>
          <a:bodyPr wrap="square" lIns="0" tIns="0" rIns="0" bIns="0" rtlCol="0" anchor="ctr"/>
          <a:lstStyle/>
          <a:p>
            <a:pPr algn="ctr" indent="0" marL="0">
              <a:buNone/>
            </a:pPr>
            <a:r>
              <a:rPr lang="en-US" sz="1100" b="1" dirty="0">
                <a:solidFill>
                  <a:srgbClr val="FFFEFB"/>
                </a:solidFill>
                <a:latin typeface="Courier New" pitchFamily="34" charset="0"/>
                <a:ea typeface="Courier New" pitchFamily="34" charset="-122"/>
                <a:cs typeface="Courier New" pitchFamily="34" charset="-120"/>
              </a:rPr>
              <a:t>3</a:t>
            </a:r>
            <a:endParaRPr lang="en-US" sz="1100" dirty="0"/>
          </a:p>
        </p:txBody>
      </p:sp>
      <p:sp>
        <p:nvSpPr>
          <p:cNvPr id="10" name="Text 8"/>
          <p:cNvSpPr/>
          <p:nvPr/>
        </p:nvSpPr>
        <p:spPr>
          <a:xfrm>
            <a:off x="1097280" y="2542032"/>
            <a:ext cx="3566160" cy="237744"/>
          </a:xfrm>
          <a:prstGeom prst="rect">
            <a:avLst/>
          </a:prstGeom>
          <a:noFill/>
          <a:ln/>
        </p:spPr>
        <p:txBody>
          <a:bodyPr wrap="square" lIns="0" tIns="0" rIns="0" bIns="0" rtlCol="0" anchor="t"/>
          <a:lstStyle/>
          <a:p>
            <a:pPr algn="l" indent="0" marL="0">
              <a:lnSpc>
                <a:spcPct val="106000"/>
              </a:lnSpc>
              <a:buNone/>
            </a:pPr>
            <a:r>
              <a:rPr lang="en-US" sz="1200" b="1" dirty="0">
                <a:solidFill>
                  <a:srgbClr val="14171A"/>
                </a:solidFill>
                <a:latin typeface="Calibri" pitchFamily="34" charset="0"/>
                <a:ea typeface="Calibri" pitchFamily="34" charset="-122"/>
                <a:cs typeface="Calibri" pitchFamily="34" charset="-120"/>
              </a:rPr>
              <a:t>Inside the Algorithm Box</a:t>
            </a:r>
            <a:endParaRPr lang="en-US" sz="1200" dirty="0"/>
          </a:p>
        </p:txBody>
      </p:sp>
      <p:sp>
        <p:nvSpPr>
          <p:cNvPr id="11" name="Text 9"/>
          <p:cNvSpPr/>
          <p:nvPr/>
        </p:nvSpPr>
        <p:spPr>
          <a:xfrm>
            <a:off x="1097280" y="2779776"/>
            <a:ext cx="3566160" cy="475488"/>
          </a:xfrm>
          <a:prstGeom prst="rect">
            <a:avLst/>
          </a:prstGeom>
          <a:noFill/>
          <a:ln/>
        </p:spPr>
        <p:txBody>
          <a:bodyPr wrap="square" lIns="0" tIns="0" rIns="0" bIns="0" rtlCol="0" anchor="t"/>
          <a:lstStyle/>
          <a:p>
            <a:pPr algn="l" indent="0" marL="0">
              <a:lnSpc>
                <a:spcPct val="106000"/>
              </a:lnSpc>
              <a:buNone/>
            </a:pPr>
            <a:r>
              <a:rPr lang="en-US" sz="1300" dirty="0">
                <a:solidFill>
                  <a:srgbClr val="3C444C"/>
                </a:solidFill>
                <a:latin typeface="Calibri" pitchFamily="34" charset="0"/>
                <a:ea typeface="Calibri" pitchFamily="34" charset="-122"/>
                <a:cs typeface="Calibri" pitchFamily="34" charset="-120"/>
              </a:rPr>
              <a:t>The feed ranks posts to produce the most reaction.</a:t>
            </a:r>
            <a:endParaRPr lang="en-US" sz="1300" dirty="0"/>
          </a:p>
        </p:txBody>
      </p:sp>
      <p:sp>
        <p:nvSpPr>
          <p:cNvPr id="12" name="Shape 10"/>
          <p:cNvSpPr/>
          <p:nvPr/>
        </p:nvSpPr>
        <p:spPr>
          <a:xfrm>
            <a:off x="548640" y="3383280"/>
            <a:ext cx="402336" cy="402336"/>
          </a:xfrm>
          <a:prstGeom prst="ellipse">
            <a:avLst/>
          </a:prstGeom>
          <a:solidFill>
            <a:srgbClr val="B22222"/>
          </a:solidFill>
          <a:ln w="12700">
            <a:solidFill>
              <a:srgbClr val="B22222"/>
            </a:solidFill>
            <a:prstDash val="solid"/>
          </a:ln>
        </p:spPr>
      </p:sp>
      <p:sp>
        <p:nvSpPr>
          <p:cNvPr id="13" name="Text 11"/>
          <p:cNvSpPr/>
          <p:nvPr/>
        </p:nvSpPr>
        <p:spPr>
          <a:xfrm>
            <a:off x="548640" y="3383280"/>
            <a:ext cx="402336" cy="402336"/>
          </a:xfrm>
          <a:prstGeom prst="rect">
            <a:avLst/>
          </a:prstGeom>
          <a:noFill/>
          <a:ln/>
        </p:spPr>
        <p:txBody>
          <a:bodyPr wrap="square" lIns="0" tIns="0" rIns="0" bIns="0" rtlCol="0" anchor="ctr"/>
          <a:lstStyle/>
          <a:p>
            <a:pPr algn="ctr" indent="0" marL="0">
              <a:buNone/>
            </a:pPr>
            <a:r>
              <a:rPr lang="en-US" sz="1100" b="1" dirty="0">
                <a:solidFill>
                  <a:srgbClr val="FFFEFB"/>
                </a:solidFill>
                <a:latin typeface="Courier New" pitchFamily="34" charset="0"/>
                <a:ea typeface="Courier New" pitchFamily="34" charset="-122"/>
                <a:cs typeface="Courier New" pitchFamily="34" charset="-120"/>
              </a:rPr>
              <a:t>5</a:t>
            </a:r>
            <a:endParaRPr lang="en-US" sz="1100" dirty="0"/>
          </a:p>
        </p:txBody>
      </p:sp>
      <p:sp>
        <p:nvSpPr>
          <p:cNvPr id="14" name="Text 12"/>
          <p:cNvSpPr/>
          <p:nvPr/>
        </p:nvSpPr>
        <p:spPr>
          <a:xfrm>
            <a:off x="1097280" y="3364992"/>
            <a:ext cx="3566160" cy="237744"/>
          </a:xfrm>
          <a:prstGeom prst="rect">
            <a:avLst/>
          </a:prstGeom>
          <a:noFill/>
          <a:ln/>
        </p:spPr>
        <p:txBody>
          <a:bodyPr wrap="square" lIns="0" tIns="0" rIns="0" bIns="0" rtlCol="0" anchor="t"/>
          <a:lstStyle/>
          <a:p>
            <a:pPr algn="l" indent="0" marL="0">
              <a:lnSpc>
                <a:spcPct val="106000"/>
              </a:lnSpc>
              <a:buNone/>
            </a:pPr>
            <a:r>
              <a:rPr lang="en-US" sz="1200" b="1" dirty="0">
                <a:solidFill>
                  <a:srgbClr val="14171A"/>
                </a:solidFill>
                <a:latin typeface="Calibri" pitchFamily="34" charset="0"/>
                <a:ea typeface="Calibri" pitchFamily="34" charset="-122"/>
                <a:cs typeface="Calibri" pitchFamily="34" charset="-120"/>
              </a:rPr>
              <a:t>How a Lie Travels</a:t>
            </a:r>
            <a:endParaRPr lang="en-US" sz="1200" dirty="0"/>
          </a:p>
        </p:txBody>
      </p:sp>
      <p:sp>
        <p:nvSpPr>
          <p:cNvPr id="15" name="Text 13"/>
          <p:cNvSpPr/>
          <p:nvPr/>
        </p:nvSpPr>
        <p:spPr>
          <a:xfrm>
            <a:off x="1097280" y="3602736"/>
            <a:ext cx="3566160" cy="475488"/>
          </a:xfrm>
          <a:prstGeom prst="rect">
            <a:avLst/>
          </a:prstGeom>
          <a:noFill/>
          <a:ln/>
        </p:spPr>
        <p:txBody>
          <a:bodyPr wrap="square" lIns="0" tIns="0" rIns="0" bIns="0" rtlCol="0" anchor="t"/>
          <a:lstStyle/>
          <a:p>
            <a:pPr algn="l" indent="0" marL="0">
              <a:lnSpc>
                <a:spcPct val="106000"/>
              </a:lnSpc>
              <a:buNone/>
            </a:pPr>
            <a:r>
              <a:rPr lang="en-US" sz="1300" dirty="0">
                <a:solidFill>
                  <a:srgbClr val="3C444C"/>
                </a:solidFill>
                <a:latin typeface="Calibri" pitchFamily="34" charset="0"/>
                <a:ea typeface="Calibri" pitchFamily="34" charset="-122"/>
                <a:cs typeface="Calibri" pitchFamily="34" charset="-120"/>
              </a:rPr>
              <a:t>Which posts get the most reaction, and who uses that on purpose.</a:t>
            </a:r>
            <a:endParaRPr lang="en-US" sz="1300" dirty="0"/>
          </a:p>
        </p:txBody>
      </p:sp>
      <p:sp>
        <p:nvSpPr>
          <p:cNvPr id="16" name="Shape 14"/>
          <p:cNvSpPr/>
          <p:nvPr/>
        </p:nvSpPr>
        <p:spPr>
          <a:xfrm>
            <a:off x="4937760" y="1682496"/>
            <a:ext cx="3657600" cy="2377440"/>
          </a:xfrm>
          <a:prstGeom prst="roundRect">
            <a:avLst>
              <a:gd name="adj" fmla="val 2308"/>
            </a:avLst>
          </a:prstGeom>
          <a:solidFill>
            <a:srgbClr val="E3EAEE"/>
          </a:solidFill>
          <a:ln w="9525">
            <a:solidFill>
              <a:srgbClr val="E3EAEE"/>
            </a:solidFill>
            <a:prstDash val="solid"/>
          </a:ln>
          <a:effectLst>
            <a:outerShdw sx="100000" sy="100000" kx="0" ky="0" algn="bl" rotWithShape="0" blurRad="88900" dist="12700" dir="5400000">
              <a:srgbClr val="9A968A">
                <a:alpha val="20000"/>
              </a:srgbClr>
            </a:outerShdw>
          </a:effectLst>
        </p:spPr>
      </p:sp>
      <p:sp>
        <p:nvSpPr>
          <p:cNvPr id="17" name="Text 15"/>
          <p:cNvSpPr/>
          <p:nvPr/>
        </p:nvSpPr>
        <p:spPr>
          <a:xfrm>
            <a:off x="5193792" y="1938528"/>
            <a:ext cx="3145536" cy="237744"/>
          </a:xfrm>
          <a:prstGeom prst="rect">
            <a:avLst/>
          </a:prstGeom>
          <a:noFill/>
          <a:ln/>
        </p:spPr>
        <p:txBody>
          <a:bodyPr wrap="square" lIns="0" tIns="0" rIns="0" bIns="0" rtlCol="0" anchor="t"/>
          <a:lstStyle/>
          <a:p>
            <a:pPr algn="l" indent="0" marL="0">
              <a:lnSpc>
                <a:spcPct val="106000"/>
              </a:lnSpc>
              <a:buNone/>
            </a:pPr>
            <a:r>
              <a:rPr lang="en-US" sz="900" b="1" dirty="0">
                <a:solidFill>
                  <a:srgbClr val="1F5673"/>
                </a:solidFill>
                <a:latin typeface="Courier New" pitchFamily="34" charset="0"/>
                <a:ea typeface="Courier New" pitchFamily="34" charset="-122"/>
                <a:cs typeface="Courier New" pitchFamily="34" charset="-120"/>
              </a:rPr>
              <a:t>YOUR GOAL TODAY</a:t>
            </a:r>
            <a:endParaRPr lang="en-US" sz="900" dirty="0"/>
          </a:p>
        </p:txBody>
      </p:sp>
      <p:sp>
        <p:nvSpPr>
          <p:cNvPr id="18" name="Text 16"/>
          <p:cNvSpPr/>
          <p:nvPr/>
        </p:nvSpPr>
        <p:spPr>
          <a:xfrm>
            <a:off x="5193792" y="2286000"/>
            <a:ext cx="3145536" cy="1554480"/>
          </a:xfrm>
          <a:prstGeom prst="rect">
            <a:avLst/>
          </a:prstGeom>
          <a:noFill/>
          <a:ln/>
        </p:spPr>
        <p:txBody>
          <a:bodyPr wrap="square" lIns="0" tIns="0" rIns="0" bIns="0" rtlCol="0" anchor="t"/>
          <a:lstStyle/>
          <a:p>
            <a:pPr algn="l" indent="0" marL="0">
              <a:lnSpc>
                <a:spcPct val="120000"/>
              </a:lnSpc>
              <a:buNone/>
            </a:pPr>
            <a:r>
              <a:rPr lang="en-US" sz="1450" dirty="0">
                <a:solidFill>
                  <a:srgbClr val="14171A"/>
                </a:solidFill>
                <a:latin typeface="Calibri" pitchFamily="34" charset="0"/>
                <a:ea typeface="Calibri" pitchFamily="34" charset="-122"/>
                <a:cs typeface="Calibri" pitchFamily="34" charset="-120"/>
              </a:rPr>
              <a:t>Check a claim you are unsure about in about two minutes, and be able to say what you checked.</a:t>
            </a:r>
            <a:endParaRPr lang="en-US" sz="1450" dirty="0"/>
          </a:p>
        </p:txBody>
      </p:sp>
      <p:sp>
        <p:nvSpPr>
          <p:cNvPr id="20" name="Text 17"/>
          <p:cNvSpPr/>
          <p:nvPr/>
        </p:nvSpPr>
        <p:spPr>
          <a:xfrm>
            <a:off x="548640" y="4668012"/>
            <a:ext cx="8046720" cy="256032"/>
          </a:xfrm>
          <a:prstGeom prst="rect">
            <a:avLst/>
          </a:prstGeom>
          <a:noFill/>
          <a:ln/>
        </p:spPr>
        <p:txBody>
          <a:bodyPr wrap="square" lIns="0" tIns="0" rIns="0" bIns="0" rtlCol="0" anchor="ctr"/>
          <a:lstStyle/>
          <a:p>
            <a:pPr indent="0" marL="0">
              <a:buNone/>
            </a:pPr>
            <a:r>
              <a:rPr lang="en-US" sz="800" spc="100" kern="0" dirty="0">
                <a:solidFill>
                  <a:srgbClr val="5C6873"/>
                </a:solidFill>
                <a:latin typeface="Courier New" pitchFamily="34" charset="0"/>
                <a:ea typeface="Courier New" pitchFamily="34" charset="-122"/>
                <a:cs typeface="Courier New" pitchFamily="34" charset="-120"/>
              </a:rPr>
              <a:t>BECURRENT  ·  SOCIAL MEDIA  ·  TOPIC 5</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2ED"/>
        </a:solidFill>
      </p:bgPr>
    </p:bg>
    <p:spTree>
      <p:nvGrpSpPr>
        <p:cNvPr id="1" name=""/>
        <p:cNvGrpSpPr/>
        <p:nvPr/>
      </p:nvGrpSpPr>
      <p:grpSpPr>
        <a:xfrm>
          <a:off x="0" y="0"/>
          <a:ext cx="0" cy="0"/>
          <a:chOff x="0" y="0"/>
          <a:chExt cx="0" cy="0"/>
        </a:xfrm>
      </p:grpSpPr>
      <p:sp>
        <p:nvSpPr>
          <p:cNvPr id="2" name="Text 0"/>
          <p:cNvSpPr/>
          <p:nvPr/>
        </p:nvSpPr>
        <p:spPr>
          <a:xfrm>
            <a:off x="548640" y="365760"/>
            <a:ext cx="8046720" cy="237744"/>
          </a:xfrm>
          <a:prstGeom prst="rect">
            <a:avLst/>
          </a:prstGeom>
          <a:noFill/>
          <a:ln/>
        </p:spPr>
        <p:txBody>
          <a:bodyPr wrap="square" lIns="0" tIns="0" rIns="0" bIns="0" rtlCol="0" anchor="ctr"/>
          <a:lstStyle/>
          <a:p>
            <a:pPr indent="0" marL="0">
              <a:buNone/>
            </a:pPr>
            <a:r>
              <a:rPr lang="en-US" sz="1000" b="1" spc="140" kern="0" dirty="0">
                <a:solidFill>
                  <a:srgbClr val="B22222"/>
                </a:solidFill>
                <a:latin typeface="Courier New" pitchFamily="34" charset="0"/>
                <a:ea typeface="Courier New" pitchFamily="34" charset="-122"/>
                <a:cs typeface="Courier New" pitchFamily="34" charset="-120"/>
              </a:rPr>
              <a:t>PART ONE</a:t>
            </a:r>
            <a:endParaRPr lang="en-US" sz="1000" dirty="0"/>
          </a:p>
        </p:txBody>
      </p:sp>
      <p:sp>
        <p:nvSpPr>
          <p:cNvPr id="3" name="Text 1"/>
          <p:cNvSpPr/>
          <p:nvPr/>
        </p:nvSpPr>
        <p:spPr>
          <a:xfrm>
            <a:off x="548640" y="713232"/>
            <a:ext cx="8046720" cy="731520"/>
          </a:xfrm>
          <a:prstGeom prst="rect">
            <a:avLst/>
          </a:prstGeom>
          <a:noFill/>
          <a:ln/>
        </p:spPr>
        <p:txBody>
          <a:bodyPr wrap="square" lIns="0" tIns="0" rIns="0" bIns="0" rtlCol="0" anchor="t"/>
          <a:lstStyle/>
          <a:p>
            <a:pPr indent="0" marL="0">
              <a:lnSpc>
                <a:spcPct val="92000"/>
              </a:lnSpc>
              <a:buNone/>
            </a:pPr>
            <a:r>
              <a:rPr lang="en-US" sz="3000" b="1" dirty="0">
                <a:solidFill>
                  <a:srgbClr val="14171A"/>
                </a:solidFill>
                <a:latin typeface="Cambria" pitchFamily="34" charset="0"/>
                <a:ea typeface="Cambria" pitchFamily="34" charset="-122"/>
                <a:cs typeface="Cambria" pitchFamily="34" charset="-120"/>
              </a:rPr>
              <a:t>Two words for false information</a:t>
            </a:r>
            <a:endParaRPr lang="en-US" sz="3000" dirty="0"/>
          </a:p>
        </p:txBody>
      </p:sp>
      <p:sp>
        <p:nvSpPr>
          <p:cNvPr id="4" name="Shape 2"/>
          <p:cNvSpPr/>
          <p:nvPr/>
        </p:nvSpPr>
        <p:spPr>
          <a:xfrm>
            <a:off x="548640" y="1536192"/>
            <a:ext cx="3840480" cy="1371600"/>
          </a:xfrm>
          <a:prstGeom prst="roundRect">
            <a:avLst>
              <a:gd name="adj" fmla="val 4000"/>
            </a:avLst>
          </a:prstGeom>
          <a:solidFill>
            <a:srgbClr val="E3EAEE"/>
          </a:solidFill>
          <a:ln w="9525">
            <a:solidFill>
              <a:srgbClr val="E3EAEE"/>
            </a:solidFill>
            <a:prstDash val="solid"/>
          </a:ln>
          <a:effectLst>
            <a:outerShdw sx="100000" sy="100000" kx="0" ky="0" algn="bl" rotWithShape="0" blurRad="88900" dist="12700" dir="5400000">
              <a:srgbClr val="9A968A">
                <a:alpha val="20000"/>
              </a:srgbClr>
            </a:outerShdw>
          </a:effectLst>
        </p:spPr>
      </p:sp>
      <p:sp>
        <p:nvSpPr>
          <p:cNvPr id="5" name="Text 3"/>
          <p:cNvSpPr/>
          <p:nvPr/>
        </p:nvSpPr>
        <p:spPr>
          <a:xfrm>
            <a:off x="804672" y="1755648"/>
            <a:ext cx="3328416" cy="256032"/>
          </a:xfrm>
          <a:prstGeom prst="rect">
            <a:avLst/>
          </a:prstGeom>
          <a:noFill/>
          <a:ln/>
        </p:spPr>
        <p:txBody>
          <a:bodyPr wrap="square" lIns="0" tIns="0" rIns="0" bIns="0" rtlCol="0" anchor="t"/>
          <a:lstStyle/>
          <a:p>
            <a:pPr algn="l" indent="0" marL="0">
              <a:lnSpc>
                <a:spcPct val="106000"/>
              </a:lnSpc>
              <a:buNone/>
            </a:pPr>
            <a:r>
              <a:rPr lang="en-US" sz="1000" b="1" dirty="0">
                <a:solidFill>
                  <a:srgbClr val="1F5673"/>
                </a:solidFill>
                <a:latin typeface="Courier New" pitchFamily="34" charset="0"/>
                <a:ea typeface="Courier New" pitchFamily="34" charset="-122"/>
                <a:cs typeface="Courier New" pitchFamily="34" charset="-120"/>
              </a:rPr>
              <a:t>MISINFORMATION</a:t>
            </a:r>
            <a:endParaRPr lang="en-US" sz="1000" dirty="0"/>
          </a:p>
        </p:txBody>
      </p:sp>
      <p:sp>
        <p:nvSpPr>
          <p:cNvPr id="6" name="Text 4"/>
          <p:cNvSpPr/>
          <p:nvPr/>
        </p:nvSpPr>
        <p:spPr>
          <a:xfrm>
            <a:off x="804672" y="2084832"/>
            <a:ext cx="3328416" cy="658368"/>
          </a:xfrm>
          <a:prstGeom prst="rect">
            <a:avLst/>
          </a:prstGeom>
          <a:noFill/>
          <a:ln/>
        </p:spPr>
        <p:txBody>
          <a:bodyPr wrap="square" lIns="0" tIns="0" rIns="0" bIns="0" rtlCol="0" anchor="t"/>
          <a:lstStyle/>
          <a:p>
            <a:pPr algn="l" indent="0" marL="0">
              <a:lnSpc>
                <a:spcPct val="116000"/>
              </a:lnSpc>
              <a:buNone/>
            </a:pPr>
            <a:r>
              <a:rPr lang="en-US" sz="1400" dirty="0">
                <a:solidFill>
                  <a:srgbClr val="14171A"/>
                </a:solidFill>
                <a:latin typeface="Calibri" pitchFamily="34" charset="0"/>
                <a:ea typeface="Calibri" pitchFamily="34" charset="-122"/>
                <a:cs typeface="Calibri" pitchFamily="34" charset="-120"/>
              </a:rPr>
              <a:t>False information shared by someone who believes it is true.</a:t>
            </a:r>
            <a:endParaRPr lang="en-US" sz="1400" dirty="0"/>
          </a:p>
        </p:txBody>
      </p:sp>
      <p:sp>
        <p:nvSpPr>
          <p:cNvPr id="7" name="Shape 5"/>
          <p:cNvSpPr/>
          <p:nvPr/>
        </p:nvSpPr>
        <p:spPr>
          <a:xfrm>
            <a:off x="4754880" y="1536192"/>
            <a:ext cx="3840480" cy="1371600"/>
          </a:xfrm>
          <a:prstGeom prst="roundRect">
            <a:avLst>
              <a:gd name="adj" fmla="val 4000"/>
            </a:avLst>
          </a:prstGeom>
          <a:solidFill>
            <a:srgbClr val="F2E1E1"/>
          </a:solidFill>
          <a:ln w="9525">
            <a:solidFill>
              <a:srgbClr val="F2E1E1"/>
            </a:solidFill>
            <a:prstDash val="solid"/>
          </a:ln>
          <a:effectLst>
            <a:outerShdw sx="100000" sy="100000" kx="0" ky="0" algn="bl" rotWithShape="0" blurRad="88900" dist="12700" dir="5400000">
              <a:srgbClr val="9A968A">
                <a:alpha val="20000"/>
              </a:srgbClr>
            </a:outerShdw>
          </a:effectLst>
        </p:spPr>
      </p:sp>
      <p:sp>
        <p:nvSpPr>
          <p:cNvPr id="8" name="Text 6"/>
          <p:cNvSpPr/>
          <p:nvPr/>
        </p:nvSpPr>
        <p:spPr>
          <a:xfrm>
            <a:off x="5010912" y="1755648"/>
            <a:ext cx="3328416" cy="256032"/>
          </a:xfrm>
          <a:prstGeom prst="rect">
            <a:avLst/>
          </a:prstGeom>
          <a:noFill/>
          <a:ln/>
        </p:spPr>
        <p:txBody>
          <a:bodyPr wrap="square" lIns="0" tIns="0" rIns="0" bIns="0" rtlCol="0" anchor="t"/>
          <a:lstStyle/>
          <a:p>
            <a:pPr algn="l" indent="0" marL="0">
              <a:lnSpc>
                <a:spcPct val="106000"/>
              </a:lnSpc>
              <a:buNone/>
            </a:pPr>
            <a:r>
              <a:rPr lang="en-US" sz="1000" b="1" dirty="0">
                <a:solidFill>
                  <a:srgbClr val="8A1A1A"/>
                </a:solidFill>
                <a:latin typeface="Courier New" pitchFamily="34" charset="0"/>
                <a:ea typeface="Courier New" pitchFamily="34" charset="-122"/>
                <a:cs typeface="Courier New" pitchFamily="34" charset="-120"/>
              </a:rPr>
              <a:t>DISINFORMATION</a:t>
            </a:r>
            <a:endParaRPr lang="en-US" sz="1000" dirty="0"/>
          </a:p>
        </p:txBody>
      </p:sp>
      <p:sp>
        <p:nvSpPr>
          <p:cNvPr id="9" name="Text 7"/>
          <p:cNvSpPr/>
          <p:nvPr/>
        </p:nvSpPr>
        <p:spPr>
          <a:xfrm>
            <a:off x="5010912" y="2084832"/>
            <a:ext cx="3328416" cy="658368"/>
          </a:xfrm>
          <a:prstGeom prst="rect">
            <a:avLst/>
          </a:prstGeom>
          <a:noFill/>
          <a:ln/>
        </p:spPr>
        <p:txBody>
          <a:bodyPr wrap="square" lIns="0" tIns="0" rIns="0" bIns="0" rtlCol="0" anchor="t"/>
          <a:lstStyle/>
          <a:p>
            <a:pPr algn="l" indent="0" marL="0">
              <a:lnSpc>
                <a:spcPct val="116000"/>
              </a:lnSpc>
              <a:buNone/>
            </a:pPr>
            <a:r>
              <a:rPr lang="en-US" sz="1400" dirty="0">
                <a:solidFill>
                  <a:srgbClr val="14171A"/>
                </a:solidFill>
                <a:latin typeface="Calibri" pitchFamily="34" charset="0"/>
                <a:ea typeface="Calibri" pitchFamily="34" charset="-122"/>
                <a:cs typeface="Calibri" pitchFamily="34" charset="-120"/>
              </a:rPr>
              <a:t>False information shared by someone who knows it is false.</a:t>
            </a:r>
            <a:endParaRPr lang="en-US" sz="1400" dirty="0"/>
          </a:p>
        </p:txBody>
      </p:sp>
      <p:sp>
        <p:nvSpPr>
          <p:cNvPr id="10" name="Text 8"/>
          <p:cNvSpPr/>
          <p:nvPr/>
        </p:nvSpPr>
        <p:spPr>
          <a:xfrm>
            <a:off x="548640" y="3127248"/>
            <a:ext cx="8046720" cy="329184"/>
          </a:xfrm>
          <a:prstGeom prst="rect">
            <a:avLst/>
          </a:prstGeom>
          <a:noFill/>
          <a:ln/>
        </p:spPr>
        <p:txBody>
          <a:bodyPr wrap="square" lIns="0" tIns="0" rIns="0" bIns="0" rtlCol="0" anchor="t"/>
          <a:lstStyle/>
          <a:p>
            <a:pPr algn="l" indent="0" marL="0">
              <a:lnSpc>
                <a:spcPct val="106000"/>
              </a:lnSpc>
              <a:buNone/>
            </a:pPr>
            <a:r>
              <a:rPr lang="en-US" sz="1900" b="1" dirty="0">
                <a:solidFill>
                  <a:srgbClr val="14171A"/>
                </a:solidFill>
                <a:latin typeface="Cambria" pitchFamily="34" charset="0"/>
                <a:ea typeface="Cambria" pitchFamily="34" charset="-122"/>
                <a:cs typeface="Cambria" pitchFamily="34" charset="-120"/>
              </a:rPr>
              <a:t>The post can look identical. The difference is what the sender knows.</a:t>
            </a:r>
            <a:endParaRPr lang="en-US" sz="1900" dirty="0"/>
          </a:p>
        </p:txBody>
      </p:sp>
      <p:sp>
        <p:nvSpPr>
          <p:cNvPr id="11" name="Text 9"/>
          <p:cNvSpPr/>
          <p:nvPr/>
        </p:nvSpPr>
        <p:spPr>
          <a:xfrm>
            <a:off x="548640" y="3566160"/>
            <a:ext cx="7680960" cy="548640"/>
          </a:xfrm>
          <a:prstGeom prst="rect">
            <a:avLst/>
          </a:prstGeom>
          <a:noFill/>
          <a:ln/>
        </p:spPr>
        <p:txBody>
          <a:bodyPr wrap="square" lIns="0" tIns="0" rIns="0" bIns="0" rtlCol="0" anchor="t"/>
          <a:lstStyle/>
          <a:p>
            <a:pPr algn="l" indent="0" marL="0">
              <a:lnSpc>
                <a:spcPct val="116000"/>
              </a:lnSpc>
              <a:buNone/>
            </a:pPr>
            <a:r>
              <a:rPr lang="en-US" sz="1400" dirty="0">
                <a:solidFill>
                  <a:srgbClr val="3C444C"/>
                </a:solidFill>
                <a:latin typeface="Calibri" pitchFamily="34" charset="0"/>
                <a:ea typeface="Calibri" pitchFamily="34" charset="-122"/>
                <a:cs typeface="Calibri" pitchFamily="34" charset="-120"/>
              </a:rPr>
              <a:t>You can correct a person who made a mistake. You cannot correct a person who is lying on purpose, because being wrong was the plan.</a:t>
            </a:r>
            <a:endParaRPr lang="en-US" sz="1400" dirty="0"/>
          </a:p>
        </p:txBody>
      </p:sp>
      <p:sp>
        <p:nvSpPr>
          <p:cNvPr id="13" name="Text 10"/>
          <p:cNvSpPr/>
          <p:nvPr/>
        </p:nvSpPr>
        <p:spPr>
          <a:xfrm>
            <a:off x="548640" y="4668012"/>
            <a:ext cx="8046720" cy="256032"/>
          </a:xfrm>
          <a:prstGeom prst="rect">
            <a:avLst/>
          </a:prstGeom>
          <a:noFill/>
          <a:ln/>
        </p:spPr>
        <p:txBody>
          <a:bodyPr wrap="square" lIns="0" tIns="0" rIns="0" bIns="0" rtlCol="0" anchor="ctr"/>
          <a:lstStyle/>
          <a:p>
            <a:pPr indent="0" marL="0">
              <a:buNone/>
            </a:pPr>
            <a:r>
              <a:rPr lang="en-US" sz="800" spc="100" kern="0" dirty="0">
                <a:solidFill>
                  <a:srgbClr val="5C6873"/>
                </a:solidFill>
                <a:latin typeface="Courier New" pitchFamily="34" charset="0"/>
                <a:ea typeface="Courier New" pitchFamily="34" charset="-122"/>
                <a:cs typeface="Courier New" pitchFamily="34" charset="-120"/>
              </a:rPr>
              <a:t>BECURRENT  ·  SOCIAL MEDIA  ·  TOPIC 5</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2ED"/>
        </a:solidFill>
      </p:bgPr>
    </p:bg>
    <p:spTree>
      <p:nvGrpSpPr>
        <p:cNvPr id="1" name=""/>
        <p:cNvGrpSpPr/>
        <p:nvPr/>
      </p:nvGrpSpPr>
      <p:grpSpPr>
        <a:xfrm>
          <a:off x="0" y="0"/>
          <a:ext cx="0" cy="0"/>
          <a:chOff x="0" y="0"/>
          <a:chExt cx="0" cy="0"/>
        </a:xfrm>
      </p:grpSpPr>
      <p:sp>
        <p:nvSpPr>
          <p:cNvPr id="2" name="Text 0"/>
          <p:cNvSpPr/>
          <p:nvPr/>
        </p:nvSpPr>
        <p:spPr>
          <a:xfrm>
            <a:off x="548640" y="365760"/>
            <a:ext cx="8046720" cy="237744"/>
          </a:xfrm>
          <a:prstGeom prst="rect">
            <a:avLst/>
          </a:prstGeom>
          <a:noFill/>
          <a:ln/>
        </p:spPr>
        <p:txBody>
          <a:bodyPr wrap="square" lIns="0" tIns="0" rIns="0" bIns="0" rtlCol="0" anchor="ctr"/>
          <a:lstStyle/>
          <a:p>
            <a:pPr indent="0" marL="0">
              <a:buNone/>
            </a:pPr>
            <a:r>
              <a:rPr lang="en-US" sz="1000" b="1" spc="140" kern="0" dirty="0">
                <a:solidFill>
                  <a:srgbClr val="B22222"/>
                </a:solidFill>
                <a:latin typeface="Courier New" pitchFamily="34" charset="0"/>
                <a:ea typeface="Courier New" pitchFamily="34" charset="-122"/>
                <a:cs typeface="Courier New" pitchFamily="34" charset="-120"/>
              </a:rPr>
              <a:t>PART ONE · THE THREE FORMS</a:t>
            </a:r>
            <a:endParaRPr lang="en-US" sz="1000" dirty="0"/>
          </a:p>
        </p:txBody>
      </p:sp>
      <p:sp>
        <p:nvSpPr>
          <p:cNvPr id="3" name="Text 1"/>
          <p:cNvSpPr/>
          <p:nvPr/>
        </p:nvSpPr>
        <p:spPr>
          <a:xfrm>
            <a:off x="548640" y="713232"/>
            <a:ext cx="8046720" cy="731520"/>
          </a:xfrm>
          <a:prstGeom prst="rect">
            <a:avLst/>
          </a:prstGeom>
          <a:noFill/>
          <a:ln/>
        </p:spPr>
        <p:txBody>
          <a:bodyPr wrap="square" lIns="0" tIns="0" rIns="0" bIns="0" rtlCol="0" anchor="t"/>
          <a:lstStyle/>
          <a:p>
            <a:pPr indent="0" marL="0">
              <a:lnSpc>
                <a:spcPct val="92000"/>
              </a:lnSpc>
              <a:buNone/>
            </a:pPr>
            <a:r>
              <a:rPr lang="en-US" sz="3000" b="1" dirty="0">
                <a:solidFill>
                  <a:srgbClr val="14171A"/>
                </a:solidFill>
                <a:latin typeface="Cambria" pitchFamily="34" charset="0"/>
                <a:ea typeface="Cambria" pitchFamily="34" charset="-122"/>
                <a:cs typeface="Cambria" pitchFamily="34" charset="-120"/>
              </a:rPr>
              <a:t>Three forms false information takes</a:t>
            </a:r>
            <a:endParaRPr lang="en-US" sz="3000" dirty="0"/>
          </a:p>
        </p:txBody>
      </p:sp>
      <p:sp>
        <p:nvSpPr>
          <p:cNvPr id="4" name="Shape 2"/>
          <p:cNvSpPr/>
          <p:nvPr/>
        </p:nvSpPr>
        <p:spPr>
          <a:xfrm>
            <a:off x="548640" y="1536192"/>
            <a:ext cx="2560320" cy="1920240"/>
          </a:xfrm>
          <a:prstGeom prst="roundRect">
            <a:avLst>
              <a:gd name="adj" fmla="val 2857"/>
            </a:avLst>
          </a:prstGeom>
          <a:solidFill>
            <a:srgbClr val="FFFEFB"/>
          </a:solidFill>
          <a:ln w="9525">
            <a:solidFill>
              <a:srgbClr val="D9D6CF"/>
            </a:solidFill>
            <a:prstDash val="solid"/>
          </a:ln>
          <a:effectLst>
            <a:outerShdw sx="100000" sy="100000" kx="0" ky="0" algn="bl" rotWithShape="0" blurRad="88900" dist="12700" dir="5400000">
              <a:srgbClr val="9A968A">
                <a:alpha val="20000"/>
              </a:srgbClr>
            </a:outerShdw>
          </a:effectLst>
        </p:spPr>
      </p:sp>
      <p:sp>
        <p:nvSpPr>
          <p:cNvPr id="5" name="Shape 3"/>
          <p:cNvSpPr/>
          <p:nvPr/>
        </p:nvSpPr>
        <p:spPr>
          <a:xfrm>
            <a:off x="786384" y="1737360"/>
            <a:ext cx="365760" cy="365760"/>
          </a:xfrm>
          <a:prstGeom prst="ellipse">
            <a:avLst/>
          </a:prstGeom>
          <a:solidFill>
            <a:srgbClr val="B22222"/>
          </a:solidFill>
          <a:ln w="12700">
            <a:solidFill>
              <a:srgbClr val="B22222"/>
            </a:solidFill>
            <a:prstDash val="solid"/>
          </a:ln>
        </p:spPr>
      </p:sp>
      <p:sp>
        <p:nvSpPr>
          <p:cNvPr id="6" name="Text 4"/>
          <p:cNvSpPr/>
          <p:nvPr/>
        </p:nvSpPr>
        <p:spPr>
          <a:xfrm>
            <a:off x="786384" y="1737360"/>
            <a:ext cx="365760" cy="365760"/>
          </a:xfrm>
          <a:prstGeom prst="rect">
            <a:avLst/>
          </a:prstGeom>
          <a:noFill/>
          <a:ln/>
        </p:spPr>
        <p:txBody>
          <a:bodyPr wrap="square" lIns="0" tIns="0" rIns="0" bIns="0" rtlCol="0" anchor="ctr"/>
          <a:lstStyle/>
          <a:p>
            <a:pPr algn="ctr" indent="0" marL="0">
              <a:buNone/>
            </a:pPr>
            <a:r>
              <a:rPr lang="en-US" sz="1100" b="1" dirty="0">
                <a:solidFill>
                  <a:srgbClr val="FFFEFB"/>
                </a:solidFill>
                <a:latin typeface="Courier New" pitchFamily="34" charset="0"/>
                <a:ea typeface="Courier New" pitchFamily="34" charset="-122"/>
                <a:cs typeface="Courier New" pitchFamily="34" charset="-120"/>
              </a:rPr>
              <a:t>1</a:t>
            </a:r>
            <a:endParaRPr lang="en-US" sz="1100" dirty="0"/>
          </a:p>
        </p:txBody>
      </p:sp>
      <p:sp>
        <p:nvSpPr>
          <p:cNvPr id="7" name="Text 5"/>
          <p:cNvSpPr/>
          <p:nvPr/>
        </p:nvSpPr>
        <p:spPr>
          <a:xfrm>
            <a:off x="786384" y="2212848"/>
            <a:ext cx="2084832" cy="274320"/>
          </a:xfrm>
          <a:prstGeom prst="rect">
            <a:avLst/>
          </a:prstGeom>
          <a:noFill/>
          <a:ln/>
        </p:spPr>
        <p:txBody>
          <a:bodyPr wrap="square" lIns="0" tIns="0" rIns="0" bIns="0" rtlCol="0" anchor="t"/>
          <a:lstStyle/>
          <a:p>
            <a:pPr algn="l" indent="0" marL="0">
              <a:lnSpc>
                <a:spcPct val="106000"/>
              </a:lnSpc>
              <a:buNone/>
            </a:pPr>
            <a:r>
              <a:rPr lang="en-US" sz="1450" b="1" dirty="0">
                <a:solidFill>
                  <a:srgbClr val="14171A"/>
                </a:solidFill>
                <a:latin typeface="Cambria" pitchFamily="34" charset="0"/>
                <a:ea typeface="Cambria" pitchFamily="34" charset="-122"/>
                <a:cs typeface="Cambria" pitchFamily="34" charset="-120"/>
              </a:rPr>
              <a:t>Invented story</a:t>
            </a:r>
            <a:endParaRPr lang="en-US" sz="1450" dirty="0"/>
          </a:p>
        </p:txBody>
      </p:sp>
      <p:sp>
        <p:nvSpPr>
          <p:cNvPr id="8" name="Text 6"/>
          <p:cNvSpPr/>
          <p:nvPr/>
        </p:nvSpPr>
        <p:spPr>
          <a:xfrm>
            <a:off x="786384" y="2560320"/>
            <a:ext cx="2084832" cy="731520"/>
          </a:xfrm>
          <a:prstGeom prst="rect">
            <a:avLst/>
          </a:prstGeom>
          <a:noFill/>
          <a:ln/>
        </p:spPr>
        <p:txBody>
          <a:bodyPr wrap="square" lIns="0" tIns="0" rIns="0" bIns="0" rtlCol="0" anchor="t"/>
          <a:lstStyle/>
          <a:p>
            <a:pPr algn="l" indent="0" marL="0">
              <a:lnSpc>
                <a:spcPct val="110000"/>
              </a:lnSpc>
              <a:buNone/>
            </a:pPr>
            <a:r>
              <a:rPr lang="en-US" sz="1250" dirty="0">
                <a:solidFill>
                  <a:srgbClr val="3C444C"/>
                </a:solidFill>
                <a:latin typeface="Calibri" pitchFamily="34" charset="0"/>
                <a:ea typeface="Calibri" pitchFamily="34" charset="-122"/>
                <a:cs typeface="Calibri" pitchFamily="34" charset="-120"/>
              </a:rPr>
              <a:t>A story about an event that never happened.</a:t>
            </a:r>
            <a:endParaRPr lang="en-US" sz="1250" dirty="0"/>
          </a:p>
        </p:txBody>
      </p:sp>
      <p:sp>
        <p:nvSpPr>
          <p:cNvPr id="9" name="Shape 7"/>
          <p:cNvSpPr/>
          <p:nvPr/>
        </p:nvSpPr>
        <p:spPr>
          <a:xfrm>
            <a:off x="3291840" y="1536192"/>
            <a:ext cx="2560320" cy="1920240"/>
          </a:xfrm>
          <a:prstGeom prst="roundRect">
            <a:avLst>
              <a:gd name="adj" fmla="val 2857"/>
            </a:avLst>
          </a:prstGeom>
          <a:solidFill>
            <a:srgbClr val="FFFEFB"/>
          </a:solidFill>
          <a:ln w="9525">
            <a:solidFill>
              <a:srgbClr val="D9D6CF"/>
            </a:solidFill>
            <a:prstDash val="solid"/>
          </a:ln>
          <a:effectLst>
            <a:outerShdw sx="100000" sy="100000" kx="0" ky="0" algn="bl" rotWithShape="0" blurRad="88900" dist="12700" dir="5400000">
              <a:srgbClr val="9A968A">
                <a:alpha val="20000"/>
              </a:srgbClr>
            </a:outerShdw>
          </a:effectLst>
        </p:spPr>
      </p:sp>
      <p:sp>
        <p:nvSpPr>
          <p:cNvPr id="10" name="Shape 8"/>
          <p:cNvSpPr/>
          <p:nvPr/>
        </p:nvSpPr>
        <p:spPr>
          <a:xfrm>
            <a:off x="3529584" y="1737360"/>
            <a:ext cx="365760" cy="365760"/>
          </a:xfrm>
          <a:prstGeom prst="ellipse">
            <a:avLst/>
          </a:prstGeom>
          <a:solidFill>
            <a:srgbClr val="B22222"/>
          </a:solidFill>
          <a:ln w="12700">
            <a:solidFill>
              <a:srgbClr val="B22222"/>
            </a:solidFill>
            <a:prstDash val="solid"/>
          </a:ln>
        </p:spPr>
      </p:sp>
      <p:sp>
        <p:nvSpPr>
          <p:cNvPr id="11" name="Text 9"/>
          <p:cNvSpPr/>
          <p:nvPr/>
        </p:nvSpPr>
        <p:spPr>
          <a:xfrm>
            <a:off x="3529584" y="1737360"/>
            <a:ext cx="365760" cy="365760"/>
          </a:xfrm>
          <a:prstGeom prst="rect">
            <a:avLst/>
          </a:prstGeom>
          <a:noFill/>
          <a:ln/>
        </p:spPr>
        <p:txBody>
          <a:bodyPr wrap="square" lIns="0" tIns="0" rIns="0" bIns="0" rtlCol="0" anchor="ctr"/>
          <a:lstStyle/>
          <a:p>
            <a:pPr algn="ctr" indent="0" marL="0">
              <a:buNone/>
            </a:pPr>
            <a:r>
              <a:rPr lang="en-US" sz="1100" b="1" dirty="0">
                <a:solidFill>
                  <a:srgbClr val="FFFEFB"/>
                </a:solidFill>
                <a:latin typeface="Courier New" pitchFamily="34" charset="0"/>
                <a:ea typeface="Courier New" pitchFamily="34" charset="-122"/>
                <a:cs typeface="Courier New" pitchFamily="34" charset="-120"/>
              </a:rPr>
              <a:t>2</a:t>
            </a:r>
            <a:endParaRPr lang="en-US" sz="1100" dirty="0"/>
          </a:p>
        </p:txBody>
      </p:sp>
      <p:sp>
        <p:nvSpPr>
          <p:cNvPr id="12" name="Text 10"/>
          <p:cNvSpPr/>
          <p:nvPr/>
        </p:nvSpPr>
        <p:spPr>
          <a:xfrm>
            <a:off x="3529584" y="2212848"/>
            <a:ext cx="2084832" cy="274320"/>
          </a:xfrm>
          <a:prstGeom prst="rect">
            <a:avLst/>
          </a:prstGeom>
          <a:noFill/>
          <a:ln/>
        </p:spPr>
        <p:txBody>
          <a:bodyPr wrap="square" lIns="0" tIns="0" rIns="0" bIns="0" rtlCol="0" anchor="t"/>
          <a:lstStyle/>
          <a:p>
            <a:pPr algn="l" indent="0" marL="0">
              <a:lnSpc>
                <a:spcPct val="106000"/>
              </a:lnSpc>
              <a:buNone/>
            </a:pPr>
            <a:r>
              <a:rPr lang="en-US" sz="1450" b="1" dirty="0">
                <a:solidFill>
                  <a:srgbClr val="14171A"/>
                </a:solidFill>
                <a:latin typeface="Cambria" pitchFamily="34" charset="0"/>
                <a:ea typeface="Cambria" pitchFamily="34" charset="-122"/>
                <a:cs typeface="Cambria" pitchFamily="34" charset="-120"/>
              </a:rPr>
              <a:t>Fake image</a:t>
            </a:r>
            <a:endParaRPr lang="en-US" sz="1450" dirty="0"/>
          </a:p>
        </p:txBody>
      </p:sp>
      <p:sp>
        <p:nvSpPr>
          <p:cNvPr id="13" name="Text 11"/>
          <p:cNvSpPr/>
          <p:nvPr/>
        </p:nvSpPr>
        <p:spPr>
          <a:xfrm>
            <a:off x="3529584" y="2560320"/>
            <a:ext cx="2084832" cy="731520"/>
          </a:xfrm>
          <a:prstGeom prst="rect">
            <a:avLst/>
          </a:prstGeom>
          <a:noFill/>
          <a:ln/>
        </p:spPr>
        <p:txBody>
          <a:bodyPr wrap="square" lIns="0" tIns="0" rIns="0" bIns="0" rtlCol="0" anchor="t"/>
          <a:lstStyle/>
          <a:p>
            <a:pPr algn="l" indent="0" marL="0">
              <a:lnSpc>
                <a:spcPct val="110000"/>
              </a:lnSpc>
              <a:buNone/>
            </a:pPr>
            <a:r>
              <a:rPr lang="en-US" sz="1250" dirty="0">
                <a:solidFill>
                  <a:srgbClr val="3C444C"/>
                </a:solidFill>
                <a:latin typeface="Calibri" pitchFamily="34" charset="0"/>
                <a:ea typeface="Calibri" pitchFamily="34" charset="-122"/>
                <a:cs typeface="Calibri" pitchFamily="34" charset="-120"/>
              </a:rPr>
              <a:t>A photo or video that was edited, or created by software.</a:t>
            </a:r>
            <a:endParaRPr lang="en-US" sz="1250" dirty="0"/>
          </a:p>
        </p:txBody>
      </p:sp>
      <p:sp>
        <p:nvSpPr>
          <p:cNvPr id="14" name="Shape 12"/>
          <p:cNvSpPr/>
          <p:nvPr/>
        </p:nvSpPr>
        <p:spPr>
          <a:xfrm>
            <a:off x="6035040" y="1536192"/>
            <a:ext cx="2560320" cy="1920240"/>
          </a:xfrm>
          <a:prstGeom prst="roundRect">
            <a:avLst>
              <a:gd name="adj" fmla="val 2857"/>
            </a:avLst>
          </a:prstGeom>
          <a:solidFill>
            <a:srgbClr val="FFFEFB"/>
          </a:solidFill>
          <a:ln w="9525">
            <a:solidFill>
              <a:srgbClr val="D9D6CF"/>
            </a:solidFill>
            <a:prstDash val="solid"/>
          </a:ln>
          <a:effectLst>
            <a:outerShdw sx="100000" sy="100000" kx="0" ky="0" algn="bl" rotWithShape="0" blurRad="88900" dist="12700" dir="5400000">
              <a:srgbClr val="9A968A">
                <a:alpha val="20000"/>
              </a:srgbClr>
            </a:outerShdw>
          </a:effectLst>
        </p:spPr>
      </p:sp>
      <p:sp>
        <p:nvSpPr>
          <p:cNvPr id="15" name="Shape 13"/>
          <p:cNvSpPr/>
          <p:nvPr/>
        </p:nvSpPr>
        <p:spPr>
          <a:xfrm>
            <a:off x="6272784" y="1737360"/>
            <a:ext cx="365760" cy="365760"/>
          </a:xfrm>
          <a:prstGeom prst="ellipse">
            <a:avLst/>
          </a:prstGeom>
          <a:solidFill>
            <a:srgbClr val="B22222"/>
          </a:solidFill>
          <a:ln w="12700">
            <a:solidFill>
              <a:srgbClr val="B22222"/>
            </a:solidFill>
            <a:prstDash val="solid"/>
          </a:ln>
        </p:spPr>
      </p:sp>
      <p:sp>
        <p:nvSpPr>
          <p:cNvPr id="16" name="Text 14"/>
          <p:cNvSpPr/>
          <p:nvPr/>
        </p:nvSpPr>
        <p:spPr>
          <a:xfrm>
            <a:off x="6272784" y="1737360"/>
            <a:ext cx="365760" cy="365760"/>
          </a:xfrm>
          <a:prstGeom prst="rect">
            <a:avLst/>
          </a:prstGeom>
          <a:noFill/>
          <a:ln/>
        </p:spPr>
        <p:txBody>
          <a:bodyPr wrap="square" lIns="0" tIns="0" rIns="0" bIns="0" rtlCol="0" anchor="ctr"/>
          <a:lstStyle/>
          <a:p>
            <a:pPr algn="ctr" indent="0" marL="0">
              <a:buNone/>
            </a:pPr>
            <a:r>
              <a:rPr lang="en-US" sz="1100" b="1" dirty="0">
                <a:solidFill>
                  <a:srgbClr val="FFFEFB"/>
                </a:solidFill>
                <a:latin typeface="Courier New" pitchFamily="34" charset="0"/>
                <a:ea typeface="Courier New" pitchFamily="34" charset="-122"/>
                <a:cs typeface="Courier New" pitchFamily="34" charset="-120"/>
              </a:rPr>
              <a:t>3</a:t>
            </a:r>
            <a:endParaRPr lang="en-US" sz="1100" dirty="0"/>
          </a:p>
        </p:txBody>
      </p:sp>
      <p:sp>
        <p:nvSpPr>
          <p:cNvPr id="17" name="Text 15"/>
          <p:cNvSpPr/>
          <p:nvPr/>
        </p:nvSpPr>
        <p:spPr>
          <a:xfrm>
            <a:off x="6272784" y="2212848"/>
            <a:ext cx="2084832" cy="274320"/>
          </a:xfrm>
          <a:prstGeom prst="rect">
            <a:avLst/>
          </a:prstGeom>
          <a:noFill/>
          <a:ln/>
        </p:spPr>
        <p:txBody>
          <a:bodyPr wrap="square" lIns="0" tIns="0" rIns="0" bIns="0" rtlCol="0" anchor="t"/>
          <a:lstStyle/>
          <a:p>
            <a:pPr algn="l" indent="0" marL="0">
              <a:lnSpc>
                <a:spcPct val="106000"/>
              </a:lnSpc>
              <a:buNone/>
            </a:pPr>
            <a:r>
              <a:rPr lang="en-US" sz="1450" b="1" dirty="0">
                <a:solidFill>
                  <a:srgbClr val="14171A"/>
                </a:solidFill>
                <a:latin typeface="Cambria" pitchFamily="34" charset="0"/>
                <a:ea typeface="Cambria" pitchFamily="34" charset="-122"/>
                <a:cs typeface="Cambria" pitchFamily="34" charset="-120"/>
              </a:rPr>
              <a:t>Misleading headline</a:t>
            </a:r>
            <a:endParaRPr lang="en-US" sz="1450" dirty="0"/>
          </a:p>
        </p:txBody>
      </p:sp>
      <p:sp>
        <p:nvSpPr>
          <p:cNvPr id="18" name="Text 16"/>
          <p:cNvSpPr/>
          <p:nvPr/>
        </p:nvSpPr>
        <p:spPr>
          <a:xfrm>
            <a:off x="6272784" y="2560320"/>
            <a:ext cx="2084832" cy="731520"/>
          </a:xfrm>
          <a:prstGeom prst="rect">
            <a:avLst/>
          </a:prstGeom>
          <a:noFill/>
          <a:ln/>
        </p:spPr>
        <p:txBody>
          <a:bodyPr wrap="square" lIns="0" tIns="0" rIns="0" bIns="0" rtlCol="0" anchor="t"/>
          <a:lstStyle/>
          <a:p>
            <a:pPr algn="l" indent="0" marL="0">
              <a:lnSpc>
                <a:spcPct val="110000"/>
              </a:lnSpc>
              <a:buNone/>
            </a:pPr>
            <a:r>
              <a:rPr lang="en-US" sz="1250" dirty="0">
                <a:solidFill>
                  <a:srgbClr val="3C444C"/>
                </a:solidFill>
                <a:latin typeface="Calibri" pitchFamily="34" charset="0"/>
                <a:ea typeface="Calibri" pitchFamily="34" charset="-122"/>
                <a:cs typeface="Calibri" pitchFamily="34" charset="-120"/>
              </a:rPr>
              <a:t>Every fact in the article is true, but the headline makes you believe something false.</a:t>
            </a:r>
            <a:endParaRPr lang="en-US" sz="1250" dirty="0"/>
          </a:p>
        </p:txBody>
      </p:sp>
      <p:sp>
        <p:nvSpPr>
          <p:cNvPr id="19" name="Text 17"/>
          <p:cNvSpPr/>
          <p:nvPr/>
        </p:nvSpPr>
        <p:spPr>
          <a:xfrm>
            <a:off x="548640" y="3657600"/>
            <a:ext cx="8046720" cy="310896"/>
          </a:xfrm>
          <a:prstGeom prst="rect">
            <a:avLst/>
          </a:prstGeom>
          <a:noFill/>
          <a:ln/>
        </p:spPr>
        <p:txBody>
          <a:bodyPr wrap="square" lIns="0" tIns="0" rIns="0" bIns="0" rtlCol="0" anchor="t"/>
          <a:lstStyle/>
          <a:p>
            <a:pPr algn="l" indent="0" marL="0">
              <a:lnSpc>
                <a:spcPct val="106000"/>
              </a:lnSpc>
              <a:buNone/>
            </a:pPr>
            <a:r>
              <a:rPr lang="en-US" sz="1700" b="1" dirty="0">
                <a:solidFill>
                  <a:srgbClr val="14171A"/>
                </a:solidFill>
                <a:latin typeface="Cambria" pitchFamily="34" charset="0"/>
                <a:ea typeface="Cambria" pitchFamily="34" charset="-122"/>
                <a:cs typeface="Cambria" pitchFamily="34" charset="-120"/>
              </a:rPr>
              <a:t>The third form is the most common and the hardest to notice.</a:t>
            </a:r>
            <a:endParaRPr lang="en-US" sz="1700" dirty="0"/>
          </a:p>
        </p:txBody>
      </p:sp>
      <p:sp>
        <p:nvSpPr>
          <p:cNvPr id="20" name="Text 18"/>
          <p:cNvSpPr/>
          <p:nvPr/>
        </p:nvSpPr>
        <p:spPr>
          <a:xfrm>
            <a:off x="548640" y="4078224"/>
            <a:ext cx="8046720" cy="310896"/>
          </a:xfrm>
          <a:prstGeom prst="rect">
            <a:avLst/>
          </a:prstGeom>
          <a:noFill/>
          <a:ln/>
        </p:spPr>
        <p:txBody>
          <a:bodyPr wrap="square" lIns="0" tIns="0" rIns="0" bIns="0" rtlCol="0" anchor="t"/>
          <a:lstStyle/>
          <a:p>
            <a:pPr algn="l" indent="0" marL="0">
              <a:lnSpc>
                <a:spcPct val="106000"/>
              </a:lnSpc>
              <a:buNone/>
            </a:pPr>
            <a:r>
              <a:rPr lang="en-US" sz="1300" dirty="0">
                <a:solidFill>
                  <a:srgbClr val="3C444C"/>
                </a:solidFill>
                <a:latin typeface="Calibri" pitchFamily="34" charset="0"/>
                <a:ea typeface="Calibri" pitchFamily="34" charset="-122"/>
                <a:cs typeface="Calibri" pitchFamily="34" charset="-120"/>
              </a:rPr>
              <a:t>Before you judge a post, ask who sent it, and whether that person knows if it is true.</a:t>
            </a:r>
            <a:endParaRPr lang="en-US" sz="1300" dirty="0"/>
          </a:p>
        </p:txBody>
      </p:sp>
      <p:sp>
        <p:nvSpPr>
          <p:cNvPr id="22" name="Text 19"/>
          <p:cNvSpPr/>
          <p:nvPr/>
        </p:nvSpPr>
        <p:spPr>
          <a:xfrm>
            <a:off x="548640" y="4668012"/>
            <a:ext cx="8046720" cy="256032"/>
          </a:xfrm>
          <a:prstGeom prst="rect">
            <a:avLst/>
          </a:prstGeom>
          <a:noFill/>
          <a:ln/>
        </p:spPr>
        <p:txBody>
          <a:bodyPr wrap="square" lIns="0" tIns="0" rIns="0" bIns="0" rtlCol="0" anchor="ctr"/>
          <a:lstStyle/>
          <a:p>
            <a:pPr indent="0" marL="0">
              <a:buNone/>
            </a:pPr>
            <a:r>
              <a:rPr lang="en-US" sz="800" spc="100" kern="0" dirty="0">
                <a:solidFill>
                  <a:srgbClr val="5C6873"/>
                </a:solidFill>
                <a:latin typeface="Courier New" pitchFamily="34" charset="0"/>
                <a:ea typeface="Courier New" pitchFamily="34" charset="-122"/>
                <a:cs typeface="Courier New" pitchFamily="34" charset="-120"/>
              </a:rPr>
              <a:t>BECURRENT  ·  SOCIAL MEDIA  ·  TOPIC 5</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2ED"/>
        </a:solidFill>
      </p:bgPr>
    </p:bg>
    <p:spTree>
      <p:nvGrpSpPr>
        <p:cNvPr id="1" name=""/>
        <p:cNvGrpSpPr/>
        <p:nvPr/>
      </p:nvGrpSpPr>
      <p:grpSpPr>
        <a:xfrm>
          <a:off x="0" y="0"/>
          <a:ext cx="0" cy="0"/>
          <a:chOff x="0" y="0"/>
          <a:chExt cx="0" cy="0"/>
        </a:xfrm>
      </p:grpSpPr>
      <p:sp>
        <p:nvSpPr>
          <p:cNvPr id="2" name="Text 0"/>
          <p:cNvSpPr/>
          <p:nvPr/>
        </p:nvSpPr>
        <p:spPr>
          <a:xfrm>
            <a:off x="548640" y="365760"/>
            <a:ext cx="8046720" cy="237744"/>
          </a:xfrm>
          <a:prstGeom prst="rect">
            <a:avLst/>
          </a:prstGeom>
          <a:noFill/>
          <a:ln/>
        </p:spPr>
        <p:txBody>
          <a:bodyPr wrap="square" lIns="0" tIns="0" rIns="0" bIns="0" rtlCol="0" anchor="ctr"/>
          <a:lstStyle/>
          <a:p>
            <a:pPr indent="0" marL="0">
              <a:buNone/>
            </a:pPr>
            <a:r>
              <a:rPr lang="en-US" sz="1000" b="1" spc="140" kern="0" dirty="0">
                <a:solidFill>
                  <a:srgbClr val="B22222"/>
                </a:solidFill>
                <a:latin typeface="Courier New" pitchFamily="34" charset="0"/>
                <a:ea typeface="Courier New" pitchFamily="34" charset="-122"/>
                <a:cs typeface="Courier New" pitchFamily="34" charset="-120"/>
              </a:rPr>
              <a:t>APRIL 2013 · AN EXAMPLE</a:t>
            </a:r>
            <a:endParaRPr lang="en-US" sz="1000" dirty="0"/>
          </a:p>
        </p:txBody>
      </p:sp>
      <p:sp>
        <p:nvSpPr>
          <p:cNvPr id="3" name="Text 1"/>
          <p:cNvSpPr/>
          <p:nvPr/>
        </p:nvSpPr>
        <p:spPr>
          <a:xfrm>
            <a:off x="548640" y="713232"/>
            <a:ext cx="8046720" cy="731520"/>
          </a:xfrm>
          <a:prstGeom prst="rect">
            <a:avLst/>
          </a:prstGeom>
          <a:noFill/>
          <a:ln/>
        </p:spPr>
        <p:txBody>
          <a:bodyPr wrap="square" lIns="0" tIns="0" rIns="0" bIns="0" rtlCol="0" anchor="t"/>
          <a:lstStyle/>
          <a:p>
            <a:pPr indent="0" marL="0">
              <a:lnSpc>
                <a:spcPct val="92000"/>
              </a:lnSpc>
              <a:buNone/>
            </a:pPr>
            <a:r>
              <a:rPr lang="en-US" sz="3000" b="1" dirty="0">
                <a:solidFill>
                  <a:srgbClr val="14171A"/>
                </a:solidFill>
                <a:latin typeface="Cambria" pitchFamily="34" charset="0"/>
                <a:ea typeface="Cambria" pitchFamily="34" charset="-122"/>
                <a:cs typeface="Cambria" pitchFamily="34" charset="-120"/>
              </a:rPr>
              <a:t>One false sentence from a trusted account</a:t>
            </a:r>
            <a:endParaRPr lang="en-US" sz="3000" dirty="0"/>
          </a:p>
        </p:txBody>
      </p:sp>
      <p:sp>
        <p:nvSpPr>
          <p:cNvPr id="4" name="Shape 2"/>
          <p:cNvSpPr/>
          <p:nvPr/>
        </p:nvSpPr>
        <p:spPr>
          <a:xfrm>
            <a:off x="548640" y="1572768"/>
            <a:ext cx="4754880" cy="2148840"/>
          </a:xfrm>
          <a:prstGeom prst="roundRect">
            <a:avLst>
              <a:gd name="adj" fmla="val 2553"/>
            </a:avLst>
          </a:prstGeom>
          <a:solidFill>
            <a:srgbClr val="FFFEFB"/>
          </a:solidFill>
          <a:ln w="9525">
            <a:solidFill>
              <a:srgbClr val="D9D6CF"/>
            </a:solidFill>
            <a:prstDash val="solid"/>
          </a:ln>
          <a:effectLst>
            <a:outerShdw sx="100000" sy="100000" kx="0" ky="0" algn="bl" rotWithShape="0" blurRad="88900" dist="12700" dir="5400000">
              <a:srgbClr val="9A968A">
                <a:alpha val="20000"/>
              </a:srgbClr>
            </a:outerShdw>
          </a:effectLst>
        </p:spPr>
      </p:sp>
      <p:sp>
        <p:nvSpPr>
          <p:cNvPr id="5" name="Text 3"/>
          <p:cNvSpPr/>
          <p:nvPr/>
        </p:nvSpPr>
        <p:spPr>
          <a:xfrm>
            <a:off x="804672" y="1792224"/>
            <a:ext cx="4242816" cy="1737360"/>
          </a:xfrm>
          <a:prstGeom prst="rect">
            <a:avLst/>
          </a:prstGeom>
          <a:noFill/>
          <a:ln/>
        </p:spPr>
        <p:txBody>
          <a:bodyPr wrap="square" lIns="0" tIns="0" rIns="0" bIns="0" rtlCol="0" anchor="t"/>
          <a:lstStyle/>
          <a:p>
            <a:pPr marL="177800" indent="-177800">
              <a:lnSpc>
                <a:spcPct val="104000"/>
              </a:lnSpc>
              <a:spcAft>
                <a:spcPts val="800"/>
              </a:spcAft>
              <a:buSzPct val="100000"/>
              <a:buChar char="•"/>
            </a:pPr>
            <a:r>
              <a:rPr lang="en-US" sz="1300" dirty="0">
                <a:solidFill>
                  <a:srgbClr val="3C444C"/>
                </a:solidFill>
                <a:latin typeface="Calibri" pitchFamily="34" charset="0"/>
                <a:ea typeface="Calibri" pitchFamily="34" charset="-122"/>
                <a:cs typeface="Calibri" pitchFamily="34" charset="-120"/>
              </a:rPr>
              <a:t>Hackers took control of the Associated Press Twitter account.</a:t>
            </a:r>
            <a:endParaRPr lang="en-US" sz="1300" dirty="0"/>
          </a:p>
          <a:p>
            <a:pPr marL="177800" indent="-177800">
              <a:lnSpc>
                <a:spcPct val="104000"/>
              </a:lnSpc>
              <a:spcAft>
                <a:spcPts val="800"/>
              </a:spcAft>
              <a:buSzPct val="100000"/>
              <a:buChar char="•"/>
            </a:pPr>
            <a:r>
              <a:rPr lang="en-US" sz="1300" dirty="0">
                <a:solidFill>
                  <a:srgbClr val="3C444C"/>
                </a:solidFill>
                <a:latin typeface="Calibri" pitchFamily="34" charset="0"/>
                <a:ea typeface="Calibri" pitchFamily="34" charset="-122"/>
                <a:cs typeface="Calibri" pitchFamily="34" charset="-120"/>
              </a:rPr>
              <a:t>They posted that there had been explosions at the White House and that the president was injured.</a:t>
            </a:r>
            <a:endParaRPr lang="en-US" sz="1300" dirty="0"/>
          </a:p>
          <a:p>
            <a:pPr marL="177800" indent="-177800">
              <a:lnSpc>
                <a:spcPct val="104000"/>
              </a:lnSpc>
              <a:spcAft>
                <a:spcPts val="800"/>
              </a:spcAft>
              <a:buSzPct val="100000"/>
              <a:buChar char="•"/>
            </a:pPr>
            <a:r>
              <a:rPr lang="en-US" sz="1300" dirty="0">
                <a:solidFill>
                  <a:srgbClr val="3C444C"/>
                </a:solidFill>
                <a:latin typeface="Calibri" pitchFamily="34" charset="0"/>
                <a:ea typeface="Calibri" pitchFamily="34" charset="-122"/>
                <a:cs typeface="Calibri" pitchFamily="34" charset="-120"/>
              </a:rPr>
              <a:t>Neither of those things had happened.</a:t>
            </a:r>
            <a:endParaRPr lang="en-US" sz="1300" dirty="0"/>
          </a:p>
          <a:p>
            <a:pPr marL="177800" indent="-177800">
              <a:lnSpc>
                <a:spcPct val="104000"/>
              </a:lnSpc>
              <a:spcAft>
                <a:spcPts val="800"/>
              </a:spcAft>
              <a:buSzPct val="100000"/>
              <a:buChar char="•"/>
            </a:pPr>
            <a:r>
              <a:rPr lang="en-US" sz="1300" dirty="0">
                <a:solidFill>
                  <a:srgbClr val="3C444C"/>
                </a:solidFill>
                <a:latin typeface="Calibri" pitchFamily="34" charset="0"/>
                <a:ea typeface="Calibri" pitchFamily="34" charset="-122"/>
                <a:cs typeface="Calibri" pitchFamily="34" charset="-120"/>
              </a:rPr>
              <a:t>The stock market dropped sharply within seconds, then recovered within minutes once the AP said the post was false.</a:t>
            </a:r>
            <a:endParaRPr lang="en-US" sz="1300" dirty="0"/>
          </a:p>
        </p:txBody>
      </p:sp>
      <p:sp>
        <p:nvSpPr>
          <p:cNvPr id="6" name="Shape 4"/>
          <p:cNvSpPr/>
          <p:nvPr/>
        </p:nvSpPr>
        <p:spPr>
          <a:xfrm>
            <a:off x="5577840" y="1572768"/>
            <a:ext cx="3017520" cy="2148840"/>
          </a:xfrm>
          <a:prstGeom prst="roundRect">
            <a:avLst>
              <a:gd name="adj" fmla="val 2553"/>
            </a:avLst>
          </a:prstGeom>
          <a:solidFill>
            <a:srgbClr val="F2E1E1"/>
          </a:solidFill>
          <a:ln w="9525">
            <a:solidFill>
              <a:srgbClr val="F2E1E1"/>
            </a:solidFill>
            <a:prstDash val="solid"/>
          </a:ln>
          <a:effectLst>
            <a:outerShdw sx="100000" sy="100000" kx="0" ky="0" algn="bl" rotWithShape="0" blurRad="88900" dist="12700" dir="5400000">
              <a:srgbClr val="9A968A">
                <a:alpha val="20000"/>
              </a:srgbClr>
            </a:outerShdw>
          </a:effectLst>
        </p:spPr>
      </p:sp>
      <p:sp>
        <p:nvSpPr>
          <p:cNvPr id="7" name="Text 5"/>
          <p:cNvSpPr/>
          <p:nvPr/>
        </p:nvSpPr>
        <p:spPr>
          <a:xfrm>
            <a:off x="5852160" y="1810512"/>
            <a:ext cx="2468880" cy="457200"/>
          </a:xfrm>
          <a:prstGeom prst="rect">
            <a:avLst/>
          </a:prstGeom>
          <a:noFill/>
          <a:ln/>
        </p:spPr>
        <p:txBody>
          <a:bodyPr wrap="square" lIns="0" tIns="0" rIns="0" bIns="0" rtlCol="0" anchor="t"/>
          <a:lstStyle/>
          <a:p>
            <a:pPr algn="l" indent="0" marL="0">
              <a:lnSpc>
                <a:spcPct val="106000"/>
              </a:lnSpc>
              <a:buNone/>
            </a:pPr>
            <a:r>
              <a:rPr lang="en-US" sz="3000" b="1" dirty="0">
                <a:solidFill>
                  <a:srgbClr val="8A1A1A"/>
                </a:solidFill>
                <a:latin typeface="Cambria" pitchFamily="34" charset="0"/>
                <a:ea typeface="Cambria" pitchFamily="34" charset="-122"/>
                <a:cs typeface="Cambria" pitchFamily="34" charset="-120"/>
              </a:rPr>
              <a:t>SECONDS</a:t>
            </a:r>
            <a:endParaRPr lang="en-US" sz="3000" dirty="0"/>
          </a:p>
        </p:txBody>
      </p:sp>
      <p:sp>
        <p:nvSpPr>
          <p:cNvPr id="8" name="Text 6"/>
          <p:cNvSpPr/>
          <p:nvPr/>
        </p:nvSpPr>
        <p:spPr>
          <a:xfrm>
            <a:off x="5852160" y="2249424"/>
            <a:ext cx="2468880" cy="237744"/>
          </a:xfrm>
          <a:prstGeom prst="rect">
            <a:avLst/>
          </a:prstGeom>
          <a:noFill/>
          <a:ln/>
        </p:spPr>
        <p:txBody>
          <a:bodyPr wrap="square" lIns="0" tIns="0" rIns="0" bIns="0" rtlCol="0" anchor="t"/>
          <a:lstStyle/>
          <a:p>
            <a:pPr algn="l" indent="0" marL="0">
              <a:lnSpc>
                <a:spcPct val="106000"/>
              </a:lnSpc>
              <a:buNone/>
            </a:pPr>
            <a:r>
              <a:rPr lang="en-US" sz="950" dirty="0">
                <a:solidFill>
                  <a:srgbClr val="3C444C"/>
                </a:solidFill>
                <a:latin typeface="Courier New" pitchFamily="34" charset="0"/>
                <a:ea typeface="Courier New" pitchFamily="34" charset="-122"/>
                <a:cs typeface="Courier New" pitchFamily="34" charset="-120"/>
              </a:rPr>
              <a:t>for the market to fall</a:t>
            </a:r>
            <a:endParaRPr lang="en-US" sz="950" dirty="0"/>
          </a:p>
        </p:txBody>
      </p:sp>
      <p:sp>
        <p:nvSpPr>
          <p:cNvPr id="9" name="Text 7"/>
          <p:cNvSpPr/>
          <p:nvPr/>
        </p:nvSpPr>
        <p:spPr>
          <a:xfrm>
            <a:off x="5852160" y="2651760"/>
            <a:ext cx="2468880" cy="457200"/>
          </a:xfrm>
          <a:prstGeom prst="rect">
            <a:avLst/>
          </a:prstGeom>
          <a:noFill/>
          <a:ln/>
        </p:spPr>
        <p:txBody>
          <a:bodyPr wrap="square" lIns="0" tIns="0" rIns="0" bIns="0" rtlCol="0" anchor="t"/>
          <a:lstStyle/>
          <a:p>
            <a:pPr algn="l" indent="0" marL="0">
              <a:lnSpc>
                <a:spcPct val="106000"/>
              </a:lnSpc>
              <a:buNone/>
            </a:pPr>
            <a:r>
              <a:rPr lang="en-US" sz="3000" b="1" dirty="0">
                <a:solidFill>
                  <a:srgbClr val="8A1A1A"/>
                </a:solidFill>
                <a:latin typeface="Cambria" pitchFamily="34" charset="0"/>
                <a:ea typeface="Cambria" pitchFamily="34" charset="-122"/>
                <a:cs typeface="Cambria" pitchFamily="34" charset="-120"/>
              </a:rPr>
              <a:t>MINUTES</a:t>
            </a:r>
            <a:endParaRPr lang="en-US" sz="3000" dirty="0"/>
          </a:p>
        </p:txBody>
      </p:sp>
      <p:sp>
        <p:nvSpPr>
          <p:cNvPr id="10" name="Text 8"/>
          <p:cNvSpPr/>
          <p:nvPr/>
        </p:nvSpPr>
        <p:spPr>
          <a:xfrm>
            <a:off x="5852160" y="3090672"/>
            <a:ext cx="2468880" cy="237744"/>
          </a:xfrm>
          <a:prstGeom prst="rect">
            <a:avLst/>
          </a:prstGeom>
          <a:noFill/>
          <a:ln/>
        </p:spPr>
        <p:txBody>
          <a:bodyPr wrap="square" lIns="0" tIns="0" rIns="0" bIns="0" rtlCol="0" anchor="t"/>
          <a:lstStyle/>
          <a:p>
            <a:pPr algn="l" indent="0" marL="0">
              <a:lnSpc>
                <a:spcPct val="106000"/>
              </a:lnSpc>
              <a:buNone/>
            </a:pPr>
            <a:r>
              <a:rPr lang="en-US" sz="950" dirty="0">
                <a:solidFill>
                  <a:srgbClr val="3C444C"/>
                </a:solidFill>
                <a:latin typeface="Courier New" pitchFamily="34" charset="0"/>
                <a:ea typeface="Courier New" pitchFamily="34" charset="-122"/>
                <a:cs typeface="Courier New" pitchFamily="34" charset="-120"/>
              </a:rPr>
              <a:t>for it to recover</a:t>
            </a:r>
            <a:endParaRPr lang="en-US" sz="950" dirty="0"/>
          </a:p>
        </p:txBody>
      </p:sp>
      <p:sp>
        <p:nvSpPr>
          <p:cNvPr id="11" name="Text 9"/>
          <p:cNvSpPr/>
          <p:nvPr/>
        </p:nvSpPr>
        <p:spPr>
          <a:xfrm>
            <a:off x="548640" y="3931920"/>
            <a:ext cx="8046720" cy="457200"/>
          </a:xfrm>
          <a:prstGeom prst="rect">
            <a:avLst/>
          </a:prstGeom>
          <a:noFill/>
          <a:ln/>
        </p:spPr>
        <p:txBody>
          <a:bodyPr wrap="square" lIns="0" tIns="0" rIns="0" bIns="0" rtlCol="0" anchor="t"/>
          <a:lstStyle/>
          <a:p>
            <a:pPr algn="l" indent="0" marL="0">
              <a:lnSpc>
                <a:spcPct val="112000"/>
              </a:lnSpc>
              <a:buNone/>
            </a:pPr>
            <a:r>
              <a:rPr lang="en-US" sz="1350" i="1" dirty="0">
                <a:solidFill>
                  <a:srgbClr val="3C444C"/>
                </a:solidFill>
                <a:latin typeface="Calibri" pitchFamily="34" charset="0"/>
                <a:ea typeface="Calibri" pitchFamily="34" charset="-122"/>
                <a:cs typeface="Calibri" pitchFamily="34" charset="-120"/>
              </a:rPr>
              <a:t>The post spread because people trusted the account, not because anyone had checked the story.</a:t>
            </a:r>
            <a:endParaRPr lang="en-US" sz="1350" dirty="0"/>
          </a:p>
        </p:txBody>
      </p:sp>
      <p:sp>
        <p:nvSpPr>
          <p:cNvPr id="13" name="Text 10"/>
          <p:cNvSpPr/>
          <p:nvPr/>
        </p:nvSpPr>
        <p:spPr>
          <a:xfrm>
            <a:off x="548640" y="4668012"/>
            <a:ext cx="8046720" cy="256032"/>
          </a:xfrm>
          <a:prstGeom prst="rect">
            <a:avLst/>
          </a:prstGeom>
          <a:noFill/>
          <a:ln/>
        </p:spPr>
        <p:txBody>
          <a:bodyPr wrap="square" lIns="0" tIns="0" rIns="0" bIns="0" rtlCol="0" anchor="ctr"/>
          <a:lstStyle/>
          <a:p>
            <a:pPr indent="0" marL="0">
              <a:buNone/>
            </a:pPr>
            <a:r>
              <a:rPr lang="en-US" sz="800" spc="100" kern="0" dirty="0">
                <a:solidFill>
                  <a:srgbClr val="5C6873"/>
                </a:solidFill>
                <a:latin typeface="Courier New" pitchFamily="34" charset="0"/>
                <a:ea typeface="Courier New" pitchFamily="34" charset="-122"/>
                <a:cs typeface="Courier New" pitchFamily="34" charset="-120"/>
              </a:rPr>
              <a:t>BECURRENT  ·  SOCIAL MEDIA  ·  TOPIC 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2ED"/>
        </a:solidFill>
      </p:bgPr>
    </p:bg>
    <p:spTree>
      <p:nvGrpSpPr>
        <p:cNvPr id="1" name=""/>
        <p:cNvGrpSpPr/>
        <p:nvPr/>
      </p:nvGrpSpPr>
      <p:grpSpPr>
        <a:xfrm>
          <a:off x="0" y="0"/>
          <a:ext cx="0" cy="0"/>
          <a:chOff x="0" y="0"/>
          <a:chExt cx="0" cy="0"/>
        </a:xfrm>
      </p:grpSpPr>
      <p:sp>
        <p:nvSpPr>
          <p:cNvPr id="2" name="Text 0"/>
          <p:cNvSpPr/>
          <p:nvPr/>
        </p:nvSpPr>
        <p:spPr>
          <a:xfrm>
            <a:off x="548640" y="365760"/>
            <a:ext cx="8046720" cy="237744"/>
          </a:xfrm>
          <a:prstGeom prst="rect">
            <a:avLst/>
          </a:prstGeom>
          <a:noFill/>
          <a:ln/>
        </p:spPr>
        <p:txBody>
          <a:bodyPr wrap="square" lIns="0" tIns="0" rIns="0" bIns="0" rtlCol="0" anchor="ctr"/>
          <a:lstStyle/>
          <a:p>
            <a:pPr indent="0" marL="0">
              <a:buNone/>
            </a:pPr>
            <a:r>
              <a:rPr lang="en-US" sz="1000" b="1" spc="140" kern="0" dirty="0">
                <a:solidFill>
                  <a:srgbClr val="B22222"/>
                </a:solidFill>
                <a:latin typeface="Courier New" pitchFamily="34" charset="0"/>
                <a:ea typeface="Courier New" pitchFamily="34" charset="-122"/>
                <a:cs typeface="Courier New" pitchFamily="34" charset="-120"/>
              </a:rPr>
              <a:t>PART TWO</a:t>
            </a:r>
            <a:endParaRPr lang="en-US" sz="1000" dirty="0"/>
          </a:p>
        </p:txBody>
      </p:sp>
      <p:sp>
        <p:nvSpPr>
          <p:cNvPr id="3" name="Text 1"/>
          <p:cNvSpPr/>
          <p:nvPr/>
        </p:nvSpPr>
        <p:spPr>
          <a:xfrm>
            <a:off x="548640" y="713232"/>
            <a:ext cx="8046720" cy="731520"/>
          </a:xfrm>
          <a:prstGeom prst="rect">
            <a:avLst/>
          </a:prstGeom>
          <a:noFill/>
          <a:ln/>
        </p:spPr>
        <p:txBody>
          <a:bodyPr wrap="square" lIns="0" tIns="0" rIns="0" bIns="0" rtlCol="0" anchor="t"/>
          <a:lstStyle/>
          <a:p>
            <a:pPr indent="0" marL="0">
              <a:lnSpc>
                <a:spcPct val="92000"/>
              </a:lnSpc>
              <a:buNone/>
            </a:pPr>
            <a:r>
              <a:rPr lang="en-US" sz="3000" b="1" dirty="0">
                <a:solidFill>
                  <a:srgbClr val="14171A"/>
                </a:solidFill>
                <a:latin typeface="Cambria" pitchFamily="34" charset="0"/>
                <a:ea typeface="Cambria" pitchFamily="34" charset="-122"/>
                <a:cs typeface="Cambria" pitchFamily="34" charset="-120"/>
              </a:rPr>
              <a:t>Four tactics that spread false information</a:t>
            </a:r>
            <a:endParaRPr lang="en-US" sz="3000" dirty="0"/>
          </a:p>
        </p:txBody>
      </p:sp>
      <p:sp>
        <p:nvSpPr>
          <p:cNvPr id="4" name="Shape 2"/>
          <p:cNvSpPr/>
          <p:nvPr/>
        </p:nvSpPr>
        <p:spPr>
          <a:xfrm>
            <a:off x="548640" y="1481328"/>
            <a:ext cx="3840480" cy="1243584"/>
          </a:xfrm>
          <a:prstGeom prst="roundRect">
            <a:avLst>
              <a:gd name="adj" fmla="val 4412"/>
            </a:avLst>
          </a:prstGeom>
          <a:solidFill>
            <a:srgbClr val="FFFEFB"/>
          </a:solidFill>
          <a:ln w="9525">
            <a:solidFill>
              <a:srgbClr val="D9D6CF"/>
            </a:solidFill>
            <a:prstDash val="solid"/>
          </a:ln>
          <a:effectLst>
            <a:outerShdw sx="100000" sy="100000" kx="0" ky="0" algn="bl" rotWithShape="0" blurRad="88900" dist="12700" dir="5400000">
              <a:srgbClr val="9A968A">
                <a:alpha val="20000"/>
              </a:srgbClr>
            </a:outerShdw>
          </a:effectLst>
        </p:spPr>
      </p:sp>
      <p:sp>
        <p:nvSpPr>
          <p:cNvPr id="5" name="Shape 3"/>
          <p:cNvSpPr/>
          <p:nvPr/>
        </p:nvSpPr>
        <p:spPr>
          <a:xfrm>
            <a:off x="786384" y="1682496"/>
            <a:ext cx="329184" cy="329184"/>
          </a:xfrm>
          <a:prstGeom prst="ellipse">
            <a:avLst/>
          </a:prstGeom>
          <a:solidFill>
            <a:srgbClr val="2B3238"/>
          </a:solidFill>
          <a:ln w="12700">
            <a:solidFill>
              <a:srgbClr val="2B3238"/>
            </a:solidFill>
            <a:prstDash val="solid"/>
          </a:ln>
        </p:spPr>
      </p:sp>
      <p:sp>
        <p:nvSpPr>
          <p:cNvPr id="6" name="Text 4"/>
          <p:cNvSpPr/>
          <p:nvPr/>
        </p:nvSpPr>
        <p:spPr>
          <a:xfrm>
            <a:off x="786384" y="1682496"/>
            <a:ext cx="329184" cy="329184"/>
          </a:xfrm>
          <a:prstGeom prst="rect">
            <a:avLst/>
          </a:prstGeom>
          <a:noFill/>
          <a:ln/>
        </p:spPr>
        <p:txBody>
          <a:bodyPr wrap="square" lIns="0" tIns="0" rIns="0" bIns="0" rtlCol="0" anchor="ctr"/>
          <a:lstStyle/>
          <a:p>
            <a:pPr algn="ctr" indent="0" marL="0">
              <a:buNone/>
            </a:pPr>
            <a:r>
              <a:rPr lang="en-US" sz="1000" b="1" dirty="0">
                <a:solidFill>
                  <a:srgbClr val="FFFEFB"/>
                </a:solidFill>
                <a:latin typeface="Courier New" pitchFamily="34" charset="0"/>
                <a:ea typeface="Courier New" pitchFamily="34" charset="-122"/>
                <a:cs typeface="Courier New" pitchFamily="34" charset="-120"/>
              </a:rPr>
              <a:t>1</a:t>
            </a:r>
            <a:endParaRPr lang="en-US" sz="1000" dirty="0"/>
          </a:p>
        </p:txBody>
      </p:sp>
      <p:sp>
        <p:nvSpPr>
          <p:cNvPr id="7" name="Text 5"/>
          <p:cNvSpPr/>
          <p:nvPr/>
        </p:nvSpPr>
        <p:spPr>
          <a:xfrm>
            <a:off x="1225296" y="1700784"/>
            <a:ext cx="2926080" cy="274320"/>
          </a:xfrm>
          <a:prstGeom prst="rect">
            <a:avLst/>
          </a:prstGeom>
          <a:noFill/>
          <a:ln/>
        </p:spPr>
        <p:txBody>
          <a:bodyPr wrap="square" lIns="0" tIns="0" rIns="0" bIns="0" rtlCol="0" anchor="t"/>
          <a:lstStyle/>
          <a:p>
            <a:pPr algn="l" indent="0" marL="0">
              <a:lnSpc>
                <a:spcPct val="106000"/>
              </a:lnSpc>
              <a:buNone/>
            </a:pPr>
            <a:r>
              <a:rPr lang="en-US" sz="1500" b="1" dirty="0">
                <a:solidFill>
                  <a:srgbClr val="14171A"/>
                </a:solidFill>
                <a:latin typeface="Cambria" pitchFamily="34" charset="0"/>
                <a:ea typeface="Cambria" pitchFamily="34" charset="-122"/>
                <a:cs typeface="Cambria" pitchFamily="34" charset="-120"/>
              </a:rPr>
              <a:t>Clickbait</a:t>
            </a:r>
            <a:endParaRPr lang="en-US" sz="1500" dirty="0"/>
          </a:p>
        </p:txBody>
      </p:sp>
      <p:sp>
        <p:nvSpPr>
          <p:cNvPr id="8" name="Text 6"/>
          <p:cNvSpPr/>
          <p:nvPr/>
        </p:nvSpPr>
        <p:spPr>
          <a:xfrm>
            <a:off x="786384" y="2066544"/>
            <a:ext cx="3364992" cy="548640"/>
          </a:xfrm>
          <a:prstGeom prst="rect">
            <a:avLst/>
          </a:prstGeom>
          <a:noFill/>
          <a:ln/>
        </p:spPr>
        <p:txBody>
          <a:bodyPr wrap="square" lIns="0" tIns="0" rIns="0" bIns="0" rtlCol="0" anchor="t"/>
          <a:lstStyle/>
          <a:p>
            <a:pPr algn="l" indent="0" marL="0">
              <a:lnSpc>
                <a:spcPct val="108000"/>
              </a:lnSpc>
              <a:buNone/>
            </a:pPr>
            <a:r>
              <a:rPr lang="en-US" sz="1250" dirty="0">
                <a:solidFill>
                  <a:srgbClr val="3C444C"/>
                </a:solidFill>
                <a:latin typeface="Calibri" pitchFamily="34" charset="0"/>
                <a:ea typeface="Calibri" pitchFamily="34" charset="-122"/>
                <a:cs typeface="Calibri" pitchFamily="34" charset="-120"/>
              </a:rPr>
              <a:t>A headline written to make you click, rather than to tell you what happened.</a:t>
            </a:r>
            <a:endParaRPr lang="en-US" sz="1250" dirty="0"/>
          </a:p>
        </p:txBody>
      </p:sp>
      <p:sp>
        <p:nvSpPr>
          <p:cNvPr id="9" name="Shape 7"/>
          <p:cNvSpPr/>
          <p:nvPr/>
        </p:nvSpPr>
        <p:spPr>
          <a:xfrm>
            <a:off x="4754880" y="1481328"/>
            <a:ext cx="3840480" cy="1243584"/>
          </a:xfrm>
          <a:prstGeom prst="roundRect">
            <a:avLst>
              <a:gd name="adj" fmla="val 4412"/>
            </a:avLst>
          </a:prstGeom>
          <a:solidFill>
            <a:srgbClr val="FFFEFB"/>
          </a:solidFill>
          <a:ln w="9525">
            <a:solidFill>
              <a:srgbClr val="D9D6CF"/>
            </a:solidFill>
            <a:prstDash val="solid"/>
          </a:ln>
          <a:effectLst>
            <a:outerShdw sx="100000" sy="100000" kx="0" ky="0" algn="bl" rotWithShape="0" blurRad="88900" dist="12700" dir="5400000">
              <a:srgbClr val="9A968A">
                <a:alpha val="20000"/>
              </a:srgbClr>
            </a:outerShdw>
          </a:effectLst>
        </p:spPr>
      </p:sp>
      <p:sp>
        <p:nvSpPr>
          <p:cNvPr id="10" name="Shape 8"/>
          <p:cNvSpPr/>
          <p:nvPr/>
        </p:nvSpPr>
        <p:spPr>
          <a:xfrm>
            <a:off x="4992624" y="1682496"/>
            <a:ext cx="329184" cy="329184"/>
          </a:xfrm>
          <a:prstGeom prst="ellipse">
            <a:avLst/>
          </a:prstGeom>
          <a:solidFill>
            <a:srgbClr val="2B3238"/>
          </a:solidFill>
          <a:ln w="12700">
            <a:solidFill>
              <a:srgbClr val="2B3238"/>
            </a:solidFill>
            <a:prstDash val="solid"/>
          </a:ln>
        </p:spPr>
      </p:sp>
      <p:sp>
        <p:nvSpPr>
          <p:cNvPr id="11" name="Text 9"/>
          <p:cNvSpPr/>
          <p:nvPr/>
        </p:nvSpPr>
        <p:spPr>
          <a:xfrm>
            <a:off x="4992624" y="1682496"/>
            <a:ext cx="329184" cy="329184"/>
          </a:xfrm>
          <a:prstGeom prst="rect">
            <a:avLst/>
          </a:prstGeom>
          <a:noFill/>
          <a:ln/>
        </p:spPr>
        <p:txBody>
          <a:bodyPr wrap="square" lIns="0" tIns="0" rIns="0" bIns="0" rtlCol="0" anchor="ctr"/>
          <a:lstStyle/>
          <a:p>
            <a:pPr algn="ctr" indent="0" marL="0">
              <a:buNone/>
            </a:pPr>
            <a:r>
              <a:rPr lang="en-US" sz="1000" b="1" dirty="0">
                <a:solidFill>
                  <a:srgbClr val="FFFEFB"/>
                </a:solidFill>
                <a:latin typeface="Courier New" pitchFamily="34" charset="0"/>
                <a:ea typeface="Courier New" pitchFamily="34" charset="-122"/>
                <a:cs typeface="Courier New" pitchFamily="34" charset="-120"/>
              </a:rPr>
              <a:t>2</a:t>
            </a:r>
            <a:endParaRPr lang="en-US" sz="1000" dirty="0"/>
          </a:p>
        </p:txBody>
      </p:sp>
      <p:sp>
        <p:nvSpPr>
          <p:cNvPr id="12" name="Text 10"/>
          <p:cNvSpPr/>
          <p:nvPr/>
        </p:nvSpPr>
        <p:spPr>
          <a:xfrm>
            <a:off x="5431536" y="1700784"/>
            <a:ext cx="2926080" cy="274320"/>
          </a:xfrm>
          <a:prstGeom prst="rect">
            <a:avLst/>
          </a:prstGeom>
          <a:noFill/>
          <a:ln/>
        </p:spPr>
        <p:txBody>
          <a:bodyPr wrap="square" lIns="0" tIns="0" rIns="0" bIns="0" rtlCol="0" anchor="t"/>
          <a:lstStyle/>
          <a:p>
            <a:pPr algn="l" indent="0" marL="0">
              <a:lnSpc>
                <a:spcPct val="106000"/>
              </a:lnSpc>
              <a:buNone/>
            </a:pPr>
            <a:r>
              <a:rPr lang="en-US" sz="1500" b="1" dirty="0">
                <a:solidFill>
                  <a:srgbClr val="14171A"/>
                </a:solidFill>
                <a:latin typeface="Cambria" pitchFamily="34" charset="0"/>
                <a:ea typeface="Cambria" pitchFamily="34" charset="-122"/>
                <a:cs typeface="Cambria" pitchFamily="34" charset="-120"/>
              </a:rPr>
              <a:t>Deepfake</a:t>
            </a:r>
            <a:endParaRPr lang="en-US" sz="1500" dirty="0"/>
          </a:p>
        </p:txBody>
      </p:sp>
      <p:sp>
        <p:nvSpPr>
          <p:cNvPr id="13" name="Text 11"/>
          <p:cNvSpPr/>
          <p:nvPr/>
        </p:nvSpPr>
        <p:spPr>
          <a:xfrm>
            <a:off x="4992624" y="2066544"/>
            <a:ext cx="3364992" cy="548640"/>
          </a:xfrm>
          <a:prstGeom prst="rect">
            <a:avLst/>
          </a:prstGeom>
          <a:noFill/>
          <a:ln/>
        </p:spPr>
        <p:txBody>
          <a:bodyPr wrap="square" lIns="0" tIns="0" rIns="0" bIns="0" rtlCol="0" anchor="t"/>
          <a:lstStyle/>
          <a:p>
            <a:pPr algn="l" indent="0" marL="0">
              <a:lnSpc>
                <a:spcPct val="108000"/>
              </a:lnSpc>
              <a:buNone/>
            </a:pPr>
            <a:r>
              <a:rPr lang="en-US" sz="1250" dirty="0">
                <a:solidFill>
                  <a:srgbClr val="3C444C"/>
                </a:solidFill>
                <a:latin typeface="Calibri" pitchFamily="34" charset="0"/>
                <a:ea typeface="Calibri" pitchFamily="34" charset="-122"/>
                <a:cs typeface="Calibri" pitchFamily="34" charset="-120"/>
              </a:rPr>
              <a:t>Video or audio of a real person, made by software, saying something they never said.</a:t>
            </a:r>
            <a:endParaRPr lang="en-US" sz="1250" dirty="0"/>
          </a:p>
        </p:txBody>
      </p:sp>
      <p:sp>
        <p:nvSpPr>
          <p:cNvPr id="14" name="Shape 12"/>
          <p:cNvSpPr/>
          <p:nvPr/>
        </p:nvSpPr>
        <p:spPr>
          <a:xfrm>
            <a:off x="548640" y="2852928"/>
            <a:ext cx="3840480" cy="1243584"/>
          </a:xfrm>
          <a:prstGeom prst="roundRect">
            <a:avLst>
              <a:gd name="adj" fmla="val 4412"/>
            </a:avLst>
          </a:prstGeom>
          <a:solidFill>
            <a:srgbClr val="FFFEFB"/>
          </a:solidFill>
          <a:ln w="9525">
            <a:solidFill>
              <a:srgbClr val="D9D6CF"/>
            </a:solidFill>
            <a:prstDash val="solid"/>
          </a:ln>
          <a:effectLst>
            <a:outerShdw sx="100000" sy="100000" kx="0" ky="0" algn="bl" rotWithShape="0" blurRad="88900" dist="12700" dir="5400000">
              <a:srgbClr val="9A968A">
                <a:alpha val="20000"/>
              </a:srgbClr>
            </a:outerShdw>
          </a:effectLst>
        </p:spPr>
      </p:sp>
      <p:sp>
        <p:nvSpPr>
          <p:cNvPr id="15" name="Shape 13"/>
          <p:cNvSpPr/>
          <p:nvPr/>
        </p:nvSpPr>
        <p:spPr>
          <a:xfrm>
            <a:off x="786384" y="3054096"/>
            <a:ext cx="329184" cy="329184"/>
          </a:xfrm>
          <a:prstGeom prst="ellipse">
            <a:avLst/>
          </a:prstGeom>
          <a:solidFill>
            <a:srgbClr val="2B3238"/>
          </a:solidFill>
          <a:ln w="12700">
            <a:solidFill>
              <a:srgbClr val="2B3238"/>
            </a:solidFill>
            <a:prstDash val="solid"/>
          </a:ln>
        </p:spPr>
      </p:sp>
      <p:sp>
        <p:nvSpPr>
          <p:cNvPr id="16" name="Text 14"/>
          <p:cNvSpPr/>
          <p:nvPr/>
        </p:nvSpPr>
        <p:spPr>
          <a:xfrm>
            <a:off x="786384" y="3054096"/>
            <a:ext cx="329184" cy="329184"/>
          </a:xfrm>
          <a:prstGeom prst="rect">
            <a:avLst/>
          </a:prstGeom>
          <a:noFill/>
          <a:ln/>
        </p:spPr>
        <p:txBody>
          <a:bodyPr wrap="square" lIns="0" tIns="0" rIns="0" bIns="0" rtlCol="0" anchor="ctr"/>
          <a:lstStyle/>
          <a:p>
            <a:pPr algn="ctr" indent="0" marL="0">
              <a:buNone/>
            </a:pPr>
            <a:r>
              <a:rPr lang="en-US" sz="1000" b="1" dirty="0">
                <a:solidFill>
                  <a:srgbClr val="FFFEFB"/>
                </a:solidFill>
                <a:latin typeface="Courier New" pitchFamily="34" charset="0"/>
                <a:ea typeface="Courier New" pitchFamily="34" charset="-122"/>
                <a:cs typeface="Courier New" pitchFamily="34" charset="-120"/>
              </a:rPr>
              <a:t>3</a:t>
            </a:r>
            <a:endParaRPr lang="en-US" sz="1000" dirty="0"/>
          </a:p>
        </p:txBody>
      </p:sp>
      <p:sp>
        <p:nvSpPr>
          <p:cNvPr id="17" name="Text 15"/>
          <p:cNvSpPr/>
          <p:nvPr/>
        </p:nvSpPr>
        <p:spPr>
          <a:xfrm>
            <a:off x="1225296" y="3072384"/>
            <a:ext cx="2926080" cy="274320"/>
          </a:xfrm>
          <a:prstGeom prst="rect">
            <a:avLst/>
          </a:prstGeom>
          <a:noFill/>
          <a:ln/>
        </p:spPr>
        <p:txBody>
          <a:bodyPr wrap="square" lIns="0" tIns="0" rIns="0" bIns="0" rtlCol="0" anchor="t"/>
          <a:lstStyle/>
          <a:p>
            <a:pPr algn="l" indent="0" marL="0">
              <a:lnSpc>
                <a:spcPct val="106000"/>
              </a:lnSpc>
              <a:buNone/>
            </a:pPr>
            <a:r>
              <a:rPr lang="en-US" sz="1500" b="1" dirty="0">
                <a:solidFill>
                  <a:srgbClr val="14171A"/>
                </a:solidFill>
                <a:latin typeface="Cambria" pitchFamily="34" charset="0"/>
                <a:ea typeface="Cambria" pitchFamily="34" charset="-122"/>
                <a:cs typeface="Cambria" pitchFamily="34" charset="-120"/>
              </a:rPr>
              <a:t>Bots</a:t>
            </a:r>
            <a:endParaRPr lang="en-US" sz="1500" dirty="0"/>
          </a:p>
        </p:txBody>
      </p:sp>
      <p:sp>
        <p:nvSpPr>
          <p:cNvPr id="18" name="Text 16"/>
          <p:cNvSpPr/>
          <p:nvPr/>
        </p:nvSpPr>
        <p:spPr>
          <a:xfrm>
            <a:off x="786384" y="3438144"/>
            <a:ext cx="3364992" cy="548640"/>
          </a:xfrm>
          <a:prstGeom prst="rect">
            <a:avLst/>
          </a:prstGeom>
          <a:noFill/>
          <a:ln/>
        </p:spPr>
        <p:txBody>
          <a:bodyPr wrap="square" lIns="0" tIns="0" rIns="0" bIns="0" rtlCol="0" anchor="t"/>
          <a:lstStyle/>
          <a:p>
            <a:pPr algn="l" indent="0" marL="0">
              <a:lnSpc>
                <a:spcPct val="108000"/>
              </a:lnSpc>
              <a:buNone/>
            </a:pPr>
            <a:r>
              <a:rPr lang="en-US" sz="1250" dirty="0">
                <a:solidFill>
                  <a:srgbClr val="3C444C"/>
                </a:solidFill>
                <a:latin typeface="Calibri" pitchFamily="34" charset="0"/>
                <a:ea typeface="Calibri" pitchFamily="34" charset="-122"/>
                <a:cs typeface="Calibri" pitchFamily="34" charset="-120"/>
              </a:rPr>
              <a:t>Automated accounts. Their job is to make a claim look popular.</a:t>
            </a:r>
            <a:endParaRPr lang="en-US" sz="1250" dirty="0"/>
          </a:p>
        </p:txBody>
      </p:sp>
      <p:sp>
        <p:nvSpPr>
          <p:cNvPr id="19" name="Shape 17"/>
          <p:cNvSpPr/>
          <p:nvPr/>
        </p:nvSpPr>
        <p:spPr>
          <a:xfrm>
            <a:off x="4754880" y="2852928"/>
            <a:ext cx="3840480" cy="1243584"/>
          </a:xfrm>
          <a:prstGeom prst="roundRect">
            <a:avLst>
              <a:gd name="adj" fmla="val 4412"/>
            </a:avLst>
          </a:prstGeom>
          <a:solidFill>
            <a:srgbClr val="FFFEFB"/>
          </a:solidFill>
          <a:ln w="9525">
            <a:solidFill>
              <a:srgbClr val="D9D6CF"/>
            </a:solidFill>
            <a:prstDash val="solid"/>
          </a:ln>
          <a:effectLst>
            <a:outerShdw sx="100000" sy="100000" kx="0" ky="0" algn="bl" rotWithShape="0" blurRad="88900" dist="12700" dir="5400000">
              <a:srgbClr val="9A968A">
                <a:alpha val="20000"/>
              </a:srgbClr>
            </a:outerShdw>
          </a:effectLst>
        </p:spPr>
      </p:sp>
      <p:sp>
        <p:nvSpPr>
          <p:cNvPr id="20" name="Shape 18"/>
          <p:cNvSpPr/>
          <p:nvPr/>
        </p:nvSpPr>
        <p:spPr>
          <a:xfrm>
            <a:off x="4992624" y="3054096"/>
            <a:ext cx="329184" cy="329184"/>
          </a:xfrm>
          <a:prstGeom prst="ellipse">
            <a:avLst/>
          </a:prstGeom>
          <a:solidFill>
            <a:srgbClr val="B22222"/>
          </a:solidFill>
          <a:ln w="12700">
            <a:solidFill>
              <a:srgbClr val="B22222"/>
            </a:solidFill>
            <a:prstDash val="solid"/>
          </a:ln>
        </p:spPr>
      </p:sp>
      <p:sp>
        <p:nvSpPr>
          <p:cNvPr id="21" name="Text 19"/>
          <p:cNvSpPr/>
          <p:nvPr/>
        </p:nvSpPr>
        <p:spPr>
          <a:xfrm>
            <a:off x="4992624" y="3054096"/>
            <a:ext cx="329184" cy="329184"/>
          </a:xfrm>
          <a:prstGeom prst="rect">
            <a:avLst/>
          </a:prstGeom>
          <a:noFill/>
          <a:ln/>
        </p:spPr>
        <p:txBody>
          <a:bodyPr wrap="square" lIns="0" tIns="0" rIns="0" bIns="0" rtlCol="0" anchor="ctr"/>
          <a:lstStyle/>
          <a:p>
            <a:pPr algn="ctr" indent="0" marL="0">
              <a:buNone/>
            </a:pPr>
            <a:r>
              <a:rPr lang="en-US" sz="1000" b="1" dirty="0">
                <a:solidFill>
                  <a:srgbClr val="FFFEFB"/>
                </a:solidFill>
                <a:latin typeface="Courier New" pitchFamily="34" charset="0"/>
                <a:ea typeface="Courier New" pitchFamily="34" charset="-122"/>
                <a:cs typeface="Courier New" pitchFamily="34" charset="-120"/>
              </a:rPr>
              <a:t>4</a:t>
            </a:r>
            <a:endParaRPr lang="en-US" sz="1000" dirty="0"/>
          </a:p>
        </p:txBody>
      </p:sp>
      <p:sp>
        <p:nvSpPr>
          <p:cNvPr id="22" name="Text 20"/>
          <p:cNvSpPr/>
          <p:nvPr/>
        </p:nvSpPr>
        <p:spPr>
          <a:xfrm>
            <a:off x="5431536" y="3072384"/>
            <a:ext cx="2926080" cy="274320"/>
          </a:xfrm>
          <a:prstGeom prst="rect">
            <a:avLst/>
          </a:prstGeom>
          <a:noFill/>
          <a:ln/>
        </p:spPr>
        <p:txBody>
          <a:bodyPr wrap="square" lIns="0" tIns="0" rIns="0" bIns="0" rtlCol="0" anchor="t"/>
          <a:lstStyle/>
          <a:p>
            <a:pPr algn="l" indent="0" marL="0">
              <a:lnSpc>
                <a:spcPct val="106000"/>
              </a:lnSpc>
              <a:buNone/>
            </a:pPr>
            <a:r>
              <a:rPr lang="en-US" sz="1500" b="1" dirty="0">
                <a:solidFill>
                  <a:srgbClr val="14171A"/>
                </a:solidFill>
                <a:latin typeface="Cambria" pitchFamily="34" charset="0"/>
                <a:ea typeface="Cambria" pitchFamily="34" charset="-122"/>
                <a:cs typeface="Cambria" pitchFamily="34" charset="-120"/>
              </a:rPr>
              <a:t>Emotion</a:t>
            </a:r>
            <a:endParaRPr lang="en-US" sz="1500" dirty="0"/>
          </a:p>
        </p:txBody>
      </p:sp>
      <p:sp>
        <p:nvSpPr>
          <p:cNvPr id="23" name="Text 21"/>
          <p:cNvSpPr/>
          <p:nvPr/>
        </p:nvSpPr>
        <p:spPr>
          <a:xfrm>
            <a:off x="4992624" y="3438144"/>
            <a:ext cx="3364992" cy="548640"/>
          </a:xfrm>
          <a:prstGeom prst="rect">
            <a:avLst/>
          </a:prstGeom>
          <a:noFill/>
          <a:ln/>
        </p:spPr>
        <p:txBody>
          <a:bodyPr wrap="square" lIns="0" tIns="0" rIns="0" bIns="0" rtlCol="0" anchor="t"/>
          <a:lstStyle/>
          <a:p>
            <a:pPr algn="l" indent="0" marL="0">
              <a:lnSpc>
                <a:spcPct val="108000"/>
              </a:lnSpc>
              <a:buNone/>
            </a:pPr>
            <a:r>
              <a:rPr lang="en-US" sz="1250" dirty="0">
                <a:solidFill>
                  <a:srgbClr val="3C444C"/>
                </a:solidFill>
                <a:latin typeface="Calibri" pitchFamily="34" charset="0"/>
                <a:ea typeface="Calibri" pitchFamily="34" charset="-122"/>
                <a:cs typeface="Calibri" pitchFamily="34" charset="-120"/>
              </a:rPr>
              <a:t>Posts that make people angry or afraid are shared far more than posts that make people think.</a:t>
            </a:r>
            <a:endParaRPr lang="en-US" sz="1250" dirty="0"/>
          </a:p>
        </p:txBody>
      </p:sp>
      <p:sp>
        <p:nvSpPr>
          <p:cNvPr id="24" name="Text 22"/>
          <p:cNvSpPr/>
          <p:nvPr/>
        </p:nvSpPr>
        <p:spPr>
          <a:xfrm>
            <a:off x="548640" y="4224528"/>
            <a:ext cx="8046720" cy="310896"/>
          </a:xfrm>
          <a:prstGeom prst="rect">
            <a:avLst/>
          </a:prstGeom>
          <a:noFill/>
          <a:ln/>
        </p:spPr>
        <p:txBody>
          <a:bodyPr wrap="square" lIns="0" tIns="0" rIns="0" bIns="0" rtlCol="0" anchor="t"/>
          <a:lstStyle/>
          <a:p>
            <a:pPr algn="l" indent="0" marL="0">
              <a:lnSpc>
                <a:spcPct val="106000"/>
              </a:lnSpc>
              <a:buNone/>
            </a:pPr>
            <a:r>
              <a:rPr lang="en-US" sz="1600" b="1" dirty="0">
                <a:solidFill>
                  <a:srgbClr val="14171A"/>
                </a:solidFill>
                <a:latin typeface="Cambria" pitchFamily="34" charset="0"/>
                <a:ea typeface="Cambria" pitchFamily="34" charset="-122"/>
                <a:cs typeface="Cambria" pitchFamily="34" charset="-120"/>
              </a:rPr>
              <a:t>All four aim at your emotions rather than at your reasoning.</a:t>
            </a:r>
            <a:endParaRPr lang="en-US" sz="1600" dirty="0"/>
          </a:p>
        </p:txBody>
      </p:sp>
      <p:sp>
        <p:nvSpPr>
          <p:cNvPr id="26" name="Text 23"/>
          <p:cNvSpPr/>
          <p:nvPr/>
        </p:nvSpPr>
        <p:spPr>
          <a:xfrm>
            <a:off x="548640" y="4668012"/>
            <a:ext cx="8046720" cy="256032"/>
          </a:xfrm>
          <a:prstGeom prst="rect">
            <a:avLst/>
          </a:prstGeom>
          <a:noFill/>
          <a:ln/>
        </p:spPr>
        <p:txBody>
          <a:bodyPr wrap="square" lIns="0" tIns="0" rIns="0" bIns="0" rtlCol="0" anchor="ctr"/>
          <a:lstStyle/>
          <a:p>
            <a:pPr indent="0" marL="0">
              <a:buNone/>
            </a:pPr>
            <a:r>
              <a:rPr lang="en-US" sz="800" spc="100" kern="0" dirty="0">
                <a:solidFill>
                  <a:srgbClr val="5C6873"/>
                </a:solidFill>
                <a:latin typeface="Courier New" pitchFamily="34" charset="0"/>
                <a:ea typeface="Courier New" pitchFamily="34" charset="-122"/>
                <a:cs typeface="Courier New" pitchFamily="34" charset="-120"/>
              </a:rPr>
              <a:t>BECURRENT  ·  SOCIAL MEDIA  ·  TOPIC 5</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2ED"/>
        </a:solidFill>
      </p:bgPr>
    </p:bg>
    <p:spTree>
      <p:nvGrpSpPr>
        <p:cNvPr id="1" name=""/>
        <p:cNvGrpSpPr/>
        <p:nvPr/>
      </p:nvGrpSpPr>
      <p:grpSpPr>
        <a:xfrm>
          <a:off x="0" y="0"/>
          <a:ext cx="0" cy="0"/>
          <a:chOff x="0" y="0"/>
          <a:chExt cx="0" cy="0"/>
        </a:xfrm>
      </p:grpSpPr>
      <p:sp>
        <p:nvSpPr>
          <p:cNvPr id="2" name="Text 0"/>
          <p:cNvSpPr/>
          <p:nvPr/>
        </p:nvSpPr>
        <p:spPr>
          <a:xfrm>
            <a:off x="548640" y="365760"/>
            <a:ext cx="8046720" cy="237744"/>
          </a:xfrm>
          <a:prstGeom prst="rect">
            <a:avLst/>
          </a:prstGeom>
          <a:noFill/>
          <a:ln/>
        </p:spPr>
        <p:txBody>
          <a:bodyPr wrap="square" lIns="0" tIns="0" rIns="0" bIns="0" rtlCol="0" anchor="ctr"/>
          <a:lstStyle/>
          <a:p>
            <a:pPr indent="0" marL="0">
              <a:buNone/>
            </a:pPr>
            <a:r>
              <a:rPr lang="en-US" sz="1000" b="1" spc="140" kern="0" dirty="0">
                <a:solidFill>
                  <a:srgbClr val="B22222"/>
                </a:solidFill>
                <a:latin typeface="Courier New" pitchFamily="34" charset="0"/>
                <a:ea typeface="Courier New" pitchFamily="34" charset="-122"/>
                <a:cs typeface="Courier New" pitchFamily="34" charset="-120"/>
              </a:rPr>
              <a:t>PART TWO · BACK TO TOPIC 3</a:t>
            </a:r>
            <a:endParaRPr lang="en-US" sz="1000" dirty="0"/>
          </a:p>
        </p:txBody>
      </p:sp>
      <p:sp>
        <p:nvSpPr>
          <p:cNvPr id="3" name="Text 1"/>
          <p:cNvSpPr/>
          <p:nvPr/>
        </p:nvSpPr>
        <p:spPr>
          <a:xfrm>
            <a:off x="548640" y="713232"/>
            <a:ext cx="8046720" cy="731520"/>
          </a:xfrm>
          <a:prstGeom prst="rect">
            <a:avLst/>
          </a:prstGeom>
          <a:noFill/>
          <a:ln/>
        </p:spPr>
        <p:txBody>
          <a:bodyPr wrap="square" lIns="0" tIns="0" rIns="0" bIns="0" rtlCol="0" anchor="t"/>
          <a:lstStyle/>
          <a:p>
            <a:pPr indent="0" marL="0">
              <a:lnSpc>
                <a:spcPct val="92000"/>
              </a:lnSpc>
              <a:buNone/>
            </a:pPr>
            <a:r>
              <a:rPr lang="en-US" sz="3000" b="1" dirty="0">
                <a:solidFill>
                  <a:srgbClr val="14171A"/>
                </a:solidFill>
                <a:latin typeface="Cambria" pitchFamily="34" charset="0"/>
                <a:ea typeface="Cambria" pitchFamily="34" charset="-122"/>
                <a:cs typeface="Cambria" pitchFamily="34" charset="-120"/>
              </a:rPr>
              <a:t>The system spreads it without meaning to</a:t>
            </a:r>
            <a:endParaRPr lang="en-US" sz="3000" dirty="0"/>
          </a:p>
        </p:txBody>
      </p:sp>
      <p:sp>
        <p:nvSpPr>
          <p:cNvPr id="4" name="Shape 2"/>
          <p:cNvSpPr/>
          <p:nvPr/>
        </p:nvSpPr>
        <p:spPr>
          <a:xfrm>
            <a:off x="548640" y="1609344"/>
            <a:ext cx="2560320" cy="932688"/>
          </a:xfrm>
          <a:prstGeom prst="roundRect">
            <a:avLst>
              <a:gd name="adj" fmla="val 5882"/>
            </a:avLst>
          </a:prstGeom>
          <a:solidFill>
            <a:srgbClr val="FFFEFB"/>
          </a:solidFill>
          <a:ln w="9525">
            <a:solidFill>
              <a:srgbClr val="D9D6CF"/>
            </a:solidFill>
            <a:prstDash val="solid"/>
          </a:ln>
          <a:effectLst>
            <a:outerShdw sx="100000" sy="100000" kx="0" ky="0" algn="bl" rotWithShape="0" blurRad="88900" dist="12700" dir="5400000">
              <a:srgbClr val="9A968A">
                <a:alpha val="20000"/>
              </a:srgbClr>
            </a:outerShdw>
          </a:effectLst>
        </p:spPr>
      </p:sp>
      <p:sp>
        <p:nvSpPr>
          <p:cNvPr id="5" name="Text 3"/>
          <p:cNvSpPr/>
          <p:nvPr/>
        </p:nvSpPr>
        <p:spPr>
          <a:xfrm>
            <a:off x="749808" y="1609344"/>
            <a:ext cx="2157984" cy="932688"/>
          </a:xfrm>
          <a:prstGeom prst="rect">
            <a:avLst/>
          </a:prstGeom>
          <a:noFill/>
          <a:ln/>
        </p:spPr>
        <p:txBody>
          <a:bodyPr wrap="square" lIns="0" tIns="0" rIns="0" bIns="0" rtlCol="0" anchor="ctr"/>
          <a:lstStyle/>
          <a:p>
            <a:pPr algn="l" indent="0" marL="0">
              <a:lnSpc>
                <a:spcPct val="112000"/>
              </a:lnSpc>
              <a:buNone/>
            </a:pPr>
            <a:r>
              <a:rPr lang="en-US" sz="1350" dirty="0">
                <a:solidFill>
                  <a:srgbClr val="14171A"/>
                </a:solidFill>
                <a:latin typeface="Calibri" pitchFamily="34" charset="0"/>
                <a:ea typeface="Calibri" pitchFamily="34" charset="-122"/>
                <a:cs typeface="Calibri" pitchFamily="34" charset="-120"/>
              </a:rPr>
              <a:t>The feed rewards reaction.</a:t>
            </a:r>
            <a:endParaRPr lang="en-US" sz="1350" dirty="0"/>
          </a:p>
        </p:txBody>
      </p:sp>
      <p:sp>
        <p:nvSpPr>
          <p:cNvPr id="6" name="Text 4"/>
          <p:cNvSpPr/>
          <p:nvPr/>
        </p:nvSpPr>
        <p:spPr>
          <a:xfrm>
            <a:off x="3108960" y="1609344"/>
            <a:ext cx="182880" cy="932688"/>
          </a:xfrm>
          <a:prstGeom prst="rect">
            <a:avLst/>
          </a:prstGeom>
          <a:noFill/>
          <a:ln/>
        </p:spPr>
        <p:txBody>
          <a:bodyPr wrap="square" lIns="0" tIns="0" rIns="0" bIns="0" rtlCol="0" anchor="ctr"/>
          <a:lstStyle/>
          <a:p>
            <a:pPr algn="ctr" indent="0" marL="0">
              <a:lnSpc>
                <a:spcPct val="106000"/>
              </a:lnSpc>
              <a:buNone/>
            </a:pPr>
            <a:r>
              <a:rPr lang="en-US" sz="1600" b="1" dirty="0">
                <a:solidFill>
                  <a:srgbClr val="B22222"/>
                </a:solidFill>
                <a:latin typeface="Courier New" pitchFamily="34" charset="0"/>
                <a:ea typeface="Courier New" pitchFamily="34" charset="-122"/>
                <a:cs typeface="Courier New" pitchFamily="34" charset="-120"/>
              </a:rPr>
              <a:t>&gt;</a:t>
            </a:r>
            <a:endParaRPr lang="en-US" sz="1600" dirty="0"/>
          </a:p>
        </p:txBody>
      </p:sp>
      <p:sp>
        <p:nvSpPr>
          <p:cNvPr id="7" name="Shape 5"/>
          <p:cNvSpPr/>
          <p:nvPr/>
        </p:nvSpPr>
        <p:spPr>
          <a:xfrm>
            <a:off x="3291840" y="1609344"/>
            <a:ext cx="2560320" cy="932688"/>
          </a:xfrm>
          <a:prstGeom prst="roundRect">
            <a:avLst>
              <a:gd name="adj" fmla="val 5882"/>
            </a:avLst>
          </a:prstGeom>
          <a:solidFill>
            <a:srgbClr val="FFFEFB"/>
          </a:solidFill>
          <a:ln w="9525">
            <a:solidFill>
              <a:srgbClr val="D9D6CF"/>
            </a:solidFill>
            <a:prstDash val="solid"/>
          </a:ln>
          <a:effectLst>
            <a:outerShdw sx="100000" sy="100000" kx="0" ky="0" algn="bl" rotWithShape="0" blurRad="88900" dist="12700" dir="5400000">
              <a:srgbClr val="9A968A">
                <a:alpha val="20000"/>
              </a:srgbClr>
            </a:outerShdw>
          </a:effectLst>
        </p:spPr>
      </p:sp>
      <p:sp>
        <p:nvSpPr>
          <p:cNvPr id="8" name="Text 6"/>
          <p:cNvSpPr/>
          <p:nvPr/>
        </p:nvSpPr>
        <p:spPr>
          <a:xfrm>
            <a:off x="3493008" y="1609344"/>
            <a:ext cx="2157984" cy="932688"/>
          </a:xfrm>
          <a:prstGeom prst="rect">
            <a:avLst/>
          </a:prstGeom>
          <a:noFill/>
          <a:ln/>
        </p:spPr>
        <p:txBody>
          <a:bodyPr wrap="square" lIns="0" tIns="0" rIns="0" bIns="0" rtlCol="0" anchor="ctr"/>
          <a:lstStyle/>
          <a:p>
            <a:pPr algn="l" indent="0" marL="0">
              <a:lnSpc>
                <a:spcPct val="112000"/>
              </a:lnSpc>
              <a:buNone/>
            </a:pPr>
            <a:r>
              <a:rPr lang="en-US" sz="1350" dirty="0">
                <a:solidFill>
                  <a:srgbClr val="14171A"/>
                </a:solidFill>
                <a:latin typeface="Calibri" pitchFamily="34" charset="0"/>
                <a:ea typeface="Calibri" pitchFamily="34" charset="-122"/>
                <a:cs typeface="Calibri" pitchFamily="34" charset="-120"/>
              </a:rPr>
              <a:t>Emotional posts get the most reaction.</a:t>
            </a:r>
            <a:endParaRPr lang="en-US" sz="1350" dirty="0"/>
          </a:p>
        </p:txBody>
      </p:sp>
      <p:sp>
        <p:nvSpPr>
          <p:cNvPr id="9" name="Text 7"/>
          <p:cNvSpPr/>
          <p:nvPr/>
        </p:nvSpPr>
        <p:spPr>
          <a:xfrm>
            <a:off x="5852160" y="1609344"/>
            <a:ext cx="182880" cy="932688"/>
          </a:xfrm>
          <a:prstGeom prst="rect">
            <a:avLst/>
          </a:prstGeom>
          <a:noFill/>
          <a:ln/>
        </p:spPr>
        <p:txBody>
          <a:bodyPr wrap="square" lIns="0" tIns="0" rIns="0" bIns="0" rtlCol="0" anchor="ctr"/>
          <a:lstStyle/>
          <a:p>
            <a:pPr algn="ctr" indent="0" marL="0">
              <a:lnSpc>
                <a:spcPct val="106000"/>
              </a:lnSpc>
              <a:buNone/>
            </a:pPr>
            <a:r>
              <a:rPr lang="en-US" sz="1600" b="1" dirty="0">
                <a:solidFill>
                  <a:srgbClr val="B22222"/>
                </a:solidFill>
                <a:latin typeface="Courier New" pitchFamily="34" charset="0"/>
                <a:ea typeface="Courier New" pitchFamily="34" charset="-122"/>
                <a:cs typeface="Courier New" pitchFamily="34" charset="-120"/>
              </a:rPr>
              <a:t>&gt;</a:t>
            </a:r>
            <a:endParaRPr lang="en-US" sz="1600" dirty="0"/>
          </a:p>
        </p:txBody>
      </p:sp>
      <p:sp>
        <p:nvSpPr>
          <p:cNvPr id="10" name="Shape 8"/>
          <p:cNvSpPr/>
          <p:nvPr/>
        </p:nvSpPr>
        <p:spPr>
          <a:xfrm>
            <a:off x="6035040" y="1609344"/>
            <a:ext cx="2560320" cy="932688"/>
          </a:xfrm>
          <a:prstGeom prst="roundRect">
            <a:avLst>
              <a:gd name="adj" fmla="val 5882"/>
            </a:avLst>
          </a:prstGeom>
          <a:solidFill>
            <a:srgbClr val="FFFEFB"/>
          </a:solidFill>
          <a:ln w="9525">
            <a:solidFill>
              <a:srgbClr val="D9D6CF"/>
            </a:solidFill>
            <a:prstDash val="solid"/>
          </a:ln>
          <a:effectLst>
            <a:outerShdw sx="100000" sy="100000" kx="0" ky="0" algn="bl" rotWithShape="0" blurRad="88900" dist="12700" dir="5400000">
              <a:srgbClr val="9A968A">
                <a:alpha val="20000"/>
              </a:srgbClr>
            </a:outerShdw>
          </a:effectLst>
        </p:spPr>
      </p:sp>
      <p:sp>
        <p:nvSpPr>
          <p:cNvPr id="11" name="Text 9"/>
          <p:cNvSpPr/>
          <p:nvPr/>
        </p:nvSpPr>
        <p:spPr>
          <a:xfrm>
            <a:off x="6236208" y="1609344"/>
            <a:ext cx="2157984" cy="932688"/>
          </a:xfrm>
          <a:prstGeom prst="rect">
            <a:avLst/>
          </a:prstGeom>
          <a:noFill/>
          <a:ln/>
        </p:spPr>
        <p:txBody>
          <a:bodyPr wrap="square" lIns="0" tIns="0" rIns="0" bIns="0" rtlCol="0" anchor="ctr"/>
          <a:lstStyle/>
          <a:p>
            <a:pPr algn="l" indent="0" marL="0">
              <a:lnSpc>
                <a:spcPct val="112000"/>
              </a:lnSpc>
              <a:buNone/>
            </a:pPr>
            <a:r>
              <a:rPr lang="en-US" sz="1350" dirty="0">
                <a:solidFill>
                  <a:srgbClr val="14171A"/>
                </a:solidFill>
                <a:latin typeface="Calibri" pitchFamily="34" charset="0"/>
                <a:ea typeface="Calibri" pitchFamily="34" charset="-122"/>
                <a:cs typeface="Calibri" pitchFamily="34" charset="-120"/>
              </a:rPr>
              <a:t>So the feed shows those posts to more people.</a:t>
            </a:r>
            <a:endParaRPr lang="en-US" sz="1350" dirty="0"/>
          </a:p>
        </p:txBody>
      </p:sp>
      <p:sp>
        <p:nvSpPr>
          <p:cNvPr id="12" name="Shape 10"/>
          <p:cNvSpPr/>
          <p:nvPr/>
        </p:nvSpPr>
        <p:spPr>
          <a:xfrm>
            <a:off x="548640" y="2852928"/>
            <a:ext cx="8046720" cy="841248"/>
          </a:xfrm>
          <a:prstGeom prst="roundRect">
            <a:avLst>
              <a:gd name="adj" fmla="val 6522"/>
            </a:avLst>
          </a:prstGeom>
          <a:solidFill>
            <a:srgbClr val="F2E1E1"/>
          </a:solidFill>
          <a:ln w="9525">
            <a:solidFill>
              <a:srgbClr val="F2E1E1"/>
            </a:solidFill>
            <a:prstDash val="solid"/>
          </a:ln>
          <a:effectLst>
            <a:outerShdw sx="100000" sy="100000" kx="0" ky="0" algn="bl" rotWithShape="0" blurRad="88900" dist="12700" dir="5400000">
              <a:srgbClr val="9A968A">
                <a:alpha val="20000"/>
              </a:srgbClr>
            </a:outerShdw>
          </a:effectLst>
        </p:spPr>
      </p:sp>
      <p:sp>
        <p:nvSpPr>
          <p:cNvPr id="13" name="Text 11"/>
          <p:cNvSpPr/>
          <p:nvPr/>
        </p:nvSpPr>
        <p:spPr>
          <a:xfrm>
            <a:off x="822960" y="2852928"/>
            <a:ext cx="7498080" cy="841248"/>
          </a:xfrm>
          <a:prstGeom prst="rect">
            <a:avLst/>
          </a:prstGeom>
          <a:noFill/>
          <a:ln/>
        </p:spPr>
        <p:txBody>
          <a:bodyPr wrap="square" lIns="0" tIns="0" rIns="0" bIns="0" rtlCol="0" anchor="ctr"/>
          <a:lstStyle/>
          <a:p>
            <a:pPr algn="l" indent="0" marL="0">
              <a:lnSpc>
                <a:spcPct val="114000"/>
              </a:lnSpc>
              <a:buNone/>
            </a:pPr>
            <a:r>
              <a:rPr lang="en-US" sz="1650" i="1" dirty="0">
                <a:solidFill>
                  <a:srgbClr val="14171A"/>
                </a:solidFill>
                <a:latin typeface="Cambria" pitchFamily="34" charset="0"/>
                <a:ea typeface="Cambria" pitchFamily="34" charset="-122"/>
                <a:cs typeface="Cambria" pitchFamily="34" charset="-120"/>
              </a:rPr>
              <a:t>No employee decides to spread a lie. The system measures reaction, and reaction is not the same thing as truth.</a:t>
            </a:r>
            <a:endParaRPr lang="en-US" sz="1650" dirty="0"/>
          </a:p>
        </p:txBody>
      </p:sp>
      <p:sp>
        <p:nvSpPr>
          <p:cNvPr id="14" name="Text 12"/>
          <p:cNvSpPr/>
          <p:nvPr/>
        </p:nvSpPr>
        <p:spPr>
          <a:xfrm>
            <a:off x="548640" y="3931920"/>
            <a:ext cx="8046720" cy="457200"/>
          </a:xfrm>
          <a:prstGeom prst="rect">
            <a:avLst/>
          </a:prstGeom>
          <a:noFill/>
          <a:ln/>
        </p:spPr>
        <p:txBody>
          <a:bodyPr wrap="square" lIns="0" tIns="0" rIns="0" bIns="0" rtlCol="0" anchor="t"/>
          <a:lstStyle/>
          <a:p>
            <a:pPr algn="l" indent="0" marL="0">
              <a:lnSpc>
                <a:spcPct val="112000"/>
              </a:lnSpc>
              <a:buNone/>
            </a:pPr>
            <a:r>
              <a:rPr lang="en-US" sz="1350" dirty="0">
                <a:solidFill>
                  <a:srgbClr val="3C444C"/>
                </a:solidFill>
                <a:latin typeface="Calibri" pitchFamily="34" charset="0"/>
                <a:ea typeface="Calibri" pitchFamily="34" charset="-122"/>
                <a:cs typeface="Calibri" pitchFamily="34" charset="-120"/>
              </a:rPr>
              <a:t>Naming the emotion is a defense. Saying "this post is built to make me angry" takes about four seconds.</a:t>
            </a:r>
            <a:endParaRPr lang="en-US" sz="1350" dirty="0"/>
          </a:p>
        </p:txBody>
      </p:sp>
      <p:sp>
        <p:nvSpPr>
          <p:cNvPr id="16" name="Text 13"/>
          <p:cNvSpPr/>
          <p:nvPr/>
        </p:nvSpPr>
        <p:spPr>
          <a:xfrm>
            <a:off x="548640" y="4668012"/>
            <a:ext cx="8046720" cy="256032"/>
          </a:xfrm>
          <a:prstGeom prst="rect">
            <a:avLst/>
          </a:prstGeom>
          <a:noFill/>
          <a:ln/>
        </p:spPr>
        <p:txBody>
          <a:bodyPr wrap="square" lIns="0" tIns="0" rIns="0" bIns="0" rtlCol="0" anchor="ctr"/>
          <a:lstStyle/>
          <a:p>
            <a:pPr indent="0" marL="0">
              <a:buNone/>
            </a:pPr>
            <a:r>
              <a:rPr lang="en-US" sz="800" spc="100" kern="0" dirty="0">
                <a:solidFill>
                  <a:srgbClr val="5C6873"/>
                </a:solidFill>
                <a:latin typeface="Courier New" pitchFamily="34" charset="0"/>
                <a:ea typeface="Courier New" pitchFamily="34" charset="-122"/>
                <a:cs typeface="Courier New" pitchFamily="34" charset="-120"/>
              </a:rPr>
              <a:t>BECURRENT  ·  SOCIAL MEDIA  ·  TOPIC 5</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2ED"/>
        </a:solidFill>
      </p:bgPr>
    </p:bg>
    <p:spTree>
      <p:nvGrpSpPr>
        <p:cNvPr id="1" name=""/>
        <p:cNvGrpSpPr/>
        <p:nvPr/>
      </p:nvGrpSpPr>
      <p:grpSpPr>
        <a:xfrm>
          <a:off x="0" y="0"/>
          <a:ext cx="0" cy="0"/>
          <a:chOff x="0" y="0"/>
          <a:chExt cx="0" cy="0"/>
        </a:xfrm>
      </p:grpSpPr>
      <p:sp>
        <p:nvSpPr>
          <p:cNvPr id="2" name="Text 0"/>
          <p:cNvSpPr/>
          <p:nvPr/>
        </p:nvSpPr>
        <p:spPr>
          <a:xfrm>
            <a:off x="548640" y="365760"/>
            <a:ext cx="8046720" cy="237744"/>
          </a:xfrm>
          <a:prstGeom prst="rect">
            <a:avLst/>
          </a:prstGeom>
          <a:noFill/>
          <a:ln/>
        </p:spPr>
        <p:txBody>
          <a:bodyPr wrap="square" lIns="0" tIns="0" rIns="0" bIns="0" rtlCol="0" anchor="ctr"/>
          <a:lstStyle/>
          <a:p>
            <a:pPr indent="0" marL="0">
              <a:buNone/>
            </a:pPr>
            <a:r>
              <a:rPr lang="en-US" sz="1000" b="1" spc="140" kern="0" dirty="0">
                <a:solidFill>
                  <a:srgbClr val="B22222"/>
                </a:solidFill>
                <a:latin typeface="Courier New" pitchFamily="34" charset="0"/>
                <a:ea typeface="Courier New" pitchFamily="34" charset="-122"/>
                <a:cs typeface="Courier New" pitchFamily="34" charset="-120"/>
              </a:rPr>
              <a:t>PART THREE</a:t>
            </a:r>
            <a:endParaRPr lang="en-US" sz="1000" dirty="0"/>
          </a:p>
        </p:txBody>
      </p:sp>
      <p:sp>
        <p:nvSpPr>
          <p:cNvPr id="3" name="Text 1"/>
          <p:cNvSpPr/>
          <p:nvPr/>
        </p:nvSpPr>
        <p:spPr>
          <a:xfrm>
            <a:off x="548640" y="713232"/>
            <a:ext cx="8046720" cy="731520"/>
          </a:xfrm>
          <a:prstGeom prst="rect">
            <a:avLst/>
          </a:prstGeom>
          <a:noFill/>
          <a:ln/>
        </p:spPr>
        <p:txBody>
          <a:bodyPr wrap="square" lIns="0" tIns="0" rIns="0" bIns="0" rtlCol="0" anchor="t"/>
          <a:lstStyle/>
          <a:p>
            <a:pPr indent="0" marL="0">
              <a:lnSpc>
                <a:spcPct val="92000"/>
              </a:lnSpc>
              <a:buNone/>
            </a:pPr>
            <a:r>
              <a:rPr lang="en-US" sz="3000" b="1" dirty="0">
                <a:solidFill>
                  <a:srgbClr val="14171A"/>
                </a:solidFill>
                <a:latin typeface="Cambria" pitchFamily="34" charset="0"/>
                <a:ea typeface="Cambria" pitchFamily="34" charset="-122"/>
                <a:cs typeface="Cambria" pitchFamily="34" charset="-120"/>
              </a:rPr>
              <a:t>Who spreads false stories? People do.</a:t>
            </a:r>
            <a:endParaRPr lang="en-US" sz="3000" dirty="0"/>
          </a:p>
        </p:txBody>
      </p:sp>
      <p:sp>
        <p:nvSpPr>
          <p:cNvPr id="4" name="Shape 2"/>
          <p:cNvSpPr/>
          <p:nvPr/>
        </p:nvSpPr>
        <p:spPr>
          <a:xfrm>
            <a:off x="548640" y="1517904"/>
            <a:ext cx="4572000" cy="2194560"/>
          </a:xfrm>
          <a:prstGeom prst="roundRect">
            <a:avLst>
              <a:gd name="adj" fmla="val 2500"/>
            </a:avLst>
          </a:prstGeom>
          <a:solidFill>
            <a:srgbClr val="FFFEFB"/>
          </a:solidFill>
          <a:ln w="9525">
            <a:solidFill>
              <a:srgbClr val="D9D6CF"/>
            </a:solidFill>
            <a:prstDash val="solid"/>
          </a:ln>
          <a:effectLst>
            <a:outerShdw sx="100000" sy="100000" kx="0" ky="0" algn="bl" rotWithShape="0" blurRad="88900" dist="12700" dir="5400000">
              <a:srgbClr val="9A968A">
                <a:alpha val="20000"/>
              </a:srgbClr>
            </a:outerShdw>
          </a:effectLst>
        </p:spPr>
      </p:sp>
      <p:sp>
        <p:nvSpPr>
          <p:cNvPr id="5" name="Text 3"/>
          <p:cNvSpPr/>
          <p:nvPr/>
        </p:nvSpPr>
        <p:spPr>
          <a:xfrm>
            <a:off x="804672" y="1755648"/>
            <a:ext cx="4059936" cy="1737360"/>
          </a:xfrm>
          <a:prstGeom prst="rect">
            <a:avLst/>
          </a:prstGeom>
          <a:noFill/>
          <a:ln/>
        </p:spPr>
        <p:txBody>
          <a:bodyPr wrap="square" lIns="0" tIns="0" rIns="0" bIns="0" rtlCol="0" anchor="t"/>
          <a:lstStyle/>
          <a:p>
            <a:pPr marL="177800" indent="-177800">
              <a:lnSpc>
                <a:spcPct val="104000"/>
              </a:lnSpc>
              <a:spcAft>
                <a:spcPts val="900"/>
              </a:spcAft>
              <a:buSzPct val="100000"/>
              <a:buChar char="•"/>
            </a:pPr>
            <a:r>
              <a:rPr lang="en-US" sz="1300" dirty="0">
                <a:solidFill>
                  <a:srgbClr val="3C444C"/>
                </a:solidFill>
                <a:latin typeface="Calibri" pitchFamily="34" charset="0"/>
                <a:ea typeface="Calibri" pitchFamily="34" charset="-122"/>
                <a:cs typeface="Calibri" pitchFamily="34" charset="-120"/>
              </a:rPr>
              <a:t>In 2018, three researchers at MIT studied about 126,000 rumors on Twitter over eleven years.</a:t>
            </a:r>
            <a:endParaRPr lang="en-US" sz="1300" dirty="0"/>
          </a:p>
          <a:p>
            <a:pPr marL="177800" indent="-177800">
              <a:lnSpc>
                <a:spcPct val="104000"/>
              </a:lnSpc>
              <a:spcAft>
                <a:spcPts val="900"/>
              </a:spcAft>
              <a:buSzPct val="100000"/>
              <a:buChar char="•"/>
            </a:pPr>
            <a:r>
              <a:rPr lang="en-US" sz="1300" dirty="0">
                <a:solidFill>
                  <a:srgbClr val="3C444C"/>
                </a:solidFill>
                <a:latin typeface="Calibri" pitchFamily="34" charset="0"/>
                <a:ea typeface="Calibri" pitchFamily="34" charset="-122"/>
                <a:cs typeface="Calibri" pitchFamily="34" charset="-120"/>
              </a:rPr>
              <a:t>False stories reached more people, and reached them faster, than true stories did.</a:t>
            </a:r>
            <a:endParaRPr lang="en-US" sz="1300" dirty="0"/>
          </a:p>
          <a:p>
            <a:pPr marL="177800" indent="-177800">
              <a:lnSpc>
                <a:spcPct val="104000"/>
              </a:lnSpc>
              <a:spcAft>
                <a:spcPts val="900"/>
              </a:spcAft>
              <a:buSzPct val="100000"/>
              <a:buChar char="•"/>
            </a:pPr>
            <a:r>
              <a:rPr lang="en-US" sz="1300" dirty="0">
                <a:solidFill>
                  <a:srgbClr val="3C444C"/>
                </a:solidFill>
                <a:latin typeface="Calibri" pitchFamily="34" charset="0"/>
                <a:ea typeface="Calibri" pitchFamily="34" charset="-122"/>
                <a:cs typeface="Calibri" pitchFamily="34" charset="-120"/>
              </a:rPr>
              <a:t>The researchers then removed every automated account and repeated the study. The result did not change.</a:t>
            </a:r>
            <a:endParaRPr lang="en-US" sz="1300" dirty="0"/>
          </a:p>
        </p:txBody>
      </p:sp>
      <p:sp>
        <p:nvSpPr>
          <p:cNvPr id="6" name="Shape 4"/>
          <p:cNvSpPr/>
          <p:nvPr/>
        </p:nvSpPr>
        <p:spPr>
          <a:xfrm>
            <a:off x="5394960" y="1517904"/>
            <a:ext cx="3200400" cy="2194560"/>
          </a:xfrm>
          <a:prstGeom prst="roundRect">
            <a:avLst>
              <a:gd name="adj" fmla="val 2500"/>
            </a:avLst>
          </a:prstGeom>
          <a:solidFill>
            <a:srgbClr val="F2E1E1"/>
          </a:solidFill>
          <a:ln w="9525">
            <a:solidFill>
              <a:srgbClr val="F2E1E1"/>
            </a:solidFill>
            <a:prstDash val="solid"/>
          </a:ln>
          <a:effectLst>
            <a:outerShdw sx="100000" sy="100000" kx="0" ky="0" algn="bl" rotWithShape="0" blurRad="88900" dist="12700" dir="5400000">
              <a:srgbClr val="9A968A">
                <a:alpha val="20000"/>
              </a:srgbClr>
            </a:outerShdw>
          </a:effectLst>
        </p:spPr>
      </p:sp>
      <p:sp>
        <p:nvSpPr>
          <p:cNvPr id="7" name="Text 5"/>
          <p:cNvSpPr/>
          <p:nvPr/>
        </p:nvSpPr>
        <p:spPr>
          <a:xfrm>
            <a:off x="5650992" y="1773936"/>
            <a:ext cx="2688336" cy="512064"/>
          </a:xfrm>
          <a:prstGeom prst="rect">
            <a:avLst/>
          </a:prstGeom>
          <a:noFill/>
          <a:ln/>
        </p:spPr>
        <p:txBody>
          <a:bodyPr wrap="square" lIns="0" tIns="0" rIns="0" bIns="0" rtlCol="0" anchor="t"/>
          <a:lstStyle/>
          <a:p>
            <a:pPr algn="l" indent="0" marL="0">
              <a:lnSpc>
                <a:spcPct val="106000"/>
              </a:lnSpc>
              <a:buNone/>
            </a:pPr>
            <a:r>
              <a:rPr lang="en-US" sz="3200" b="1" dirty="0">
                <a:solidFill>
                  <a:srgbClr val="8A1A1A"/>
                </a:solidFill>
                <a:latin typeface="Cambria" pitchFamily="34" charset="0"/>
                <a:ea typeface="Cambria" pitchFamily="34" charset="-122"/>
                <a:cs typeface="Cambria" pitchFamily="34" charset="-120"/>
              </a:rPr>
              <a:t>126,000</a:t>
            </a:r>
            <a:endParaRPr lang="en-US" sz="3200" dirty="0"/>
          </a:p>
        </p:txBody>
      </p:sp>
      <p:sp>
        <p:nvSpPr>
          <p:cNvPr id="8" name="Text 6"/>
          <p:cNvSpPr/>
          <p:nvPr/>
        </p:nvSpPr>
        <p:spPr>
          <a:xfrm>
            <a:off x="5650992" y="2286000"/>
            <a:ext cx="2688336" cy="237744"/>
          </a:xfrm>
          <a:prstGeom prst="rect">
            <a:avLst/>
          </a:prstGeom>
          <a:noFill/>
          <a:ln/>
        </p:spPr>
        <p:txBody>
          <a:bodyPr wrap="square" lIns="0" tIns="0" rIns="0" bIns="0" rtlCol="0" anchor="t"/>
          <a:lstStyle/>
          <a:p>
            <a:pPr algn="l" indent="0" marL="0">
              <a:lnSpc>
                <a:spcPct val="106000"/>
              </a:lnSpc>
              <a:buNone/>
            </a:pPr>
            <a:r>
              <a:rPr lang="en-US" sz="900" dirty="0">
                <a:solidFill>
                  <a:srgbClr val="3C444C"/>
                </a:solidFill>
                <a:latin typeface="Courier New" pitchFamily="34" charset="0"/>
                <a:ea typeface="Courier New" pitchFamily="34" charset="-122"/>
                <a:cs typeface="Courier New" pitchFamily="34" charset="-120"/>
              </a:rPr>
              <a:t>RUMORS  ·  11 YEARS</a:t>
            </a:r>
            <a:endParaRPr lang="en-US" sz="900" dirty="0"/>
          </a:p>
        </p:txBody>
      </p:sp>
      <p:sp>
        <p:nvSpPr>
          <p:cNvPr id="9" name="Text 7"/>
          <p:cNvSpPr/>
          <p:nvPr/>
        </p:nvSpPr>
        <p:spPr>
          <a:xfrm>
            <a:off x="5650992" y="2743200"/>
            <a:ext cx="2688336" cy="731520"/>
          </a:xfrm>
          <a:prstGeom prst="rect">
            <a:avLst/>
          </a:prstGeom>
          <a:noFill/>
          <a:ln/>
        </p:spPr>
        <p:txBody>
          <a:bodyPr wrap="square" lIns="0" tIns="0" rIns="0" bIns="0" rtlCol="0" anchor="t"/>
          <a:lstStyle/>
          <a:p>
            <a:pPr algn="l" indent="0" marL="0">
              <a:lnSpc>
                <a:spcPct val="110000"/>
              </a:lnSpc>
              <a:buNone/>
            </a:pPr>
            <a:r>
              <a:rPr lang="en-US" sz="1600" b="1" dirty="0">
                <a:solidFill>
                  <a:srgbClr val="14171A"/>
                </a:solidFill>
                <a:latin typeface="Cambria" pitchFamily="34" charset="0"/>
                <a:ea typeface="Cambria" pitchFamily="34" charset="-122"/>
                <a:cs typeface="Cambria" pitchFamily="34" charset="-120"/>
              </a:rPr>
              <a:t>People did the spreading, not bots.</a:t>
            </a:r>
            <a:endParaRPr lang="en-US" sz="1600" dirty="0"/>
          </a:p>
        </p:txBody>
      </p:sp>
      <p:sp>
        <p:nvSpPr>
          <p:cNvPr id="10" name="Text 8"/>
          <p:cNvSpPr/>
          <p:nvPr/>
        </p:nvSpPr>
        <p:spPr>
          <a:xfrm>
            <a:off x="548640" y="3840480"/>
            <a:ext cx="8046720" cy="457200"/>
          </a:xfrm>
          <a:prstGeom prst="rect">
            <a:avLst/>
          </a:prstGeom>
          <a:noFill/>
          <a:ln/>
        </p:spPr>
        <p:txBody>
          <a:bodyPr wrap="square" lIns="0" tIns="0" rIns="0" bIns="0" rtlCol="0" anchor="t"/>
          <a:lstStyle/>
          <a:p>
            <a:pPr algn="l" indent="0" marL="0">
              <a:lnSpc>
                <a:spcPct val="110000"/>
              </a:lnSpc>
              <a:buNone/>
            </a:pPr>
            <a:r>
              <a:rPr lang="en-US" sz="1300" dirty="0">
                <a:solidFill>
                  <a:srgbClr val="3C444C"/>
                </a:solidFill>
                <a:latin typeface="Calibri" pitchFamily="34" charset="0"/>
                <a:ea typeface="Calibri" pitchFamily="34" charset="-122"/>
                <a:cs typeface="Calibri" pitchFamily="34" charset="-120"/>
              </a:rPr>
              <a:t>The researchers explained it this way: false stories are newer, because a true story has to have actually happened. New information is what people pass along.</a:t>
            </a:r>
            <a:endParaRPr lang="en-US" sz="1300" dirty="0"/>
          </a:p>
        </p:txBody>
      </p:sp>
      <p:sp>
        <p:nvSpPr>
          <p:cNvPr id="11" name="Text 9"/>
          <p:cNvSpPr/>
          <p:nvPr/>
        </p:nvSpPr>
        <p:spPr>
          <a:xfrm>
            <a:off x="548640" y="4279392"/>
            <a:ext cx="8046720" cy="274320"/>
          </a:xfrm>
          <a:prstGeom prst="rect">
            <a:avLst/>
          </a:prstGeom>
          <a:noFill/>
          <a:ln/>
        </p:spPr>
        <p:txBody>
          <a:bodyPr wrap="square" lIns="0" tIns="0" rIns="0" bIns="0" rtlCol="0" anchor="t"/>
          <a:lstStyle/>
          <a:p>
            <a:pPr algn="l" indent="0" marL="0">
              <a:lnSpc>
                <a:spcPct val="106000"/>
              </a:lnSpc>
              <a:buNone/>
            </a:pPr>
            <a:r>
              <a:rPr lang="en-US" sz="1400" b="1" dirty="0">
                <a:solidFill>
                  <a:srgbClr val="14171A"/>
                </a:solidFill>
                <a:latin typeface="Calibri" pitchFamily="34" charset="0"/>
                <a:ea typeface="Calibri" pitchFamily="34" charset="-122"/>
                <a:cs typeface="Calibri" pitchFamily="34" charset="-120"/>
              </a:rPr>
              <a:t>So the main fix is not a technical one. It is the pause before you share.</a:t>
            </a:r>
            <a:endParaRPr lang="en-US" sz="1400" dirty="0"/>
          </a:p>
        </p:txBody>
      </p:sp>
      <p:sp>
        <p:nvSpPr>
          <p:cNvPr id="13" name="Text 10"/>
          <p:cNvSpPr/>
          <p:nvPr/>
        </p:nvSpPr>
        <p:spPr>
          <a:xfrm>
            <a:off x="548640" y="4668012"/>
            <a:ext cx="8046720" cy="256032"/>
          </a:xfrm>
          <a:prstGeom prst="rect">
            <a:avLst/>
          </a:prstGeom>
          <a:noFill/>
          <a:ln/>
        </p:spPr>
        <p:txBody>
          <a:bodyPr wrap="square" lIns="0" tIns="0" rIns="0" bIns="0" rtlCol="0" anchor="ctr"/>
          <a:lstStyle/>
          <a:p>
            <a:pPr indent="0" marL="0">
              <a:buNone/>
            </a:pPr>
            <a:r>
              <a:rPr lang="en-US" sz="800" spc="100" kern="0" dirty="0">
                <a:solidFill>
                  <a:srgbClr val="5C6873"/>
                </a:solidFill>
                <a:latin typeface="Courier New" pitchFamily="34" charset="0"/>
                <a:ea typeface="Courier New" pitchFamily="34" charset="-122"/>
                <a:cs typeface="Courier New" pitchFamily="34" charset="-120"/>
              </a:rPr>
              <a:t>BECURRENT  ·  SOCIAL MEDIA  ·  TOPIC 5</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2ED"/>
        </a:solidFill>
      </p:bgPr>
    </p:bg>
    <p:spTree>
      <p:nvGrpSpPr>
        <p:cNvPr id="1" name=""/>
        <p:cNvGrpSpPr/>
        <p:nvPr/>
      </p:nvGrpSpPr>
      <p:grpSpPr>
        <a:xfrm>
          <a:off x="0" y="0"/>
          <a:ext cx="0" cy="0"/>
          <a:chOff x="0" y="0"/>
          <a:chExt cx="0" cy="0"/>
        </a:xfrm>
      </p:grpSpPr>
      <p:sp>
        <p:nvSpPr>
          <p:cNvPr id="2" name="Text 0"/>
          <p:cNvSpPr/>
          <p:nvPr/>
        </p:nvSpPr>
        <p:spPr>
          <a:xfrm>
            <a:off x="548640" y="365760"/>
            <a:ext cx="8046720" cy="237744"/>
          </a:xfrm>
          <a:prstGeom prst="rect">
            <a:avLst/>
          </a:prstGeom>
          <a:noFill/>
          <a:ln/>
        </p:spPr>
        <p:txBody>
          <a:bodyPr wrap="square" lIns="0" tIns="0" rIns="0" bIns="0" rtlCol="0" anchor="ctr"/>
          <a:lstStyle/>
          <a:p>
            <a:pPr indent="0" marL="0">
              <a:buNone/>
            </a:pPr>
            <a:r>
              <a:rPr lang="en-US" sz="1000" b="1" spc="140" kern="0" dirty="0">
                <a:solidFill>
                  <a:srgbClr val="B22222"/>
                </a:solidFill>
                <a:latin typeface="Courier New" pitchFamily="34" charset="0"/>
                <a:ea typeface="Courier New" pitchFamily="34" charset="-122"/>
                <a:cs typeface="Courier New" pitchFamily="34" charset="-120"/>
              </a:rPr>
              <a:t>PART THREE · TWO EXAMPLES</a:t>
            </a:r>
            <a:endParaRPr lang="en-US" sz="1000" dirty="0"/>
          </a:p>
        </p:txBody>
      </p:sp>
      <p:sp>
        <p:nvSpPr>
          <p:cNvPr id="3" name="Text 1"/>
          <p:cNvSpPr/>
          <p:nvPr/>
        </p:nvSpPr>
        <p:spPr>
          <a:xfrm>
            <a:off x="548640" y="713232"/>
            <a:ext cx="8046720" cy="731520"/>
          </a:xfrm>
          <a:prstGeom prst="rect">
            <a:avLst/>
          </a:prstGeom>
          <a:noFill/>
          <a:ln/>
        </p:spPr>
        <p:txBody>
          <a:bodyPr wrap="square" lIns="0" tIns="0" rIns="0" bIns="0" rtlCol="0" anchor="t"/>
          <a:lstStyle/>
          <a:p>
            <a:pPr indent="0" marL="0">
              <a:lnSpc>
                <a:spcPct val="92000"/>
              </a:lnSpc>
              <a:buNone/>
            </a:pPr>
            <a:r>
              <a:rPr lang="en-US" sz="3000" b="1" dirty="0">
                <a:solidFill>
                  <a:srgbClr val="14171A"/>
                </a:solidFill>
                <a:latin typeface="Cambria" pitchFamily="34" charset="0"/>
                <a:ea typeface="Cambria" pitchFamily="34" charset="-122"/>
                <a:cs typeface="Cambria" pitchFamily="34" charset="-120"/>
              </a:rPr>
              <a:t>The motive is often money</a:t>
            </a:r>
            <a:endParaRPr lang="en-US" sz="3000" dirty="0"/>
          </a:p>
        </p:txBody>
      </p:sp>
      <p:sp>
        <p:nvSpPr>
          <p:cNvPr id="4" name="Shape 2"/>
          <p:cNvSpPr/>
          <p:nvPr/>
        </p:nvSpPr>
        <p:spPr>
          <a:xfrm>
            <a:off x="548640" y="1517904"/>
            <a:ext cx="3840480" cy="2286000"/>
          </a:xfrm>
          <a:prstGeom prst="roundRect">
            <a:avLst>
              <a:gd name="adj" fmla="val 2400"/>
            </a:avLst>
          </a:prstGeom>
          <a:solidFill>
            <a:srgbClr val="FFFEFB"/>
          </a:solidFill>
          <a:ln w="9525">
            <a:solidFill>
              <a:srgbClr val="D9D6CF"/>
            </a:solidFill>
            <a:prstDash val="solid"/>
          </a:ln>
          <a:effectLst>
            <a:outerShdw sx="100000" sy="100000" kx="0" ky="0" algn="bl" rotWithShape="0" blurRad="88900" dist="12700" dir="5400000">
              <a:srgbClr val="9A968A">
                <a:alpha val="20000"/>
              </a:srgbClr>
            </a:outerShdw>
          </a:effectLst>
        </p:spPr>
      </p:sp>
      <p:sp>
        <p:nvSpPr>
          <p:cNvPr id="5" name="Text 3"/>
          <p:cNvSpPr/>
          <p:nvPr/>
        </p:nvSpPr>
        <p:spPr>
          <a:xfrm>
            <a:off x="786384" y="1737360"/>
            <a:ext cx="3364992" cy="237744"/>
          </a:xfrm>
          <a:prstGeom prst="rect">
            <a:avLst/>
          </a:prstGeom>
          <a:noFill/>
          <a:ln/>
        </p:spPr>
        <p:txBody>
          <a:bodyPr wrap="square" lIns="0" tIns="0" rIns="0" bIns="0" rtlCol="0" anchor="t"/>
          <a:lstStyle/>
          <a:p>
            <a:pPr algn="l" indent="0" marL="0">
              <a:lnSpc>
                <a:spcPct val="106000"/>
              </a:lnSpc>
              <a:buNone/>
            </a:pPr>
            <a:r>
              <a:rPr lang="en-US" sz="900" b="1" dirty="0">
                <a:solidFill>
                  <a:srgbClr val="8A1A1A"/>
                </a:solidFill>
                <a:latin typeface="Courier New" pitchFamily="34" charset="0"/>
                <a:ea typeface="Courier New" pitchFamily="34" charset="-122"/>
                <a:cs typeface="Courier New" pitchFamily="34" charset="-120"/>
              </a:rPr>
              <a:t>VELES, NORTH MACEDONIA · 2016</a:t>
            </a:r>
            <a:endParaRPr lang="en-US" sz="900" dirty="0"/>
          </a:p>
        </p:txBody>
      </p:sp>
      <p:sp>
        <p:nvSpPr>
          <p:cNvPr id="6" name="Text 4"/>
          <p:cNvSpPr/>
          <p:nvPr/>
        </p:nvSpPr>
        <p:spPr>
          <a:xfrm>
            <a:off x="786384" y="2048256"/>
            <a:ext cx="3364992" cy="1664208"/>
          </a:xfrm>
          <a:prstGeom prst="rect">
            <a:avLst/>
          </a:prstGeom>
          <a:noFill/>
          <a:ln/>
        </p:spPr>
        <p:txBody>
          <a:bodyPr wrap="square" lIns="0" tIns="0" rIns="0" bIns="0" rtlCol="0" anchor="t"/>
          <a:lstStyle/>
          <a:p>
            <a:pPr algn="l" indent="0" marL="0">
              <a:lnSpc>
                <a:spcPct val="110000"/>
              </a:lnSpc>
              <a:buNone/>
            </a:pPr>
            <a:r>
              <a:rPr lang="en-US" sz="1250" dirty="0">
                <a:solidFill>
                  <a:srgbClr val="3C444C"/>
                </a:solidFill>
                <a:latin typeface="Calibri" pitchFamily="34" charset="0"/>
                <a:ea typeface="Calibri" pitchFamily="34" charset="-122"/>
                <a:cs typeface="Calibri" pitchFamily="34" charset="-120"/>
              </a:rPr>
              <a:t>Reporters found that a group of websites publishing false American political stories were run from a single town. The people running them earned advertising money from the traffic.</a:t>
            </a:r>
            <a:endParaRPr lang="en-US" sz="1250" dirty="0"/>
          </a:p>
          <a:p>
            <a:pPr algn="l" indent="0" marL="0">
              <a:lnSpc>
                <a:spcPct val="110000"/>
              </a:lnSpc>
              <a:buNone/>
            </a:pPr>
            <a:endParaRPr lang="en-US" sz="1250" dirty="0"/>
          </a:p>
          <a:p>
            <a:pPr algn="l" indent="0" marL="0">
              <a:lnSpc>
                <a:spcPct val="110000"/>
              </a:lnSpc>
              <a:buNone/>
            </a:pPr>
            <a:r>
              <a:rPr lang="en-US" sz="1250" dirty="0">
                <a:solidFill>
                  <a:srgbClr val="3C444C"/>
                </a:solidFill>
                <a:latin typeface="Calibri" pitchFamily="34" charset="0"/>
                <a:ea typeface="Calibri" pitchFamily="34" charset="-122"/>
                <a:cs typeface="Calibri" pitchFamily="34" charset="-120"/>
              </a:rPr>
              <a:t>In the last three months of that campaign, the most popular false election stories got more engagement on Facebook than the most popular true ones.</a:t>
            </a:r>
            <a:endParaRPr lang="en-US" sz="1250" dirty="0"/>
          </a:p>
        </p:txBody>
      </p:sp>
      <p:sp>
        <p:nvSpPr>
          <p:cNvPr id="7" name="Shape 5"/>
          <p:cNvSpPr/>
          <p:nvPr/>
        </p:nvSpPr>
        <p:spPr>
          <a:xfrm>
            <a:off x="4754880" y="1517904"/>
            <a:ext cx="3840480" cy="2286000"/>
          </a:xfrm>
          <a:prstGeom prst="roundRect">
            <a:avLst>
              <a:gd name="adj" fmla="val 2400"/>
            </a:avLst>
          </a:prstGeom>
          <a:solidFill>
            <a:srgbClr val="FFFEFB"/>
          </a:solidFill>
          <a:ln w="9525">
            <a:solidFill>
              <a:srgbClr val="D9D6CF"/>
            </a:solidFill>
            <a:prstDash val="solid"/>
          </a:ln>
          <a:effectLst>
            <a:outerShdw sx="100000" sy="100000" kx="0" ky="0" algn="bl" rotWithShape="0" blurRad="88900" dist="12700" dir="5400000">
              <a:srgbClr val="9A968A">
                <a:alpha val="20000"/>
              </a:srgbClr>
            </a:outerShdw>
          </a:effectLst>
        </p:spPr>
      </p:sp>
      <p:sp>
        <p:nvSpPr>
          <p:cNvPr id="8" name="Text 6"/>
          <p:cNvSpPr/>
          <p:nvPr/>
        </p:nvSpPr>
        <p:spPr>
          <a:xfrm>
            <a:off x="4992624" y="1737360"/>
            <a:ext cx="3364992" cy="237744"/>
          </a:xfrm>
          <a:prstGeom prst="rect">
            <a:avLst/>
          </a:prstGeom>
          <a:noFill/>
          <a:ln/>
        </p:spPr>
        <p:txBody>
          <a:bodyPr wrap="square" lIns="0" tIns="0" rIns="0" bIns="0" rtlCol="0" anchor="t"/>
          <a:lstStyle/>
          <a:p>
            <a:pPr algn="l" indent="0" marL="0">
              <a:lnSpc>
                <a:spcPct val="106000"/>
              </a:lnSpc>
              <a:buNone/>
            </a:pPr>
            <a:r>
              <a:rPr lang="en-US" sz="900" b="1" dirty="0">
                <a:solidFill>
                  <a:srgbClr val="8A1A1A"/>
                </a:solidFill>
                <a:latin typeface="Courier New" pitchFamily="34" charset="0"/>
                <a:ea typeface="Courier New" pitchFamily="34" charset="-122"/>
                <a:cs typeface="Courier New" pitchFamily="34" charset="-120"/>
              </a:rPr>
              <a:t>PIZZAGATE · 2016</a:t>
            </a:r>
            <a:endParaRPr lang="en-US" sz="900" dirty="0"/>
          </a:p>
        </p:txBody>
      </p:sp>
      <p:sp>
        <p:nvSpPr>
          <p:cNvPr id="9" name="Text 7"/>
          <p:cNvSpPr/>
          <p:nvPr/>
        </p:nvSpPr>
        <p:spPr>
          <a:xfrm>
            <a:off x="4992624" y="2048256"/>
            <a:ext cx="3364992" cy="1664208"/>
          </a:xfrm>
          <a:prstGeom prst="rect">
            <a:avLst/>
          </a:prstGeom>
          <a:noFill/>
          <a:ln/>
        </p:spPr>
        <p:txBody>
          <a:bodyPr wrap="square" lIns="0" tIns="0" rIns="0" bIns="0" rtlCol="0" anchor="t"/>
          <a:lstStyle/>
          <a:p>
            <a:pPr algn="l" indent="0" marL="0">
              <a:lnSpc>
                <a:spcPct val="110000"/>
              </a:lnSpc>
              <a:buNone/>
            </a:pPr>
            <a:r>
              <a:rPr lang="en-US" sz="1250" dirty="0">
                <a:solidFill>
                  <a:srgbClr val="3C444C"/>
                </a:solidFill>
                <a:latin typeface="Calibri" pitchFamily="34" charset="0"/>
                <a:ea typeface="Calibri" pitchFamily="34" charset="-122"/>
                <a:cs typeface="Calibri" pitchFamily="34" charset="-120"/>
              </a:rPr>
              <a:t>A false story claimed that a crime ring was operating out of a restaurant in Washington DC. There was no evidence for it.</a:t>
            </a:r>
            <a:endParaRPr lang="en-US" sz="1250" dirty="0"/>
          </a:p>
          <a:p>
            <a:pPr algn="l" indent="0" marL="0">
              <a:lnSpc>
                <a:spcPct val="110000"/>
              </a:lnSpc>
              <a:buNone/>
            </a:pPr>
            <a:endParaRPr lang="en-US" sz="1250" dirty="0"/>
          </a:p>
          <a:p>
            <a:pPr algn="l" indent="0" marL="0">
              <a:lnSpc>
                <a:spcPct val="110000"/>
              </a:lnSpc>
              <a:buNone/>
            </a:pPr>
            <a:r>
              <a:rPr lang="en-US" sz="1250" dirty="0">
                <a:solidFill>
                  <a:srgbClr val="3C444C"/>
                </a:solidFill>
                <a:latin typeface="Calibri" pitchFamily="34" charset="0"/>
                <a:ea typeface="Calibri" pitchFamily="34" charset="-122"/>
                <a:cs typeface="Calibri" pitchFamily="34" charset="-120"/>
              </a:rPr>
              <a:t>In December 2016 a man drove to that restaurant from another state and fired a rifle inside the building. No one was hurt.</a:t>
            </a:r>
            <a:endParaRPr lang="en-US" sz="1250" dirty="0"/>
          </a:p>
        </p:txBody>
      </p:sp>
      <p:sp>
        <p:nvSpPr>
          <p:cNvPr id="10" name="Shape 8"/>
          <p:cNvSpPr/>
          <p:nvPr/>
        </p:nvSpPr>
        <p:spPr>
          <a:xfrm>
            <a:off x="548640" y="3950208"/>
            <a:ext cx="8046720" cy="603504"/>
          </a:xfrm>
          <a:prstGeom prst="roundRect">
            <a:avLst>
              <a:gd name="adj" fmla="val 9091"/>
            </a:avLst>
          </a:prstGeom>
          <a:solidFill>
            <a:srgbClr val="E3EAEE"/>
          </a:solidFill>
          <a:ln w="9525">
            <a:solidFill>
              <a:srgbClr val="E3EAEE"/>
            </a:solidFill>
            <a:prstDash val="solid"/>
          </a:ln>
          <a:effectLst>
            <a:outerShdw sx="100000" sy="100000" kx="0" ky="0" algn="bl" rotWithShape="0" blurRad="88900" dist="12700" dir="5400000">
              <a:srgbClr val="9A968A">
                <a:alpha val="20000"/>
              </a:srgbClr>
            </a:outerShdw>
          </a:effectLst>
        </p:spPr>
      </p:sp>
      <p:sp>
        <p:nvSpPr>
          <p:cNvPr id="11" name="Text 9"/>
          <p:cNvSpPr/>
          <p:nvPr/>
        </p:nvSpPr>
        <p:spPr>
          <a:xfrm>
            <a:off x="786384" y="4059936"/>
            <a:ext cx="1097280" cy="201168"/>
          </a:xfrm>
          <a:prstGeom prst="rect">
            <a:avLst/>
          </a:prstGeom>
          <a:noFill/>
          <a:ln/>
        </p:spPr>
        <p:txBody>
          <a:bodyPr wrap="square" lIns="0" tIns="0" rIns="0" bIns="0" rtlCol="0" anchor="t"/>
          <a:lstStyle/>
          <a:p>
            <a:pPr algn="l" indent="0" marL="0">
              <a:lnSpc>
                <a:spcPct val="106000"/>
              </a:lnSpc>
              <a:buNone/>
            </a:pPr>
            <a:r>
              <a:rPr lang="en-US" sz="850" b="1" dirty="0">
                <a:solidFill>
                  <a:srgbClr val="1F5673"/>
                </a:solidFill>
                <a:latin typeface="Courier New" pitchFamily="34" charset="0"/>
                <a:ea typeface="Courier New" pitchFamily="34" charset="-122"/>
                <a:cs typeface="Courier New" pitchFamily="34" charset="-120"/>
              </a:rPr>
              <a:t>WATCH FOR</a:t>
            </a:r>
            <a:endParaRPr lang="en-US" sz="850" dirty="0"/>
          </a:p>
        </p:txBody>
      </p:sp>
      <p:sp>
        <p:nvSpPr>
          <p:cNvPr id="12" name="Text 10"/>
          <p:cNvSpPr/>
          <p:nvPr/>
        </p:nvSpPr>
        <p:spPr>
          <a:xfrm>
            <a:off x="1920240" y="4041648"/>
            <a:ext cx="6400800" cy="420624"/>
          </a:xfrm>
          <a:prstGeom prst="rect">
            <a:avLst/>
          </a:prstGeom>
          <a:noFill/>
          <a:ln/>
        </p:spPr>
        <p:txBody>
          <a:bodyPr wrap="square" lIns="0" tIns="0" rIns="0" bIns="0" rtlCol="0" anchor="t"/>
          <a:lstStyle/>
          <a:p>
            <a:pPr algn="l" indent="0" marL="0">
              <a:lnSpc>
                <a:spcPct val="108000"/>
              </a:lnSpc>
              <a:buNone/>
            </a:pPr>
            <a:r>
              <a:rPr lang="en-US" sz="1200" dirty="0">
                <a:solidFill>
                  <a:srgbClr val="14171A"/>
                </a:solidFill>
                <a:latin typeface="Calibri" pitchFamily="34" charset="0"/>
                <a:ea typeface="Calibri" pitchFamily="34" charset="-122"/>
                <a:cs typeface="Calibri" pitchFamily="34" charset="-120"/>
              </a:rPr>
              <a:t>Blaming bots or foreign governments is easy, because it places the problem outside our own behavior. Most sharing is done by ordinary people who did not check.</a:t>
            </a:r>
            <a:endParaRPr lang="en-US" sz="1200" dirty="0"/>
          </a:p>
        </p:txBody>
      </p:sp>
      <p:sp>
        <p:nvSpPr>
          <p:cNvPr id="14" name="Text 11"/>
          <p:cNvSpPr/>
          <p:nvPr/>
        </p:nvSpPr>
        <p:spPr>
          <a:xfrm>
            <a:off x="548640" y="4668012"/>
            <a:ext cx="8046720" cy="256032"/>
          </a:xfrm>
          <a:prstGeom prst="rect">
            <a:avLst/>
          </a:prstGeom>
          <a:noFill/>
          <a:ln/>
        </p:spPr>
        <p:txBody>
          <a:bodyPr wrap="square" lIns="0" tIns="0" rIns="0" bIns="0" rtlCol="0" anchor="ctr"/>
          <a:lstStyle/>
          <a:p>
            <a:pPr indent="0" marL="0">
              <a:buNone/>
            </a:pPr>
            <a:r>
              <a:rPr lang="en-US" sz="800" spc="100" kern="0" dirty="0">
                <a:solidFill>
                  <a:srgbClr val="5C6873"/>
                </a:solidFill>
                <a:latin typeface="Courier New" pitchFamily="34" charset="0"/>
                <a:ea typeface="Courier New" pitchFamily="34" charset="-122"/>
                <a:cs typeface="Courier New" pitchFamily="34" charset="-120"/>
              </a:rPr>
              <a:t>BECURRENT  ·  SOCIAL MEDIA  ·  TOPIC 5</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2ED"/>
        </a:solidFill>
      </p:bgPr>
    </p:bg>
    <p:spTree>
      <p:nvGrpSpPr>
        <p:cNvPr id="1" name=""/>
        <p:cNvGrpSpPr/>
        <p:nvPr/>
      </p:nvGrpSpPr>
      <p:grpSpPr>
        <a:xfrm>
          <a:off x="0" y="0"/>
          <a:ext cx="0" cy="0"/>
          <a:chOff x="0" y="0"/>
          <a:chExt cx="0" cy="0"/>
        </a:xfrm>
      </p:grpSpPr>
      <p:sp>
        <p:nvSpPr>
          <p:cNvPr id="2" name="Text 0"/>
          <p:cNvSpPr/>
          <p:nvPr/>
        </p:nvSpPr>
        <p:spPr>
          <a:xfrm>
            <a:off x="548640" y="365760"/>
            <a:ext cx="8046720" cy="237744"/>
          </a:xfrm>
          <a:prstGeom prst="rect">
            <a:avLst/>
          </a:prstGeom>
          <a:noFill/>
          <a:ln/>
        </p:spPr>
        <p:txBody>
          <a:bodyPr wrap="square" lIns="0" tIns="0" rIns="0" bIns="0" rtlCol="0" anchor="ctr"/>
          <a:lstStyle/>
          <a:p>
            <a:pPr indent="0" marL="0">
              <a:buNone/>
            </a:pPr>
            <a:r>
              <a:rPr lang="en-US" sz="1000" b="1" spc="140" kern="0" dirty="0">
                <a:solidFill>
                  <a:srgbClr val="B22222"/>
                </a:solidFill>
                <a:latin typeface="Courier New" pitchFamily="34" charset="0"/>
                <a:ea typeface="Courier New" pitchFamily="34" charset="-122"/>
                <a:cs typeface="Courier New" pitchFamily="34" charset="-120"/>
              </a:rPr>
              <a:t>PART FOUR</a:t>
            </a:r>
            <a:endParaRPr lang="en-US" sz="1000" dirty="0"/>
          </a:p>
        </p:txBody>
      </p:sp>
      <p:sp>
        <p:nvSpPr>
          <p:cNvPr id="3" name="Text 1"/>
          <p:cNvSpPr/>
          <p:nvPr/>
        </p:nvSpPr>
        <p:spPr>
          <a:xfrm>
            <a:off x="548640" y="713232"/>
            <a:ext cx="8046720" cy="731520"/>
          </a:xfrm>
          <a:prstGeom prst="rect">
            <a:avLst/>
          </a:prstGeom>
          <a:noFill/>
          <a:ln/>
        </p:spPr>
        <p:txBody>
          <a:bodyPr wrap="square" lIns="0" tIns="0" rIns="0" bIns="0" rtlCol="0" anchor="t"/>
          <a:lstStyle/>
          <a:p>
            <a:pPr indent="0" marL="0">
              <a:lnSpc>
                <a:spcPct val="92000"/>
              </a:lnSpc>
              <a:buNone/>
            </a:pPr>
            <a:r>
              <a:rPr lang="en-US" sz="3000" b="1" dirty="0">
                <a:solidFill>
                  <a:srgbClr val="14171A"/>
                </a:solidFill>
                <a:latin typeface="Cambria" pitchFamily="34" charset="0"/>
                <a:ea typeface="Cambria" pitchFamily="34" charset="-122"/>
                <a:cs typeface="Cambria" pitchFamily="34" charset="-120"/>
              </a:rPr>
              <a:t>How to check a claim: lateral reading</a:t>
            </a:r>
            <a:endParaRPr lang="en-US" sz="3000" dirty="0"/>
          </a:p>
        </p:txBody>
      </p:sp>
      <p:sp>
        <p:nvSpPr>
          <p:cNvPr id="4" name="Shape 2"/>
          <p:cNvSpPr/>
          <p:nvPr/>
        </p:nvSpPr>
        <p:spPr>
          <a:xfrm>
            <a:off x="548640" y="1517904"/>
            <a:ext cx="3657600" cy="2286000"/>
          </a:xfrm>
          <a:prstGeom prst="roundRect">
            <a:avLst>
              <a:gd name="adj" fmla="val 2400"/>
            </a:avLst>
          </a:prstGeom>
          <a:solidFill>
            <a:srgbClr val="FFFEFB"/>
          </a:solidFill>
          <a:ln w="9525">
            <a:solidFill>
              <a:srgbClr val="D9D6CF"/>
            </a:solidFill>
            <a:prstDash val="solid"/>
          </a:ln>
          <a:effectLst>
            <a:outerShdw sx="100000" sy="100000" kx="0" ky="0" algn="bl" rotWithShape="0" blurRad="88900" dist="12700" dir="5400000">
              <a:srgbClr val="9A968A">
                <a:alpha val="20000"/>
              </a:srgbClr>
            </a:outerShdw>
          </a:effectLst>
        </p:spPr>
      </p:sp>
      <p:sp>
        <p:nvSpPr>
          <p:cNvPr id="5" name="Text 3"/>
          <p:cNvSpPr/>
          <p:nvPr/>
        </p:nvSpPr>
        <p:spPr>
          <a:xfrm>
            <a:off x="786384" y="1737360"/>
            <a:ext cx="3182112" cy="914400"/>
          </a:xfrm>
          <a:prstGeom prst="rect">
            <a:avLst/>
          </a:prstGeom>
          <a:noFill/>
          <a:ln/>
        </p:spPr>
        <p:txBody>
          <a:bodyPr wrap="square" lIns="0" tIns="0" rIns="0" bIns="0" rtlCol="0" anchor="t"/>
          <a:lstStyle/>
          <a:p>
            <a:pPr algn="l" indent="0" marL="0">
              <a:lnSpc>
                <a:spcPct val="114000"/>
              </a:lnSpc>
              <a:buNone/>
            </a:pPr>
            <a:r>
              <a:rPr lang="en-US" sz="1300" dirty="0">
                <a:solidFill>
                  <a:srgbClr val="14171A"/>
                </a:solidFill>
                <a:latin typeface="Calibri" pitchFamily="34" charset="0"/>
                <a:ea typeface="Calibri" pitchFamily="34" charset="-122"/>
                <a:cs typeface="Calibri" pitchFamily="34" charset="-120"/>
              </a:rPr>
              <a:t>Lateral reading means leaving the page you are on. Instead of studying that page, you open new tabs and find out what other sources say about whoever published it.</a:t>
            </a:r>
            <a:endParaRPr lang="en-US" sz="1300" dirty="0"/>
          </a:p>
        </p:txBody>
      </p:sp>
      <p:sp>
        <p:nvSpPr>
          <p:cNvPr id="6" name="Text 4"/>
          <p:cNvSpPr/>
          <p:nvPr/>
        </p:nvSpPr>
        <p:spPr>
          <a:xfrm>
            <a:off x="786384" y="2724912"/>
            <a:ext cx="3182112" cy="219456"/>
          </a:xfrm>
          <a:prstGeom prst="rect">
            <a:avLst/>
          </a:prstGeom>
          <a:noFill/>
          <a:ln/>
        </p:spPr>
        <p:txBody>
          <a:bodyPr wrap="square" lIns="0" tIns="0" rIns="0" bIns="0" rtlCol="0" anchor="t"/>
          <a:lstStyle/>
          <a:p>
            <a:pPr algn="l" indent="0" marL="0">
              <a:lnSpc>
                <a:spcPct val="106000"/>
              </a:lnSpc>
              <a:buNone/>
            </a:pPr>
            <a:r>
              <a:rPr lang="en-US" sz="900" b="1" dirty="0">
                <a:solidFill>
                  <a:srgbClr val="1F5673"/>
                </a:solidFill>
                <a:latin typeface="Courier New" pitchFamily="34" charset="0"/>
                <a:ea typeface="Courier New" pitchFamily="34" charset="-122"/>
                <a:cs typeface="Courier New" pitchFamily="34" charset="-120"/>
              </a:rPr>
              <a:t>A STANFORD STUDY</a:t>
            </a:r>
            <a:endParaRPr lang="en-US" sz="900" dirty="0"/>
          </a:p>
        </p:txBody>
      </p:sp>
      <p:sp>
        <p:nvSpPr>
          <p:cNvPr id="7" name="Text 5"/>
          <p:cNvSpPr/>
          <p:nvPr/>
        </p:nvSpPr>
        <p:spPr>
          <a:xfrm>
            <a:off x="786384" y="2980944"/>
            <a:ext cx="3182112" cy="749808"/>
          </a:xfrm>
          <a:prstGeom prst="rect">
            <a:avLst/>
          </a:prstGeom>
          <a:noFill/>
          <a:ln/>
        </p:spPr>
        <p:txBody>
          <a:bodyPr wrap="square" lIns="0" tIns="0" rIns="0" bIns="0" rtlCol="0" anchor="t"/>
          <a:lstStyle/>
          <a:p>
            <a:pPr algn="l" indent="0" marL="0">
              <a:lnSpc>
                <a:spcPct val="106000"/>
              </a:lnSpc>
              <a:buNone/>
            </a:pPr>
            <a:r>
              <a:rPr lang="en-US" sz="1200" dirty="0">
                <a:solidFill>
                  <a:srgbClr val="3C444C"/>
                </a:solidFill>
                <a:latin typeface="Calibri" pitchFamily="34" charset="0"/>
                <a:ea typeface="Calibri" pitchFamily="34" charset="-122"/>
                <a:cs typeface="Calibri" pitchFamily="34" charset="-120"/>
              </a:rPr>
              <a:t>Professional fact-checkers left the page almost immediately. Students stayed on it and studied the design, the logo and the About section, which are all controlled by the page itself.</a:t>
            </a:r>
            <a:endParaRPr lang="en-US" sz="1200" dirty="0"/>
          </a:p>
        </p:txBody>
      </p:sp>
      <p:sp>
        <p:nvSpPr>
          <p:cNvPr id="8" name="Shape 6"/>
          <p:cNvSpPr/>
          <p:nvPr/>
        </p:nvSpPr>
        <p:spPr>
          <a:xfrm>
            <a:off x="4480560" y="1554480"/>
            <a:ext cx="310896" cy="310896"/>
          </a:xfrm>
          <a:prstGeom prst="ellipse">
            <a:avLst/>
          </a:prstGeom>
          <a:solidFill>
            <a:srgbClr val="2B3238"/>
          </a:solidFill>
          <a:ln w="12700">
            <a:solidFill>
              <a:srgbClr val="2B3238"/>
            </a:solidFill>
            <a:prstDash val="solid"/>
          </a:ln>
        </p:spPr>
      </p:sp>
      <p:sp>
        <p:nvSpPr>
          <p:cNvPr id="9" name="Text 7"/>
          <p:cNvSpPr/>
          <p:nvPr/>
        </p:nvSpPr>
        <p:spPr>
          <a:xfrm>
            <a:off x="4480560" y="1554480"/>
            <a:ext cx="310896" cy="310896"/>
          </a:xfrm>
          <a:prstGeom prst="rect">
            <a:avLst/>
          </a:prstGeom>
          <a:noFill/>
          <a:ln/>
        </p:spPr>
        <p:txBody>
          <a:bodyPr wrap="square" lIns="0" tIns="0" rIns="0" bIns="0" rtlCol="0" anchor="ctr"/>
          <a:lstStyle/>
          <a:p>
            <a:pPr algn="ctr" indent="0" marL="0">
              <a:buNone/>
            </a:pPr>
            <a:r>
              <a:rPr lang="en-US" sz="950" b="1" dirty="0">
                <a:solidFill>
                  <a:srgbClr val="FFFEFB"/>
                </a:solidFill>
                <a:latin typeface="Courier New" pitchFamily="34" charset="0"/>
                <a:ea typeface="Courier New" pitchFamily="34" charset="-122"/>
                <a:cs typeface="Courier New" pitchFamily="34" charset="-120"/>
              </a:rPr>
              <a:t>1</a:t>
            </a:r>
            <a:endParaRPr lang="en-US" sz="950" dirty="0"/>
          </a:p>
        </p:txBody>
      </p:sp>
      <p:sp>
        <p:nvSpPr>
          <p:cNvPr id="10" name="Text 8"/>
          <p:cNvSpPr/>
          <p:nvPr/>
        </p:nvSpPr>
        <p:spPr>
          <a:xfrm>
            <a:off x="4919472" y="1536192"/>
            <a:ext cx="3657600" cy="402336"/>
          </a:xfrm>
          <a:prstGeom prst="rect">
            <a:avLst/>
          </a:prstGeom>
          <a:noFill/>
          <a:ln/>
        </p:spPr>
        <p:txBody>
          <a:bodyPr wrap="square" lIns="0" tIns="0" rIns="0" bIns="0" rtlCol="0" anchor="t"/>
          <a:lstStyle/>
          <a:p>
            <a:pPr algn="l" indent="0" marL="0">
              <a:lnSpc>
                <a:spcPct val="104000"/>
              </a:lnSpc>
              <a:buNone/>
            </a:pPr>
            <a:r>
              <a:rPr lang="en-US" sz="1250" dirty="0">
                <a:solidFill>
                  <a:srgbClr val="14171A"/>
                </a:solidFill>
                <a:latin typeface="Calibri" pitchFamily="34" charset="0"/>
                <a:ea typeface="Calibri" pitchFamily="34" charset="-122"/>
                <a:cs typeface="Calibri" pitchFamily="34" charset="-120"/>
              </a:rPr>
              <a:t>Who published this?</a:t>
            </a:r>
            <a:endParaRPr lang="en-US" sz="1250" dirty="0"/>
          </a:p>
        </p:txBody>
      </p:sp>
      <p:sp>
        <p:nvSpPr>
          <p:cNvPr id="11" name="Shape 9"/>
          <p:cNvSpPr/>
          <p:nvPr/>
        </p:nvSpPr>
        <p:spPr>
          <a:xfrm>
            <a:off x="4480560" y="2011680"/>
            <a:ext cx="310896" cy="310896"/>
          </a:xfrm>
          <a:prstGeom prst="ellipse">
            <a:avLst/>
          </a:prstGeom>
          <a:solidFill>
            <a:srgbClr val="2B3238"/>
          </a:solidFill>
          <a:ln w="12700">
            <a:solidFill>
              <a:srgbClr val="2B3238"/>
            </a:solidFill>
            <a:prstDash val="solid"/>
          </a:ln>
        </p:spPr>
      </p:sp>
      <p:sp>
        <p:nvSpPr>
          <p:cNvPr id="12" name="Text 10"/>
          <p:cNvSpPr/>
          <p:nvPr/>
        </p:nvSpPr>
        <p:spPr>
          <a:xfrm>
            <a:off x="4480560" y="2011680"/>
            <a:ext cx="310896" cy="310896"/>
          </a:xfrm>
          <a:prstGeom prst="rect">
            <a:avLst/>
          </a:prstGeom>
          <a:noFill/>
          <a:ln/>
        </p:spPr>
        <p:txBody>
          <a:bodyPr wrap="square" lIns="0" tIns="0" rIns="0" bIns="0" rtlCol="0" anchor="ctr"/>
          <a:lstStyle/>
          <a:p>
            <a:pPr algn="ctr" indent="0" marL="0">
              <a:buNone/>
            </a:pPr>
            <a:r>
              <a:rPr lang="en-US" sz="950" b="1" dirty="0">
                <a:solidFill>
                  <a:srgbClr val="FFFEFB"/>
                </a:solidFill>
                <a:latin typeface="Courier New" pitchFamily="34" charset="0"/>
                <a:ea typeface="Courier New" pitchFamily="34" charset="-122"/>
                <a:cs typeface="Courier New" pitchFamily="34" charset="-120"/>
              </a:rPr>
              <a:t>2</a:t>
            </a:r>
            <a:endParaRPr lang="en-US" sz="950" dirty="0"/>
          </a:p>
        </p:txBody>
      </p:sp>
      <p:sp>
        <p:nvSpPr>
          <p:cNvPr id="13" name="Text 11"/>
          <p:cNvSpPr/>
          <p:nvPr/>
        </p:nvSpPr>
        <p:spPr>
          <a:xfrm>
            <a:off x="4919472" y="1993392"/>
            <a:ext cx="3657600" cy="402336"/>
          </a:xfrm>
          <a:prstGeom prst="rect">
            <a:avLst/>
          </a:prstGeom>
          <a:noFill/>
          <a:ln/>
        </p:spPr>
        <p:txBody>
          <a:bodyPr wrap="square" lIns="0" tIns="0" rIns="0" bIns="0" rtlCol="0" anchor="t"/>
          <a:lstStyle/>
          <a:p>
            <a:pPr algn="l" indent="0" marL="0">
              <a:lnSpc>
                <a:spcPct val="104000"/>
              </a:lnSpc>
              <a:buNone/>
            </a:pPr>
            <a:r>
              <a:rPr lang="en-US" sz="1250" dirty="0">
                <a:solidFill>
                  <a:srgbClr val="14171A"/>
                </a:solidFill>
                <a:latin typeface="Calibri" pitchFamily="34" charset="0"/>
                <a:ea typeface="Calibri" pitchFamily="34" charset="-122"/>
                <a:cs typeface="Calibri" pitchFamily="34" charset="-120"/>
              </a:rPr>
              <a:t>When was it published? Old stories are often reshared as new ones.</a:t>
            </a:r>
            <a:endParaRPr lang="en-US" sz="1250" dirty="0"/>
          </a:p>
        </p:txBody>
      </p:sp>
      <p:sp>
        <p:nvSpPr>
          <p:cNvPr id="14" name="Shape 12"/>
          <p:cNvSpPr/>
          <p:nvPr/>
        </p:nvSpPr>
        <p:spPr>
          <a:xfrm>
            <a:off x="4480560" y="2468880"/>
            <a:ext cx="310896" cy="310896"/>
          </a:xfrm>
          <a:prstGeom prst="ellipse">
            <a:avLst/>
          </a:prstGeom>
          <a:solidFill>
            <a:srgbClr val="2B3238"/>
          </a:solidFill>
          <a:ln w="12700">
            <a:solidFill>
              <a:srgbClr val="2B3238"/>
            </a:solidFill>
            <a:prstDash val="solid"/>
          </a:ln>
        </p:spPr>
      </p:sp>
      <p:sp>
        <p:nvSpPr>
          <p:cNvPr id="15" name="Text 13"/>
          <p:cNvSpPr/>
          <p:nvPr/>
        </p:nvSpPr>
        <p:spPr>
          <a:xfrm>
            <a:off x="4480560" y="2468880"/>
            <a:ext cx="310896" cy="310896"/>
          </a:xfrm>
          <a:prstGeom prst="rect">
            <a:avLst/>
          </a:prstGeom>
          <a:noFill/>
          <a:ln/>
        </p:spPr>
        <p:txBody>
          <a:bodyPr wrap="square" lIns="0" tIns="0" rIns="0" bIns="0" rtlCol="0" anchor="ctr"/>
          <a:lstStyle/>
          <a:p>
            <a:pPr algn="ctr" indent="0" marL="0">
              <a:buNone/>
            </a:pPr>
            <a:r>
              <a:rPr lang="en-US" sz="950" b="1" dirty="0">
                <a:solidFill>
                  <a:srgbClr val="FFFEFB"/>
                </a:solidFill>
                <a:latin typeface="Courier New" pitchFamily="34" charset="0"/>
                <a:ea typeface="Courier New" pitchFamily="34" charset="-122"/>
                <a:cs typeface="Courier New" pitchFamily="34" charset="-120"/>
              </a:rPr>
              <a:t>3</a:t>
            </a:r>
            <a:endParaRPr lang="en-US" sz="950" dirty="0"/>
          </a:p>
        </p:txBody>
      </p:sp>
      <p:sp>
        <p:nvSpPr>
          <p:cNvPr id="16" name="Text 14"/>
          <p:cNvSpPr/>
          <p:nvPr/>
        </p:nvSpPr>
        <p:spPr>
          <a:xfrm>
            <a:off x="4919472" y="2450592"/>
            <a:ext cx="3657600" cy="402336"/>
          </a:xfrm>
          <a:prstGeom prst="rect">
            <a:avLst/>
          </a:prstGeom>
          <a:noFill/>
          <a:ln/>
        </p:spPr>
        <p:txBody>
          <a:bodyPr wrap="square" lIns="0" tIns="0" rIns="0" bIns="0" rtlCol="0" anchor="t"/>
          <a:lstStyle/>
          <a:p>
            <a:pPr algn="l" indent="0" marL="0">
              <a:lnSpc>
                <a:spcPct val="104000"/>
              </a:lnSpc>
              <a:buNone/>
            </a:pPr>
            <a:r>
              <a:rPr lang="en-US" sz="1250" dirty="0">
                <a:solidFill>
                  <a:srgbClr val="14171A"/>
                </a:solidFill>
                <a:latin typeface="Calibri" pitchFamily="34" charset="0"/>
                <a:ea typeface="Calibri" pitchFamily="34" charset="-122"/>
                <a:cs typeface="Calibri" pitchFamily="34" charset="-120"/>
              </a:rPr>
              <a:t>Does any other source report it? If only one does, ask why.</a:t>
            </a:r>
            <a:endParaRPr lang="en-US" sz="1250" dirty="0"/>
          </a:p>
        </p:txBody>
      </p:sp>
      <p:sp>
        <p:nvSpPr>
          <p:cNvPr id="17" name="Shape 15"/>
          <p:cNvSpPr/>
          <p:nvPr/>
        </p:nvSpPr>
        <p:spPr>
          <a:xfrm>
            <a:off x="4480560" y="2926080"/>
            <a:ext cx="310896" cy="310896"/>
          </a:xfrm>
          <a:prstGeom prst="ellipse">
            <a:avLst/>
          </a:prstGeom>
          <a:solidFill>
            <a:srgbClr val="2B3238"/>
          </a:solidFill>
          <a:ln w="12700">
            <a:solidFill>
              <a:srgbClr val="2B3238"/>
            </a:solidFill>
            <a:prstDash val="solid"/>
          </a:ln>
        </p:spPr>
      </p:sp>
      <p:sp>
        <p:nvSpPr>
          <p:cNvPr id="18" name="Text 16"/>
          <p:cNvSpPr/>
          <p:nvPr/>
        </p:nvSpPr>
        <p:spPr>
          <a:xfrm>
            <a:off x="4480560" y="2926080"/>
            <a:ext cx="310896" cy="310896"/>
          </a:xfrm>
          <a:prstGeom prst="rect">
            <a:avLst/>
          </a:prstGeom>
          <a:noFill/>
          <a:ln/>
        </p:spPr>
        <p:txBody>
          <a:bodyPr wrap="square" lIns="0" tIns="0" rIns="0" bIns="0" rtlCol="0" anchor="ctr"/>
          <a:lstStyle/>
          <a:p>
            <a:pPr algn="ctr" indent="0" marL="0">
              <a:buNone/>
            </a:pPr>
            <a:r>
              <a:rPr lang="en-US" sz="950" b="1" dirty="0">
                <a:solidFill>
                  <a:srgbClr val="FFFEFB"/>
                </a:solidFill>
                <a:latin typeface="Courier New" pitchFamily="34" charset="0"/>
                <a:ea typeface="Courier New" pitchFamily="34" charset="-122"/>
                <a:cs typeface="Courier New" pitchFamily="34" charset="-120"/>
              </a:rPr>
              <a:t>4</a:t>
            </a:r>
            <a:endParaRPr lang="en-US" sz="950" dirty="0"/>
          </a:p>
        </p:txBody>
      </p:sp>
      <p:sp>
        <p:nvSpPr>
          <p:cNvPr id="19" name="Text 17"/>
          <p:cNvSpPr/>
          <p:nvPr/>
        </p:nvSpPr>
        <p:spPr>
          <a:xfrm>
            <a:off x="4919472" y="2907792"/>
            <a:ext cx="3657600" cy="402336"/>
          </a:xfrm>
          <a:prstGeom prst="rect">
            <a:avLst/>
          </a:prstGeom>
          <a:noFill/>
          <a:ln/>
        </p:spPr>
        <p:txBody>
          <a:bodyPr wrap="square" lIns="0" tIns="0" rIns="0" bIns="0" rtlCol="0" anchor="t"/>
          <a:lstStyle/>
          <a:p>
            <a:pPr algn="l" indent="0" marL="0">
              <a:lnSpc>
                <a:spcPct val="104000"/>
              </a:lnSpc>
              <a:buNone/>
            </a:pPr>
            <a:r>
              <a:rPr lang="en-US" sz="1250" dirty="0">
                <a:solidFill>
                  <a:srgbClr val="14171A"/>
                </a:solidFill>
                <a:latin typeface="Calibri" pitchFamily="34" charset="0"/>
                <a:ea typeface="Calibri" pitchFamily="34" charset="-122"/>
                <a:cs typeface="Calibri" pitchFamily="34" charset="-120"/>
              </a:rPr>
              <a:t>What is the earliest version you can find?</a:t>
            </a:r>
            <a:endParaRPr lang="en-US" sz="1250" dirty="0"/>
          </a:p>
        </p:txBody>
      </p:sp>
      <p:sp>
        <p:nvSpPr>
          <p:cNvPr id="20" name="Shape 18"/>
          <p:cNvSpPr/>
          <p:nvPr/>
        </p:nvSpPr>
        <p:spPr>
          <a:xfrm>
            <a:off x="4480560" y="3383280"/>
            <a:ext cx="310896" cy="310896"/>
          </a:xfrm>
          <a:prstGeom prst="ellipse">
            <a:avLst/>
          </a:prstGeom>
          <a:solidFill>
            <a:srgbClr val="2B3238"/>
          </a:solidFill>
          <a:ln w="12700">
            <a:solidFill>
              <a:srgbClr val="2B3238"/>
            </a:solidFill>
            <a:prstDash val="solid"/>
          </a:ln>
        </p:spPr>
      </p:sp>
      <p:sp>
        <p:nvSpPr>
          <p:cNvPr id="21" name="Text 19"/>
          <p:cNvSpPr/>
          <p:nvPr/>
        </p:nvSpPr>
        <p:spPr>
          <a:xfrm>
            <a:off x="4480560" y="3383280"/>
            <a:ext cx="310896" cy="310896"/>
          </a:xfrm>
          <a:prstGeom prst="rect">
            <a:avLst/>
          </a:prstGeom>
          <a:noFill/>
          <a:ln/>
        </p:spPr>
        <p:txBody>
          <a:bodyPr wrap="square" lIns="0" tIns="0" rIns="0" bIns="0" rtlCol="0" anchor="ctr"/>
          <a:lstStyle/>
          <a:p>
            <a:pPr algn="ctr" indent="0" marL="0">
              <a:buNone/>
            </a:pPr>
            <a:r>
              <a:rPr lang="en-US" sz="950" b="1" dirty="0">
                <a:solidFill>
                  <a:srgbClr val="FFFEFB"/>
                </a:solidFill>
                <a:latin typeface="Courier New" pitchFamily="34" charset="0"/>
                <a:ea typeface="Courier New" pitchFamily="34" charset="-122"/>
                <a:cs typeface="Courier New" pitchFamily="34" charset="-120"/>
              </a:rPr>
              <a:t>5</a:t>
            </a:r>
            <a:endParaRPr lang="en-US" sz="950" dirty="0"/>
          </a:p>
        </p:txBody>
      </p:sp>
      <p:sp>
        <p:nvSpPr>
          <p:cNvPr id="22" name="Text 20"/>
          <p:cNvSpPr/>
          <p:nvPr/>
        </p:nvSpPr>
        <p:spPr>
          <a:xfrm>
            <a:off x="4919472" y="3364992"/>
            <a:ext cx="3657600" cy="402336"/>
          </a:xfrm>
          <a:prstGeom prst="rect">
            <a:avLst/>
          </a:prstGeom>
          <a:noFill/>
          <a:ln/>
        </p:spPr>
        <p:txBody>
          <a:bodyPr wrap="square" lIns="0" tIns="0" rIns="0" bIns="0" rtlCol="0" anchor="t"/>
          <a:lstStyle/>
          <a:p>
            <a:pPr algn="l" indent="0" marL="0">
              <a:lnSpc>
                <a:spcPct val="104000"/>
              </a:lnSpc>
              <a:buNone/>
            </a:pPr>
            <a:r>
              <a:rPr lang="en-US" sz="1250" dirty="0">
                <a:solidFill>
                  <a:srgbClr val="14171A"/>
                </a:solidFill>
                <a:latin typeface="Calibri" pitchFamily="34" charset="0"/>
                <a:ea typeface="Calibri" pitchFamily="34" charset="-122"/>
                <a:cs typeface="Calibri" pitchFamily="34" charset="-120"/>
              </a:rPr>
              <a:t>For a photo, run a reverse image search.</a:t>
            </a:r>
            <a:endParaRPr lang="en-US" sz="1250" dirty="0"/>
          </a:p>
        </p:txBody>
      </p:sp>
      <p:sp>
        <p:nvSpPr>
          <p:cNvPr id="23" name="Shape 21"/>
          <p:cNvSpPr/>
          <p:nvPr/>
        </p:nvSpPr>
        <p:spPr>
          <a:xfrm>
            <a:off x="548640" y="3931920"/>
            <a:ext cx="8046720" cy="548640"/>
          </a:xfrm>
          <a:prstGeom prst="roundRect">
            <a:avLst>
              <a:gd name="adj" fmla="val 10000"/>
            </a:avLst>
          </a:prstGeom>
          <a:solidFill>
            <a:srgbClr val="F2E1E1"/>
          </a:solidFill>
          <a:ln w="9525">
            <a:solidFill>
              <a:srgbClr val="F2E1E1"/>
            </a:solidFill>
            <a:prstDash val="solid"/>
          </a:ln>
          <a:effectLst>
            <a:outerShdw sx="100000" sy="100000" kx="0" ky="0" algn="bl" rotWithShape="0" blurRad="88900" dist="12700" dir="5400000">
              <a:srgbClr val="9A968A">
                <a:alpha val="20000"/>
              </a:srgbClr>
            </a:outerShdw>
          </a:effectLst>
        </p:spPr>
      </p:sp>
      <p:sp>
        <p:nvSpPr>
          <p:cNvPr id="24" name="Text 22"/>
          <p:cNvSpPr/>
          <p:nvPr/>
        </p:nvSpPr>
        <p:spPr>
          <a:xfrm>
            <a:off x="786384" y="3931920"/>
            <a:ext cx="7571232" cy="548640"/>
          </a:xfrm>
          <a:prstGeom prst="rect">
            <a:avLst/>
          </a:prstGeom>
          <a:noFill/>
          <a:ln/>
        </p:spPr>
        <p:txBody>
          <a:bodyPr wrap="square" lIns="0" tIns="0" rIns="0" bIns="0" rtlCol="0" anchor="ctr"/>
          <a:lstStyle/>
          <a:p>
            <a:pPr algn="l" indent="0" marL="0">
              <a:lnSpc>
                <a:spcPct val="106000"/>
              </a:lnSpc>
              <a:buNone/>
            </a:pPr>
            <a:r>
              <a:rPr lang="en-US" sz="1350" dirty="0">
                <a:solidFill>
                  <a:srgbClr val="14171A"/>
                </a:solidFill>
                <a:latin typeface="Calibri" pitchFamily="34" charset="0"/>
                <a:ea typeface="Calibri" pitchFamily="34" charset="-122"/>
                <a:cs typeface="Calibri" pitchFamily="34" charset="-120"/>
              </a:rPr>
              <a:t>Saying "I do not believe it" is not checking. Checking means naming what you looked at.</a:t>
            </a:r>
            <a:endParaRPr lang="en-US" sz="1350" dirty="0"/>
          </a:p>
        </p:txBody>
      </p:sp>
      <p:sp>
        <p:nvSpPr>
          <p:cNvPr id="26" name="Text 23"/>
          <p:cNvSpPr/>
          <p:nvPr/>
        </p:nvSpPr>
        <p:spPr>
          <a:xfrm>
            <a:off x="548640" y="4668012"/>
            <a:ext cx="8046720" cy="256032"/>
          </a:xfrm>
          <a:prstGeom prst="rect">
            <a:avLst/>
          </a:prstGeom>
          <a:noFill/>
          <a:ln/>
        </p:spPr>
        <p:txBody>
          <a:bodyPr wrap="square" lIns="0" tIns="0" rIns="0" bIns="0" rtlCol="0" anchor="ctr"/>
          <a:lstStyle/>
          <a:p>
            <a:pPr indent="0" marL="0">
              <a:buNone/>
            </a:pPr>
            <a:r>
              <a:rPr lang="en-US" sz="800" spc="100" kern="0" dirty="0">
                <a:solidFill>
                  <a:srgbClr val="5C6873"/>
                </a:solidFill>
                <a:latin typeface="Courier New" pitchFamily="34" charset="0"/>
                <a:ea typeface="Courier New" pitchFamily="34" charset="-122"/>
                <a:cs typeface="Courier New" pitchFamily="34" charset="-120"/>
              </a:rPr>
              <a:t>BECURRENT  ·  SOCIAL MEDIA  ·  TOPIC 5</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2ED"/>
        </a:solidFill>
      </p:bgPr>
    </p:bg>
    <p:spTree>
      <p:nvGrpSpPr>
        <p:cNvPr id="1" name=""/>
        <p:cNvGrpSpPr/>
        <p:nvPr/>
      </p:nvGrpSpPr>
      <p:grpSpPr>
        <a:xfrm>
          <a:off x="0" y="0"/>
          <a:ext cx="0" cy="0"/>
          <a:chOff x="0" y="0"/>
          <a:chExt cx="0" cy="0"/>
        </a:xfrm>
      </p:grpSpPr>
      <p:sp>
        <p:nvSpPr>
          <p:cNvPr id="2" name="Text 0"/>
          <p:cNvSpPr/>
          <p:nvPr/>
        </p:nvSpPr>
        <p:spPr>
          <a:xfrm>
            <a:off x="548640" y="365760"/>
            <a:ext cx="8046720" cy="237744"/>
          </a:xfrm>
          <a:prstGeom prst="rect">
            <a:avLst/>
          </a:prstGeom>
          <a:noFill/>
          <a:ln/>
        </p:spPr>
        <p:txBody>
          <a:bodyPr wrap="square" lIns="0" tIns="0" rIns="0" bIns="0" rtlCol="0" anchor="ctr"/>
          <a:lstStyle/>
          <a:p>
            <a:pPr indent="0" marL="0">
              <a:buNone/>
            </a:pPr>
            <a:r>
              <a:rPr lang="en-US" sz="1000" b="1" spc="140" kern="0" dirty="0">
                <a:solidFill>
                  <a:srgbClr val="B22222"/>
                </a:solidFill>
                <a:latin typeface="Courier New" pitchFamily="34" charset="0"/>
                <a:ea typeface="Courier New" pitchFamily="34" charset="-122"/>
                <a:cs typeface="Courier New" pitchFamily="34" charset="-120"/>
              </a:rPr>
              <a:t>PART FOUR · A WARNING</a:t>
            </a:r>
            <a:endParaRPr lang="en-US" sz="1000" dirty="0"/>
          </a:p>
        </p:txBody>
      </p:sp>
      <p:sp>
        <p:nvSpPr>
          <p:cNvPr id="3" name="Text 1"/>
          <p:cNvSpPr/>
          <p:nvPr/>
        </p:nvSpPr>
        <p:spPr>
          <a:xfrm>
            <a:off x="548640" y="713232"/>
            <a:ext cx="8046720" cy="731520"/>
          </a:xfrm>
          <a:prstGeom prst="rect">
            <a:avLst/>
          </a:prstGeom>
          <a:noFill/>
          <a:ln/>
        </p:spPr>
        <p:txBody>
          <a:bodyPr wrap="square" lIns="0" tIns="0" rIns="0" bIns="0" rtlCol="0" anchor="t"/>
          <a:lstStyle/>
          <a:p>
            <a:pPr indent="0" marL="0">
              <a:lnSpc>
                <a:spcPct val="92000"/>
              </a:lnSpc>
              <a:buNone/>
            </a:pPr>
            <a:r>
              <a:rPr lang="en-US" sz="3000" b="1" dirty="0">
                <a:solidFill>
                  <a:srgbClr val="14171A"/>
                </a:solidFill>
                <a:latin typeface="Cambria" pitchFamily="34" charset="0"/>
                <a:ea typeface="Cambria" pitchFamily="34" charset="-122"/>
                <a:cs typeface="Cambria" pitchFamily="34" charset="-120"/>
              </a:rPr>
              <a:t>Doubting everything is not the goal</a:t>
            </a:r>
            <a:endParaRPr lang="en-US" sz="3000" dirty="0"/>
          </a:p>
        </p:txBody>
      </p:sp>
      <p:sp>
        <p:nvSpPr>
          <p:cNvPr id="4" name="Shape 2"/>
          <p:cNvSpPr/>
          <p:nvPr/>
        </p:nvSpPr>
        <p:spPr>
          <a:xfrm>
            <a:off x="548640" y="1554480"/>
            <a:ext cx="3840480" cy="1554480"/>
          </a:xfrm>
          <a:prstGeom prst="roundRect">
            <a:avLst>
              <a:gd name="adj" fmla="val 3529"/>
            </a:avLst>
          </a:prstGeom>
          <a:solidFill>
            <a:srgbClr val="F2E1E1"/>
          </a:solidFill>
          <a:ln w="9525">
            <a:solidFill>
              <a:srgbClr val="F2E1E1"/>
            </a:solidFill>
            <a:prstDash val="solid"/>
          </a:ln>
          <a:effectLst>
            <a:outerShdw sx="100000" sy="100000" kx="0" ky="0" algn="bl" rotWithShape="0" blurRad="88900" dist="12700" dir="5400000">
              <a:srgbClr val="9A968A">
                <a:alpha val="20000"/>
              </a:srgbClr>
            </a:outerShdw>
          </a:effectLst>
        </p:spPr>
      </p:sp>
      <p:sp>
        <p:nvSpPr>
          <p:cNvPr id="5" name="Text 3"/>
          <p:cNvSpPr/>
          <p:nvPr/>
        </p:nvSpPr>
        <p:spPr>
          <a:xfrm>
            <a:off x="804672" y="1773936"/>
            <a:ext cx="3328416" cy="219456"/>
          </a:xfrm>
          <a:prstGeom prst="rect">
            <a:avLst/>
          </a:prstGeom>
          <a:noFill/>
          <a:ln/>
        </p:spPr>
        <p:txBody>
          <a:bodyPr wrap="square" lIns="0" tIns="0" rIns="0" bIns="0" rtlCol="0" anchor="t"/>
          <a:lstStyle/>
          <a:p>
            <a:pPr algn="l" indent="0" marL="0">
              <a:lnSpc>
                <a:spcPct val="106000"/>
              </a:lnSpc>
              <a:buNone/>
            </a:pPr>
            <a:r>
              <a:rPr lang="en-US" sz="900" b="1" dirty="0">
                <a:solidFill>
                  <a:srgbClr val="8A1A1A"/>
                </a:solidFill>
                <a:latin typeface="Courier New" pitchFamily="34" charset="0"/>
                <a:ea typeface="Courier New" pitchFamily="34" charset="-122"/>
                <a:cs typeface="Courier New" pitchFamily="34" charset="-120"/>
              </a:rPr>
              <a:t>THE PROBLEM</a:t>
            </a:r>
            <a:endParaRPr lang="en-US" sz="900" dirty="0"/>
          </a:p>
        </p:txBody>
      </p:sp>
      <p:sp>
        <p:nvSpPr>
          <p:cNvPr id="6" name="Text 4"/>
          <p:cNvSpPr/>
          <p:nvPr/>
        </p:nvSpPr>
        <p:spPr>
          <a:xfrm>
            <a:off x="804672" y="2066544"/>
            <a:ext cx="3328416" cy="914400"/>
          </a:xfrm>
          <a:prstGeom prst="rect">
            <a:avLst/>
          </a:prstGeom>
          <a:noFill/>
          <a:ln/>
        </p:spPr>
        <p:txBody>
          <a:bodyPr wrap="square" lIns="0" tIns="0" rIns="0" bIns="0" rtlCol="0" anchor="t"/>
          <a:lstStyle/>
          <a:p>
            <a:pPr algn="l" indent="0" marL="0">
              <a:lnSpc>
                <a:spcPct val="112000"/>
              </a:lnSpc>
              <a:buNone/>
            </a:pPr>
            <a:r>
              <a:rPr lang="en-US" sz="1250" dirty="0">
                <a:solidFill>
                  <a:srgbClr val="14171A"/>
                </a:solidFill>
                <a:latin typeface="Calibri" pitchFamily="34" charset="0"/>
                <a:ea typeface="Calibri" pitchFamily="34" charset="-122"/>
                <a:cs typeface="Calibri" pitchFamily="34" charset="-120"/>
              </a:rPr>
              <a:t>If you decide that nothing can be trusted, you cannot learn anything. That also helps people who spread disinformation: if nothing can be proven, nothing they say can be disproven.</a:t>
            </a:r>
            <a:endParaRPr lang="en-US" sz="1250" dirty="0"/>
          </a:p>
        </p:txBody>
      </p:sp>
      <p:sp>
        <p:nvSpPr>
          <p:cNvPr id="7" name="Shape 5"/>
          <p:cNvSpPr/>
          <p:nvPr/>
        </p:nvSpPr>
        <p:spPr>
          <a:xfrm>
            <a:off x="4754880" y="1554480"/>
            <a:ext cx="3840480" cy="1554480"/>
          </a:xfrm>
          <a:prstGeom prst="roundRect">
            <a:avLst>
              <a:gd name="adj" fmla="val 3529"/>
            </a:avLst>
          </a:prstGeom>
          <a:solidFill>
            <a:srgbClr val="E3EAEE"/>
          </a:solidFill>
          <a:ln w="9525">
            <a:solidFill>
              <a:srgbClr val="E3EAEE"/>
            </a:solidFill>
            <a:prstDash val="solid"/>
          </a:ln>
          <a:effectLst>
            <a:outerShdw sx="100000" sy="100000" kx="0" ky="0" algn="bl" rotWithShape="0" blurRad="88900" dist="12700" dir="5400000">
              <a:srgbClr val="9A968A">
                <a:alpha val="20000"/>
              </a:srgbClr>
            </a:outerShdw>
          </a:effectLst>
        </p:spPr>
      </p:sp>
      <p:sp>
        <p:nvSpPr>
          <p:cNvPr id="8" name="Text 6"/>
          <p:cNvSpPr/>
          <p:nvPr/>
        </p:nvSpPr>
        <p:spPr>
          <a:xfrm>
            <a:off x="5010912" y="1773936"/>
            <a:ext cx="3328416" cy="219456"/>
          </a:xfrm>
          <a:prstGeom prst="rect">
            <a:avLst/>
          </a:prstGeom>
          <a:noFill/>
          <a:ln/>
        </p:spPr>
        <p:txBody>
          <a:bodyPr wrap="square" lIns="0" tIns="0" rIns="0" bIns="0" rtlCol="0" anchor="t"/>
          <a:lstStyle/>
          <a:p>
            <a:pPr algn="l" indent="0" marL="0">
              <a:lnSpc>
                <a:spcPct val="106000"/>
              </a:lnSpc>
              <a:buNone/>
            </a:pPr>
            <a:r>
              <a:rPr lang="en-US" sz="900" b="1" dirty="0">
                <a:solidFill>
                  <a:srgbClr val="1F5673"/>
                </a:solidFill>
                <a:latin typeface="Courier New" pitchFamily="34" charset="0"/>
                <a:ea typeface="Courier New" pitchFamily="34" charset="-122"/>
                <a:cs typeface="Courier New" pitchFamily="34" charset="-120"/>
              </a:rPr>
              <a:t>THE GOAL</a:t>
            </a:r>
            <a:endParaRPr lang="en-US" sz="900" dirty="0"/>
          </a:p>
        </p:txBody>
      </p:sp>
      <p:sp>
        <p:nvSpPr>
          <p:cNvPr id="9" name="Text 7"/>
          <p:cNvSpPr/>
          <p:nvPr/>
        </p:nvSpPr>
        <p:spPr>
          <a:xfrm>
            <a:off x="5010912" y="2066544"/>
            <a:ext cx="3328416" cy="914400"/>
          </a:xfrm>
          <a:prstGeom prst="rect">
            <a:avLst/>
          </a:prstGeom>
          <a:noFill/>
          <a:ln/>
        </p:spPr>
        <p:txBody>
          <a:bodyPr wrap="square" lIns="0" tIns="0" rIns="0" bIns="0" rtlCol="0" anchor="t"/>
          <a:lstStyle/>
          <a:p>
            <a:pPr algn="l" indent="0" marL="0">
              <a:lnSpc>
                <a:spcPct val="112000"/>
              </a:lnSpc>
              <a:buNone/>
            </a:pPr>
            <a:r>
              <a:rPr lang="en-US" sz="1250" dirty="0">
                <a:solidFill>
                  <a:srgbClr val="14171A"/>
                </a:solidFill>
                <a:latin typeface="Calibri" pitchFamily="34" charset="0"/>
                <a:ea typeface="Calibri" pitchFamily="34" charset="-122"/>
                <a:cs typeface="Calibri" pitchFamily="34" charset="-120"/>
              </a:rPr>
              <a:t>Calibration. This means believing a claim in proportion to the evidence for it, rather than doubting everything equally.</a:t>
            </a:r>
            <a:endParaRPr lang="en-US" sz="1250" dirty="0"/>
          </a:p>
        </p:txBody>
      </p:sp>
      <p:sp>
        <p:nvSpPr>
          <p:cNvPr id="10" name="Shape 8"/>
          <p:cNvSpPr/>
          <p:nvPr/>
        </p:nvSpPr>
        <p:spPr>
          <a:xfrm>
            <a:off x="548640" y="3236976"/>
            <a:ext cx="8046720" cy="914400"/>
          </a:xfrm>
          <a:prstGeom prst="roundRect">
            <a:avLst>
              <a:gd name="adj" fmla="val 6000"/>
            </a:avLst>
          </a:prstGeom>
          <a:solidFill>
            <a:srgbClr val="FFFEFB"/>
          </a:solidFill>
          <a:ln w="9525">
            <a:solidFill>
              <a:srgbClr val="D9D6CF"/>
            </a:solidFill>
            <a:prstDash val="solid"/>
          </a:ln>
          <a:effectLst>
            <a:outerShdw sx="100000" sy="100000" kx="0" ky="0" algn="bl" rotWithShape="0" blurRad="88900" dist="12700" dir="5400000">
              <a:srgbClr val="9A968A">
                <a:alpha val="20000"/>
              </a:srgbClr>
            </a:outerShdw>
          </a:effectLst>
        </p:spPr>
      </p:sp>
      <p:sp>
        <p:nvSpPr>
          <p:cNvPr id="11" name="Text 9"/>
          <p:cNvSpPr/>
          <p:nvPr/>
        </p:nvSpPr>
        <p:spPr>
          <a:xfrm>
            <a:off x="804672" y="3364992"/>
            <a:ext cx="7534656" cy="310896"/>
          </a:xfrm>
          <a:prstGeom prst="rect">
            <a:avLst/>
          </a:prstGeom>
          <a:noFill/>
          <a:ln/>
        </p:spPr>
        <p:txBody>
          <a:bodyPr wrap="square" lIns="0" tIns="0" rIns="0" bIns="0" rtlCol="0" anchor="t"/>
          <a:lstStyle/>
          <a:p>
            <a:pPr algn="l" indent="0" marL="0">
              <a:lnSpc>
                <a:spcPct val="106000"/>
              </a:lnSpc>
              <a:buNone/>
            </a:pPr>
            <a:r>
              <a:rPr lang="en-US" sz="1900" b="1" dirty="0">
                <a:solidFill>
                  <a:srgbClr val="14171A"/>
                </a:solidFill>
                <a:latin typeface="Cambria" pitchFamily="34" charset="0"/>
                <a:ea typeface="Cambria" pitchFamily="34" charset="-122"/>
                <a:cs typeface="Cambria" pitchFamily="34" charset="-120"/>
              </a:rPr>
              <a:t>Do not share something you have not checked.</a:t>
            </a:r>
            <a:endParaRPr lang="en-US" sz="1900" dirty="0"/>
          </a:p>
        </p:txBody>
      </p:sp>
      <p:sp>
        <p:nvSpPr>
          <p:cNvPr id="12" name="Text 10"/>
          <p:cNvSpPr/>
          <p:nvPr/>
        </p:nvSpPr>
        <p:spPr>
          <a:xfrm>
            <a:off x="804672" y="3712464"/>
            <a:ext cx="7534656" cy="402336"/>
          </a:xfrm>
          <a:prstGeom prst="rect">
            <a:avLst/>
          </a:prstGeom>
          <a:noFill/>
          <a:ln/>
        </p:spPr>
        <p:txBody>
          <a:bodyPr wrap="square" lIns="0" tIns="0" rIns="0" bIns="0" rtlCol="0" anchor="t"/>
          <a:lstStyle/>
          <a:p>
            <a:pPr algn="l" indent="0" marL="0">
              <a:lnSpc>
                <a:spcPct val="110000"/>
              </a:lnSpc>
              <a:buNone/>
            </a:pPr>
            <a:r>
              <a:rPr lang="en-US" sz="1300" dirty="0">
                <a:solidFill>
                  <a:srgbClr val="3C444C"/>
                </a:solidFill>
                <a:latin typeface="Calibri" pitchFamily="34" charset="0"/>
                <a:ea typeface="Calibri" pitchFamily="34" charset="-122"/>
                <a:cs typeface="Calibri" pitchFamily="34" charset="-120"/>
              </a:rPr>
              <a:t>This is one habit, and it does most of the work. It is not a rule about being a good person. Part Three is the reason: people do most of the spreading, so what you share matters.</a:t>
            </a:r>
            <a:endParaRPr lang="en-US" sz="1300" dirty="0"/>
          </a:p>
        </p:txBody>
      </p:sp>
      <p:sp>
        <p:nvSpPr>
          <p:cNvPr id="14" name="Text 11"/>
          <p:cNvSpPr/>
          <p:nvPr/>
        </p:nvSpPr>
        <p:spPr>
          <a:xfrm>
            <a:off x="548640" y="4668012"/>
            <a:ext cx="8046720" cy="256032"/>
          </a:xfrm>
          <a:prstGeom prst="rect">
            <a:avLst/>
          </a:prstGeom>
          <a:noFill/>
          <a:ln/>
        </p:spPr>
        <p:txBody>
          <a:bodyPr wrap="square" lIns="0" tIns="0" rIns="0" bIns="0" rtlCol="0" anchor="ctr"/>
          <a:lstStyle/>
          <a:p>
            <a:pPr indent="0" marL="0">
              <a:buNone/>
            </a:pPr>
            <a:r>
              <a:rPr lang="en-US" sz="800" spc="100" kern="0" dirty="0">
                <a:solidFill>
                  <a:srgbClr val="5C6873"/>
                </a:solidFill>
                <a:latin typeface="Courier New" pitchFamily="34" charset="0"/>
                <a:ea typeface="Courier New" pitchFamily="34" charset="-122"/>
                <a:cs typeface="Courier New" pitchFamily="34" charset="-120"/>
              </a:rPr>
              <a:t>BECURRENT  ·  SOCIAL MEDIA  ·  TOPIC 5</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2ED"/>
        </a:solidFill>
      </p:bgPr>
    </p:bg>
    <p:spTree>
      <p:nvGrpSpPr>
        <p:cNvPr id="1" name=""/>
        <p:cNvGrpSpPr/>
        <p:nvPr/>
      </p:nvGrpSpPr>
      <p:grpSpPr>
        <a:xfrm>
          <a:off x="0" y="0"/>
          <a:ext cx="0" cy="0"/>
          <a:chOff x="0" y="0"/>
          <a:chExt cx="0" cy="0"/>
        </a:xfrm>
      </p:grpSpPr>
      <p:sp>
        <p:nvSpPr>
          <p:cNvPr id="2" name="Text 0"/>
          <p:cNvSpPr/>
          <p:nvPr/>
        </p:nvSpPr>
        <p:spPr>
          <a:xfrm>
            <a:off x="548640" y="365760"/>
            <a:ext cx="8046720" cy="237744"/>
          </a:xfrm>
          <a:prstGeom prst="rect">
            <a:avLst/>
          </a:prstGeom>
          <a:noFill/>
          <a:ln/>
        </p:spPr>
        <p:txBody>
          <a:bodyPr wrap="square" lIns="0" tIns="0" rIns="0" bIns="0" rtlCol="0" anchor="ctr"/>
          <a:lstStyle/>
          <a:p>
            <a:pPr indent="0" marL="0">
              <a:buNone/>
            </a:pPr>
            <a:r>
              <a:rPr lang="en-US" sz="1000" b="1" spc="140" kern="0" dirty="0">
                <a:solidFill>
                  <a:srgbClr val="B22222"/>
                </a:solidFill>
                <a:latin typeface="Courier New" pitchFamily="34" charset="0"/>
                <a:ea typeface="Courier New" pitchFamily="34" charset="-122"/>
                <a:cs typeface="Courier New" pitchFamily="34" charset="-120"/>
              </a:rPr>
              <a:t>PART FIVE</a:t>
            </a:r>
            <a:endParaRPr lang="en-US" sz="1000" dirty="0"/>
          </a:p>
        </p:txBody>
      </p:sp>
      <p:sp>
        <p:nvSpPr>
          <p:cNvPr id="3" name="Text 1"/>
          <p:cNvSpPr/>
          <p:nvPr/>
        </p:nvSpPr>
        <p:spPr>
          <a:xfrm>
            <a:off x="548640" y="713232"/>
            <a:ext cx="8046720" cy="731520"/>
          </a:xfrm>
          <a:prstGeom prst="rect">
            <a:avLst/>
          </a:prstGeom>
          <a:noFill/>
          <a:ln/>
        </p:spPr>
        <p:txBody>
          <a:bodyPr wrap="square" lIns="0" tIns="0" rIns="0" bIns="0" rtlCol="0" anchor="t"/>
          <a:lstStyle/>
          <a:p>
            <a:pPr indent="0" marL="0">
              <a:lnSpc>
                <a:spcPct val="92000"/>
              </a:lnSpc>
              <a:buNone/>
            </a:pPr>
            <a:r>
              <a:rPr lang="en-US" sz="2800" b="1" dirty="0">
                <a:solidFill>
                  <a:srgbClr val="14171A"/>
                </a:solidFill>
                <a:latin typeface="Cambria" pitchFamily="34" charset="0"/>
                <a:ea typeface="Cambria" pitchFamily="34" charset="-122"/>
                <a:cs typeface="Cambria" pitchFamily="34" charset="-120"/>
              </a:rPr>
              <a:t>Elections, where all of it appears at once</a:t>
            </a:r>
            <a:endParaRPr lang="en-US" sz="2800" dirty="0"/>
          </a:p>
        </p:txBody>
      </p:sp>
      <p:sp>
        <p:nvSpPr>
          <p:cNvPr id="4" name="Shape 2"/>
          <p:cNvSpPr/>
          <p:nvPr/>
        </p:nvSpPr>
        <p:spPr>
          <a:xfrm>
            <a:off x="548640" y="1481328"/>
            <a:ext cx="2560320" cy="1152144"/>
          </a:xfrm>
          <a:prstGeom prst="roundRect">
            <a:avLst>
              <a:gd name="adj" fmla="val 4762"/>
            </a:avLst>
          </a:prstGeom>
          <a:solidFill>
            <a:srgbClr val="FFFEFB"/>
          </a:solidFill>
          <a:ln w="9525">
            <a:solidFill>
              <a:srgbClr val="D9D6CF"/>
            </a:solidFill>
            <a:prstDash val="solid"/>
          </a:ln>
          <a:effectLst>
            <a:outerShdw sx="100000" sy="100000" kx="0" ky="0" algn="bl" rotWithShape="0" blurRad="88900" dist="12700" dir="5400000">
              <a:srgbClr val="9A968A">
                <a:alpha val="20000"/>
              </a:srgbClr>
            </a:outerShdw>
          </a:effectLst>
        </p:spPr>
      </p:sp>
      <p:sp>
        <p:nvSpPr>
          <p:cNvPr id="5" name="Text 3"/>
          <p:cNvSpPr/>
          <p:nvPr/>
        </p:nvSpPr>
        <p:spPr>
          <a:xfrm>
            <a:off x="749808" y="1627632"/>
            <a:ext cx="2157984" cy="237744"/>
          </a:xfrm>
          <a:prstGeom prst="rect">
            <a:avLst/>
          </a:prstGeom>
          <a:noFill/>
          <a:ln/>
        </p:spPr>
        <p:txBody>
          <a:bodyPr wrap="square" lIns="0" tIns="0" rIns="0" bIns="0" rtlCol="0" anchor="t"/>
          <a:lstStyle/>
          <a:p>
            <a:pPr algn="l" indent="0" marL="0">
              <a:lnSpc>
                <a:spcPct val="106000"/>
              </a:lnSpc>
              <a:buNone/>
            </a:pPr>
            <a:r>
              <a:rPr lang="en-US" sz="1300" b="1" dirty="0">
                <a:solidFill>
                  <a:srgbClr val="14171A"/>
                </a:solidFill>
                <a:latin typeface="Cambria" pitchFamily="34" charset="0"/>
                <a:ea typeface="Cambria" pitchFamily="34" charset="-122"/>
                <a:cs typeface="Cambria" pitchFamily="34" charset="-120"/>
              </a:rPr>
              <a:t>False voting information</a:t>
            </a:r>
            <a:endParaRPr lang="en-US" sz="1300" dirty="0"/>
          </a:p>
        </p:txBody>
      </p:sp>
      <p:sp>
        <p:nvSpPr>
          <p:cNvPr id="6" name="Text 4"/>
          <p:cNvSpPr/>
          <p:nvPr/>
        </p:nvSpPr>
        <p:spPr>
          <a:xfrm>
            <a:off x="749808" y="1920240"/>
            <a:ext cx="2157984" cy="621792"/>
          </a:xfrm>
          <a:prstGeom prst="rect">
            <a:avLst/>
          </a:prstGeom>
          <a:noFill/>
          <a:ln/>
        </p:spPr>
        <p:txBody>
          <a:bodyPr wrap="square" lIns="0" tIns="0" rIns="0" bIns="0" rtlCol="0" anchor="t"/>
          <a:lstStyle/>
          <a:p>
            <a:pPr algn="l" indent="0" marL="0">
              <a:lnSpc>
                <a:spcPct val="104000"/>
              </a:lnSpc>
              <a:buNone/>
            </a:pPr>
            <a:r>
              <a:rPr lang="en-US" sz="1150" dirty="0">
                <a:solidFill>
                  <a:srgbClr val="3C444C"/>
                </a:solidFill>
                <a:latin typeface="Calibri" pitchFamily="34" charset="0"/>
                <a:ea typeface="Calibri" pitchFamily="34" charset="-122"/>
                <a:cs typeface="Calibri" pitchFamily="34" charset="-120"/>
              </a:rPr>
              <a:t>A wrong date, invented ID rules, or a polling place that moved. This changes whether people vote.</a:t>
            </a:r>
            <a:endParaRPr lang="en-US" sz="1150" dirty="0"/>
          </a:p>
        </p:txBody>
      </p:sp>
      <p:sp>
        <p:nvSpPr>
          <p:cNvPr id="7" name="Shape 5"/>
          <p:cNvSpPr/>
          <p:nvPr/>
        </p:nvSpPr>
        <p:spPr>
          <a:xfrm>
            <a:off x="3291840" y="1481328"/>
            <a:ext cx="2560320" cy="1152144"/>
          </a:xfrm>
          <a:prstGeom prst="roundRect">
            <a:avLst>
              <a:gd name="adj" fmla="val 4762"/>
            </a:avLst>
          </a:prstGeom>
          <a:solidFill>
            <a:srgbClr val="FFFEFB"/>
          </a:solidFill>
          <a:ln w="9525">
            <a:solidFill>
              <a:srgbClr val="D9D6CF"/>
            </a:solidFill>
            <a:prstDash val="solid"/>
          </a:ln>
          <a:effectLst>
            <a:outerShdw sx="100000" sy="100000" kx="0" ky="0" algn="bl" rotWithShape="0" blurRad="88900" dist="12700" dir="5400000">
              <a:srgbClr val="9A968A">
                <a:alpha val="20000"/>
              </a:srgbClr>
            </a:outerShdw>
          </a:effectLst>
        </p:spPr>
      </p:sp>
      <p:sp>
        <p:nvSpPr>
          <p:cNvPr id="8" name="Text 6"/>
          <p:cNvSpPr/>
          <p:nvPr/>
        </p:nvSpPr>
        <p:spPr>
          <a:xfrm>
            <a:off x="3493008" y="1627632"/>
            <a:ext cx="2157984" cy="237744"/>
          </a:xfrm>
          <a:prstGeom prst="rect">
            <a:avLst/>
          </a:prstGeom>
          <a:noFill/>
          <a:ln/>
        </p:spPr>
        <p:txBody>
          <a:bodyPr wrap="square" lIns="0" tIns="0" rIns="0" bIns="0" rtlCol="0" anchor="t"/>
          <a:lstStyle/>
          <a:p>
            <a:pPr algn="l" indent="0" marL="0">
              <a:lnSpc>
                <a:spcPct val="106000"/>
              </a:lnSpc>
              <a:buNone/>
            </a:pPr>
            <a:r>
              <a:rPr lang="en-US" sz="1300" b="1" dirty="0">
                <a:solidFill>
                  <a:srgbClr val="14171A"/>
                </a:solidFill>
                <a:latin typeface="Cambria" pitchFamily="34" charset="0"/>
                <a:ea typeface="Cambria" pitchFamily="34" charset="-122"/>
                <a:cs typeface="Cambria" pitchFamily="34" charset="-120"/>
              </a:rPr>
              <a:t>Foreign interference</a:t>
            </a:r>
            <a:endParaRPr lang="en-US" sz="1300" dirty="0"/>
          </a:p>
        </p:txBody>
      </p:sp>
      <p:sp>
        <p:nvSpPr>
          <p:cNvPr id="9" name="Text 7"/>
          <p:cNvSpPr/>
          <p:nvPr/>
        </p:nvSpPr>
        <p:spPr>
          <a:xfrm>
            <a:off x="3493008" y="1920240"/>
            <a:ext cx="2157984" cy="621792"/>
          </a:xfrm>
          <a:prstGeom prst="rect">
            <a:avLst/>
          </a:prstGeom>
          <a:noFill/>
          <a:ln/>
        </p:spPr>
        <p:txBody>
          <a:bodyPr wrap="square" lIns="0" tIns="0" rIns="0" bIns="0" rtlCol="0" anchor="t"/>
          <a:lstStyle/>
          <a:p>
            <a:pPr algn="l" indent="0" marL="0">
              <a:lnSpc>
                <a:spcPct val="104000"/>
              </a:lnSpc>
              <a:buNone/>
            </a:pPr>
            <a:r>
              <a:rPr lang="en-US" sz="1150" dirty="0">
                <a:solidFill>
                  <a:srgbClr val="3C444C"/>
                </a:solidFill>
                <a:latin typeface="Calibri" pitchFamily="34" charset="0"/>
                <a:ea typeface="Calibri" pitchFamily="34" charset="-122"/>
                <a:cs typeface="Calibri" pitchFamily="34" charset="-120"/>
              </a:rPr>
              <a:t>In 2018 a US grand jury charged 13 Russian nationals with running fake American accounts in 2016.</a:t>
            </a:r>
            <a:endParaRPr lang="en-US" sz="1150" dirty="0"/>
          </a:p>
        </p:txBody>
      </p:sp>
      <p:sp>
        <p:nvSpPr>
          <p:cNvPr id="10" name="Shape 8"/>
          <p:cNvSpPr/>
          <p:nvPr/>
        </p:nvSpPr>
        <p:spPr>
          <a:xfrm>
            <a:off x="6035040" y="1481328"/>
            <a:ext cx="2560320" cy="1152144"/>
          </a:xfrm>
          <a:prstGeom prst="roundRect">
            <a:avLst>
              <a:gd name="adj" fmla="val 4762"/>
            </a:avLst>
          </a:prstGeom>
          <a:solidFill>
            <a:srgbClr val="FFFEFB"/>
          </a:solidFill>
          <a:ln w="9525">
            <a:solidFill>
              <a:srgbClr val="D9D6CF"/>
            </a:solidFill>
            <a:prstDash val="solid"/>
          </a:ln>
          <a:effectLst>
            <a:outerShdw sx="100000" sy="100000" kx="0" ky="0" algn="bl" rotWithShape="0" blurRad="88900" dist="12700" dir="5400000">
              <a:srgbClr val="9A968A">
                <a:alpha val="20000"/>
              </a:srgbClr>
            </a:outerShdw>
          </a:effectLst>
        </p:spPr>
      </p:sp>
      <p:sp>
        <p:nvSpPr>
          <p:cNvPr id="11" name="Text 9"/>
          <p:cNvSpPr/>
          <p:nvPr/>
        </p:nvSpPr>
        <p:spPr>
          <a:xfrm>
            <a:off x="6236208" y="1627632"/>
            <a:ext cx="2157984" cy="237744"/>
          </a:xfrm>
          <a:prstGeom prst="rect">
            <a:avLst/>
          </a:prstGeom>
          <a:noFill/>
          <a:ln/>
        </p:spPr>
        <p:txBody>
          <a:bodyPr wrap="square" lIns="0" tIns="0" rIns="0" bIns="0" rtlCol="0" anchor="t"/>
          <a:lstStyle/>
          <a:p>
            <a:pPr algn="l" indent="0" marL="0">
              <a:lnSpc>
                <a:spcPct val="106000"/>
              </a:lnSpc>
              <a:buNone/>
            </a:pPr>
            <a:r>
              <a:rPr lang="en-US" sz="1300" b="1" dirty="0">
                <a:solidFill>
                  <a:srgbClr val="14171A"/>
                </a:solidFill>
                <a:latin typeface="Cambria" pitchFamily="34" charset="0"/>
                <a:ea typeface="Cambria" pitchFamily="34" charset="-122"/>
                <a:cs typeface="Cambria" pitchFamily="34" charset="-120"/>
              </a:rPr>
              <a:t>Microtargeting</a:t>
            </a:r>
            <a:endParaRPr lang="en-US" sz="1300" dirty="0"/>
          </a:p>
        </p:txBody>
      </p:sp>
      <p:sp>
        <p:nvSpPr>
          <p:cNvPr id="12" name="Text 10"/>
          <p:cNvSpPr/>
          <p:nvPr/>
        </p:nvSpPr>
        <p:spPr>
          <a:xfrm>
            <a:off x="6236208" y="1920240"/>
            <a:ext cx="2157984" cy="621792"/>
          </a:xfrm>
          <a:prstGeom prst="rect">
            <a:avLst/>
          </a:prstGeom>
          <a:noFill/>
          <a:ln/>
        </p:spPr>
        <p:txBody>
          <a:bodyPr wrap="square" lIns="0" tIns="0" rIns="0" bIns="0" rtlCol="0" anchor="t"/>
          <a:lstStyle/>
          <a:p>
            <a:pPr algn="l" indent="0" marL="0">
              <a:lnSpc>
                <a:spcPct val="104000"/>
              </a:lnSpc>
              <a:buNone/>
            </a:pPr>
            <a:r>
              <a:rPr lang="en-US" sz="1150" dirty="0">
                <a:solidFill>
                  <a:srgbClr val="3C444C"/>
                </a:solidFill>
                <a:latin typeface="Calibri" pitchFamily="34" charset="0"/>
                <a:ea typeface="Calibri" pitchFamily="34" charset="-122"/>
                <a:cs typeface="Calibri" pitchFamily="34" charset="-120"/>
              </a:rPr>
              <a:t>Campaigns pay to show different messages to different small groups of voters.</a:t>
            </a:r>
            <a:endParaRPr lang="en-US" sz="1150" dirty="0"/>
          </a:p>
        </p:txBody>
      </p:sp>
      <p:sp>
        <p:nvSpPr>
          <p:cNvPr id="13" name="Shape 11"/>
          <p:cNvSpPr/>
          <p:nvPr/>
        </p:nvSpPr>
        <p:spPr>
          <a:xfrm>
            <a:off x="548640" y="2761488"/>
            <a:ext cx="2560320" cy="1152144"/>
          </a:xfrm>
          <a:prstGeom prst="roundRect">
            <a:avLst>
              <a:gd name="adj" fmla="val 4762"/>
            </a:avLst>
          </a:prstGeom>
          <a:solidFill>
            <a:srgbClr val="FFFEFB"/>
          </a:solidFill>
          <a:ln w="9525">
            <a:solidFill>
              <a:srgbClr val="D9D6CF"/>
            </a:solidFill>
            <a:prstDash val="solid"/>
          </a:ln>
          <a:effectLst>
            <a:outerShdw sx="100000" sy="100000" kx="0" ky="0" algn="bl" rotWithShape="0" blurRad="88900" dist="12700" dir="5400000">
              <a:srgbClr val="9A968A">
                <a:alpha val="20000"/>
              </a:srgbClr>
            </a:outerShdw>
          </a:effectLst>
        </p:spPr>
      </p:sp>
      <p:sp>
        <p:nvSpPr>
          <p:cNvPr id="14" name="Text 12"/>
          <p:cNvSpPr/>
          <p:nvPr/>
        </p:nvSpPr>
        <p:spPr>
          <a:xfrm>
            <a:off x="749808" y="2907792"/>
            <a:ext cx="2157984" cy="237744"/>
          </a:xfrm>
          <a:prstGeom prst="rect">
            <a:avLst/>
          </a:prstGeom>
          <a:noFill/>
          <a:ln/>
        </p:spPr>
        <p:txBody>
          <a:bodyPr wrap="square" lIns="0" tIns="0" rIns="0" bIns="0" rtlCol="0" anchor="t"/>
          <a:lstStyle/>
          <a:p>
            <a:pPr algn="l" indent="0" marL="0">
              <a:lnSpc>
                <a:spcPct val="106000"/>
              </a:lnSpc>
              <a:buNone/>
            </a:pPr>
            <a:r>
              <a:rPr lang="en-US" sz="1300" b="1" dirty="0">
                <a:solidFill>
                  <a:srgbClr val="14171A"/>
                </a:solidFill>
                <a:latin typeface="Cambria" pitchFamily="34" charset="0"/>
                <a:ea typeface="Cambria" pitchFamily="34" charset="-122"/>
                <a:cs typeface="Cambria" pitchFamily="34" charset="-120"/>
              </a:rPr>
              <a:t>Echo chambers</a:t>
            </a:r>
            <a:endParaRPr lang="en-US" sz="1300" dirty="0"/>
          </a:p>
        </p:txBody>
      </p:sp>
      <p:sp>
        <p:nvSpPr>
          <p:cNvPr id="15" name="Text 13"/>
          <p:cNvSpPr/>
          <p:nvPr/>
        </p:nvSpPr>
        <p:spPr>
          <a:xfrm>
            <a:off x="749808" y="3200400"/>
            <a:ext cx="2157984" cy="621792"/>
          </a:xfrm>
          <a:prstGeom prst="rect">
            <a:avLst/>
          </a:prstGeom>
          <a:noFill/>
          <a:ln/>
        </p:spPr>
        <p:txBody>
          <a:bodyPr wrap="square" lIns="0" tIns="0" rIns="0" bIns="0" rtlCol="0" anchor="t"/>
          <a:lstStyle/>
          <a:p>
            <a:pPr algn="l" indent="0" marL="0">
              <a:lnSpc>
                <a:spcPct val="104000"/>
              </a:lnSpc>
              <a:buNone/>
            </a:pPr>
            <a:r>
              <a:rPr lang="en-US" sz="1150" dirty="0">
                <a:solidFill>
                  <a:srgbClr val="3C444C"/>
                </a:solidFill>
                <a:latin typeface="Calibri" pitchFamily="34" charset="0"/>
                <a:ea typeface="Calibri" pitchFamily="34" charset="-122"/>
                <a:cs typeface="Calibri" pitchFamily="34" charset="-120"/>
              </a:rPr>
              <a:t>The idea that ranking shows you mostly people who agree with you. The evidence here is weakest.</a:t>
            </a:r>
            <a:endParaRPr lang="en-US" sz="1150" dirty="0"/>
          </a:p>
        </p:txBody>
      </p:sp>
      <p:sp>
        <p:nvSpPr>
          <p:cNvPr id="16" name="Shape 14"/>
          <p:cNvSpPr/>
          <p:nvPr/>
        </p:nvSpPr>
        <p:spPr>
          <a:xfrm>
            <a:off x="3291840" y="2761488"/>
            <a:ext cx="2560320" cy="1152144"/>
          </a:xfrm>
          <a:prstGeom prst="roundRect">
            <a:avLst>
              <a:gd name="adj" fmla="val 4762"/>
            </a:avLst>
          </a:prstGeom>
          <a:solidFill>
            <a:srgbClr val="FFFEFB"/>
          </a:solidFill>
          <a:ln w="9525">
            <a:solidFill>
              <a:srgbClr val="D9D6CF"/>
            </a:solidFill>
            <a:prstDash val="solid"/>
          </a:ln>
          <a:effectLst>
            <a:outerShdw sx="100000" sy="100000" kx="0" ky="0" algn="bl" rotWithShape="0" blurRad="88900" dist="12700" dir="5400000">
              <a:srgbClr val="9A968A">
                <a:alpha val="20000"/>
              </a:srgbClr>
            </a:outerShdw>
          </a:effectLst>
        </p:spPr>
      </p:sp>
      <p:sp>
        <p:nvSpPr>
          <p:cNvPr id="17" name="Text 15"/>
          <p:cNvSpPr/>
          <p:nvPr/>
        </p:nvSpPr>
        <p:spPr>
          <a:xfrm>
            <a:off x="3493008" y="2907792"/>
            <a:ext cx="2157984" cy="237744"/>
          </a:xfrm>
          <a:prstGeom prst="rect">
            <a:avLst/>
          </a:prstGeom>
          <a:noFill/>
          <a:ln/>
        </p:spPr>
        <p:txBody>
          <a:bodyPr wrap="square" lIns="0" tIns="0" rIns="0" bIns="0" rtlCol="0" anchor="t"/>
          <a:lstStyle/>
          <a:p>
            <a:pPr algn="l" indent="0" marL="0">
              <a:lnSpc>
                <a:spcPct val="106000"/>
              </a:lnSpc>
              <a:buNone/>
            </a:pPr>
            <a:r>
              <a:rPr lang="en-US" sz="1300" b="1" dirty="0">
                <a:solidFill>
                  <a:srgbClr val="14171A"/>
                </a:solidFill>
                <a:latin typeface="Cambria" pitchFamily="34" charset="0"/>
                <a:ea typeface="Cambria" pitchFamily="34" charset="-122"/>
                <a:cs typeface="Cambria" pitchFamily="34" charset="-120"/>
              </a:rPr>
              <a:t>Polarization</a:t>
            </a:r>
            <a:endParaRPr lang="en-US" sz="1300" dirty="0"/>
          </a:p>
        </p:txBody>
      </p:sp>
      <p:sp>
        <p:nvSpPr>
          <p:cNvPr id="18" name="Text 16"/>
          <p:cNvSpPr/>
          <p:nvPr/>
        </p:nvSpPr>
        <p:spPr>
          <a:xfrm>
            <a:off x="3493008" y="3200400"/>
            <a:ext cx="2157984" cy="621792"/>
          </a:xfrm>
          <a:prstGeom prst="rect">
            <a:avLst/>
          </a:prstGeom>
          <a:noFill/>
          <a:ln/>
        </p:spPr>
        <p:txBody>
          <a:bodyPr wrap="square" lIns="0" tIns="0" rIns="0" bIns="0" rtlCol="0" anchor="t"/>
          <a:lstStyle/>
          <a:p>
            <a:pPr algn="l" indent="0" marL="0">
              <a:lnSpc>
                <a:spcPct val="104000"/>
              </a:lnSpc>
              <a:buNone/>
            </a:pPr>
            <a:r>
              <a:rPr lang="en-US" sz="1150" dirty="0">
                <a:solidFill>
                  <a:srgbClr val="3C444C"/>
                </a:solidFill>
                <a:latin typeface="Calibri" pitchFamily="34" charset="0"/>
                <a:ea typeface="Calibri" pitchFamily="34" charset="-122"/>
                <a:cs typeface="Calibri" pitchFamily="34" charset="-120"/>
              </a:rPr>
              <a:t>Posts attacking the other side get more reaction than posts explaining your own side.</a:t>
            </a:r>
            <a:endParaRPr lang="en-US" sz="1150" dirty="0"/>
          </a:p>
        </p:txBody>
      </p:sp>
      <p:sp>
        <p:nvSpPr>
          <p:cNvPr id="19" name="Shape 17"/>
          <p:cNvSpPr/>
          <p:nvPr/>
        </p:nvSpPr>
        <p:spPr>
          <a:xfrm>
            <a:off x="6035040" y="2761488"/>
            <a:ext cx="2560320" cy="1152144"/>
          </a:xfrm>
          <a:prstGeom prst="roundRect">
            <a:avLst>
              <a:gd name="adj" fmla="val 4762"/>
            </a:avLst>
          </a:prstGeom>
          <a:solidFill>
            <a:srgbClr val="FFFEFB"/>
          </a:solidFill>
          <a:ln w="9525">
            <a:solidFill>
              <a:srgbClr val="D9D6CF"/>
            </a:solidFill>
            <a:prstDash val="solid"/>
          </a:ln>
          <a:effectLst>
            <a:outerShdw sx="100000" sy="100000" kx="0" ky="0" algn="bl" rotWithShape="0" blurRad="88900" dist="12700" dir="5400000">
              <a:srgbClr val="9A968A">
                <a:alpha val="20000"/>
              </a:srgbClr>
            </a:outerShdw>
          </a:effectLst>
        </p:spPr>
      </p:sp>
      <p:sp>
        <p:nvSpPr>
          <p:cNvPr id="20" name="Text 18"/>
          <p:cNvSpPr/>
          <p:nvPr/>
        </p:nvSpPr>
        <p:spPr>
          <a:xfrm>
            <a:off x="6236208" y="2907792"/>
            <a:ext cx="2157984" cy="237744"/>
          </a:xfrm>
          <a:prstGeom prst="rect">
            <a:avLst/>
          </a:prstGeom>
          <a:noFill/>
          <a:ln/>
        </p:spPr>
        <p:txBody>
          <a:bodyPr wrap="square" lIns="0" tIns="0" rIns="0" bIns="0" rtlCol="0" anchor="t"/>
          <a:lstStyle/>
          <a:p>
            <a:pPr algn="l" indent="0" marL="0">
              <a:lnSpc>
                <a:spcPct val="106000"/>
              </a:lnSpc>
              <a:buNone/>
            </a:pPr>
            <a:r>
              <a:rPr lang="en-US" sz="1300" b="1" dirty="0">
                <a:solidFill>
                  <a:srgbClr val="14171A"/>
                </a:solidFill>
                <a:latin typeface="Cambria" pitchFamily="34" charset="0"/>
                <a:ea typeface="Cambria" pitchFamily="34" charset="-122"/>
                <a:cs typeface="Cambria" pitchFamily="34" charset="-120"/>
              </a:rPr>
              <a:t>Advertising rules</a:t>
            </a:r>
            <a:endParaRPr lang="en-US" sz="1300" dirty="0"/>
          </a:p>
        </p:txBody>
      </p:sp>
      <p:sp>
        <p:nvSpPr>
          <p:cNvPr id="21" name="Text 19"/>
          <p:cNvSpPr/>
          <p:nvPr/>
        </p:nvSpPr>
        <p:spPr>
          <a:xfrm>
            <a:off x="6236208" y="3200400"/>
            <a:ext cx="2157984" cy="621792"/>
          </a:xfrm>
          <a:prstGeom prst="rect">
            <a:avLst/>
          </a:prstGeom>
          <a:noFill/>
          <a:ln/>
        </p:spPr>
        <p:txBody>
          <a:bodyPr wrap="square" lIns="0" tIns="0" rIns="0" bIns="0" rtlCol="0" anchor="t"/>
          <a:lstStyle/>
          <a:p>
            <a:pPr algn="l" indent="0" marL="0">
              <a:lnSpc>
                <a:spcPct val="104000"/>
              </a:lnSpc>
              <a:buNone/>
            </a:pPr>
            <a:r>
              <a:rPr lang="en-US" sz="1150" dirty="0">
                <a:solidFill>
                  <a:srgbClr val="3C444C"/>
                </a:solidFill>
                <a:latin typeface="Calibri" pitchFamily="34" charset="0"/>
                <a:ea typeface="Calibri" pitchFamily="34" charset="-122"/>
                <a:cs typeface="Calibri" pitchFamily="34" charset="-120"/>
              </a:rPr>
              <a:t>US political ad rules were written for television. Most platform rules are written by the companies.</a:t>
            </a:r>
            <a:endParaRPr lang="en-US" sz="1150" dirty="0"/>
          </a:p>
        </p:txBody>
      </p:sp>
      <p:sp>
        <p:nvSpPr>
          <p:cNvPr id="22" name="Text 20"/>
          <p:cNvSpPr/>
          <p:nvPr/>
        </p:nvSpPr>
        <p:spPr>
          <a:xfrm>
            <a:off x="548640" y="4114800"/>
            <a:ext cx="8046720" cy="457200"/>
          </a:xfrm>
          <a:prstGeom prst="rect">
            <a:avLst/>
          </a:prstGeom>
          <a:noFill/>
          <a:ln/>
        </p:spPr>
        <p:txBody>
          <a:bodyPr wrap="square" lIns="0" tIns="0" rIns="0" bIns="0" rtlCol="0" anchor="t"/>
          <a:lstStyle/>
          <a:p>
            <a:pPr algn="l" indent="0" marL="0">
              <a:lnSpc>
                <a:spcPct val="110000"/>
              </a:lnSpc>
              <a:buNone/>
            </a:pPr>
            <a:r>
              <a:rPr lang="en-US" sz="1250" i="1" dirty="0">
                <a:solidFill>
                  <a:srgbClr val="3C444C"/>
                </a:solidFill>
                <a:latin typeface="Calibri" pitchFamily="34" charset="0"/>
                <a:ea typeface="Calibri" pitchFamily="34" charset="-122"/>
                <a:cs typeface="Calibri" pitchFamily="34" charset="-120"/>
              </a:rPr>
              <a:t>Each of these is documented. How much any of them changes the result of an election is still being argued about, in both directions.</a:t>
            </a:r>
            <a:endParaRPr lang="en-US" sz="1250" dirty="0"/>
          </a:p>
        </p:txBody>
      </p:sp>
      <p:sp>
        <p:nvSpPr>
          <p:cNvPr id="24" name="Text 21"/>
          <p:cNvSpPr/>
          <p:nvPr/>
        </p:nvSpPr>
        <p:spPr>
          <a:xfrm>
            <a:off x="548640" y="4668012"/>
            <a:ext cx="8046720" cy="256032"/>
          </a:xfrm>
          <a:prstGeom prst="rect">
            <a:avLst/>
          </a:prstGeom>
          <a:noFill/>
          <a:ln/>
        </p:spPr>
        <p:txBody>
          <a:bodyPr wrap="square" lIns="0" tIns="0" rIns="0" bIns="0" rtlCol="0" anchor="ctr"/>
          <a:lstStyle/>
          <a:p>
            <a:pPr indent="0" marL="0">
              <a:buNone/>
            </a:pPr>
            <a:r>
              <a:rPr lang="en-US" sz="800" spc="100" kern="0" dirty="0">
                <a:solidFill>
                  <a:srgbClr val="5C6873"/>
                </a:solidFill>
                <a:latin typeface="Courier New" pitchFamily="34" charset="0"/>
                <a:ea typeface="Courier New" pitchFamily="34" charset="-122"/>
                <a:cs typeface="Courier New" pitchFamily="34" charset="-120"/>
              </a:rPr>
              <a:t>BECURRENT  ·  SOCIAL MEDIA  ·  TOPIC 5</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2ED"/>
        </a:solidFill>
      </p:bgPr>
    </p:bg>
    <p:spTree>
      <p:nvGrpSpPr>
        <p:cNvPr id="1" name=""/>
        <p:cNvGrpSpPr/>
        <p:nvPr/>
      </p:nvGrpSpPr>
      <p:grpSpPr>
        <a:xfrm>
          <a:off x="0" y="0"/>
          <a:ext cx="0" cy="0"/>
          <a:chOff x="0" y="0"/>
          <a:chExt cx="0" cy="0"/>
        </a:xfrm>
      </p:grpSpPr>
      <p:sp>
        <p:nvSpPr>
          <p:cNvPr id="2" name="Text 0"/>
          <p:cNvSpPr/>
          <p:nvPr/>
        </p:nvSpPr>
        <p:spPr>
          <a:xfrm>
            <a:off x="548640" y="365760"/>
            <a:ext cx="8046720" cy="237744"/>
          </a:xfrm>
          <a:prstGeom prst="rect">
            <a:avLst/>
          </a:prstGeom>
          <a:noFill/>
          <a:ln/>
        </p:spPr>
        <p:txBody>
          <a:bodyPr wrap="square" lIns="0" tIns="0" rIns="0" bIns="0" rtlCol="0" anchor="ctr"/>
          <a:lstStyle/>
          <a:p>
            <a:pPr indent="0" marL="0">
              <a:buNone/>
            </a:pPr>
            <a:r>
              <a:rPr lang="en-US" sz="1000" b="1" spc="140" kern="0" dirty="0">
                <a:solidFill>
                  <a:srgbClr val="B22222"/>
                </a:solidFill>
                <a:latin typeface="Courier New" pitchFamily="34" charset="0"/>
                <a:ea typeface="Courier New" pitchFamily="34" charset="-122"/>
                <a:cs typeface="Courier New" pitchFamily="34" charset="-120"/>
              </a:rPr>
              <a:t>THE ROAD NOT TAKEN</a:t>
            </a:r>
            <a:endParaRPr lang="en-US" sz="1000" dirty="0"/>
          </a:p>
        </p:txBody>
      </p:sp>
      <p:sp>
        <p:nvSpPr>
          <p:cNvPr id="3" name="Text 1"/>
          <p:cNvSpPr/>
          <p:nvPr/>
        </p:nvSpPr>
        <p:spPr>
          <a:xfrm>
            <a:off x="548640" y="713232"/>
            <a:ext cx="8046720" cy="731520"/>
          </a:xfrm>
          <a:prstGeom prst="rect">
            <a:avLst/>
          </a:prstGeom>
          <a:noFill/>
          <a:ln/>
        </p:spPr>
        <p:txBody>
          <a:bodyPr wrap="square" lIns="0" tIns="0" rIns="0" bIns="0" rtlCol="0" anchor="t"/>
          <a:lstStyle/>
          <a:p>
            <a:pPr indent="0" marL="0">
              <a:lnSpc>
                <a:spcPct val="92000"/>
              </a:lnSpc>
              <a:buNone/>
            </a:pPr>
            <a:r>
              <a:rPr lang="en-US" sz="3000" b="1" dirty="0">
                <a:solidFill>
                  <a:srgbClr val="14171A"/>
                </a:solidFill>
                <a:latin typeface="Cambria" pitchFamily="34" charset="0"/>
                <a:ea typeface="Cambria" pitchFamily="34" charset="-122"/>
                <a:cs typeface="Cambria" pitchFamily="34" charset="-120"/>
              </a:rPr>
              <a:t>The echo chamber idea may be wrong</a:t>
            </a:r>
            <a:endParaRPr lang="en-US" sz="3000" dirty="0"/>
          </a:p>
        </p:txBody>
      </p:sp>
      <p:sp>
        <p:nvSpPr>
          <p:cNvPr id="4" name="Text 2"/>
          <p:cNvSpPr/>
          <p:nvPr/>
        </p:nvSpPr>
        <p:spPr>
          <a:xfrm>
            <a:off x="548640" y="1572768"/>
            <a:ext cx="4572000" cy="2286000"/>
          </a:xfrm>
          <a:prstGeom prst="rect">
            <a:avLst/>
          </a:prstGeom>
          <a:noFill/>
          <a:ln/>
        </p:spPr>
        <p:txBody>
          <a:bodyPr wrap="square" lIns="0" tIns="0" rIns="0" bIns="0" rtlCol="0" anchor="t"/>
          <a:lstStyle/>
          <a:p>
            <a:pPr marL="177800" indent="-177800">
              <a:lnSpc>
                <a:spcPct val="104000"/>
              </a:lnSpc>
              <a:spcAft>
                <a:spcPts val="1000"/>
              </a:spcAft>
              <a:buSzPct val="100000"/>
              <a:buChar char="•"/>
            </a:pPr>
            <a:r>
              <a:rPr lang="en-US" sz="1250" dirty="0">
                <a:solidFill>
                  <a:srgbClr val="3C444C"/>
                </a:solidFill>
                <a:latin typeface="Calibri" pitchFamily="34" charset="0"/>
                <a:ea typeface="Calibri" pitchFamily="34" charset="-122"/>
                <a:cs typeface="Calibri" pitchFamily="34" charset="-120"/>
              </a:rPr>
              <a:t>Eli Pariser named the "filter bubble" in 2011. The idea is repeated so often that it sounds like a proven fact. It is a theory.</a:t>
            </a:r>
            <a:endParaRPr lang="en-US" sz="1250" dirty="0"/>
          </a:p>
          <a:p>
            <a:pPr marL="177800" indent="-177800">
              <a:lnSpc>
                <a:spcPct val="104000"/>
              </a:lnSpc>
              <a:spcAft>
                <a:spcPts val="1000"/>
              </a:spcAft>
              <a:buSzPct val="100000"/>
              <a:buChar char="•"/>
            </a:pPr>
            <a:r>
              <a:rPr lang="en-US" sz="1250" dirty="0">
                <a:solidFill>
                  <a:srgbClr val="3C444C"/>
                </a:solidFill>
                <a:latin typeface="Calibri" pitchFamily="34" charset="0"/>
                <a:ea typeface="Calibri" pitchFamily="34" charset="-122"/>
                <a:cs typeface="Calibri" pitchFamily="34" charset="-120"/>
              </a:rPr>
              <a:t>When researchers measured what people actually read, they found more variety than the theory predicts, and found that heavily sealed-off users are a small group.</a:t>
            </a:r>
            <a:endParaRPr lang="en-US" sz="1250" dirty="0"/>
          </a:p>
          <a:p>
            <a:pPr marL="177800" indent="-177800">
              <a:lnSpc>
                <a:spcPct val="104000"/>
              </a:lnSpc>
              <a:spcAft>
                <a:spcPts val="1000"/>
              </a:spcAft>
              <a:buSzPct val="100000"/>
              <a:buChar char="•"/>
            </a:pPr>
            <a:r>
              <a:rPr lang="en-US" sz="1250" dirty="0">
                <a:solidFill>
                  <a:srgbClr val="3C444C"/>
                </a:solidFill>
                <a:latin typeface="Calibri" pitchFamily="34" charset="0"/>
                <a:ea typeface="Calibri" pitchFamily="34" charset="-122"/>
                <a:cs typeface="Calibri" pitchFamily="34" charset="-120"/>
              </a:rPr>
              <a:t>A 2015 study in Science found that on Facebook, people's own choices about what to click mattered more than the ranking did. The authors worked for Facebook. That is a reason to read the study closely, not a reason to ignore it.</a:t>
            </a:r>
            <a:endParaRPr lang="en-US" sz="1250" dirty="0"/>
          </a:p>
        </p:txBody>
      </p:sp>
      <p:sp>
        <p:nvSpPr>
          <p:cNvPr id="5" name="Shape 3"/>
          <p:cNvSpPr/>
          <p:nvPr/>
        </p:nvSpPr>
        <p:spPr>
          <a:xfrm>
            <a:off x="5394960" y="1517904"/>
            <a:ext cx="3200400" cy="2377440"/>
          </a:xfrm>
          <a:prstGeom prst="roundRect">
            <a:avLst>
              <a:gd name="adj" fmla="val 2308"/>
            </a:avLst>
          </a:prstGeom>
          <a:solidFill>
            <a:srgbClr val="E3EAEE"/>
          </a:solidFill>
          <a:ln w="9525">
            <a:solidFill>
              <a:srgbClr val="E3EAEE"/>
            </a:solidFill>
            <a:prstDash val="solid"/>
          </a:ln>
          <a:effectLst>
            <a:outerShdw sx="100000" sy="100000" kx="0" ky="0" algn="bl" rotWithShape="0" blurRad="88900" dist="12700" dir="5400000">
              <a:srgbClr val="9A968A">
                <a:alpha val="20000"/>
              </a:srgbClr>
            </a:outerShdw>
          </a:effectLst>
        </p:spPr>
      </p:sp>
      <p:sp>
        <p:nvSpPr>
          <p:cNvPr id="6" name="Text 4"/>
          <p:cNvSpPr/>
          <p:nvPr/>
        </p:nvSpPr>
        <p:spPr>
          <a:xfrm>
            <a:off x="5650992" y="1755648"/>
            <a:ext cx="2688336" cy="219456"/>
          </a:xfrm>
          <a:prstGeom prst="rect">
            <a:avLst/>
          </a:prstGeom>
          <a:noFill/>
          <a:ln/>
        </p:spPr>
        <p:txBody>
          <a:bodyPr wrap="square" lIns="0" tIns="0" rIns="0" bIns="0" rtlCol="0" anchor="t"/>
          <a:lstStyle/>
          <a:p>
            <a:pPr algn="l" indent="0" marL="0">
              <a:lnSpc>
                <a:spcPct val="106000"/>
              </a:lnSpc>
              <a:buNone/>
            </a:pPr>
            <a:r>
              <a:rPr lang="en-US" sz="900" b="1" dirty="0">
                <a:solidFill>
                  <a:srgbClr val="1F5673"/>
                </a:solidFill>
                <a:latin typeface="Courier New" pitchFamily="34" charset="0"/>
                <a:ea typeface="Courier New" pitchFamily="34" charset="-122"/>
                <a:cs typeface="Courier New" pitchFamily="34" charset="-120"/>
              </a:rPr>
              <a:t>WHY THIS MATTERS</a:t>
            </a:r>
            <a:endParaRPr lang="en-US" sz="900" dirty="0"/>
          </a:p>
        </p:txBody>
      </p:sp>
      <p:sp>
        <p:nvSpPr>
          <p:cNvPr id="7" name="Text 5"/>
          <p:cNvSpPr/>
          <p:nvPr/>
        </p:nvSpPr>
        <p:spPr>
          <a:xfrm>
            <a:off x="5650992" y="2048256"/>
            <a:ext cx="2688336" cy="1188720"/>
          </a:xfrm>
          <a:prstGeom prst="rect">
            <a:avLst/>
          </a:prstGeom>
          <a:noFill/>
          <a:ln/>
        </p:spPr>
        <p:txBody>
          <a:bodyPr wrap="square" lIns="0" tIns="0" rIns="0" bIns="0" rtlCol="0" anchor="t"/>
          <a:lstStyle/>
          <a:p>
            <a:pPr algn="l" indent="0" marL="0">
              <a:lnSpc>
                <a:spcPct val="112000"/>
              </a:lnSpc>
              <a:buNone/>
            </a:pPr>
            <a:r>
              <a:rPr lang="en-US" sz="1250" dirty="0">
                <a:solidFill>
                  <a:srgbClr val="14171A"/>
                </a:solidFill>
                <a:latin typeface="Calibri" pitchFamily="34" charset="0"/>
                <a:ea typeface="Calibri" pitchFamily="34" charset="-122"/>
                <a:cs typeface="Calibri" pitchFamily="34" charset="-120"/>
              </a:rPr>
              <a:t>The two explanations point to different solutions. If the ranking causes the problem, changing the ranking helps. If people's own choices cause it, changing the ranking does very little.</a:t>
            </a:r>
            <a:endParaRPr lang="en-US" sz="1250" dirty="0"/>
          </a:p>
        </p:txBody>
      </p:sp>
      <p:sp>
        <p:nvSpPr>
          <p:cNvPr id="8" name="Text 6"/>
          <p:cNvSpPr/>
          <p:nvPr/>
        </p:nvSpPr>
        <p:spPr>
          <a:xfrm>
            <a:off x="5650992" y="3310128"/>
            <a:ext cx="2688336" cy="365760"/>
          </a:xfrm>
          <a:prstGeom prst="rect">
            <a:avLst/>
          </a:prstGeom>
          <a:noFill/>
          <a:ln/>
        </p:spPr>
        <p:txBody>
          <a:bodyPr wrap="square" lIns="0" tIns="0" rIns="0" bIns="0" rtlCol="0" anchor="t"/>
          <a:lstStyle/>
          <a:p>
            <a:pPr algn="l" indent="0" marL="0">
              <a:lnSpc>
                <a:spcPct val="106000"/>
              </a:lnSpc>
              <a:buNone/>
            </a:pPr>
            <a:r>
              <a:rPr lang="en-US" sz="1300" b="1" dirty="0">
                <a:solidFill>
                  <a:srgbClr val="14171A"/>
                </a:solidFill>
                <a:latin typeface="Calibri" pitchFamily="34" charset="0"/>
                <a:ea typeface="Calibri" pitchFamily="34" charset="-122"/>
                <a:cs typeface="Calibri" pitchFamily="34" charset="-120"/>
              </a:rPr>
              <a:t>Remember this for Topic 6.</a:t>
            </a:r>
            <a:endParaRPr lang="en-US" sz="1300" dirty="0"/>
          </a:p>
        </p:txBody>
      </p:sp>
      <p:sp>
        <p:nvSpPr>
          <p:cNvPr id="9" name="Text 7"/>
          <p:cNvSpPr/>
          <p:nvPr/>
        </p:nvSpPr>
        <p:spPr>
          <a:xfrm>
            <a:off x="548640" y="4041648"/>
            <a:ext cx="8046720" cy="457200"/>
          </a:xfrm>
          <a:prstGeom prst="rect">
            <a:avLst/>
          </a:prstGeom>
          <a:noFill/>
          <a:ln/>
        </p:spPr>
        <p:txBody>
          <a:bodyPr wrap="square" lIns="0" tIns="0" rIns="0" bIns="0" rtlCol="0" anchor="t"/>
          <a:lstStyle/>
          <a:p>
            <a:pPr algn="l" indent="0" marL="0">
              <a:lnSpc>
                <a:spcPct val="110000"/>
              </a:lnSpc>
              <a:buNone/>
            </a:pPr>
            <a:r>
              <a:rPr lang="en-US" sz="1250" i="1" dirty="0">
                <a:solidFill>
                  <a:srgbClr val="3C444C"/>
                </a:solidFill>
                <a:latin typeface="Calibri" pitchFamily="34" charset="0"/>
                <a:ea typeface="Calibri" pitchFamily="34" charset="-122"/>
                <a:cs typeface="Calibri" pitchFamily="34" charset="-120"/>
              </a:rPr>
              <a:t>A third explanation is that the bubble is mostly offline: who you live near, who you are related to, and who you talk to in person. No algorithm chose any of those.</a:t>
            </a:r>
            <a:endParaRPr lang="en-US" sz="1250" dirty="0"/>
          </a:p>
        </p:txBody>
      </p:sp>
      <p:sp>
        <p:nvSpPr>
          <p:cNvPr id="11" name="Text 8"/>
          <p:cNvSpPr/>
          <p:nvPr/>
        </p:nvSpPr>
        <p:spPr>
          <a:xfrm>
            <a:off x="548640" y="4668012"/>
            <a:ext cx="8046720" cy="256032"/>
          </a:xfrm>
          <a:prstGeom prst="rect">
            <a:avLst/>
          </a:prstGeom>
          <a:noFill/>
          <a:ln/>
        </p:spPr>
        <p:txBody>
          <a:bodyPr wrap="square" lIns="0" tIns="0" rIns="0" bIns="0" rtlCol="0" anchor="ctr"/>
          <a:lstStyle/>
          <a:p>
            <a:pPr indent="0" marL="0">
              <a:buNone/>
            </a:pPr>
            <a:r>
              <a:rPr lang="en-US" sz="800" spc="100" kern="0" dirty="0">
                <a:solidFill>
                  <a:srgbClr val="5C6873"/>
                </a:solidFill>
                <a:latin typeface="Courier New" pitchFamily="34" charset="0"/>
                <a:ea typeface="Courier New" pitchFamily="34" charset="-122"/>
                <a:cs typeface="Courier New" pitchFamily="34" charset="-120"/>
              </a:rPr>
              <a:t>BECURRENT  ·  SOCIAL MEDIA  ·  TOPIC 5</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71B1F"/>
        </a:solidFill>
      </p:bgPr>
    </p:bg>
    <p:spTree>
      <p:nvGrpSpPr>
        <p:cNvPr id="1" name=""/>
        <p:cNvGrpSpPr/>
        <p:nvPr/>
      </p:nvGrpSpPr>
      <p:grpSpPr>
        <a:xfrm>
          <a:off x="0" y="0"/>
          <a:ext cx="0" cy="0"/>
          <a:chOff x="0" y="0"/>
          <a:chExt cx="0" cy="0"/>
        </a:xfrm>
      </p:grpSpPr>
      <p:sp>
        <p:nvSpPr>
          <p:cNvPr id="2" name="Text 0"/>
          <p:cNvSpPr/>
          <p:nvPr/>
        </p:nvSpPr>
        <p:spPr>
          <a:xfrm>
            <a:off x="548640" y="365760"/>
            <a:ext cx="8046720" cy="237744"/>
          </a:xfrm>
          <a:prstGeom prst="rect">
            <a:avLst/>
          </a:prstGeom>
          <a:noFill/>
          <a:ln/>
        </p:spPr>
        <p:txBody>
          <a:bodyPr wrap="square" lIns="0" tIns="0" rIns="0" bIns="0" rtlCol="0" anchor="ctr"/>
          <a:lstStyle/>
          <a:p>
            <a:pPr indent="0" marL="0">
              <a:buNone/>
            </a:pPr>
            <a:r>
              <a:rPr lang="en-US" sz="1000" b="1" spc="140" kern="0" dirty="0">
                <a:solidFill>
                  <a:srgbClr val="E8A0A0"/>
                </a:solidFill>
                <a:latin typeface="Courier New" pitchFamily="34" charset="0"/>
                <a:ea typeface="Courier New" pitchFamily="34" charset="-122"/>
                <a:cs typeface="Courier New" pitchFamily="34" charset="-120"/>
              </a:rPr>
              <a:t>SUMMARY</a:t>
            </a:r>
            <a:endParaRPr lang="en-US" sz="1000" dirty="0"/>
          </a:p>
        </p:txBody>
      </p:sp>
      <p:sp>
        <p:nvSpPr>
          <p:cNvPr id="3" name="Text 1"/>
          <p:cNvSpPr/>
          <p:nvPr/>
        </p:nvSpPr>
        <p:spPr>
          <a:xfrm>
            <a:off x="548640" y="694944"/>
            <a:ext cx="7863840" cy="694944"/>
          </a:xfrm>
          <a:prstGeom prst="rect">
            <a:avLst/>
          </a:prstGeom>
          <a:noFill/>
          <a:ln/>
        </p:spPr>
        <p:txBody>
          <a:bodyPr wrap="square" lIns="0" tIns="0" rIns="0" bIns="0" rtlCol="0" anchor="t"/>
          <a:lstStyle/>
          <a:p>
            <a:pPr algn="l" indent="0" marL="0">
              <a:lnSpc>
                <a:spcPct val="110000"/>
              </a:lnSpc>
              <a:buNone/>
            </a:pPr>
            <a:r>
              <a:rPr lang="en-US" sz="1850" b="1" dirty="0">
                <a:solidFill>
                  <a:srgbClr val="FFFEFB"/>
                </a:solidFill>
                <a:latin typeface="Cambria" pitchFamily="34" charset="0"/>
                <a:ea typeface="Cambria" pitchFamily="34" charset="-122"/>
                <a:cs typeface="Cambria" pitchFamily="34" charset="-120"/>
              </a:rPr>
              <a:t>False stories spread because they are new and because they produce strong emotions. Most of the spreading is done by people, not bots.</a:t>
            </a:r>
            <a:endParaRPr lang="en-US" sz="1850" dirty="0"/>
          </a:p>
        </p:txBody>
      </p:sp>
      <p:sp>
        <p:nvSpPr>
          <p:cNvPr id="4" name="Shape 2"/>
          <p:cNvSpPr/>
          <p:nvPr/>
        </p:nvSpPr>
        <p:spPr>
          <a:xfrm>
            <a:off x="548640" y="1627632"/>
            <a:ext cx="8046720" cy="2340864"/>
          </a:xfrm>
          <a:prstGeom prst="roundRect">
            <a:avLst>
              <a:gd name="adj" fmla="val 2344"/>
            </a:avLst>
          </a:prstGeom>
          <a:solidFill>
            <a:srgbClr val="2B3238"/>
          </a:solidFill>
          <a:ln w="9525">
            <a:solidFill>
              <a:srgbClr val="2B3238"/>
            </a:solidFill>
            <a:prstDash val="solid"/>
          </a:ln>
        </p:spPr>
      </p:sp>
      <p:sp>
        <p:nvSpPr>
          <p:cNvPr id="5" name="Text 3"/>
          <p:cNvSpPr/>
          <p:nvPr/>
        </p:nvSpPr>
        <p:spPr>
          <a:xfrm>
            <a:off x="804672" y="1810512"/>
            <a:ext cx="7498080" cy="219456"/>
          </a:xfrm>
          <a:prstGeom prst="rect">
            <a:avLst/>
          </a:prstGeom>
          <a:noFill/>
          <a:ln/>
        </p:spPr>
        <p:txBody>
          <a:bodyPr wrap="square" lIns="0" tIns="0" rIns="0" bIns="0" rtlCol="0" anchor="t"/>
          <a:lstStyle/>
          <a:p>
            <a:pPr algn="l" indent="0" marL="0">
              <a:lnSpc>
                <a:spcPct val="106000"/>
              </a:lnSpc>
              <a:buNone/>
            </a:pPr>
            <a:r>
              <a:rPr lang="en-US" sz="900" b="1" dirty="0">
                <a:solidFill>
                  <a:srgbClr val="E8A0A0"/>
                </a:solidFill>
                <a:latin typeface="Courier New" pitchFamily="34" charset="0"/>
                <a:ea typeface="Courier New" pitchFamily="34" charset="-122"/>
                <a:cs typeface="Courier New" pitchFamily="34" charset="-120"/>
              </a:rPr>
              <a:t>WHAT YOU WILL WRITE</a:t>
            </a:r>
            <a:endParaRPr lang="en-US" sz="900" dirty="0"/>
          </a:p>
        </p:txBody>
      </p:sp>
      <p:sp>
        <p:nvSpPr>
          <p:cNvPr id="6" name="Shape 4"/>
          <p:cNvSpPr/>
          <p:nvPr/>
        </p:nvSpPr>
        <p:spPr>
          <a:xfrm>
            <a:off x="804672" y="2176272"/>
            <a:ext cx="310896" cy="310896"/>
          </a:xfrm>
          <a:prstGeom prst="ellipse">
            <a:avLst/>
          </a:prstGeom>
          <a:solidFill>
            <a:srgbClr val="B22222"/>
          </a:solidFill>
          <a:ln w="12700">
            <a:solidFill>
              <a:srgbClr val="B22222"/>
            </a:solidFill>
            <a:prstDash val="solid"/>
          </a:ln>
        </p:spPr>
      </p:sp>
      <p:sp>
        <p:nvSpPr>
          <p:cNvPr id="7" name="Text 5"/>
          <p:cNvSpPr/>
          <p:nvPr/>
        </p:nvSpPr>
        <p:spPr>
          <a:xfrm>
            <a:off x="804672" y="2176272"/>
            <a:ext cx="310896" cy="310896"/>
          </a:xfrm>
          <a:prstGeom prst="rect">
            <a:avLst/>
          </a:prstGeom>
          <a:noFill/>
          <a:ln/>
        </p:spPr>
        <p:txBody>
          <a:bodyPr wrap="square" lIns="0" tIns="0" rIns="0" bIns="0" rtlCol="0" anchor="ctr"/>
          <a:lstStyle/>
          <a:p>
            <a:pPr algn="ctr" indent="0" marL="0">
              <a:buNone/>
            </a:pPr>
            <a:r>
              <a:rPr lang="en-US" sz="950" b="1" dirty="0">
                <a:solidFill>
                  <a:srgbClr val="FFFEFB"/>
                </a:solidFill>
                <a:latin typeface="Courier New" pitchFamily="34" charset="0"/>
                <a:ea typeface="Courier New" pitchFamily="34" charset="-122"/>
                <a:cs typeface="Courier New" pitchFamily="34" charset="-120"/>
              </a:rPr>
              <a:t>1</a:t>
            </a:r>
            <a:endParaRPr lang="en-US" sz="950" dirty="0"/>
          </a:p>
        </p:txBody>
      </p:sp>
      <p:sp>
        <p:nvSpPr>
          <p:cNvPr id="8" name="Text 6"/>
          <p:cNvSpPr/>
          <p:nvPr/>
        </p:nvSpPr>
        <p:spPr>
          <a:xfrm>
            <a:off x="1243584" y="2157984"/>
            <a:ext cx="7040880" cy="201168"/>
          </a:xfrm>
          <a:prstGeom prst="rect">
            <a:avLst/>
          </a:prstGeom>
          <a:noFill/>
          <a:ln/>
        </p:spPr>
        <p:txBody>
          <a:bodyPr wrap="square" lIns="0" tIns="0" rIns="0" bIns="0" rtlCol="0" anchor="t"/>
          <a:lstStyle/>
          <a:p>
            <a:pPr algn="l" indent="0" marL="0">
              <a:lnSpc>
                <a:spcPct val="106000"/>
              </a:lnSpc>
              <a:buNone/>
            </a:pPr>
            <a:r>
              <a:rPr lang="en-US" sz="800" b="1" dirty="0">
                <a:solidFill>
                  <a:srgbClr val="E8A0A0"/>
                </a:solidFill>
                <a:latin typeface="Courier New" pitchFamily="34" charset="0"/>
                <a:ea typeface="Courier New" pitchFamily="34" charset="-122"/>
                <a:cs typeface="Courier New" pitchFamily="34" charset="-120"/>
              </a:rPr>
              <a:t>FALLACIES AND PROPAGANDA</a:t>
            </a:r>
            <a:endParaRPr lang="en-US" sz="800" dirty="0"/>
          </a:p>
        </p:txBody>
      </p:sp>
      <p:sp>
        <p:nvSpPr>
          <p:cNvPr id="9" name="Text 7"/>
          <p:cNvSpPr/>
          <p:nvPr/>
        </p:nvSpPr>
        <p:spPr>
          <a:xfrm>
            <a:off x="1243584" y="2359152"/>
            <a:ext cx="7040880" cy="420624"/>
          </a:xfrm>
          <a:prstGeom prst="rect">
            <a:avLst/>
          </a:prstGeom>
          <a:noFill/>
          <a:ln/>
        </p:spPr>
        <p:txBody>
          <a:bodyPr wrap="square" lIns="0" tIns="0" rIns="0" bIns="0" rtlCol="0" anchor="t"/>
          <a:lstStyle/>
          <a:p>
            <a:pPr algn="l" indent="0" marL="0">
              <a:lnSpc>
                <a:spcPct val="104000"/>
              </a:lnSpc>
              <a:buNone/>
            </a:pPr>
            <a:r>
              <a:rPr lang="en-US" sz="1200" dirty="0">
                <a:solidFill>
                  <a:srgbClr val="FFFEFB"/>
                </a:solidFill>
                <a:latin typeface="Calibri" pitchFamily="34" charset="0"/>
                <a:ea typeface="Calibri" pitchFamily="34" charset="-122"/>
                <a:cs typeface="Calibri" pitchFamily="34" charset="-120"/>
              </a:rPr>
              <a:t>Describe one post you saw this week that gave you a strong emotional reaction. Name the emotion, then explain how that emotion made people more likely to share the post.</a:t>
            </a:r>
            <a:endParaRPr lang="en-US" sz="1200" dirty="0"/>
          </a:p>
        </p:txBody>
      </p:sp>
      <p:sp>
        <p:nvSpPr>
          <p:cNvPr id="10" name="Shape 8"/>
          <p:cNvSpPr/>
          <p:nvPr/>
        </p:nvSpPr>
        <p:spPr>
          <a:xfrm>
            <a:off x="804672" y="2798064"/>
            <a:ext cx="310896" cy="310896"/>
          </a:xfrm>
          <a:prstGeom prst="ellipse">
            <a:avLst/>
          </a:prstGeom>
          <a:solidFill>
            <a:srgbClr val="B22222"/>
          </a:solidFill>
          <a:ln w="12700">
            <a:solidFill>
              <a:srgbClr val="B22222"/>
            </a:solidFill>
            <a:prstDash val="solid"/>
          </a:ln>
        </p:spPr>
      </p:sp>
      <p:sp>
        <p:nvSpPr>
          <p:cNvPr id="11" name="Text 9"/>
          <p:cNvSpPr/>
          <p:nvPr/>
        </p:nvSpPr>
        <p:spPr>
          <a:xfrm>
            <a:off x="804672" y="2798064"/>
            <a:ext cx="310896" cy="310896"/>
          </a:xfrm>
          <a:prstGeom prst="rect">
            <a:avLst/>
          </a:prstGeom>
          <a:noFill/>
          <a:ln/>
        </p:spPr>
        <p:txBody>
          <a:bodyPr wrap="square" lIns="0" tIns="0" rIns="0" bIns="0" rtlCol="0" anchor="ctr"/>
          <a:lstStyle/>
          <a:p>
            <a:pPr algn="ctr" indent="0" marL="0">
              <a:buNone/>
            </a:pPr>
            <a:r>
              <a:rPr lang="en-US" sz="950" b="1" dirty="0">
                <a:solidFill>
                  <a:srgbClr val="FFFEFB"/>
                </a:solidFill>
                <a:latin typeface="Courier New" pitchFamily="34" charset="0"/>
                <a:ea typeface="Courier New" pitchFamily="34" charset="-122"/>
                <a:cs typeface="Courier New" pitchFamily="34" charset="-120"/>
              </a:rPr>
              <a:t>2</a:t>
            </a:r>
            <a:endParaRPr lang="en-US" sz="950" dirty="0"/>
          </a:p>
        </p:txBody>
      </p:sp>
      <p:sp>
        <p:nvSpPr>
          <p:cNvPr id="12" name="Text 10"/>
          <p:cNvSpPr/>
          <p:nvPr/>
        </p:nvSpPr>
        <p:spPr>
          <a:xfrm>
            <a:off x="1243584" y="2779776"/>
            <a:ext cx="7040880" cy="201168"/>
          </a:xfrm>
          <a:prstGeom prst="rect">
            <a:avLst/>
          </a:prstGeom>
          <a:noFill/>
          <a:ln/>
        </p:spPr>
        <p:txBody>
          <a:bodyPr wrap="square" lIns="0" tIns="0" rIns="0" bIns="0" rtlCol="0" anchor="t"/>
          <a:lstStyle/>
          <a:p>
            <a:pPr algn="l" indent="0" marL="0">
              <a:lnSpc>
                <a:spcPct val="106000"/>
              </a:lnSpc>
              <a:buNone/>
            </a:pPr>
            <a:r>
              <a:rPr lang="en-US" sz="800" b="1" dirty="0">
                <a:solidFill>
                  <a:srgbClr val="E8A0A0"/>
                </a:solidFill>
                <a:latin typeface="Courier New" pitchFamily="34" charset="0"/>
                <a:ea typeface="Courier New" pitchFamily="34" charset="-122"/>
                <a:cs typeface="Courier New" pitchFamily="34" charset="-120"/>
              </a:rPr>
              <a:t>SOURCING</a:t>
            </a:r>
            <a:endParaRPr lang="en-US" sz="800" dirty="0"/>
          </a:p>
        </p:txBody>
      </p:sp>
      <p:sp>
        <p:nvSpPr>
          <p:cNvPr id="13" name="Text 11"/>
          <p:cNvSpPr/>
          <p:nvPr/>
        </p:nvSpPr>
        <p:spPr>
          <a:xfrm>
            <a:off x="1243584" y="2980944"/>
            <a:ext cx="7040880" cy="420624"/>
          </a:xfrm>
          <a:prstGeom prst="rect">
            <a:avLst/>
          </a:prstGeom>
          <a:noFill/>
          <a:ln/>
        </p:spPr>
        <p:txBody>
          <a:bodyPr wrap="square" lIns="0" tIns="0" rIns="0" bIns="0" rtlCol="0" anchor="t"/>
          <a:lstStyle/>
          <a:p>
            <a:pPr algn="l" indent="0" marL="0">
              <a:lnSpc>
                <a:spcPct val="104000"/>
              </a:lnSpc>
              <a:buNone/>
            </a:pPr>
            <a:r>
              <a:rPr lang="en-US" sz="1200" dirty="0">
                <a:solidFill>
                  <a:srgbClr val="FFFEFB"/>
                </a:solidFill>
                <a:latin typeface="Calibri" pitchFamily="34" charset="0"/>
                <a:ea typeface="Calibri" pitchFamily="34" charset="-122"/>
                <a:cs typeface="Calibri" pitchFamily="34" charset="-120"/>
              </a:rPr>
              <a:t>Choose one claim you are unsure about and check it using lateral reading. Write down what you did: who published it, when it was published, and whether any other source reports it.</a:t>
            </a:r>
            <a:endParaRPr lang="en-US" sz="1200" dirty="0"/>
          </a:p>
        </p:txBody>
      </p:sp>
      <p:sp>
        <p:nvSpPr>
          <p:cNvPr id="14" name="Shape 12"/>
          <p:cNvSpPr/>
          <p:nvPr/>
        </p:nvSpPr>
        <p:spPr>
          <a:xfrm>
            <a:off x="804672" y="3419856"/>
            <a:ext cx="310896" cy="310896"/>
          </a:xfrm>
          <a:prstGeom prst="ellipse">
            <a:avLst/>
          </a:prstGeom>
          <a:solidFill>
            <a:srgbClr val="B22222"/>
          </a:solidFill>
          <a:ln w="12700">
            <a:solidFill>
              <a:srgbClr val="B22222"/>
            </a:solidFill>
            <a:prstDash val="solid"/>
          </a:ln>
        </p:spPr>
      </p:sp>
      <p:sp>
        <p:nvSpPr>
          <p:cNvPr id="15" name="Text 13"/>
          <p:cNvSpPr/>
          <p:nvPr/>
        </p:nvSpPr>
        <p:spPr>
          <a:xfrm>
            <a:off x="804672" y="3419856"/>
            <a:ext cx="310896" cy="310896"/>
          </a:xfrm>
          <a:prstGeom prst="rect">
            <a:avLst/>
          </a:prstGeom>
          <a:noFill/>
          <a:ln/>
        </p:spPr>
        <p:txBody>
          <a:bodyPr wrap="square" lIns="0" tIns="0" rIns="0" bIns="0" rtlCol="0" anchor="ctr"/>
          <a:lstStyle/>
          <a:p>
            <a:pPr algn="ctr" indent="0" marL="0">
              <a:buNone/>
            </a:pPr>
            <a:r>
              <a:rPr lang="en-US" sz="950" b="1" dirty="0">
                <a:solidFill>
                  <a:srgbClr val="FFFEFB"/>
                </a:solidFill>
                <a:latin typeface="Courier New" pitchFamily="34" charset="0"/>
                <a:ea typeface="Courier New" pitchFamily="34" charset="-122"/>
                <a:cs typeface="Courier New" pitchFamily="34" charset="-120"/>
              </a:rPr>
              <a:t>3</a:t>
            </a:r>
            <a:endParaRPr lang="en-US" sz="950" dirty="0"/>
          </a:p>
        </p:txBody>
      </p:sp>
      <p:sp>
        <p:nvSpPr>
          <p:cNvPr id="16" name="Text 14"/>
          <p:cNvSpPr/>
          <p:nvPr/>
        </p:nvSpPr>
        <p:spPr>
          <a:xfrm>
            <a:off x="1243584" y="3401568"/>
            <a:ext cx="7040880" cy="201168"/>
          </a:xfrm>
          <a:prstGeom prst="rect">
            <a:avLst/>
          </a:prstGeom>
          <a:noFill/>
          <a:ln/>
        </p:spPr>
        <p:txBody>
          <a:bodyPr wrap="square" lIns="0" tIns="0" rIns="0" bIns="0" rtlCol="0" anchor="t"/>
          <a:lstStyle/>
          <a:p>
            <a:pPr algn="l" indent="0" marL="0">
              <a:lnSpc>
                <a:spcPct val="106000"/>
              </a:lnSpc>
              <a:buNone/>
            </a:pPr>
            <a:r>
              <a:rPr lang="en-US" sz="800" b="1" dirty="0">
                <a:solidFill>
                  <a:srgbClr val="E8A0A0"/>
                </a:solidFill>
                <a:latin typeface="Courier New" pitchFamily="34" charset="0"/>
                <a:ea typeface="Courier New" pitchFamily="34" charset="-122"/>
                <a:cs typeface="Courier New" pitchFamily="34" charset="-120"/>
              </a:rPr>
              <a:t>GENERALIZING FROM EVIDENCE</a:t>
            </a:r>
            <a:endParaRPr lang="en-US" sz="800" dirty="0"/>
          </a:p>
        </p:txBody>
      </p:sp>
      <p:sp>
        <p:nvSpPr>
          <p:cNvPr id="17" name="Text 15"/>
          <p:cNvSpPr/>
          <p:nvPr/>
        </p:nvSpPr>
        <p:spPr>
          <a:xfrm>
            <a:off x="1243584" y="3602736"/>
            <a:ext cx="7040880" cy="420624"/>
          </a:xfrm>
          <a:prstGeom prst="rect">
            <a:avLst/>
          </a:prstGeom>
          <a:noFill/>
          <a:ln/>
        </p:spPr>
        <p:txBody>
          <a:bodyPr wrap="square" lIns="0" tIns="0" rIns="0" bIns="0" rtlCol="0" anchor="t"/>
          <a:lstStyle/>
          <a:p>
            <a:pPr algn="l" indent="0" marL="0">
              <a:lnSpc>
                <a:spcPct val="104000"/>
              </a:lnSpc>
              <a:buNone/>
            </a:pPr>
            <a:r>
              <a:rPr lang="en-US" sz="1200" dirty="0">
                <a:solidFill>
                  <a:srgbClr val="FFFEFB"/>
                </a:solidFill>
                <a:latin typeface="Calibri" pitchFamily="34" charset="0"/>
                <a:ea typeface="Calibri" pitchFamily="34" charset="-122"/>
                <a:cs typeface="Calibri" pitchFamily="34" charset="-120"/>
              </a:rPr>
              <a:t>Choose one item from Part Five. Explain, in three steps, how it could change the result of an election.</a:t>
            </a:r>
            <a:endParaRPr lang="en-US" sz="1200" dirty="0"/>
          </a:p>
        </p:txBody>
      </p:sp>
      <p:sp>
        <p:nvSpPr>
          <p:cNvPr id="18" name="Text 16"/>
          <p:cNvSpPr/>
          <p:nvPr/>
        </p:nvSpPr>
        <p:spPr>
          <a:xfrm>
            <a:off x="548640" y="4114800"/>
            <a:ext cx="7863840" cy="402336"/>
          </a:xfrm>
          <a:prstGeom prst="rect">
            <a:avLst/>
          </a:prstGeom>
          <a:noFill/>
          <a:ln/>
        </p:spPr>
        <p:txBody>
          <a:bodyPr wrap="square" lIns="0" tIns="0" rIns="0" bIns="0" rtlCol="0" anchor="t"/>
          <a:lstStyle/>
          <a:p>
            <a:pPr algn="l" indent="0" marL="0">
              <a:lnSpc>
                <a:spcPct val="110000"/>
              </a:lnSpc>
              <a:buNone/>
            </a:pPr>
            <a:r>
              <a:rPr lang="en-US" sz="1250" i="1" dirty="0">
                <a:solidFill>
                  <a:srgbClr val="A8B2BA"/>
                </a:solidFill>
                <a:latin typeface="Calibri" pitchFamily="34" charset="0"/>
                <a:ea typeface="Calibri" pitchFamily="34" charset="-122"/>
                <a:cs typeface="Calibri" pitchFamily="34" charset="-120"/>
              </a:rPr>
              <a:t>Each question has a Start Here card and a Push Further card. Both are real answers. Your confidence rating is not graded.</a:t>
            </a:r>
            <a:endParaRPr lang="en-US" sz="1250" dirty="0"/>
          </a:p>
        </p:txBody>
      </p:sp>
      <p:sp>
        <p:nvSpPr>
          <p:cNvPr id="20" name="Text 17"/>
          <p:cNvSpPr/>
          <p:nvPr/>
        </p:nvSpPr>
        <p:spPr>
          <a:xfrm>
            <a:off x="548640" y="4668012"/>
            <a:ext cx="8046720" cy="256032"/>
          </a:xfrm>
          <a:prstGeom prst="rect">
            <a:avLst/>
          </a:prstGeom>
          <a:noFill/>
          <a:ln/>
        </p:spPr>
        <p:txBody>
          <a:bodyPr wrap="square" lIns="0" tIns="0" rIns="0" bIns="0" rtlCol="0" anchor="ctr"/>
          <a:lstStyle/>
          <a:p>
            <a:pPr indent="0" marL="0">
              <a:buNone/>
            </a:pPr>
            <a:r>
              <a:rPr lang="en-US" sz="800" spc="100" kern="0" dirty="0">
                <a:solidFill>
                  <a:srgbClr val="A8B2BA"/>
                </a:solidFill>
                <a:latin typeface="Courier New" pitchFamily="34" charset="0"/>
                <a:ea typeface="Courier New" pitchFamily="34" charset="-122"/>
                <a:cs typeface="Courier New" pitchFamily="34" charset="-120"/>
              </a:rPr>
              <a:t>BECURRENT  ·  SOCIAL MEDIA  ·  TOPIC 5</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BeCurrent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a Lie Travels, Social Media Topic 5</dc:title>
  <dc:subject>BeCurrent, Current Events</dc:subject>
  <dc:creator>BeCurrent</dc:creator>
  <cp:lastModifiedBy>BeCurrent</cp:lastModifiedBy>
  <cp:revision>1</cp:revision>
  <dcterms:created xsi:type="dcterms:W3CDTF">2026-08-20T15:10:39Z</dcterms:created>
  <dcterms:modified xsi:type="dcterms:W3CDTF">2026-08-20T15:10:39Z</dcterms:modified>
</cp:coreProperties>
</file>