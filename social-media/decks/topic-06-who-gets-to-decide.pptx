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by keeping the promise. You told them on day one that a hard question was coming, and this is it. Read the question off the slide and then stop talking. Do not let anybody answer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minutes, and the point is that today is earned. Four topics of machinery so that this can be an argument instead of a room of opinions. Read the Reading Target aloud: they are graded on the side they did not pick.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the three answers up and take a straw poll by hands, without discussion. Note the split on the board and leave it there; you will come back to it at the end and ask who moved.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decides whether the argument is any good. Say it plainly: nobody in this argument is stupid. If a position sounds obviously wrong, they are arguing with the weak version of it, and beating the weak version teaches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tradeoff and then hold everybody to it for the rest of the block. An answer with no cost in it is not finished, and that is the standard you will grade against, so say so now rather than after.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the strongest case first and make somebody who disagrees state it. Then the hardest question, and do not resolve it. Willpower against thousands of engineers is the honest shape of the problem, not a rhetorical trick.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self-regulation card is the one they underrate, so give it real weight: bad press does move companies. Then the hardest question, which is the cleanest conflict of interest in the unit. Let the silence sit.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ordinary cases, because seatbelts and cigarette ads are the reason this position is not exotic. Then the hardest question, and read it slowly enough that they hear the same sentence twice. The Watch For belongs in the argument without settling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Thirty seconds a column, as a memory aid before they write. If a student cannot state the cost of their own position, they are not ready to write about it, and this is where you find that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AP move: the argument has a history. Four fights, four media, and they have heard of none of them. Ask what the four have in common before you turn the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halves matter. Every one ended in self-regulation under threat rather than in a law, which predicts something. And several of the strongest claims did not hold up, which predicts something else. Sincere and wrong is the pair to sit with.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break the precedent on purpose. A comic book did not know who was holding it. Any argument from 1954 has to survive these three differences, and naming what is different is half of using a precedent 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230 is the one fact that changes how the argument feels: the current arrangement is one sentence that survived a court case, not the natural state of things. If they think the rules are permanent, they will argue as if nothing can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Return to the straw poll from the start and ask who moved and why. Then set the writing: the strongest version of the side they did not pick. Last line out loud, because it is the whole assessment: state it well enough that somebody who holds it would recognize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1B1F"/>
        </a:solidFill>
      </p:bgPr>
    </p:bg>
    <p:spTree>
      <p:nvGrpSpPr>
        <p:cNvPr id="1" name=""/>
        <p:cNvGrpSpPr/>
        <p:nvPr/>
      </p:nvGrpSpPr>
      <p:grpSpPr>
        <a:xfrm>
          <a:off x="0" y="0"/>
          <a:ext cx="0" cy="0"/>
          <a:chOff x="0" y="0"/>
          <a:chExt cx="0" cy="0"/>
        </a:xfrm>
      </p:grpSpPr>
      <p:sp>
        <p:nvSpPr>
          <p:cNvPr id="2" name="Shape 0"/>
          <p:cNvSpPr/>
          <p:nvPr/>
        </p:nvSpPr>
        <p:spPr>
          <a:xfrm>
            <a:off x="548640" y="548640"/>
            <a:ext cx="512064" cy="512064"/>
          </a:xfrm>
          <a:prstGeom prst="ellipse">
            <a:avLst/>
          </a:prstGeom>
          <a:solidFill>
            <a:srgbClr val="B22222"/>
          </a:solidFill>
          <a:ln w="12700">
            <a:solidFill>
              <a:srgbClr val="B22222"/>
            </a:solidFill>
            <a:prstDash val="solid"/>
          </a:ln>
        </p:spPr>
      </p:sp>
      <p:sp>
        <p:nvSpPr>
          <p:cNvPr id="3" name="Text 1"/>
          <p:cNvSpPr/>
          <p:nvPr/>
        </p:nvSpPr>
        <p:spPr>
          <a:xfrm>
            <a:off x="548640" y="548640"/>
            <a:ext cx="512064" cy="512064"/>
          </a:xfrm>
          <a:prstGeom prst="rect">
            <a:avLst/>
          </a:prstGeom>
          <a:noFill/>
          <a:ln/>
        </p:spPr>
        <p:txBody>
          <a:bodyPr wrap="square" lIns="0" tIns="0" rIns="0" bIns="0" rtlCol="0" anchor="ctr"/>
          <a:lstStyle/>
          <a:p>
            <a:pPr algn="ctr" indent="0" marL="0">
              <a:buNone/>
            </a:pPr>
            <a:r>
              <a:rPr lang="en-US" sz="1400" b="1" dirty="0">
                <a:solidFill>
                  <a:srgbClr val="FFFEFB"/>
                </a:solidFill>
                <a:latin typeface="Courier New" pitchFamily="34" charset="0"/>
                <a:ea typeface="Courier New" pitchFamily="34" charset="-122"/>
                <a:cs typeface="Courier New" pitchFamily="34" charset="-120"/>
              </a:rPr>
              <a:t>06</a:t>
            </a:r>
            <a:endParaRPr lang="en-US" sz="1400" dirty="0"/>
          </a:p>
        </p:txBody>
      </p:sp>
      <p:sp>
        <p:nvSpPr>
          <p:cNvPr id="4" name="Text 2"/>
          <p:cNvSpPr/>
          <p:nvPr/>
        </p:nvSpPr>
        <p:spPr>
          <a:xfrm>
            <a:off x="1207008" y="685800"/>
            <a:ext cx="8046720" cy="237744"/>
          </a:xfrm>
          <a:prstGeom prst="rect">
            <a:avLst/>
          </a:prstGeom>
          <a:noFill/>
          <a:ln/>
        </p:spPr>
        <p:txBody>
          <a:bodyPr wrap="square" lIns="0" tIns="0" rIns="0" bIns="0" rtlCol="0" anchor="ctr"/>
          <a:lstStyle/>
          <a:p>
            <a:pPr indent="0" marL="0">
              <a:buNone/>
            </a:pPr>
            <a:r>
              <a:rPr lang="en-US" sz="1000" b="1" spc="140" kern="0" dirty="0">
                <a:solidFill>
                  <a:srgbClr val="E8A0A0"/>
                </a:solidFill>
                <a:latin typeface="Courier New" pitchFamily="34" charset="0"/>
                <a:ea typeface="Courier New" pitchFamily="34" charset="-122"/>
                <a:cs typeface="Courier New" pitchFamily="34" charset="-120"/>
              </a:rPr>
              <a:t>SOCIAL MEDIA · TOPIC 6</a:t>
            </a:r>
            <a:endParaRPr lang="en-US" sz="1000" dirty="0"/>
          </a:p>
        </p:txBody>
      </p:sp>
      <p:sp>
        <p:nvSpPr>
          <p:cNvPr id="5" name="Text 3"/>
          <p:cNvSpPr/>
          <p:nvPr/>
        </p:nvSpPr>
        <p:spPr>
          <a:xfrm>
            <a:off x="548640" y="1298448"/>
            <a:ext cx="8046720" cy="868680"/>
          </a:xfrm>
          <a:prstGeom prst="rect">
            <a:avLst/>
          </a:prstGeom>
          <a:noFill/>
          <a:ln/>
        </p:spPr>
        <p:txBody>
          <a:bodyPr wrap="square" lIns="0" tIns="0" rIns="0" bIns="0" rtlCol="0" anchor="t"/>
          <a:lstStyle/>
          <a:p>
            <a:pPr indent="0" marL="0">
              <a:lnSpc>
                <a:spcPct val="92000"/>
              </a:lnSpc>
              <a:buNone/>
            </a:pPr>
            <a:r>
              <a:rPr lang="en-US" sz="4200" b="1" dirty="0">
                <a:solidFill>
                  <a:srgbClr val="FFFEFB"/>
                </a:solidFill>
                <a:latin typeface="Cambria" pitchFamily="34" charset="0"/>
                <a:ea typeface="Cambria" pitchFamily="34" charset="-122"/>
                <a:cs typeface="Cambria" pitchFamily="34" charset="-120"/>
              </a:rPr>
              <a:t>Who Gets to Decide?</a:t>
            </a:r>
            <a:endParaRPr lang="en-US" sz="4200" dirty="0"/>
          </a:p>
        </p:txBody>
      </p:sp>
      <p:sp>
        <p:nvSpPr>
          <p:cNvPr id="6" name="Text 4"/>
          <p:cNvSpPr/>
          <p:nvPr/>
        </p:nvSpPr>
        <p:spPr>
          <a:xfrm>
            <a:off x="548640" y="2286000"/>
            <a:ext cx="6858000" cy="822960"/>
          </a:xfrm>
          <a:prstGeom prst="rect">
            <a:avLst/>
          </a:prstGeom>
          <a:noFill/>
          <a:ln/>
        </p:spPr>
        <p:txBody>
          <a:bodyPr wrap="square" lIns="0" tIns="0" rIns="0" bIns="0" rtlCol="0" anchor="t"/>
          <a:lstStyle/>
          <a:p>
            <a:pPr algn="l" indent="0" marL="0">
              <a:lnSpc>
                <a:spcPct val="115000"/>
              </a:lnSpc>
              <a:buNone/>
            </a:pPr>
            <a:r>
              <a:rPr lang="en-US" sz="1700" i="1" dirty="0">
                <a:solidFill>
                  <a:srgbClr val="A8B2BA"/>
                </a:solidFill>
                <a:latin typeface="Cambria" pitchFamily="34" charset="0"/>
                <a:ea typeface="Cambria" pitchFamily="34" charset="-122"/>
                <a:cs typeface="Cambria" pitchFamily="34" charset="-120"/>
              </a:rPr>
              <a:t>I told you on the first day I would ask you a hard question at the end. Here it is.</a:t>
            </a:r>
            <a:endParaRPr lang="en-US" sz="1700" dirty="0"/>
          </a:p>
        </p:txBody>
      </p:sp>
      <p:sp>
        <p:nvSpPr>
          <p:cNvPr id="7" name="Shape 5"/>
          <p:cNvSpPr/>
          <p:nvPr/>
        </p:nvSpPr>
        <p:spPr>
          <a:xfrm>
            <a:off x="548640" y="3401568"/>
            <a:ext cx="1828800" cy="329184"/>
          </a:xfrm>
          <a:prstGeom prst="roundRect">
            <a:avLst>
              <a:gd name="adj" fmla="val 16667"/>
            </a:avLst>
          </a:prstGeom>
          <a:solidFill>
            <a:srgbClr val="2B3238"/>
          </a:solidFill>
          <a:ln w="9525">
            <a:solidFill>
              <a:srgbClr val="2B3238"/>
            </a:solidFill>
            <a:prstDash val="solid"/>
          </a:ln>
        </p:spPr>
      </p:sp>
      <p:sp>
        <p:nvSpPr>
          <p:cNvPr id="8" name="Text 6"/>
          <p:cNvSpPr/>
          <p:nvPr/>
        </p:nvSpPr>
        <p:spPr>
          <a:xfrm>
            <a:off x="548640" y="3401568"/>
            <a:ext cx="1828800" cy="329184"/>
          </a:xfrm>
          <a:prstGeom prst="rect">
            <a:avLst/>
          </a:prstGeom>
          <a:noFill/>
          <a:ln/>
        </p:spPr>
        <p:txBody>
          <a:bodyPr wrap="square" lIns="0" tIns="0" rIns="0" bIns="0" rtlCol="0" anchor="ctr"/>
          <a:lstStyle/>
          <a:p>
            <a:pPr algn="ctr" indent="0" marL="0">
              <a:lnSpc>
                <a:spcPct val="106000"/>
              </a:lnSpc>
              <a:buNone/>
            </a:pPr>
            <a:r>
              <a:rPr lang="en-US" sz="900" b="1" dirty="0">
                <a:solidFill>
                  <a:srgbClr val="E8A0A0"/>
                </a:solidFill>
                <a:latin typeface="Courier New" pitchFamily="34" charset="0"/>
                <a:ea typeface="Courier New" pitchFamily="34" charset="-122"/>
                <a:cs typeface="Courier New" pitchFamily="34" charset="-120"/>
              </a:rPr>
              <a:t>SYNTHESIZING PATTERNS</a:t>
            </a:r>
            <a:endParaRPr lang="en-US" sz="900" dirty="0"/>
          </a:p>
        </p:txBody>
      </p:sp>
      <p:sp>
        <p:nvSpPr>
          <p:cNvPr id="9" name="Shape 7"/>
          <p:cNvSpPr/>
          <p:nvPr/>
        </p:nvSpPr>
        <p:spPr>
          <a:xfrm>
            <a:off x="2578608" y="3401568"/>
            <a:ext cx="2331720" cy="329184"/>
          </a:xfrm>
          <a:prstGeom prst="roundRect">
            <a:avLst>
              <a:gd name="adj" fmla="val 16667"/>
            </a:avLst>
          </a:prstGeom>
          <a:solidFill>
            <a:srgbClr val="2B3238"/>
          </a:solidFill>
          <a:ln w="9525">
            <a:solidFill>
              <a:srgbClr val="2B3238"/>
            </a:solidFill>
            <a:prstDash val="solid"/>
          </a:ln>
        </p:spPr>
      </p:sp>
      <p:sp>
        <p:nvSpPr>
          <p:cNvPr id="10" name="Text 8"/>
          <p:cNvSpPr/>
          <p:nvPr/>
        </p:nvSpPr>
        <p:spPr>
          <a:xfrm>
            <a:off x="2578608" y="3401568"/>
            <a:ext cx="2331720" cy="329184"/>
          </a:xfrm>
          <a:prstGeom prst="rect">
            <a:avLst/>
          </a:prstGeom>
          <a:noFill/>
          <a:ln/>
        </p:spPr>
        <p:txBody>
          <a:bodyPr wrap="square" lIns="0" tIns="0" rIns="0" bIns="0" rtlCol="0" anchor="ctr"/>
          <a:lstStyle/>
          <a:p>
            <a:pPr algn="ctr" indent="0" marL="0">
              <a:lnSpc>
                <a:spcPct val="106000"/>
              </a:lnSpc>
              <a:buNone/>
            </a:pPr>
            <a:r>
              <a:rPr lang="en-US" sz="900" b="1" dirty="0">
                <a:solidFill>
                  <a:srgbClr val="E8A0A0"/>
                </a:solidFill>
                <a:latin typeface="Courier New" pitchFamily="34" charset="0"/>
                <a:ea typeface="Courier New" pitchFamily="34" charset="-122"/>
                <a:cs typeface="Courier New" pitchFamily="34" charset="-120"/>
              </a:rPr>
              <a:t>GENERALIZING FROM EVIDENCE</a:t>
            </a:r>
            <a:endParaRPr lang="en-US" sz="900" dirty="0"/>
          </a:p>
        </p:txBody>
      </p:sp>
      <p:sp>
        <p:nvSpPr>
          <p:cNvPr id="12" name="Text 9"/>
          <p:cNvSpPr/>
          <p:nvPr/>
        </p:nvSpPr>
        <p:spPr>
          <a:xfrm>
            <a:off x="548640" y="4668012"/>
            <a:ext cx="8046720" cy="256032"/>
          </a:xfrm>
          <a:prstGeom prst="rect">
            <a:avLst/>
          </a:prstGeom>
          <a:noFill/>
          <a:ln/>
        </p:spPr>
        <p:txBody>
          <a:bodyPr wrap="square" lIns="0" tIns="0" rIns="0" bIns="0" rtlCol="0" anchor="ctr"/>
          <a:lstStyle/>
          <a:p>
            <a:pPr indent="0" marL="0">
              <a:buNone/>
            </a:pPr>
            <a:r>
              <a:rPr lang="en-US" sz="800" spc="100" kern="0" dirty="0">
                <a:solidFill>
                  <a:srgbClr val="A8B2BA"/>
                </a:solidFill>
                <a:latin typeface="Courier New" pitchFamily="34" charset="0"/>
                <a:ea typeface="Courier New" pitchFamily="34" charset="-122"/>
                <a:cs typeface="Courier New" pitchFamily="34" charset="-120"/>
              </a:rPr>
              <a:t>BECURRENT  ·  SOCIAL MEDIA  ·  TOPIC 6</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2ED"/>
        </a:solidFill>
      </p:bgPr>
    </p:bg>
    <p:spTree>
      <p:nvGrpSpPr>
        <p:cNvPr id="1" name=""/>
        <p:cNvGrpSpPr/>
        <p:nvPr/>
      </p:nvGrpSpPr>
      <p:grpSpPr>
        <a:xfrm>
          <a:off x="0" y="0"/>
          <a:ext cx="0" cy="0"/>
          <a:chOff x="0" y="0"/>
          <a:chExt cx="0" cy="0"/>
        </a:xfrm>
      </p:grpSpPr>
      <p:sp>
        <p:nvSpPr>
          <p:cNvPr id="2" name="Text 0"/>
          <p:cNvSpPr/>
          <p:nvPr/>
        </p:nvSpPr>
        <p:spPr>
          <a:xfrm>
            <a:off x="548640" y="365760"/>
            <a:ext cx="8046720" cy="237744"/>
          </a:xfrm>
          <a:prstGeom prst="rect">
            <a:avLst/>
          </a:prstGeom>
          <a:noFill/>
          <a:ln/>
        </p:spPr>
        <p:txBody>
          <a:bodyPr wrap="square" lIns="0" tIns="0" rIns="0" bIns="0" rtlCol="0" anchor="ctr"/>
          <a:lstStyle/>
          <a:p>
            <a:pPr indent="0" marL="0">
              <a:buNone/>
            </a:pPr>
            <a:r>
              <a:rPr lang="en-US" sz="1000" b="1" spc="140" kern="0" dirty="0">
                <a:solidFill>
                  <a:srgbClr val="B22222"/>
                </a:solidFill>
                <a:latin typeface="Courier New" pitchFamily="34" charset="0"/>
                <a:ea typeface="Courier New" pitchFamily="34" charset="-122"/>
                <a:cs typeface="Courier New" pitchFamily="34" charset="-120"/>
              </a:rPr>
              <a:t>BEFORE YOU READ</a:t>
            </a:r>
            <a:endParaRPr lang="en-US" sz="1000" dirty="0"/>
          </a:p>
        </p:txBody>
      </p:sp>
      <p:sp>
        <p:nvSpPr>
          <p:cNvPr id="3" name="Text 1"/>
          <p:cNvSpPr/>
          <p:nvPr/>
        </p:nvSpPr>
        <p:spPr>
          <a:xfrm>
            <a:off x="548640" y="713232"/>
            <a:ext cx="8046720" cy="731520"/>
          </a:xfrm>
          <a:prstGeom prst="rect">
            <a:avLst/>
          </a:prstGeom>
          <a:noFill/>
          <a:ln/>
        </p:spPr>
        <p:txBody>
          <a:bodyPr wrap="square" lIns="0" tIns="0" rIns="0" bIns="0" rtlCol="0" anchor="t"/>
          <a:lstStyle/>
          <a:p>
            <a:pPr indent="0" marL="0">
              <a:lnSpc>
                <a:spcPct val="92000"/>
              </a:lnSpc>
              <a:buNone/>
            </a:pPr>
            <a:r>
              <a:rPr lang="en-US" sz="2500" b="1" dirty="0">
                <a:solidFill>
                  <a:srgbClr val="14171A"/>
                </a:solidFill>
                <a:latin typeface="Cambria" pitchFamily="34" charset="0"/>
                <a:ea typeface="Cambria" pitchFamily="34" charset="-122"/>
                <a:cs typeface="Cambria" pitchFamily="34" charset="-120"/>
              </a:rPr>
              <a:t>Everything so far was so that today is a real argument</a:t>
            </a:r>
            <a:endParaRPr lang="en-US" sz="2500" dirty="0"/>
          </a:p>
        </p:txBody>
      </p:sp>
      <p:sp>
        <p:nvSpPr>
          <p:cNvPr id="4" name="Shape 2"/>
          <p:cNvSpPr/>
          <p:nvPr/>
        </p:nvSpPr>
        <p:spPr>
          <a:xfrm>
            <a:off x="548640" y="1481328"/>
            <a:ext cx="310896" cy="310896"/>
          </a:xfrm>
          <a:prstGeom prst="ellipse">
            <a:avLst/>
          </a:prstGeom>
          <a:solidFill>
            <a:srgbClr val="2B3238"/>
          </a:solidFill>
          <a:ln w="12700">
            <a:solidFill>
              <a:srgbClr val="2B3238"/>
            </a:solidFill>
            <a:prstDash val="solid"/>
          </a:ln>
        </p:spPr>
      </p:sp>
      <p:sp>
        <p:nvSpPr>
          <p:cNvPr id="5" name="Text 3"/>
          <p:cNvSpPr/>
          <p:nvPr/>
        </p:nvSpPr>
        <p:spPr>
          <a:xfrm>
            <a:off x="548640" y="1481328"/>
            <a:ext cx="310896" cy="310896"/>
          </a:xfrm>
          <a:prstGeom prst="rect">
            <a:avLst/>
          </a:prstGeom>
          <a:noFill/>
          <a:ln/>
        </p:spPr>
        <p:txBody>
          <a:bodyPr wrap="square" lIns="0" tIns="0" rIns="0" bIns="0" rtlCol="0" anchor="ctr"/>
          <a:lstStyle/>
          <a:p>
            <a:pPr algn="ctr" indent="0" marL="0">
              <a:buNone/>
            </a:pPr>
            <a:r>
              <a:rPr lang="en-US" sz="950" b="1" dirty="0">
                <a:solidFill>
                  <a:srgbClr val="FFFEFB"/>
                </a:solidFill>
                <a:latin typeface="Courier New" pitchFamily="34" charset="0"/>
                <a:ea typeface="Courier New" pitchFamily="34" charset="-122"/>
                <a:cs typeface="Courier New" pitchFamily="34" charset="-120"/>
              </a:rPr>
              <a:t>1</a:t>
            </a:r>
            <a:endParaRPr lang="en-US" sz="950" dirty="0"/>
          </a:p>
        </p:txBody>
      </p:sp>
      <p:sp>
        <p:nvSpPr>
          <p:cNvPr id="6" name="Text 4"/>
          <p:cNvSpPr/>
          <p:nvPr/>
        </p:nvSpPr>
        <p:spPr>
          <a:xfrm>
            <a:off x="987552" y="1463040"/>
            <a:ext cx="2468880" cy="274320"/>
          </a:xfrm>
          <a:prstGeom prst="rect">
            <a:avLst/>
          </a:prstGeom>
          <a:noFill/>
          <a:ln/>
        </p:spPr>
        <p:txBody>
          <a:bodyPr wrap="square" lIns="0" tIns="0" rIns="0" bIns="0" rtlCol="0" anchor="ctr"/>
          <a:lstStyle/>
          <a:p>
            <a:pPr algn="l" indent="0" marL="0">
              <a:lnSpc>
                <a:spcPct val="106000"/>
              </a:lnSpc>
              <a:buNone/>
            </a:pPr>
            <a:r>
              <a:rPr lang="en-US" sz="1250" b="1" dirty="0">
                <a:solidFill>
                  <a:srgbClr val="14171A"/>
                </a:solidFill>
                <a:latin typeface="Calibri" pitchFamily="34" charset="0"/>
                <a:ea typeface="Calibri" pitchFamily="34" charset="-122"/>
                <a:cs typeface="Calibri" pitchFamily="34" charset="-120"/>
              </a:rPr>
              <a:t>Where the money comes from</a:t>
            </a:r>
            <a:endParaRPr lang="en-US" sz="1250" dirty="0"/>
          </a:p>
        </p:txBody>
      </p:sp>
      <p:sp>
        <p:nvSpPr>
          <p:cNvPr id="7" name="Text 5"/>
          <p:cNvSpPr/>
          <p:nvPr/>
        </p:nvSpPr>
        <p:spPr>
          <a:xfrm>
            <a:off x="3547872" y="1463040"/>
            <a:ext cx="5029200" cy="274320"/>
          </a:xfrm>
          <a:prstGeom prst="rect">
            <a:avLst/>
          </a:prstGeom>
          <a:noFill/>
          <a:ln/>
        </p:spPr>
        <p:txBody>
          <a:bodyPr wrap="square" lIns="0" tIns="0" rIns="0" bIns="0" rtlCol="0" anchor="ctr"/>
          <a:lstStyle/>
          <a:p>
            <a:pPr algn="l" indent="0" marL="0">
              <a:lnSpc>
                <a:spcPct val="106000"/>
              </a:lnSpc>
              <a:buNone/>
            </a:pPr>
            <a:r>
              <a:rPr lang="en-US" sz="1250" dirty="0">
                <a:solidFill>
                  <a:srgbClr val="3C444C"/>
                </a:solidFill>
                <a:latin typeface="Calibri" pitchFamily="34" charset="0"/>
                <a:ea typeface="Calibri" pitchFamily="34" charset="-122"/>
                <a:cs typeface="Calibri" pitchFamily="34" charset="-120"/>
              </a:rPr>
              <a:t>You built the chain from opening an app to a company getting paid.</a:t>
            </a:r>
            <a:endParaRPr lang="en-US" sz="1250" dirty="0"/>
          </a:p>
        </p:txBody>
      </p:sp>
      <p:sp>
        <p:nvSpPr>
          <p:cNvPr id="8" name="Shape 6"/>
          <p:cNvSpPr/>
          <p:nvPr/>
        </p:nvSpPr>
        <p:spPr>
          <a:xfrm>
            <a:off x="548640" y="1975104"/>
            <a:ext cx="310896" cy="310896"/>
          </a:xfrm>
          <a:prstGeom prst="ellipse">
            <a:avLst/>
          </a:prstGeom>
          <a:solidFill>
            <a:srgbClr val="2B3238"/>
          </a:solidFill>
          <a:ln w="12700">
            <a:solidFill>
              <a:srgbClr val="2B3238"/>
            </a:solidFill>
            <a:prstDash val="solid"/>
          </a:ln>
        </p:spPr>
      </p:sp>
      <p:sp>
        <p:nvSpPr>
          <p:cNvPr id="9" name="Text 7"/>
          <p:cNvSpPr/>
          <p:nvPr/>
        </p:nvSpPr>
        <p:spPr>
          <a:xfrm>
            <a:off x="548640" y="1975104"/>
            <a:ext cx="310896" cy="310896"/>
          </a:xfrm>
          <a:prstGeom prst="rect">
            <a:avLst/>
          </a:prstGeom>
          <a:noFill/>
          <a:ln/>
        </p:spPr>
        <p:txBody>
          <a:bodyPr wrap="square" lIns="0" tIns="0" rIns="0" bIns="0" rtlCol="0" anchor="ctr"/>
          <a:lstStyle/>
          <a:p>
            <a:pPr algn="ctr" indent="0" marL="0">
              <a:buNone/>
            </a:pPr>
            <a:r>
              <a:rPr lang="en-US" sz="950" b="1" dirty="0">
                <a:solidFill>
                  <a:srgbClr val="FFFEFB"/>
                </a:solidFill>
                <a:latin typeface="Courier New" pitchFamily="34" charset="0"/>
                <a:ea typeface="Courier New" pitchFamily="34" charset="-122"/>
                <a:cs typeface="Courier New" pitchFamily="34" charset="-120"/>
              </a:rPr>
              <a:t>2</a:t>
            </a:r>
            <a:endParaRPr lang="en-US" sz="950" dirty="0"/>
          </a:p>
        </p:txBody>
      </p:sp>
      <p:sp>
        <p:nvSpPr>
          <p:cNvPr id="10" name="Text 8"/>
          <p:cNvSpPr/>
          <p:nvPr/>
        </p:nvSpPr>
        <p:spPr>
          <a:xfrm>
            <a:off x="987552" y="1956816"/>
            <a:ext cx="2468880" cy="274320"/>
          </a:xfrm>
          <a:prstGeom prst="rect">
            <a:avLst/>
          </a:prstGeom>
          <a:noFill/>
          <a:ln/>
        </p:spPr>
        <p:txBody>
          <a:bodyPr wrap="square" lIns="0" tIns="0" rIns="0" bIns="0" rtlCol="0" anchor="ctr"/>
          <a:lstStyle/>
          <a:p>
            <a:pPr algn="l" indent="0" marL="0">
              <a:lnSpc>
                <a:spcPct val="106000"/>
              </a:lnSpc>
              <a:buNone/>
            </a:pPr>
            <a:r>
              <a:rPr lang="en-US" sz="1250" b="1" dirty="0">
                <a:solidFill>
                  <a:srgbClr val="14171A"/>
                </a:solidFill>
                <a:latin typeface="Calibri" pitchFamily="34" charset="0"/>
                <a:ea typeface="Calibri" pitchFamily="34" charset="-122"/>
                <a:cs typeface="Calibri" pitchFamily="34" charset="-120"/>
              </a:rPr>
              <a:t>Somebody made a film about it</a:t>
            </a:r>
            <a:endParaRPr lang="en-US" sz="1250" dirty="0"/>
          </a:p>
        </p:txBody>
      </p:sp>
      <p:sp>
        <p:nvSpPr>
          <p:cNvPr id="11" name="Text 9"/>
          <p:cNvSpPr/>
          <p:nvPr/>
        </p:nvSpPr>
        <p:spPr>
          <a:xfrm>
            <a:off x="3547872" y="1956816"/>
            <a:ext cx="5029200" cy="274320"/>
          </a:xfrm>
          <a:prstGeom prst="rect">
            <a:avLst/>
          </a:prstGeom>
          <a:noFill/>
          <a:ln/>
        </p:spPr>
        <p:txBody>
          <a:bodyPr wrap="square" lIns="0" tIns="0" rIns="0" bIns="0" rtlCol="0" anchor="ctr"/>
          <a:lstStyle/>
          <a:p>
            <a:pPr algn="l" indent="0" marL="0">
              <a:lnSpc>
                <a:spcPct val="106000"/>
              </a:lnSpc>
              <a:buNone/>
            </a:pPr>
            <a:r>
              <a:rPr lang="en-US" sz="1250" dirty="0">
                <a:solidFill>
                  <a:srgbClr val="3C444C"/>
                </a:solidFill>
                <a:latin typeface="Calibri" pitchFamily="34" charset="0"/>
                <a:ea typeface="Calibri" pitchFamily="34" charset="-122"/>
                <a:cs typeface="Calibri" pitchFamily="34" charset="-120"/>
              </a:rPr>
              <a:t>You took the film apart the way you took your app apart.</a:t>
            </a:r>
            <a:endParaRPr lang="en-US" sz="1250" dirty="0"/>
          </a:p>
        </p:txBody>
      </p:sp>
      <p:sp>
        <p:nvSpPr>
          <p:cNvPr id="12" name="Shape 10"/>
          <p:cNvSpPr/>
          <p:nvPr/>
        </p:nvSpPr>
        <p:spPr>
          <a:xfrm>
            <a:off x="548640" y="2468880"/>
            <a:ext cx="310896" cy="310896"/>
          </a:xfrm>
          <a:prstGeom prst="ellipse">
            <a:avLst/>
          </a:prstGeom>
          <a:solidFill>
            <a:srgbClr val="2B3238"/>
          </a:solidFill>
          <a:ln w="12700">
            <a:solidFill>
              <a:srgbClr val="2B3238"/>
            </a:solidFill>
            <a:prstDash val="solid"/>
          </a:ln>
        </p:spPr>
      </p:sp>
      <p:sp>
        <p:nvSpPr>
          <p:cNvPr id="13" name="Text 11"/>
          <p:cNvSpPr/>
          <p:nvPr/>
        </p:nvSpPr>
        <p:spPr>
          <a:xfrm>
            <a:off x="548640" y="2468880"/>
            <a:ext cx="310896" cy="310896"/>
          </a:xfrm>
          <a:prstGeom prst="rect">
            <a:avLst/>
          </a:prstGeom>
          <a:noFill/>
          <a:ln/>
        </p:spPr>
        <p:txBody>
          <a:bodyPr wrap="square" lIns="0" tIns="0" rIns="0" bIns="0" rtlCol="0" anchor="ctr"/>
          <a:lstStyle/>
          <a:p>
            <a:pPr algn="ctr" indent="0" marL="0">
              <a:buNone/>
            </a:pPr>
            <a:r>
              <a:rPr lang="en-US" sz="950" b="1" dirty="0">
                <a:solidFill>
                  <a:srgbClr val="FFFEFB"/>
                </a:solidFill>
                <a:latin typeface="Courier New" pitchFamily="34" charset="0"/>
                <a:ea typeface="Courier New" pitchFamily="34" charset="-122"/>
                <a:cs typeface="Courier New" pitchFamily="34" charset="-120"/>
              </a:rPr>
              <a:t>3</a:t>
            </a:r>
            <a:endParaRPr lang="en-US" sz="950" dirty="0"/>
          </a:p>
        </p:txBody>
      </p:sp>
      <p:sp>
        <p:nvSpPr>
          <p:cNvPr id="14" name="Text 12"/>
          <p:cNvSpPr/>
          <p:nvPr/>
        </p:nvSpPr>
        <p:spPr>
          <a:xfrm>
            <a:off x="987552" y="2450592"/>
            <a:ext cx="2468880" cy="274320"/>
          </a:xfrm>
          <a:prstGeom prst="rect">
            <a:avLst/>
          </a:prstGeom>
          <a:noFill/>
          <a:ln/>
        </p:spPr>
        <p:txBody>
          <a:bodyPr wrap="square" lIns="0" tIns="0" rIns="0" bIns="0" rtlCol="0" anchor="ctr"/>
          <a:lstStyle/>
          <a:p>
            <a:pPr algn="l" indent="0" marL="0">
              <a:lnSpc>
                <a:spcPct val="106000"/>
              </a:lnSpc>
              <a:buNone/>
            </a:pPr>
            <a:r>
              <a:rPr lang="en-US" sz="1250" b="1" dirty="0">
                <a:solidFill>
                  <a:srgbClr val="14171A"/>
                </a:solidFill>
                <a:latin typeface="Calibri" pitchFamily="34" charset="0"/>
                <a:ea typeface="Calibri" pitchFamily="34" charset="-122"/>
                <a:cs typeface="Calibri" pitchFamily="34" charset="-120"/>
              </a:rPr>
              <a:t>Inside the algorithm box</a:t>
            </a:r>
            <a:endParaRPr lang="en-US" sz="1250" dirty="0"/>
          </a:p>
        </p:txBody>
      </p:sp>
      <p:sp>
        <p:nvSpPr>
          <p:cNvPr id="15" name="Text 13"/>
          <p:cNvSpPr/>
          <p:nvPr/>
        </p:nvSpPr>
        <p:spPr>
          <a:xfrm>
            <a:off x="3547872" y="2450592"/>
            <a:ext cx="5029200" cy="274320"/>
          </a:xfrm>
          <a:prstGeom prst="rect">
            <a:avLst/>
          </a:prstGeom>
          <a:noFill/>
          <a:ln/>
        </p:spPr>
        <p:txBody>
          <a:bodyPr wrap="square" lIns="0" tIns="0" rIns="0" bIns="0" rtlCol="0" anchor="ctr"/>
          <a:lstStyle/>
          <a:p>
            <a:pPr algn="l" indent="0" marL="0">
              <a:lnSpc>
                <a:spcPct val="106000"/>
              </a:lnSpc>
              <a:buNone/>
            </a:pPr>
            <a:r>
              <a:rPr lang="en-US" sz="1250" dirty="0">
                <a:solidFill>
                  <a:srgbClr val="3C444C"/>
                </a:solidFill>
                <a:latin typeface="Calibri" pitchFamily="34" charset="0"/>
                <a:ea typeface="Calibri" pitchFamily="34" charset="-122"/>
                <a:cs typeface="Calibri" pitchFamily="34" charset="-120"/>
              </a:rPr>
              <a:t>You opened the box almost every chain had in the middle.</a:t>
            </a:r>
            <a:endParaRPr lang="en-US" sz="1250" dirty="0"/>
          </a:p>
        </p:txBody>
      </p:sp>
      <p:sp>
        <p:nvSpPr>
          <p:cNvPr id="16" name="Shape 14"/>
          <p:cNvSpPr/>
          <p:nvPr/>
        </p:nvSpPr>
        <p:spPr>
          <a:xfrm>
            <a:off x="548640" y="2962656"/>
            <a:ext cx="310896" cy="310896"/>
          </a:xfrm>
          <a:prstGeom prst="ellipse">
            <a:avLst/>
          </a:prstGeom>
          <a:solidFill>
            <a:srgbClr val="2B3238"/>
          </a:solidFill>
          <a:ln w="12700">
            <a:solidFill>
              <a:srgbClr val="2B3238"/>
            </a:solidFill>
            <a:prstDash val="solid"/>
          </a:ln>
        </p:spPr>
      </p:sp>
      <p:sp>
        <p:nvSpPr>
          <p:cNvPr id="17" name="Text 15"/>
          <p:cNvSpPr/>
          <p:nvPr/>
        </p:nvSpPr>
        <p:spPr>
          <a:xfrm>
            <a:off x="548640" y="2962656"/>
            <a:ext cx="310896" cy="310896"/>
          </a:xfrm>
          <a:prstGeom prst="rect">
            <a:avLst/>
          </a:prstGeom>
          <a:noFill/>
          <a:ln/>
        </p:spPr>
        <p:txBody>
          <a:bodyPr wrap="square" lIns="0" tIns="0" rIns="0" bIns="0" rtlCol="0" anchor="ctr"/>
          <a:lstStyle/>
          <a:p>
            <a:pPr algn="ctr" indent="0" marL="0">
              <a:buNone/>
            </a:pPr>
            <a:r>
              <a:rPr lang="en-US" sz="950" b="1" dirty="0">
                <a:solidFill>
                  <a:srgbClr val="FFFEFB"/>
                </a:solidFill>
                <a:latin typeface="Courier New" pitchFamily="34" charset="0"/>
                <a:ea typeface="Courier New" pitchFamily="34" charset="-122"/>
                <a:cs typeface="Courier New" pitchFamily="34" charset="-120"/>
              </a:rPr>
              <a:t>4</a:t>
            </a:r>
            <a:endParaRPr lang="en-US" sz="950" dirty="0"/>
          </a:p>
        </p:txBody>
      </p:sp>
      <p:sp>
        <p:nvSpPr>
          <p:cNvPr id="18" name="Text 16"/>
          <p:cNvSpPr/>
          <p:nvPr/>
        </p:nvSpPr>
        <p:spPr>
          <a:xfrm>
            <a:off x="987552" y="2944368"/>
            <a:ext cx="2468880" cy="274320"/>
          </a:xfrm>
          <a:prstGeom prst="rect">
            <a:avLst/>
          </a:prstGeom>
          <a:noFill/>
          <a:ln/>
        </p:spPr>
        <p:txBody>
          <a:bodyPr wrap="square" lIns="0" tIns="0" rIns="0" bIns="0" rtlCol="0" anchor="ctr"/>
          <a:lstStyle/>
          <a:p>
            <a:pPr algn="l" indent="0" marL="0">
              <a:lnSpc>
                <a:spcPct val="106000"/>
              </a:lnSpc>
              <a:buNone/>
            </a:pPr>
            <a:r>
              <a:rPr lang="en-US" sz="1250" b="1" dirty="0">
                <a:solidFill>
                  <a:srgbClr val="14171A"/>
                </a:solidFill>
                <a:latin typeface="Calibri" pitchFamily="34" charset="0"/>
                <a:ea typeface="Calibri" pitchFamily="34" charset="-122"/>
                <a:cs typeface="Calibri" pitchFamily="34" charset="-120"/>
              </a:rPr>
              <a:t>Go check it yourself</a:t>
            </a:r>
            <a:endParaRPr lang="en-US" sz="1250" dirty="0"/>
          </a:p>
        </p:txBody>
      </p:sp>
      <p:sp>
        <p:nvSpPr>
          <p:cNvPr id="19" name="Text 17"/>
          <p:cNvSpPr/>
          <p:nvPr/>
        </p:nvSpPr>
        <p:spPr>
          <a:xfrm>
            <a:off x="3547872" y="2944368"/>
            <a:ext cx="5029200" cy="274320"/>
          </a:xfrm>
          <a:prstGeom prst="rect">
            <a:avLst/>
          </a:prstGeom>
          <a:noFill/>
          <a:ln/>
        </p:spPr>
        <p:txBody>
          <a:bodyPr wrap="square" lIns="0" tIns="0" rIns="0" bIns="0" rtlCol="0" anchor="ctr"/>
          <a:lstStyle/>
          <a:p>
            <a:pPr algn="l" indent="0" marL="0">
              <a:lnSpc>
                <a:spcPct val="106000"/>
              </a:lnSpc>
              <a:buNone/>
            </a:pPr>
            <a:r>
              <a:rPr lang="en-US" sz="1250" dirty="0">
                <a:solidFill>
                  <a:srgbClr val="3C444C"/>
                </a:solidFill>
                <a:latin typeface="Calibri" pitchFamily="34" charset="0"/>
                <a:ea typeface="Calibri" pitchFamily="34" charset="-122"/>
                <a:cs typeface="Calibri" pitchFamily="34" charset="-120"/>
              </a:rPr>
              <a:t>You read the company's own document instead of guessing at it.</a:t>
            </a:r>
            <a:endParaRPr lang="en-US" sz="1250" dirty="0"/>
          </a:p>
        </p:txBody>
      </p:sp>
      <p:sp>
        <p:nvSpPr>
          <p:cNvPr id="20" name="Shape 18"/>
          <p:cNvSpPr/>
          <p:nvPr/>
        </p:nvSpPr>
        <p:spPr>
          <a:xfrm>
            <a:off x="548640" y="3456432"/>
            <a:ext cx="310896" cy="310896"/>
          </a:xfrm>
          <a:prstGeom prst="ellipse">
            <a:avLst/>
          </a:prstGeom>
          <a:solidFill>
            <a:srgbClr val="2B3238"/>
          </a:solidFill>
          <a:ln w="12700">
            <a:solidFill>
              <a:srgbClr val="2B3238"/>
            </a:solidFill>
            <a:prstDash val="solid"/>
          </a:ln>
        </p:spPr>
      </p:sp>
      <p:sp>
        <p:nvSpPr>
          <p:cNvPr id="21" name="Text 19"/>
          <p:cNvSpPr/>
          <p:nvPr/>
        </p:nvSpPr>
        <p:spPr>
          <a:xfrm>
            <a:off x="548640" y="3456432"/>
            <a:ext cx="310896" cy="310896"/>
          </a:xfrm>
          <a:prstGeom prst="rect">
            <a:avLst/>
          </a:prstGeom>
          <a:noFill/>
          <a:ln/>
        </p:spPr>
        <p:txBody>
          <a:bodyPr wrap="square" lIns="0" tIns="0" rIns="0" bIns="0" rtlCol="0" anchor="ctr"/>
          <a:lstStyle/>
          <a:p>
            <a:pPr algn="ctr" indent="0" marL="0">
              <a:buNone/>
            </a:pPr>
            <a:r>
              <a:rPr lang="en-US" sz="950" b="1" dirty="0">
                <a:solidFill>
                  <a:srgbClr val="FFFEFB"/>
                </a:solidFill>
                <a:latin typeface="Courier New" pitchFamily="34" charset="0"/>
                <a:ea typeface="Courier New" pitchFamily="34" charset="-122"/>
                <a:cs typeface="Courier New" pitchFamily="34" charset="-120"/>
              </a:rPr>
              <a:t>5</a:t>
            </a:r>
            <a:endParaRPr lang="en-US" sz="950" dirty="0"/>
          </a:p>
        </p:txBody>
      </p:sp>
      <p:sp>
        <p:nvSpPr>
          <p:cNvPr id="22" name="Text 20"/>
          <p:cNvSpPr/>
          <p:nvPr/>
        </p:nvSpPr>
        <p:spPr>
          <a:xfrm>
            <a:off x="987552" y="3438144"/>
            <a:ext cx="2468880" cy="274320"/>
          </a:xfrm>
          <a:prstGeom prst="rect">
            <a:avLst/>
          </a:prstGeom>
          <a:noFill/>
          <a:ln/>
        </p:spPr>
        <p:txBody>
          <a:bodyPr wrap="square" lIns="0" tIns="0" rIns="0" bIns="0" rtlCol="0" anchor="ctr"/>
          <a:lstStyle/>
          <a:p>
            <a:pPr algn="l" indent="0" marL="0">
              <a:lnSpc>
                <a:spcPct val="106000"/>
              </a:lnSpc>
              <a:buNone/>
            </a:pPr>
            <a:r>
              <a:rPr lang="en-US" sz="1250" b="1" dirty="0">
                <a:solidFill>
                  <a:srgbClr val="14171A"/>
                </a:solidFill>
                <a:latin typeface="Calibri" pitchFamily="34" charset="0"/>
                <a:ea typeface="Calibri" pitchFamily="34" charset="-122"/>
                <a:cs typeface="Calibri" pitchFamily="34" charset="-120"/>
              </a:rPr>
              <a:t>How a lie travels</a:t>
            </a:r>
            <a:endParaRPr lang="en-US" sz="1250" dirty="0"/>
          </a:p>
        </p:txBody>
      </p:sp>
      <p:sp>
        <p:nvSpPr>
          <p:cNvPr id="23" name="Text 21"/>
          <p:cNvSpPr/>
          <p:nvPr/>
        </p:nvSpPr>
        <p:spPr>
          <a:xfrm>
            <a:off x="3547872" y="3438144"/>
            <a:ext cx="5029200" cy="274320"/>
          </a:xfrm>
          <a:prstGeom prst="rect">
            <a:avLst/>
          </a:prstGeom>
          <a:noFill/>
          <a:ln/>
        </p:spPr>
        <p:txBody>
          <a:bodyPr wrap="square" lIns="0" tIns="0" rIns="0" bIns="0" rtlCol="0" anchor="ctr"/>
          <a:lstStyle/>
          <a:p>
            <a:pPr algn="l" indent="0" marL="0">
              <a:lnSpc>
                <a:spcPct val="106000"/>
              </a:lnSpc>
              <a:buNone/>
            </a:pPr>
            <a:r>
              <a:rPr lang="en-US" sz="1250" dirty="0">
                <a:solidFill>
                  <a:srgbClr val="3C444C"/>
                </a:solidFill>
                <a:latin typeface="Calibri" pitchFamily="34" charset="0"/>
                <a:ea typeface="Calibri" pitchFamily="34" charset="-122"/>
                <a:cs typeface="Calibri" pitchFamily="34" charset="-120"/>
              </a:rPr>
              <a:t>You found out what that machine rewards, and who builds for it.</a:t>
            </a:r>
            <a:endParaRPr lang="en-US" sz="1250" dirty="0"/>
          </a:p>
        </p:txBody>
      </p:sp>
      <p:sp>
        <p:nvSpPr>
          <p:cNvPr id="24" name="Shape 22"/>
          <p:cNvSpPr/>
          <p:nvPr/>
        </p:nvSpPr>
        <p:spPr>
          <a:xfrm>
            <a:off x="548640" y="3931920"/>
            <a:ext cx="8046720" cy="585216"/>
          </a:xfrm>
          <a:prstGeom prst="roundRect">
            <a:avLst>
              <a:gd name="adj" fmla="val 9375"/>
            </a:avLst>
          </a:prstGeom>
          <a:solidFill>
            <a:srgbClr val="E3EAEE"/>
          </a:solidFill>
          <a:ln w="9525">
            <a:solidFill>
              <a:srgbClr val="E3EAEE"/>
            </a:solidFill>
            <a:prstDash val="solid"/>
          </a:ln>
          <a:effectLst>
            <a:outerShdw sx="100000" sy="100000" kx="0" ky="0" algn="bl" rotWithShape="0" blurRad="88900" dist="12700" dir="5400000">
              <a:srgbClr val="9A968A">
                <a:alpha val="20000"/>
              </a:srgbClr>
            </a:outerShdw>
          </a:effectLst>
        </p:spPr>
      </p:sp>
      <p:sp>
        <p:nvSpPr>
          <p:cNvPr id="25" name="Text 23"/>
          <p:cNvSpPr/>
          <p:nvPr/>
        </p:nvSpPr>
        <p:spPr>
          <a:xfrm>
            <a:off x="786384" y="3931920"/>
            <a:ext cx="640080" cy="585216"/>
          </a:xfrm>
          <a:prstGeom prst="rect">
            <a:avLst/>
          </a:prstGeom>
          <a:noFill/>
          <a:ln/>
        </p:spPr>
        <p:txBody>
          <a:bodyPr wrap="square" lIns="0" tIns="0" rIns="0" bIns="0" rtlCol="0" anchor="ctr"/>
          <a:lstStyle/>
          <a:p>
            <a:pPr algn="l" indent="0" marL="0">
              <a:lnSpc>
                <a:spcPct val="106000"/>
              </a:lnSpc>
              <a:buNone/>
            </a:pPr>
            <a:r>
              <a:rPr lang="en-US" sz="850" b="1" dirty="0">
                <a:solidFill>
                  <a:srgbClr val="1F5673"/>
                </a:solidFill>
                <a:latin typeface="Courier New" pitchFamily="34" charset="0"/>
                <a:ea typeface="Courier New" pitchFamily="34" charset="-122"/>
                <a:cs typeface="Courier New" pitchFamily="34" charset="-120"/>
              </a:rPr>
              <a:t>TODAY</a:t>
            </a:r>
            <a:endParaRPr lang="en-US" sz="850" dirty="0"/>
          </a:p>
        </p:txBody>
      </p:sp>
      <p:sp>
        <p:nvSpPr>
          <p:cNvPr id="26" name="Text 24"/>
          <p:cNvSpPr/>
          <p:nvPr/>
        </p:nvSpPr>
        <p:spPr>
          <a:xfrm>
            <a:off x="1481328" y="3931920"/>
            <a:ext cx="6858000" cy="585216"/>
          </a:xfrm>
          <a:prstGeom prst="rect">
            <a:avLst/>
          </a:prstGeom>
          <a:noFill/>
          <a:ln/>
        </p:spPr>
        <p:txBody>
          <a:bodyPr wrap="square" lIns="0" tIns="0" rIns="0" bIns="0" rtlCol="0" anchor="ctr"/>
          <a:lstStyle/>
          <a:p>
            <a:pPr algn="l" indent="0" marL="0">
              <a:lnSpc>
                <a:spcPct val="104000"/>
              </a:lnSpc>
              <a:buNone/>
            </a:pPr>
            <a:r>
              <a:rPr lang="en-US" sz="1200" dirty="0">
                <a:solidFill>
                  <a:srgbClr val="14171A"/>
                </a:solidFill>
                <a:latin typeface="Calibri" pitchFamily="34" charset="0"/>
                <a:ea typeface="Calibri" pitchFamily="34" charset="-122"/>
                <a:cs typeface="Calibri" pitchFamily="34" charset="-120"/>
              </a:rPr>
              <a:t>By the end you should be able to state the strongest version of a position you do not hold, well enough that somebody who holds it would say you got it right.</a:t>
            </a:r>
            <a:endParaRPr lang="en-US" sz="1200" dirty="0"/>
          </a:p>
        </p:txBody>
      </p:sp>
      <p:sp>
        <p:nvSpPr>
          <p:cNvPr id="28" name="Text 25"/>
          <p:cNvSpPr/>
          <p:nvPr/>
        </p:nvSpPr>
        <p:spPr>
          <a:xfrm>
            <a:off x="548640" y="4668012"/>
            <a:ext cx="8046720" cy="256032"/>
          </a:xfrm>
          <a:prstGeom prst="rect">
            <a:avLst/>
          </a:prstGeom>
          <a:noFill/>
          <a:ln/>
        </p:spPr>
        <p:txBody>
          <a:bodyPr wrap="square" lIns="0" tIns="0" rIns="0" bIns="0" rtlCol="0" anchor="ctr"/>
          <a:lstStyle/>
          <a:p>
            <a:pPr indent="0" marL="0">
              <a:buNone/>
            </a:pPr>
            <a:r>
              <a:rPr lang="en-US" sz="800" spc="100" kern="0" dirty="0">
                <a:solidFill>
                  <a:srgbClr val="5C6873"/>
                </a:solidFill>
                <a:latin typeface="Courier New" pitchFamily="34" charset="0"/>
                <a:ea typeface="Courier New" pitchFamily="34" charset="-122"/>
                <a:cs typeface="Courier New" pitchFamily="34" charset="-120"/>
              </a:rPr>
              <a:t>BECURRENT  ·  SOCIAL MEDIA  ·  TOPIC 6</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2ED"/>
        </a:solidFill>
      </p:bgPr>
    </p:bg>
    <p:spTree>
      <p:nvGrpSpPr>
        <p:cNvPr id="1" name=""/>
        <p:cNvGrpSpPr/>
        <p:nvPr/>
      </p:nvGrpSpPr>
      <p:grpSpPr>
        <a:xfrm>
          <a:off x="0" y="0"/>
          <a:ext cx="0" cy="0"/>
          <a:chOff x="0" y="0"/>
          <a:chExt cx="0" cy="0"/>
        </a:xfrm>
      </p:grpSpPr>
      <p:sp>
        <p:nvSpPr>
          <p:cNvPr id="2" name="Text 0"/>
          <p:cNvSpPr/>
          <p:nvPr/>
        </p:nvSpPr>
        <p:spPr>
          <a:xfrm>
            <a:off x="548640" y="365760"/>
            <a:ext cx="8046720" cy="237744"/>
          </a:xfrm>
          <a:prstGeom prst="rect">
            <a:avLst/>
          </a:prstGeom>
          <a:noFill/>
          <a:ln/>
        </p:spPr>
        <p:txBody>
          <a:bodyPr wrap="square" lIns="0" tIns="0" rIns="0" bIns="0" rtlCol="0" anchor="ctr"/>
          <a:lstStyle/>
          <a:p>
            <a:pPr indent="0" marL="0">
              <a:buNone/>
            </a:pPr>
            <a:r>
              <a:rPr lang="en-US" sz="1000" b="1" spc="140" kern="0" dirty="0">
                <a:solidFill>
                  <a:srgbClr val="B22222"/>
                </a:solidFill>
                <a:latin typeface="Courier New" pitchFamily="34" charset="0"/>
                <a:ea typeface="Courier New" pitchFamily="34" charset="-122"/>
                <a:cs typeface="Courier New" pitchFamily="34" charset="-120"/>
              </a:rPr>
              <a:t>THE QUESTION</a:t>
            </a:r>
            <a:endParaRPr lang="en-US" sz="1000" dirty="0"/>
          </a:p>
        </p:txBody>
      </p:sp>
      <p:sp>
        <p:nvSpPr>
          <p:cNvPr id="3" name="Text 1"/>
          <p:cNvSpPr/>
          <p:nvPr/>
        </p:nvSpPr>
        <p:spPr>
          <a:xfrm>
            <a:off x="548640" y="694944"/>
            <a:ext cx="7863840" cy="1234440"/>
          </a:xfrm>
          <a:prstGeom prst="rect">
            <a:avLst/>
          </a:prstGeom>
          <a:noFill/>
          <a:ln/>
        </p:spPr>
        <p:txBody>
          <a:bodyPr wrap="square" lIns="0" tIns="0" rIns="0" bIns="0" rtlCol="0" anchor="t"/>
          <a:lstStyle/>
          <a:p>
            <a:pPr algn="l" indent="0" marL="0">
              <a:lnSpc>
                <a:spcPct val="106000"/>
              </a:lnSpc>
              <a:buNone/>
            </a:pPr>
            <a:r>
              <a:rPr lang="en-US" sz="2500" b="1" dirty="0">
                <a:solidFill>
                  <a:srgbClr val="14171A"/>
                </a:solidFill>
                <a:latin typeface="Cambria" pitchFamily="34" charset="0"/>
                <a:ea typeface="Cambria" pitchFamily="34" charset="-122"/>
                <a:cs typeface="Cambria" pitchFamily="34" charset="-120"/>
              </a:rPr>
              <a:t>Who should get to decide what a platform is allowed to do to your attention: you, the company, or the government?</a:t>
            </a:r>
            <a:endParaRPr lang="en-US" sz="2500" dirty="0"/>
          </a:p>
        </p:txBody>
      </p:sp>
      <p:sp>
        <p:nvSpPr>
          <p:cNvPr id="4" name="Shape 2"/>
          <p:cNvSpPr/>
          <p:nvPr/>
        </p:nvSpPr>
        <p:spPr>
          <a:xfrm>
            <a:off x="548640" y="2157984"/>
            <a:ext cx="2560320" cy="1371600"/>
          </a:xfrm>
          <a:prstGeom prst="roundRect">
            <a:avLst>
              <a:gd name="adj" fmla="val 4000"/>
            </a:avLst>
          </a:prstGeom>
          <a:solidFill>
            <a:srgbClr val="FFFEFB"/>
          </a:solidFill>
          <a:ln w="9525">
            <a:solidFill>
              <a:srgbClr val="D9D6CF"/>
            </a:solidFill>
            <a:prstDash val="solid"/>
          </a:ln>
          <a:effectLst>
            <a:outerShdw sx="100000" sy="100000" kx="0" ky="0" algn="bl" rotWithShape="0" blurRad="88900" dist="12700" dir="5400000">
              <a:srgbClr val="9A968A">
                <a:alpha val="20000"/>
              </a:srgbClr>
            </a:outerShdw>
          </a:effectLst>
        </p:spPr>
      </p:sp>
      <p:sp>
        <p:nvSpPr>
          <p:cNvPr id="5" name="Shape 3"/>
          <p:cNvSpPr/>
          <p:nvPr/>
        </p:nvSpPr>
        <p:spPr>
          <a:xfrm>
            <a:off x="768096" y="2359152"/>
            <a:ext cx="347472" cy="347472"/>
          </a:xfrm>
          <a:prstGeom prst="ellipse">
            <a:avLst/>
          </a:prstGeom>
          <a:solidFill>
            <a:srgbClr val="B22222"/>
          </a:solidFill>
          <a:ln w="12700">
            <a:solidFill>
              <a:srgbClr val="B22222"/>
            </a:solidFill>
            <a:prstDash val="solid"/>
          </a:ln>
        </p:spPr>
      </p:sp>
      <p:sp>
        <p:nvSpPr>
          <p:cNvPr id="6" name="Text 4"/>
          <p:cNvSpPr/>
          <p:nvPr/>
        </p:nvSpPr>
        <p:spPr>
          <a:xfrm>
            <a:off x="768096" y="2359152"/>
            <a:ext cx="347472" cy="347472"/>
          </a:xfrm>
          <a:prstGeom prst="rect">
            <a:avLst/>
          </a:prstGeom>
          <a:noFill/>
          <a:ln/>
        </p:spPr>
        <p:txBody>
          <a:bodyPr wrap="square" lIns="0" tIns="0" rIns="0" bIns="0" rtlCol="0" anchor="ctr"/>
          <a:lstStyle/>
          <a:p>
            <a:pPr algn="ctr" indent="0" marL="0">
              <a:buNone/>
            </a:pPr>
            <a:r>
              <a:rPr lang="en-US" sz="1050" b="1" dirty="0">
                <a:solidFill>
                  <a:srgbClr val="FFFEFB"/>
                </a:solidFill>
                <a:latin typeface="Courier New" pitchFamily="34" charset="0"/>
                <a:ea typeface="Courier New" pitchFamily="34" charset="-122"/>
                <a:cs typeface="Courier New" pitchFamily="34" charset="-120"/>
              </a:rPr>
              <a:t>1</a:t>
            </a:r>
            <a:endParaRPr lang="en-US" sz="1050" dirty="0"/>
          </a:p>
        </p:txBody>
      </p:sp>
      <p:sp>
        <p:nvSpPr>
          <p:cNvPr id="7" name="Text 5"/>
          <p:cNvSpPr/>
          <p:nvPr/>
        </p:nvSpPr>
        <p:spPr>
          <a:xfrm>
            <a:off x="768096" y="2798064"/>
            <a:ext cx="2121408" cy="274320"/>
          </a:xfrm>
          <a:prstGeom prst="rect">
            <a:avLst/>
          </a:prstGeom>
          <a:noFill/>
          <a:ln/>
        </p:spPr>
        <p:txBody>
          <a:bodyPr wrap="square" lIns="0" tIns="0" rIns="0" bIns="0" rtlCol="0" anchor="t"/>
          <a:lstStyle/>
          <a:p>
            <a:pPr algn="l" indent="0" marL="0">
              <a:lnSpc>
                <a:spcPct val="106000"/>
              </a:lnSpc>
              <a:buNone/>
            </a:pPr>
            <a:r>
              <a:rPr lang="en-US" sz="1600" b="1" dirty="0">
                <a:solidFill>
                  <a:srgbClr val="14171A"/>
                </a:solidFill>
                <a:latin typeface="Cambria" pitchFamily="34" charset="0"/>
                <a:ea typeface="Cambria" pitchFamily="34" charset="-122"/>
                <a:cs typeface="Cambria" pitchFamily="34" charset="-120"/>
              </a:rPr>
              <a:t>You</a:t>
            </a:r>
            <a:endParaRPr lang="en-US" sz="1600" dirty="0"/>
          </a:p>
        </p:txBody>
      </p:sp>
      <p:sp>
        <p:nvSpPr>
          <p:cNvPr id="8" name="Text 6"/>
          <p:cNvSpPr/>
          <p:nvPr/>
        </p:nvSpPr>
        <p:spPr>
          <a:xfrm>
            <a:off x="768096" y="3108960"/>
            <a:ext cx="2121408" cy="274320"/>
          </a:xfrm>
          <a:prstGeom prst="rect">
            <a:avLst/>
          </a:prstGeom>
          <a:noFill/>
          <a:ln/>
        </p:spPr>
        <p:txBody>
          <a:bodyPr wrap="square" lIns="0" tIns="0" rIns="0" bIns="0" rtlCol="0" anchor="t"/>
          <a:lstStyle/>
          <a:p>
            <a:pPr algn="l" indent="0" marL="0">
              <a:lnSpc>
                <a:spcPct val="106000"/>
              </a:lnSpc>
              <a:buNone/>
            </a:pPr>
            <a:r>
              <a:rPr lang="en-US" sz="1250" dirty="0">
                <a:solidFill>
                  <a:srgbClr val="3C444C"/>
                </a:solidFill>
                <a:latin typeface="Calibri" pitchFamily="34" charset="0"/>
                <a:ea typeface="Calibri" pitchFamily="34" charset="-122"/>
                <a:cs typeface="Calibri" pitchFamily="34" charset="-120"/>
              </a:rPr>
              <a:t>It is your attention.</a:t>
            </a:r>
            <a:endParaRPr lang="en-US" sz="1250" dirty="0"/>
          </a:p>
        </p:txBody>
      </p:sp>
      <p:sp>
        <p:nvSpPr>
          <p:cNvPr id="9" name="Shape 7"/>
          <p:cNvSpPr/>
          <p:nvPr/>
        </p:nvSpPr>
        <p:spPr>
          <a:xfrm>
            <a:off x="3291840" y="2157984"/>
            <a:ext cx="2560320" cy="1371600"/>
          </a:xfrm>
          <a:prstGeom prst="roundRect">
            <a:avLst>
              <a:gd name="adj" fmla="val 4000"/>
            </a:avLst>
          </a:prstGeom>
          <a:solidFill>
            <a:srgbClr val="FFFEFB"/>
          </a:solidFill>
          <a:ln w="9525">
            <a:solidFill>
              <a:srgbClr val="D9D6CF"/>
            </a:solidFill>
            <a:prstDash val="solid"/>
          </a:ln>
          <a:effectLst>
            <a:outerShdw sx="100000" sy="100000" kx="0" ky="0" algn="bl" rotWithShape="0" blurRad="88900" dist="12700" dir="5400000">
              <a:srgbClr val="9A968A">
                <a:alpha val="20000"/>
              </a:srgbClr>
            </a:outerShdw>
          </a:effectLst>
        </p:spPr>
      </p:sp>
      <p:sp>
        <p:nvSpPr>
          <p:cNvPr id="10" name="Shape 8"/>
          <p:cNvSpPr/>
          <p:nvPr/>
        </p:nvSpPr>
        <p:spPr>
          <a:xfrm>
            <a:off x="3511296" y="2359152"/>
            <a:ext cx="347472" cy="347472"/>
          </a:xfrm>
          <a:prstGeom prst="ellipse">
            <a:avLst/>
          </a:prstGeom>
          <a:solidFill>
            <a:srgbClr val="B22222"/>
          </a:solidFill>
          <a:ln w="12700">
            <a:solidFill>
              <a:srgbClr val="B22222"/>
            </a:solidFill>
            <a:prstDash val="solid"/>
          </a:ln>
        </p:spPr>
      </p:sp>
      <p:sp>
        <p:nvSpPr>
          <p:cNvPr id="11" name="Text 9"/>
          <p:cNvSpPr/>
          <p:nvPr/>
        </p:nvSpPr>
        <p:spPr>
          <a:xfrm>
            <a:off x="3511296" y="2359152"/>
            <a:ext cx="347472" cy="347472"/>
          </a:xfrm>
          <a:prstGeom prst="rect">
            <a:avLst/>
          </a:prstGeom>
          <a:noFill/>
          <a:ln/>
        </p:spPr>
        <p:txBody>
          <a:bodyPr wrap="square" lIns="0" tIns="0" rIns="0" bIns="0" rtlCol="0" anchor="ctr"/>
          <a:lstStyle/>
          <a:p>
            <a:pPr algn="ctr" indent="0" marL="0">
              <a:buNone/>
            </a:pPr>
            <a:r>
              <a:rPr lang="en-US" sz="1050" b="1" dirty="0">
                <a:solidFill>
                  <a:srgbClr val="FFFEFB"/>
                </a:solidFill>
                <a:latin typeface="Courier New" pitchFamily="34" charset="0"/>
                <a:ea typeface="Courier New" pitchFamily="34" charset="-122"/>
                <a:cs typeface="Courier New" pitchFamily="34" charset="-120"/>
              </a:rPr>
              <a:t>2</a:t>
            </a:r>
            <a:endParaRPr lang="en-US" sz="1050" dirty="0"/>
          </a:p>
        </p:txBody>
      </p:sp>
      <p:sp>
        <p:nvSpPr>
          <p:cNvPr id="12" name="Text 10"/>
          <p:cNvSpPr/>
          <p:nvPr/>
        </p:nvSpPr>
        <p:spPr>
          <a:xfrm>
            <a:off x="3511296" y="2798064"/>
            <a:ext cx="2121408" cy="274320"/>
          </a:xfrm>
          <a:prstGeom prst="rect">
            <a:avLst/>
          </a:prstGeom>
          <a:noFill/>
          <a:ln/>
        </p:spPr>
        <p:txBody>
          <a:bodyPr wrap="square" lIns="0" tIns="0" rIns="0" bIns="0" rtlCol="0" anchor="t"/>
          <a:lstStyle/>
          <a:p>
            <a:pPr algn="l" indent="0" marL="0">
              <a:lnSpc>
                <a:spcPct val="106000"/>
              </a:lnSpc>
              <a:buNone/>
            </a:pPr>
            <a:r>
              <a:rPr lang="en-US" sz="1600" b="1" dirty="0">
                <a:solidFill>
                  <a:srgbClr val="14171A"/>
                </a:solidFill>
                <a:latin typeface="Cambria" pitchFamily="34" charset="0"/>
                <a:ea typeface="Cambria" pitchFamily="34" charset="-122"/>
                <a:cs typeface="Cambria" pitchFamily="34" charset="-120"/>
              </a:rPr>
              <a:t>The company</a:t>
            </a:r>
            <a:endParaRPr lang="en-US" sz="1600" dirty="0"/>
          </a:p>
        </p:txBody>
      </p:sp>
      <p:sp>
        <p:nvSpPr>
          <p:cNvPr id="13" name="Text 11"/>
          <p:cNvSpPr/>
          <p:nvPr/>
        </p:nvSpPr>
        <p:spPr>
          <a:xfrm>
            <a:off x="3511296" y="3108960"/>
            <a:ext cx="2121408" cy="274320"/>
          </a:xfrm>
          <a:prstGeom prst="rect">
            <a:avLst/>
          </a:prstGeom>
          <a:noFill/>
          <a:ln/>
        </p:spPr>
        <p:txBody>
          <a:bodyPr wrap="square" lIns="0" tIns="0" rIns="0" bIns="0" rtlCol="0" anchor="t"/>
          <a:lstStyle/>
          <a:p>
            <a:pPr algn="l" indent="0" marL="0">
              <a:lnSpc>
                <a:spcPct val="106000"/>
              </a:lnSpc>
              <a:buNone/>
            </a:pPr>
            <a:r>
              <a:rPr lang="en-US" sz="1250" dirty="0">
                <a:solidFill>
                  <a:srgbClr val="3C444C"/>
                </a:solidFill>
                <a:latin typeface="Calibri" pitchFamily="34" charset="0"/>
                <a:ea typeface="Calibri" pitchFamily="34" charset="-122"/>
                <a:cs typeface="Calibri" pitchFamily="34" charset="-120"/>
              </a:rPr>
              <a:t>They built it.</a:t>
            </a:r>
            <a:endParaRPr lang="en-US" sz="1250" dirty="0"/>
          </a:p>
        </p:txBody>
      </p:sp>
      <p:sp>
        <p:nvSpPr>
          <p:cNvPr id="14" name="Shape 12"/>
          <p:cNvSpPr/>
          <p:nvPr/>
        </p:nvSpPr>
        <p:spPr>
          <a:xfrm>
            <a:off x="6035040" y="2157984"/>
            <a:ext cx="2560320" cy="1371600"/>
          </a:xfrm>
          <a:prstGeom prst="roundRect">
            <a:avLst>
              <a:gd name="adj" fmla="val 4000"/>
            </a:avLst>
          </a:prstGeom>
          <a:solidFill>
            <a:srgbClr val="FFFEFB"/>
          </a:solidFill>
          <a:ln w="9525">
            <a:solidFill>
              <a:srgbClr val="D9D6CF"/>
            </a:solidFill>
            <a:prstDash val="solid"/>
          </a:ln>
          <a:effectLst>
            <a:outerShdw sx="100000" sy="100000" kx="0" ky="0" algn="bl" rotWithShape="0" blurRad="88900" dist="12700" dir="5400000">
              <a:srgbClr val="9A968A">
                <a:alpha val="20000"/>
              </a:srgbClr>
            </a:outerShdw>
          </a:effectLst>
        </p:spPr>
      </p:sp>
      <p:sp>
        <p:nvSpPr>
          <p:cNvPr id="15" name="Shape 13"/>
          <p:cNvSpPr/>
          <p:nvPr/>
        </p:nvSpPr>
        <p:spPr>
          <a:xfrm>
            <a:off x="6254496" y="2359152"/>
            <a:ext cx="347472" cy="347472"/>
          </a:xfrm>
          <a:prstGeom prst="ellipse">
            <a:avLst/>
          </a:prstGeom>
          <a:solidFill>
            <a:srgbClr val="B22222"/>
          </a:solidFill>
          <a:ln w="12700">
            <a:solidFill>
              <a:srgbClr val="B22222"/>
            </a:solidFill>
            <a:prstDash val="solid"/>
          </a:ln>
        </p:spPr>
      </p:sp>
      <p:sp>
        <p:nvSpPr>
          <p:cNvPr id="16" name="Text 14"/>
          <p:cNvSpPr/>
          <p:nvPr/>
        </p:nvSpPr>
        <p:spPr>
          <a:xfrm>
            <a:off x="6254496" y="2359152"/>
            <a:ext cx="347472" cy="347472"/>
          </a:xfrm>
          <a:prstGeom prst="rect">
            <a:avLst/>
          </a:prstGeom>
          <a:noFill/>
          <a:ln/>
        </p:spPr>
        <p:txBody>
          <a:bodyPr wrap="square" lIns="0" tIns="0" rIns="0" bIns="0" rtlCol="0" anchor="ctr"/>
          <a:lstStyle/>
          <a:p>
            <a:pPr algn="ctr" indent="0" marL="0">
              <a:buNone/>
            </a:pPr>
            <a:r>
              <a:rPr lang="en-US" sz="1050" b="1" dirty="0">
                <a:solidFill>
                  <a:srgbClr val="FFFEFB"/>
                </a:solidFill>
                <a:latin typeface="Courier New" pitchFamily="34" charset="0"/>
                <a:ea typeface="Courier New" pitchFamily="34" charset="-122"/>
                <a:cs typeface="Courier New" pitchFamily="34" charset="-120"/>
              </a:rPr>
              <a:t>3</a:t>
            </a:r>
            <a:endParaRPr lang="en-US" sz="1050" dirty="0"/>
          </a:p>
        </p:txBody>
      </p:sp>
      <p:sp>
        <p:nvSpPr>
          <p:cNvPr id="17" name="Text 15"/>
          <p:cNvSpPr/>
          <p:nvPr/>
        </p:nvSpPr>
        <p:spPr>
          <a:xfrm>
            <a:off x="6254496" y="2798064"/>
            <a:ext cx="2121408" cy="274320"/>
          </a:xfrm>
          <a:prstGeom prst="rect">
            <a:avLst/>
          </a:prstGeom>
          <a:noFill/>
          <a:ln/>
        </p:spPr>
        <p:txBody>
          <a:bodyPr wrap="square" lIns="0" tIns="0" rIns="0" bIns="0" rtlCol="0" anchor="t"/>
          <a:lstStyle/>
          <a:p>
            <a:pPr algn="l" indent="0" marL="0">
              <a:lnSpc>
                <a:spcPct val="106000"/>
              </a:lnSpc>
              <a:buNone/>
            </a:pPr>
            <a:r>
              <a:rPr lang="en-US" sz="1600" b="1" dirty="0">
                <a:solidFill>
                  <a:srgbClr val="14171A"/>
                </a:solidFill>
                <a:latin typeface="Cambria" pitchFamily="34" charset="0"/>
                <a:ea typeface="Cambria" pitchFamily="34" charset="-122"/>
                <a:cs typeface="Cambria" pitchFamily="34" charset="-120"/>
              </a:rPr>
              <a:t>The government</a:t>
            </a:r>
            <a:endParaRPr lang="en-US" sz="1600" dirty="0"/>
          </a:p>
        </p:txBody>
      </p:sp>
      <p:sp>
        <p:nvSpPr>
          <p:cNvPr id="18" name="Text 16"/>
          <p:cNvSpPr/>
          <p:nvPr/>
        </p:nvSpPr>
        <p:spPr>
          <a:xfrm>
            <a:off x="6254496" y="3108960"/>
            <a:ext cx="2121408" cy="274320"/>
          </a:xfrm>
          <a:prstGeom prst="rect">
            <a:avLst/>
          </a:prstGeom>
          <a:noFill/>
          <a:ln/>
        </p:spPr>
        <p:txBody>
          <a:bodyPr wrap="square" lIns="0" tIns="0" rIns="0" bIns="0" rtlCol="0" anchor="t"/>
          <a:lstStyle/>
          <a:p>
            <a:pPr algn="l" indent="0" marL="0">
              <a:lnSpc>
                <a:spcPct val="106000"/>
              </a:lnSpc>
              <a:buNone/>
            </a:pPr>
            <a:r>
              <a:rPr lang="en-US" sz="1250" dirty="0">
                <a:solidFill>
                  <a:srgbClr val="3C444C"/>
                </a:solidFill>
                <a:latin typeface="Calibri" pitchFamily="34" charset="0"/>
                <a:ea typeface="Calibri" pitchFamily="34" charset="-122"/>
                <a:cs typeface="Calibri" pitchFamily="34" charset="-120"/>
              </a:rPr>
              <a:t>We already do this.</a:t>
            </a:r>
            <a:endParaRPr lang="en-US" sz="1250" dirty="0"/>
          </a:p>
        </p:txBody>
      </p:sp>
      <p:sp>
        <p:nvSpPr>
          <p:cNvPr id="19" name="Text 17"/>
          <p:cNvSpPr/>
          <p:nvPr/>
        </p:nvSpPr>
        <p:spPr>
          <a:xfrm>
            <a:off x="548640" y="3785616"/>
            <a:ext cx="8046720" cy="310896"/>
          </a:xfrm>
          <a:prstGeom prst="rect">
            <a:avLst/>
          </a:prstGeom>
          <a:noFill/>
          <a:ln/>
        </p:spPr>
        <p:txBody>
          <a:bodyPr wrap="square" lIns="0" tIns="0" rIns="0" bIns="0" rtlCol="0" anchor="t"/>
          <a:lstStyle/>
          <a:p>
            <a:pPr algn="l" indent="0" marL="0">
              <a:lnSpc>
                <a:spcPct val="106000"/>
              </a:lnSpc>
              <a:buNone/>
            </a:pPr>
            <a:r>
              <a:rPr lang="en-US" sz="1800" b="1" dirty="0">
                <a:solidFill>
                  <a:srgbClr val="14171A"/>
                </a:solidFill>
                <a:latin typeface="Cambria" pitchFamily="34" charset="0"/>
                <a:ea typeface="Cambria" pitchFamily="34" charset="-122"/>
                <a:cs typeface="Cambria" pitchFamily="34" charset="-120"/>
              </a:rPr>
              <a:t>You will not be graded on which one you pick.</a:t>
            </a:r>
            <a:endParaRPr lang="en-US" sz="1800" dirty="0"/>
          </a:p>
        </p:txBody>
      </p:sp>
      <p:sp>
        <p:nvSpPr>
          <p:cNvPr id="20" name="Text 18"/>
          <p:cNvSpPr/>
          <p:nvPr/>
        </p:nvSpPr>
        <p:spPr>
          <a:xfrm>
            <a:off x="548640" y="4151376"/>
            <a:ext cx="8046720" cy="310896"/>
          </a:xfrm>
          <a:prstGeom prst="rect">
            <a:avLst/>
          </a:prstGeom>
          <a:noFill/>
          <a:ln/>
        </p:spPr>
        <p:txBody>
          <a:bodyPr wrap="square" lIns="0" tIns="0" rIns="0" bIns="0" rtlCol="0" anchor="t"/>
          <a:lstStyle/>
          <a:p>
            <a:pPr algn="l" indent="0" marL="0">
              <a:lnSpc>
                <a:spcPct val="106000"/>
              </a:lnSpc>
              <a:buNone/>
            </a:pPr>
            <a:r>
              <a:rPr lang="en-US" sz="1350" dirty="0">
                <a:solidFill>
                  <a:srgbClr val="3C444C"/>
                </a:solidFill>
                <a:latin typeface="Calibri" pitchFamily="34" charset="0"/>
                <a:ea typeface="Calibri" pitchFamily="34" charset="-122"/>
                <a:cs typeface="Calibri" pitchFamily="34" charset="-120"/>
              </a:rPr>
              <a:t>You will be graded on whether you can state the strongest version of the one you did not pick.</a:t>
            </a:r>
            <a:endParaRPr lang="en-US" sz="1350" dirty="0"/>
          </a:p>
        </p:txBody>
      </p:sp>
      <p:sp>
        <p:nvSpPr>
          <p:cNvPr id="22" name="Text 19"/>
          <p:cNvSpPr/>
          <p:nvPr/>
        </p:nvSpPr>
        <p:spPr>
          <a:xfrm>
            <a:off x="548640" y="4668012"/>
            <a:ext cx="8046720" cy="256032"/>
          </a:xfrm>
          <a:prstGeom prst="rect">
            <a:avLst/>
          </a:prstGeom>
          <a:noFill/>
          <a:ln/>
        </p:spPr>
        <p:txBody>
          <a:bodyPr wrap="square" lIns="0" tIns="0" rIns="0" bIns="0" rtlCol="0" anchor="ctr"/>
          <a:lstStyle/>
          <a:p>
            <a:pPr indent="0" marL="0">
              <a:buNone/>
            </a:pPr>
            <a:r>
              <a:rPr lang="en-US" sz="800" spc="100" kern="0" dirty="0">
                <a:solidFill>
                  <a:srgbClr val="5C6873"/>
                </a:solidFill>
                <a:latin typeface="Courier New" pitchFamily="34" charset="0"/>
                <a:ea typeface="Courier New" pitchFamily="34" charset="-122"/>
                <a:cs typeface="Courier New" pitchFamily="34" charset="-120"/>
              </a:rPr>
              <a:t>BECURRENT  ·  SOCIAL MEDIA  ·  TOPIC 6</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2ED"/>
        </a:solidFill>
      </p:bgPr>
    </p:bg>
    <p:spTree>
      <p:nvGrpSpPr>
        <p:cNvPr id="1" name=""/>
        <p:cNvGrpSpPr/>
        <p:nvPr/>
      </p:nvGrpSpPr>
      <p:grpSpPr>
        <a:xfrm>
          <a:off x="0" y="0"/>
          <a:ext cx="0" cy="0"/>
          <a:chOff x="0" y="0"/>
          <a:chExt cx="0" cy="0"/>
        </a:xfrm>
      </p:grpSpPr>
      <p:sp>
        <p:nvSpPr>
          <p:cNvPr id="2" name="Text 0"/>
          <p:cNvSpPr/>
          <p:nvPr/>
        </p:nvSpPr>
        <p:spPr>
          <a:xfrm>
            <a:off x="548640" y="365760"/>
            <a:ext cx="8046720" cy="237744"/>
          </a:xfrm>
          <a:prstGeom prst="rect">
            <a:avLst/>
          </a:prstGeom>
          <a:noFill/>
          <a:ln/>
        </p:spPr>
        <p:txBody>
          <a:bodyPr wrap="square" lIns="0" tIns="0" rIns="0" bIns="0" rtlCol="0" anchor="ctr"/>
          <a:lstStyle/>
          <a:p>
            <a:pPr indent="0" marL="0">
              <a:buNone/>
            </a:pPr>
            <a:r>
              <a:rPr lang="en-US" sz="1000" b="1" spc="140" kern="0" dirty="0">
                <a:solidFill>
                  <a:srgbClr val="B22222"/>
                </a:solidFill>
                <a:latin typeface="Courier New" pitchFamily="34" charset="0"/>
                <a:ea typeface="Courier New" pitchFamily="34" charset="-122"/>
                <a:cs typeface="Courier New" pitchFamily="34" charset="-120"/>
              </a:rPr>
              <a:t>GROUND RULE</a:t>
            </a:r>
            <a:endParaRPr lang="en-US" sz="1000" dirty="0"/>
          </a:p>
        </p:txBody>
      </p:sp>
      <p:sp>
        <p:nvSpPr>
          <p:cNvPr id="3" name="Text 1"/>
          <p:cNvSpPr/>
          <p:nvPr/>
        </p:nvSpPr>
        <p:spPr>
          <a:xfrm>
            <a:off x="548640" y="713232"/>
            <a:ext cx="8046720" cy="731520"/>
          </a:xfrm>
          <a:prstGeom prst="rect">
            <a:avLst/>
          </a:prstGeom>
          <a:noFill/>
          <a:ln/>
        </p:spPr>
        <p:txBody>
          <a:bodyPr wrap="square" lIns="0" tIns="0" rIns="0" bIns="0" rtlCol="0" anchor="t"/>
          <a:lstStyle/>
          <a:p>
            <a:pPr indent="0" marL="0">
              <a:lnSpc>
                <a:spcPct val="92000"/>
              </a:lnSpc>
              <a:buNone/>
            </a:pPr>
            <a:r>
              <a:rPr lang="en-US" sz="3000" b="1" dirty="0">
                <a:solidFill>
                  <a:srgbClr val="14171A"/>
                </a:solidFill>
                <a:latin typeface="Cambria" pitchFamily="34" charset="0"/>
                <a:ea typeface="Cambria" pitchFamily="34" charset="-122"/>
                <a:cs typeface="Cambria" pitchFamily="34" charset="-120"/>
              </a:rPr>
              <a:t>Nobody in this argument is stupid</a:t>
            </a:r>
            <a:endParaRPr lang="en-US" sz="3000" dirty="0"/>
          </a:p>
        </p:txBody>
      </p:sp>
      <p:sp>
        <p:nvSpPr>
          <p:cNvPr id="4" name="Text 2"/>
          <p:cNvSpPr/>
          <p:nvPr/>
        </p:nvSpPr>
        <p:spPr>
          <a:xfrm>
            <a:off x="548640" y="1627632"/>
            <a:ext cx="4023360" cy="914400"/>
          </a:xfrm>
          <a:prstGeom prst="rect">
            <a:avLst/>
          </a:prstGeom>
          <a:noFill/>
          <a:ln/>
        </p:spPr>
        <p:txBody>
          <a:bodyPr wrap="square" lIns="0" tIns="0" rIns="0" bIns="0" rtlCol="0" anchor="t"/>
          <a:lstStyle/>
          <a:p>
            <a:pPr algn="l" indent="0" marL="0">
              <a:lnSpc>
                <a:spcPct val="120000"/>
              </a:lnSpc>
              <a:buNone/>
            </a:pPr>
            <a:r>
              <a:rPr lang="en-US" sz="1500" dirty="0">
                <a:solidFill>
                  <a:srgbClr val="14171A"/>
                </a:solidFill>
                <a:latin typeface="Calibri" pitchFamily="34" charset="0"/>
                <a:ea typeface="Calibri" pitchFamily="34" charset="-122"/>
                <a:cs typeface="Calibri" pitchFamily="34" charset="-120"/>
              </a:rPr>
              <a:t>Every one of these three positions is held by serious people who have thought about it more than we have.</a:t>
            </a:r>
            <a:endParaRPr lang="en-US" sz="1500" dirty="0"/>
          </a:p>
        </p:txBody>
      </p:sp>
      <p:sp>
        <p:nvSpPr>
          <p:cNvPr id="5" name="Shape 3"/>
          <p:cNvSpPr/>
          <p:nvPr/>
        </p:nvSpPr>
        <p:spPr>
          <a:xfrm>
            <a:off x="4846320" y="1554480"/>
            <a:ext cx="3749040" cy="1737360"/>
          </a:xfrm>
          <a:prstGeom prst="roundRect">
            <a:avLst>
              <a:gd name="adj" fmla="val 3158"/>
            </a:avLst>
          </a:prstGeom>
          <a:solidFill>
            <a:srgbClr val="F2E1E1"/>
          </a:solidFill>
          <a:ln w="9525">
            <a:solidFill>
              <a:srgbClr val="F2E1E1"/>
            </a:solidFill>
            <a:prstDash val="solid"/>
          </a:ln>
          <a:effectLst>
            <a:outerShdw sx="100000" sy="100000" kx="0" ky="0" algn="bl" rotWithShape="0" blurRad="88900" dist="12700" dir="5400000">
              <a:srgbClr val="9A968A">
                <a:alpha val="20000"/>
              </a:srgbClr>
            </a:outerShdw>
          </a:effectLst>
        </p:spPr>
      </p:sp>
      <p:sp>
        <p:nvSpPr>
          <p:cNvPr id="6" name="Text 4"/>
          <p:cNvSpPr/>
          <p:nvPr/>
        </p:nvSpPr>
        <p:spPr>
          <a:xfrm>
            <a:off x="5102352" y="1773936"/>
            <a:ext cx="3236976" cy="219456"/>
          </a:xfrm>
          <a:prstGeom prst="rect">
            <a:avLst/>
          </a:prstGeom>
          <a:noFill/>
          <a:ln/>
        </p:spPr>
        <p:txBody>
          <a:bodyPr wrap="square" lIns="0" tIns="0" rIns="0" bIns="0" rtlCol="0" anchor="t"/>
          <a:lstStyle/>
          <a:p>
            <a:pPr algn="l" indent="0" marL="0">
              <a:lnSpc>
                <a:spcPct val="106000"/>
              </a:lnSpc>
              <a:buNone/>
            </a:pPr>
            <a:r>
              <a:rPr lang="en-US" sz="900" b="1" dirty="0">
                <a:solidFill>
                  <a:srgbClr val="8A1A1A"/>
                </a:solidFill>
                <a:latin typeface="Courier New" pitchFamily="34" charset="0"/>
                <a:ea typeface="Courier New" pitchFamily="34" charset="-122"/>
                <a:cs typeface="Courier New" pitchFamily="34" charset="-120"/>
              </a:rPr>
              <a:t>THE TRAP</a:t>
            </a:r>
            <a:endParaRPr lang="en-US" sz="900" dirty="0"/>
          </a:p>
        </p:txBody>
      </p:sp>
      <p:sp>
        <p:nvSpPr>
          <p:cNvPr id="7" name="Text 5"/>
          <p:cNvSpPr/>
          <p:nvPr/>
        </p:nvSpPr>
        <p:spPr>
          <a:xfrm>
            <a:off x="5102352" y="2066544"/>
            <a:ext cx="3236976" cy="1005840"/>
          </a:xfrm>
          <a:prstGeom prst="rect">
            <a:avLst/>
          </a:prstGeom>
          <a:noFill/>
          <a:ln/>
        </p:spPr>
        <p:txBody>
          <a:bodyPr wrap="square" lIns="0" tIns="0" rIns="0" bIns="0" rtlCol="0" anchor="t"/>
          <a:lstStyle/>
          <a:p>
            <a:pPr algn="l" indent="0" marL="0">
              <a:lnSpc>
                <a:spcPct val="118000"/>
              </a:lnSpc>
              <a:buNone/>
            </a:pPr>
            <a:r>
              <a:rPr lang="en-US" sz="1400" dirty="0">
                <a:solidFill>
                  <a:srgbClr val="14171A"/>
                </a:solidFill>
                <a:latin typeface="Calibri" pitchFamily="34" charset="0"/>
                <a:ea typeface="Calibri" pitchFamily="34" charset="-122"/>
                <a:cs typeface="Calibri" pitchFamily="34" charset="-120"/>
              </a:rPr>
              <a:t>If a position sounds obviously wrong to you, you are probably arguing against the weak version of it.</a:t>
            </a:r>
            <a:endParaRPr lang="en-US" sz="1400" dirty="0"/>
          </a:p>
        </p:txBody>
      </p:sp>
      <p:sp>
        <p:nvSpPr>
          <p:cNvPr id="8" name="Text 6"/>
          <p:cNvSpPr/>
          <p:nvPr/>
        </p:nvSpPr>
        <p:spPr>
          <a:xfrm>
            <a:off x="548640" y="3566160"/>
            <a:ext cx="8046720" cy="457200"/>
          </a:xfrm>
          <a:prstGeom prst="rect">
            <a:avLst/>
          </a:prstGeom>
          <a:noFill/>
          <a:ln/>
        </p:spPr>
        <p:txBody>
          <a:bodyPr wrap="square" lIns="0" tIns="0" rIns="0" bIns="0" rtlCol="0" anchor="t"/>
          <a:lstStyle/>
          <a:p>
            <a:pPr algn="l" indent="0" marL="0">
              <a:lnSpc>
                <a:spcPct val="114000"/>
              </a:lnSpc>
              <a:buNone/>
            </a:pPr>
            <a:r>
              <a:rPr lang="en-US" sz="1350" i="1" dirty="0">
                <a:solidFill>
                  <a:srgbClr val="3C444C"/>
                </a:solidFill>
                <a:latin typeface="Calibri" pitchFamily="34" charset="0"/>
                <a:ea typeface="Calibri" pitchFamily="34" charset="-122"/>
                <a:cs typeface="Calibri" pitchFamily="34" charset="-120"/>
              </a:rPr>
              <a:t>Beating the weak version of an argument teaches you nothing, and it is the easiest thing in the room to do by accident.</a:t>
            </a:r>
            <a:endParaRPr lang="en-US" sz="1350" dirty="0"/>
          </a:p>
        </p:txBody>
      </p:sp>
      <p:sp>
        <p:nvSpPr>
          <p:cNvPr id="10" name="Text 7"/>
          <p:cNvSpPr/>
          <p:nvPr/>
        </p:nvSpPr>
        <p:spPr>
          <a:xfrm>
            <a:off x="548640" y="4668012"/>
            <a:ext cx="8046720" cy="256032"/>
          </a:xfrm>
          <a:prstGeom prst="rect">
            <a:avLst/>
          </a:prstGeom>
          <a:noFill/>
          <a:ln/>
        </p:spPr>
        <p:txBody>
          <a:bodyPr wrap="square" lIns="0" tIns="0" rIns="0" bIns="0" rtlCol="0" anchor="ctr"/>
          <a:lstStyle/>
          <a:p>
            <a:pPr indent="0" marL="0">
              <a:buNone/>
            </a:pPr>
            <a:r>
              <a:rPr lang="en-US" sz="800" spc="100" kern="0" dirty="0">
                <a:solidFill>
                  <a:srgbClr val="5C6873"/>
                </a:solidFill>
                <a:latin typeface="Courier New" pitchFamily="34" charset="0"/>
                <a:ea typeface="Courier New" pitchFamily="34" charset="-122"/>
                <a:cs typeface="Courier New" pitchFamily="34" charset="-120"/>
              </a:rPr>
              <a:t>BECURRENT  ·  SOCIAL MEDIA  ·  TOPIC 6</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2ED"/>
        </a:solidFill>
      </p:bgPr>
    </p:bg>
    <p:spTree>
      <p:nvGrpSpPr>
        <p:cNvPr id="1" name=""/>
        <p:cNvGrpSpPr/>
        <p:nvPr/>
      </p:nvGrpSpPr>
      <p:grpSpPr>
        <a:xfrm>
          <a:off x="0" y="0"/>
          <a:ext cx="0" cy="0"/>
          <a:chOff x="0" y="0"/>
          <a:chExt cx="0" cy="0"/>
        </a:xfrm>
      </p:grpSpPr>
      <p:sp>
        <p:nvSpPr>
          <p:cNvPr id="2" name="Text 0"/>
          <p:cNvSpPr/>
          <p:nvPr/>
        </p:nvSpPr>
        <p:spPr>
          <a:xfrm>
            <a:off x="548640" y="365760"/>
            <a:ext cx="8046720" cy="237744"/>
          </a:xfrm>
          <a:prstGeom prst="rect">
            <a:avLst/>
          </a:prstGeom>
          <a:noFill/>
          <a:ln/>
        </p:spPr>
        <p:txBody>
          <a:bodyPr wrap="square" lIns="0" tIns="0" rIns="0" bIns="0" rtlCol="0" anchor="ctr"/>
          <a:lstStyle/>
          <a:p>
            <a:pPr indent="0" marL="0">
              <a:buNone/>
            </a:pPr>
            <a:r>
              <a:rPr lang="en-US" sz="1000" b="1" spc="140" kern="0" dirty="0">
                <a:solidFill>
                  <a:srgbClr val="B22222"/>
                </a:solidFill>
                <a:latin typeface="Courier New" pitchFamily="34" charset="0"/>
                <a:ea typeface="Courier New" pitchFamily="34" charset="-122"/>
                <a:cs typeface="Courier New" pitchFamily="34" charset="-120"/>
              </a:rPr>
              <a:t>THE STANDARD</a:t>
            </a:r>
            <a:endParaRPr lang="en-US" sz="1000" dirty="0"/>
          </a:p>
        </p:txBody>
      </p:sp>
      <p:sp>
        <p:nvSpPr>
          <p:cNvPr id="3" name="Text 1"/>
          <p:cNvSpPr/>
          <p:nvPr/>
        </p:nvSpPr>
        <p:spPr>
          <a:xfrm>
            <a:off x="548640" y="713232"/>
            <a:ext cx="8046720" cy="731520"/>
          </a:xfrm>
          <a:prstGeom prst="rect">
            <a:avLst/>
          </a:prstGeom>
          <a:noFill/>
          <a:ln/>
        </p:spPr>
        <p:txBody>
          <a:bodyPr wrap="square" lIns="0" tIns="0" rIns="0" bIns="0" rtlCol="0" anchor="t"/>
          <a:lstStyle/>
          <a:p>
            <a:pPr indent="0" marL="0">
              <a:lnSpc>
                <a:spcPct val="92000"/>
              </a:lnSpc>
              <a:buNone/>
            </a:pPr>
            <a:r>
              <a:rPr lang="en-US" sz="3000" b="1" dirty="0">
                <a:solidFill>
                  <a:srgbClr val="14171A"/>
                </a:solidFill>
                <a:latin typeface="Cambria" pitchFamily="34" charset="0"/>
                <a:ea typeface="Cambria" pitchFamily="34" charset="-122"/>
                <a:cs typeface="Cambria" pitchFamily="34" charset="-120"/>
              </a:rPr>
              <a:t>Every answer costs something</a:t>
            </a:r>
            <a:endParaRPr lang="en-US" sz="3000" dirty="0"/>
          </a:p>
        </p:txBody>
      </p:sp>
      <p:sp>
        <p:nvSpPr>
          <p:cNvPr id="4" name="Shape 2"/>
          <p:cNvSpPr/>
          <p:nvPr/>
        </p:nvSpPr>
        <p:spPr>
          <a:xfrm>
            <a:off x="548640" y="1554480"/>
            <a:ext cx="8046720" cy="914400"/>
          </a:xfrm>
          <a:prstGeom prst="roundRect">
            <a:avLst>
              <a:gd name="adj" fmla="val 6000"/>
            </a:avLst>
          </a:prstGeom>
          <a:solidFill>
            <a:srgbClr val="F2E1E1"/>
          </a:solidFill>
          <a:ln w="9525">
            <a:solidFill>
              <a:srgbClr val="F2E1E1"/>
            </a:solidFill>
            <a:prstDash val="solid"/>
          </a:ln>
          <a:effectLst>
            <a:outerShdw sx="100000" sy="100000" kx="0" ky="0" algn="bl" rotWithShape="0" blurRad="88900" dist="12700" dir="5400000">
              <a:srgbClr val="9A968A">
                <a:alpha val="20000"/>
              </a:srgbClr>
            </a:outerShdw>
          </a:effectLst>
        </p:spPr>
      </p:sp>
      <p:sp>
        <p:nvSpPr>
          <p:cNvPr id="5" name="Text 3"/>
          <p:cNvSpPr/>
          <p:nvPr/>
        </p:nvSpPr>
        <p:spPr>
          <a:xfrm>
            <a:off x="822960" y="1554480"/>
            <a:ext cx="7498080" cy="914400"/>
          </a:xfrm>
          <a:prstGeom prst="rect">
            <a:avLst/>
          </a:prstGeom>
          <a:noFill/>
          <a:ln/>
        </p:spPr>
        <p:txBody>
          <a:bodyPr wrap="square" lIns="0" tIns="0" rIns="0" bIns="0" rtlCol="0" anchor="ctr"/>
          <a:lstStyle/>
          <a:p>
            <a:pPr algn="l" indent="0" marL="0">
              <a:lnSpc>
                <a:spcPct val="106000"/>
              </a:lnSpc>
              <a:buNone/>
            </a:pPr>
            <a:r>
              <a:rPr lang="en-US" sz="2200" b="1" dirty="0">
                <a:solidFill>
                  <a:srgbClr val="14171A"/>
                </a:solidFill>
                <a:latin typeface="Cambria" pitchFamily="34" charset="0"/>
                <a:ea typeface="Cambria" pitchFamily="34" charset="-122"/>
                <a:cs typeface="Cambria" pitchFamily="34" charset="-120"/>
              </a:rPr>
              <a:t>An answer with no tradeoff in it is not finished.</a:t>
            </a:r>
            <a:endParaRPr lang="en-US" sz="2200" dirty="0"/>
          </a:p>
        </p:txBody>
      </p:sp>
      <p:sp>
        <p:nvSpPr>
          <p:cNvPr id="6" name="Shape 4"/>
          <p:cNvSpPr/>
          <p:nvPr/>
        </p:nvSpPr>
        <p:spPr>
          <a:xfrm>
            <a:off x="548640" y="2688336"/>
            <a:ext cx="3840480" cy="1280160"/>
          </a:xfrm>
          <a:prstGeom prst="roundRect">
            <a:avLst>
              <a:gd name="adj" fmla="val 4286"/>
            </a:avLst>
          </a:prstGeom>
          <a:solidFill>
            <a:srgbClr val="FFFEFB"/>
          </a:solidFill>
          <a:ln w="9525">
            <a:solidFill>
              <a:srgbClr val="D9D6CF"/>
            </a:solidFill>
            <a:prstDash val="solid"/>
          </a:ln>
          <a:effectLst>
            <a:outerShdw sx="100000" sy="100000" kx="0" ky="0" algn="bl" rotWithShape="0" blurRad="88900" dist="12700" dir="5400000">
              <a:srgbClr val="9A968A">
                <a:alpha val="20000"/>
              </a:srgbClr>
            </a:outerShdw>
          </a:effectLst>
        </p:spPr>
      </p:sp>
      <p:sp>
        <p:nvSpPr>
          <p:cNvPr id="7" name="Text 5"/>
          <p:cNvSpPr/>
          <p:nvPr/>
        </p:nvSpPr>
        <p:spPr>
          <a:xfrm>
            <a:off x="786384" y="2907792"/>
            <a:ext cx="3364992" cy="219456"/>
          </a:xfrm>
          <a:prstGeom prst="rect">
            <a:avLst/>
          </a:prstGeom>
          <a:noFill/>
          <a:ln/>
        </p:spPr>
        <p:txBody>
          <a:bodyPr wrap="square" lIns="0" tIns="0" rIns="0" bIns="0" rtlCol="0" anchor="t"/>
          <a:lstStyle/>
          <a:p>
            <a:pPr algn="l" indent="0" marL="0">
              <a:lnSpc>
                <a:spcPct val="106000"/>
              </a:lnSpc>
              <a:buNone/>
            </a:pPr>
            <a:r>
              <a:rPr lang="en-US" sz="900" b="1" dirty="0">
                <a:solidFill>
                  <a:srgbClr val="1F5673"/>
                </a:solidFill>
                <a:latin typeface="Courier New" pitchFamily="34" charset="0"/>
                <a:ea typeface="Courier New" pitchFamily="34" charset="-122"/>
                <a:cs typeface="Courier New" pitchFamily="34" charset="-120"/>
              </a:rPr>
              <a:t>TRADEOFF</a:t>
            </a:r>
            <a:endParaRPr lang="en-US" sz="900" dirty="0"/>
          </a:p>
        </p:txBody>
      </p:sp>
      <p:sp>
        <p:nvSpPr>
          <p:cNvPr id="8" name="Text 6"/>
          <p:cNvSpPr/>
          <p:nvPr/>
        </p:nvSpPr>
        <p:spPr>
          <a:xfrm>
            <a:off x="786384" y="3200400"/>
            <a:ext cx="3364992" cy="658368"/>
          </a:xfrm>
          <a:prstGeom prst="rect">
            <a:avLst/>
          </a:prstGeom>
          <a:noFill/>
          <a:ln/>
        </p:spPr>
        <p:txBody>
          <a:bodyPr wrap="square" lIns="0" tIns="0" rIns="0" bIns="0" rtlCol="0" anchor="t"/>
          <a:lstStyle/>
          <a:p>
            <a:pPr algn="l" indent="0" marL="0">
              <a:lnSpc>
                <a:spcPct val="114000"/>
              </a:lnSpc>
              <a:buNone/>
            </a:pPr>
            <a:r>
              <a:rPr lang="en-US" sz="1350" dirty="0">
                <a:solidFill>
                  <a:srgbClr val="14171A"/>
                </a:solidFill>
                <a:latin typeface="Calibri" pitchFamily="34" charset="0"/>
                <a:ea typeface="Calibri" pitchFamily="34" charset="-122"/>
                <a:cs typeface="Calibri" pitchFamily="34" charset="-120"/>
              </a:rPr>
              <a:t>You give something up to get something. Every answer here has one.</a:t>
            </a:r>
            <a:endParaRPr lang="en-US" sz="1350" dirty="0"/>
          </a:p>
        </p:txBody>
      </p:sp>
      <p:sp>
        <p:nvSpPr>
          <p:cNvPr id="9" name="Shape 7"/>
          <p:cNvSpPr/>
          <p:nvPr/>
        </p:nvSpPr>
        <p:spPr>
          <a:xfrm>
            <a:off x="4754880" y="2688336"/>
            <a:ext cx="3840480" cy="1280160"/>
          </a:xfrm>
          <a:prstGeom prst="roundRect">
            <a:avLst>
              <a:gd name="adj" fmla="val 4286"/>
            </a:avLst>
          </a:prstGeom>
          <a:solidFill>
            <a:srgbClr val="FFFEFB"/>
          </a:solidFill>
          <a:ln w="9525">
            <a:solidFill>
              <a:srgbClr val="D9D6CF"/>
            </a:solidFill>
            <a:prstDash val="solid"/>
          </a:ln>
          <a:effectLst>
            <a:outerShdw sx="100000" sy="100000" kx="0" ky="0" algn="bl" rotWithShape="0" blurRad="88900" dist="12700" dir="5400000">
              <a:srgbClr val="9A968A">
                <a:alpha val="20000"/>
              </a:srgbClr>
            </a:outerShdw>
          </a:effectLst>
        </p:spPr>
      </p:sp>
      <p:sp>
        <p:nvSpPr>
          <p:cNvPr id="10" name="Text 8"/>
          <p:cNvSpPr/>
          <p:nvPr/>
        </p:nvSpPr>
        <p:spPr>
          <a:xfrm>
            <a:off x="4992624" y="2907792"/>
            <a:ext cx="3364992" cy="219456"/>
          </a:xfrm>
          <a:prstGeom prst="rect">
            <a:avLst/>
          </a:prstGeom>
          <a:noFill/>
          <a:ln/>
        </p:spPr>
        <p:txBody>
          <a:bodyPr wrap="square" lIns="0" tIns="0" rIns="0" bIns="0" rtlCol="0" anchor="t"/>
          <a:lstStyle/>
          <a:p>
            <a:pPr algn="l" indent="0" marL="0">
              <a:lnSpc>
                <a:spcPct val="106000"/>
              </a:lnSpc>
              <a:buNone/>
            </a:pPr>
            <a:r>
              <a:rPr lang="en-US" sz="900" b="1" dirty="0">
                <a:solidFill>
                  <a:srgbClr val="8A1A1A"/>
                </a:solidFill>
                <a:latin typeface="Courier New" pitchFamily="34" charset="0"/>
                <a:ea typeface="Courier New" pitchFamily="34" charset="-122"/>
                <a:cs typeface="Courier New" pitchFamily="34" charset="-120"/>
              </a:rPr>
              <a:t>SO, TODAY</a:t>
            </a:r>
            <a:endParaRPr lang="en-US" sz="900" dirty="0"/>
          </a:p>
        </p:txBody>
      </p:sp>
      <p:sp>
        <p:nvSpPr>
          <p:cNvPr id="11" name="Text 9"/>
          <p:cNvSpPr/>
          <p:nvPr/>
        </p:nvSpPr>
        <p:spPr>
          <a:xfrm>
            <a:off x="4992624" y="3200400"/>
            <a:ext cx="3364992" cy="658368"/>
          </a:xfrm>
          <a:prstGeom prst="rect">
            <a:avLst/>
          </a:prstGeom>
          <a:noFill/>
          <a:ln/>
        </p:spPr>
        <p:txBody>
          <a:bodyPr wrap="square" lIns="0" tIns="0" rIns="0" bIns="0" rtlCol="0" anchor="t"/>
          <a:lstStyle/>
          <a:p>
            <a:pPr algn="l" indent="0" marL="0">
              <a:lnSpc>
                <a:spcPct val="114000"/>
              </a:lnSpc>
              <a:buNone/>
            </a:pPr>
            <a:r>
              <a:rPr lang="en-US" sz="1350" dirty="0">
                <a:solidFill>
                  <a:srgbClr val="14171A"/>
                </a:solidFill>
                <a:latin typeface="Calibri" pitchFamily="34" charset="0"/>
                <a:ea typeface="Calibri" pitchFamily="34" charset="-122"/>
                <a:cs typeface="Calibri" pitchFamily="34" charset="-120"/>
              </a:rPr>
              <a:t>Name your position, then name what it costs. If you cannot, you are not finished.</a:t>
            </a:r>
            <a:endParaRPr lang="en-US" sz="1350" dirty="0"/>
          </a:p>
        </p:txBody>
      </p:sp>
      <p:sp>
        <p:nvSpPr>
          <p:cNvPr id="13" name="Text 10"/>
          <p:cNvSpPr/>
          <p:nvPr/>
        </p:nvSpPr>
        <p:spPr>
          <a:xfrm>
            <a:off x="548640" y="4668012"/>
            <a:ext cx="8046720" cy="256032"/>
          </a:xfrm>
          <a:prstGeom prst="rect">
            <a:avLst/>
          </a:prstGeom>
          <a:noFill/>
          <a:ln/>
        </p:spPr>
        <p:txBody>
          <a:bodyPr wrap="square" lIns="0" tIns="0" rIns="0" bIns="0" rtlCol="0" anchor="ctr"/>
          <a:lstStyle/>
          <a:p>
            <a:pPr indent="0" marL="0">
              <a:buNone/>
            </a:pPr>
            <a:r>
              <a:rPr lang="en-US" sz="800" spc="100" kern="0" dirty="0">
                <a:solidFill>
                  <a:srgbClr val="5C6873"/>
                </a:solidFill>
                <a:latin typeface="Courier New" pitchFamily="34" charset="0"/>
                <a:ea typeface="Courier New" pitchFamily="34" charset="-122"/>
                <a:cs typeface="Courier New" pitchFamily="34" charset="-120"/>
              </a:rPr>
              <a:t>BECURRENT  ·  SOCIAL MEDIA  ·  TOPIC 6</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548640" y="310896"/>
            <a:ext cx="347472" cy="347472"/>
          </a:xfrm>
          <a:prstGeom prst="ellipse">
            <a:avLst/>
          </a:prstGeom>
          <a:solidFill>
            <a:srgbClr val="B22222"/>
          </a:solidFill>
          <a:ln w="12700">
            <a:solidFill>
              <a:srgbClr val="B22222"/>
            </a:solidFill>
            <a:prstDash val="solid"/>
          </a:ln>
        </p:spPr>
      </p:sp>
      <p:sp>
        <p:nvSpPr>
          <p:cNvPr id="3" name="Text 1"/>
          <p:cNvSpPr/>
          <p:nvPr/>
        </p:nvSpPr>
        <p:spPr>
          <a:xfrm>
            <a:off x="548640" y="310896"/>
            <a:ext cx="347472" cy="347472"/>
          </a:xfrm>
          <a:prstGeom prst="rect">
            <a:avLst/>
          </a:prstGeom>
          <a:noFill/>
          <a:ln/>
        </p:spPr>
        <p:txBody>
          <a:bodyPr wrap="square" lIns="0" tIns="0" rIns="0" bIns="0" rtlCol="0" anchor="ctr"/>
          <a:lstStyle/>
          <a:p>
            <a:pPr algn="ctr" indent="0" marL="0">
              <a:buNone/>
            </a:pPr>
            <a:r>
              <a:rPr lang="en-US" sz="1050" b="1" dirty="0">
                <a:solidFill>
                  <a:srgbClr val="FFFEFB"/>
                </a:solidFill>
                <a:latin typeface="Courier New" pitchFamily="34" charset="0"/>
                <a:ea typeface="Courier New" pitchFamily="34" charset="-122"/>
                <a:cs typeface="Courier New" pitchFamily="34" charset="-120"/>
              </a:rPr>
              <a:t>1</a:t>
            </a:r>
            <a:endParaRPr lang="en-US" sz="1050" dirty="0"/>
          </a:p>
        </p:txBody>
      </p:sp>
      <p:sp>
        <p:nvSpPr>
          <p:cNvPr id="4" name="Text 2"/>
          <p:cNvSpPr/>
          <p:nvPr/>
        </p:nvSpPr>
        <p:spPr>
          <a:xfrm>
            <a:off x="1005840" y="365760"/>
            <a:ext cx="8046720" cy="237744"/>
          </a:xfrm>
          <a:prstGeom prst="rect">
            <a:avLst/>
          </a:prstGeom>
          <a:noFill/>
          <a:ln/>
        </p:spPr>
        <p:txBody>
          <a:bodyPr wrap="square" lIns="0" tIns="0" rIns="0" bIns="0" rtlCol="0" anchor="ctr"/>
          <a:lstStyle/>
          <a:p>
            <a:pPr indent="0" marL="0">
              <a:buNone/>
            </a:pPr>
            <a:r>
              <a:rPr lang="en-US" sz="1000" b="1" spc="140" kern="0" dirty="0">
                <a:solidFill>
                  <a:srgbClr val="B22222"/>
                </a:solidFill>
                <a:latin typeface="Courier New" pitchFamily="34" charset="0"/>
                <a:ea typeface="Courier New" pitchFamily="34" charset="-122"/>
                <a:cs typeface="Courier New" pitchFamily="34" charset="-120"/>
              </a:rPr>
              <a:t>POSITION ONE</a:t>
            </a:r>
            <a:endParaRPr lang="en-US" sz="1000" dirty="0"/>
          </a:p>
        </p:txBody>
      </p:sp>
      <p:sp>
        <p:nvSpPr>
          <p:cNvPr id="5" name="Text 3"/>
          <p:cNvSpPr/>
          <p:nvPr/>
        </p:nvSpPr>
        <p:spPr>
          <a:xfrm>
            <a:off x="548640" y="822960"/>
            <a:ext cx="8046720" cy="731520"/>
          </a:xfrm>
          <a:prstGeom prst="rect">
            <a:avLst/>
          </a:prstGeom>
          <a:noFill/>
          <a:ln/>
        </p:spPr>
        <p:txBody>
          <a:bodyPr wrap="square" lIns="0" tIns="0" rIns="0" bIns="0" rtlCol="0" anchor="t"/>
          <a:lstStyle/>
          <a:p>
            <a:pPr indent="0" marL="0">
              <a:lnSpc>
                <a:spcPct val="92000"/>
              </a:lnSpc>
              <a:buNone/>
            </a:pPr>
            <a:r>
              <a:rPr lang="en-US" sz="3200" b="1" dirty="0">
                <a:solidFill>
                  <a:srgbClr val="14171A"/>
                </a:solidFill>
                <a:latin typeface="Cambria" pitchFamily="34" charset="0"/>
                <a:ea typeface="Cambria" pitchFamily="34" charset="-122"/>
                <a:cs typeface="Cambria" pitchFamily="34" charset="-120"/>
              </a:rPr>
              <a:t>You decide</a:t>
            </a:r>
            <a:endParaRPr lang="en-US" sz="3200" dirty="0"/>
          </a:p>
        </p:txBody>
      </p:sp>
      <p:sp>
        <p:nvSpPr>
          <p:cNvPr id="6" name="Shape 4"/>
          <p:cNvSpPr/>
          <p:nvPr/>
        </p:nvSpPr>
        <p:spPr>
          <a:xfrm>
            <a:off x="548640" y="1627632"/>
            <a:ext cx="3840480" cy="2514600"/>
          </a:xfrm>
          <a:prstGeom prst="roundRect">
            <a:avLst>
              <a:gd name="adj" fmla="val 2182"/>
            </a:avLst>
          </a:prstGeom>
          <a:solidFill>
            <a:srgbClr val="FFFEFB"/>
          </a:solidFill>
          <a:ln w="9525">
            <a:solidFill>
              <a:srgbClr val="D9D6CF"/>
            </a:solidFill>
            <a:prstDash val="solid"/>
          </a:ln>
          <a:effectLst>
            <a:outerShdw sx="100000" sy="100000" kx="0" ky="0" algn="bl" rotWithShape="0" blurRad="88900" dist="12700" dir="5400000">
              <a:srgbClr val="9A968A">
                <a:alpha val="20000"/>
              </a:srgbClr>
            </a:outerShdw>
          </a:effectLst>
        </p:spPr>
      </p:sp>
      <p:sp>
        <p:nvSpPr>
          <p:cNvPr id="7" name="Text 5"/>
          <p:cNvSpPr/>
          <p:nvPr/>
        </p:nvSpPr>
        <p:spPr>
          <a:xfrm>
            <a:off x="786384" y="1828800"/>
            <a:ext cx="3364992" cy="219456"/>
          </a:xfrm>
          <a:prstGeom prst="rect">
            <a:avLst/>
          </a:prstGeom>
          <a:noFill/>
          <a:ln/>
        </p:spPr>
        <p:txBody>
          <a:bodyPr wrap="square" lIns="0" tIns="0" rIns="0" bIns="0" rtlCol="0" anchor="t"/>
          <a:lstStyle/>
          <a:p>
            <a:pPr algn="l" indent="0" marL="0">
              <a:lnSpc>
                <a:spcPct val="106000"/>
              </a:lnSpc>
              <a:buNone/>
            </a:pPr>
            <a:r>
              <a:rPr lang="en-US" sz="900" b="1" dirty="0">
                <a:solidFill>
                  <a:srgbClr val="1F5673"/>
                </a:solidFill>
                <a:latin typeface="Courier New" pitchFamily="34" charset="0"/>
                <a:ea typeface="Courier New" pitchFamily="34" charset="-122"/>
                <a:cs typeface="Courier New" pitchFamily="34" charset="-120"/>
              </a:rPr>
              <a:t>THE STRONGEST CASE</a:t>
            </a:r>
            <a:endParaRPr lang="en-US" sz="900" dirty="0"/>
          </a:p>
        </p:txBody>
      </p:sp>
      <p:sp>
        <p:nvSpPr>
          <p:cNvPr id="8" name="Text 6"/>
          <p:cNvSpPr/>
          <p:nvPr/>
        </p:nvSpPr>
        <p:spPr>
          <a:xfrm>
            <a:off x="786384" y="2121408"/>
            <a:ext cx="3364992" cy="1856232"/>
          </a:xfrm>
          <a:prstGeom prst="rect">
            <a:avLst/>
          </a:prstGeom>
          <a:noFill/>
          <a:ln/>
        </p:spPr>
        <p:txBody>
          <a:bodyPr wrap="square" lIns="0" tIns="0" rIns="0" bIns="0" rtlCol="0" anchor="t"/>
          <a:lstStyle/>
          <a:p>
            <a:pPr marL="177800" indent="-177800">
              <a:lnSpc>
                <a:spcPct val="104000"/>
              </a:lnSpc>
              <a:spcAft>
                <a:spcPts val="800"/>
              </a:spcAft>
              <a:buSzPct val="100000"/>
              <a:buChar char="•"/>
            </a:pPr>
            <a:r>
              <a:rPr lang="en-US" sz="1250" dirty="0">
                <a:solidFill>
                  <a:srgbClr val="3C444C"/>
                </a:solidFill>
                <a:latin typeface="Calibri" pitchFamily="34" charset="0"/>
                <a:ea typeface="Calibri" pitchFamily="34" charset="-122"/>
                <a:cs typeface="Calibri" pitchFamily="34" charset="-120"/>
              </a:rPr>
              <a:t>It is your attention and your phone.</a:t>
            </a:r>
            <a:endParaRPr lang="en-US" sz="1250" dirty="0"/>
          </a:p>
          <a:p>
            <a:pPr marL="177800" indent="-177800">
              <a:lnSpc>
                <a:spcPct val="104000"/>
              </a:lnSpc>
              <a:spcAft>
                <a:spcPts val="800"/>
              </a:spcAft>
              <a:buSzPct val="100000"/>
              <a:buChar char="•"/>
            </a:pPr>
            <a:r>
              <a:rPr lang="en-US" sz="1250" dirty="0">
                <a:solidFill>
                  <a:srgbClr val="3C444C"/>
                </a:solidFill>
                <a:latin typeface="Calibri" pitchFamily="34" charset="0"/>
                <a:ea typeface="Calibri" pitchFamily="34" charset="-122"/>
                <a:cs typeface="Calibri" pitchFamily="34" charset="-120"/>
              </a:rPr>
              <a:t>The controls exist: delete the app, turn off notifications, use the chronological feed, set a timer.</a:t>
            </a:r>
            <a:endParaRPr lang="en-US" sz="1250" dirty="0"/>
          </a:p>
          <a:p>
            <a:pPr marL="177800" indent="-177800">
              <a:lnSpc>
                <a:spcPct val="104000"/>
              </a:lnSpc>
              <a:spcAft>
                <a:spcPts val="800"/>
              </a:spcAft>
              <a:buSzPct val="100000"/>
              <a:buChar char="•"/>
            </a:pPr>
            <a:r>
              <a:rPr lang="en-US" sz="1250" dirty="0">
                <a:solidFill>
                  <a:srgbClr val="3C444C"/>
                </a:solidFill>
                <a:latin typeface="Calibri" pitchFamily="34" charset="0"/>
                <a:ea typeface="Calibri" pitchFamily="34" charset="-122"/>
                <a:cs typeface="Calibri" pitchFamily="34" charset="-120"/>
              </a:rPr>
              <a:t>Adults get to make bad choices about their own time, and treating teenagers as incapable of choosing is its own kind of insult.</a:t>
            </a:r>
            <a:endParaRPr lang="en-US" sz="1250" dirty="0"/>
          </a:p>
        </p:txBody>
      </p:sp>
      <p:sp>
        <p:nvSpPr>
          <p:cNvPr id="9" name="Shape 7"/>
          <p:cNvSpPr/>
          <p:nvPr/>
        </p:nvSpPr>
        <p:spPr>
          <a:xfrm>
            <a:off x="4754880" y="1627632"/>
            <a:ext cx="3840480" cy="2514600"/>
          </a:xfrm>
          <a:prstGeom prst="roundRect">
            <a:avLst>
              <a:gd name="adj" fmla="val 2182"/>
            </a:avLst>
          </a:prstGeom>
          <a:solidFill>
            <a:srgbClr val="F2E1E1"/>
          </a:solidFill>
          <a:ln w="9525">
            <a:solidFill>
              <a:srgbClr val="F2E1E1"/>
            </a:solidFill>
            <a:prstDash val="solid"/>
          </a:ln>
          <a:effectLst>
            <a:outerShdw sx="100000" sy="100000" kx="0" ky="0" algn="bl" rotWithShape="0" blurRad="88900" dist="12700" dir="5400000">
              <a:srgbClr val="9A968A">
                <a:alpha val="20000"/>
              </a:srgbClr>
            </a:outerShdw>
          </a:effectLst>
        </p:spPr>
      </p:sp>
      <p:sp>
        <p:nvSpPr>
          <p:cNvPr id="10" name="Text 8"/>
          <p:cNvSpPr/>
          <p:nvPr/>
        </p:nvSpPr>
        <p:spPr>
          <a:xfrm>
            <a:off x="4992624" y="1828800"/>
            <a:ext cx="3364992" cy="219456"/>
          </a:xfrm>
          <a:prstGeom prst="rect">
            <a:avLst/>
          </a:prstGeom>
          <a:noFill/>
          <a:ln/>
        </p:spPr>
        <p:txBody>
          <a:bodyPr wrap="square" lIns="0" tIns="0" rIns="0" bIns="0" rtlCol="0" anchor="t"/>
          <a:lstStyle/>
          <a:p>
            <a:pPr algn="l" indent="0" marL="0">
              <a:lnSpc>
                <a:spcPct val="106000"/>
              </a:lnSpc>
              <a:buNone/>
            </a:pPr>
            <a:r>
              <a:rPr lang="en-US" sz="900" b="1" dirty="0">
                <a:solidFill>
                  <a:srgbClr val="8A1A1A"/>
                </a:solidFill>
                <a:latin typeface="Courier New" pitchFamily="34" charset="0"/>
                <a:ea typeface="Courier New" pitchFamily="34" charset="-122"/>
                <a:cs typeface="Courier New" pitchFamily="34" charset="-120"/>
              </a:rPr>
              <a:t>THE HARDEST QUESTION</a:t>
            </a:r>
            <a:endParaRPr lang="en-US" sz="900" dirty="0"/>
          </a:p>
        </p:txBody>
      </p:sp>
      <p:sp>
        <p:nvSpPr>
          <p:cNvPr id="11" name="Text 9"/>
          <p:cNvSpPr/>
          <p:nvPr/>
        </p:nvSpPr>
        <p:spPr>
          <a:xfrm>
            <a:off x="4992624" y="2121408"/>
            <a:ext cx="3364992" cy="1856232"/>
          </a:xfrm>
          <a:prstGeom prst="rect">
            <a:avLst/>
          </a:prstGeom>
          <a:noFill/>
          <a:ln/>
        </p:spPr>
        <p:txBody>
          <a:bodyPr wrap="square" lIns="0" tIns="0" rIns="0" bIns="0" rtlCol="0" anchor="t"/>
          <a:lstStyle/>
          <a:p>
            <a:pPr algn="l" indent="0" marL="0">
              <a:lnSpc>
                <a:spcPct val="116000"/>
              </a:lnSpc>
              <a:buNone/>
            </a:pPr>
            <a:r>
              <a:rPr lang="en-US" sz="1300" dirty="0">
                <a:solidFill>
                  <a:srgbClr val="14171A"/>
                </a:solidFill>
                <a:latin typeface="Calibri" pitchFamily="34" charset="0"/>
                <a:ea typeface="Calibri" pitchFamily="34" charset="-122"/>
                <a:cs typeface="Calibri" pitchFamily="34" charset="-120"/>
              </a:rPr>
              <a:t>The app was designed by people whose job was to make it hard to put down, and they are very good at their job. Is a choice still free when one side has thousands of engineers and A/B tests and you have willpower?</a:t>
            </a:r>
            <a:endParaRPr lang="en-US" sz="1300" dirty="0"/>
          </a:p>
        </p:txBody>
      </p:sp>
      <p:sp>
        <p:nvSpPr>
          <p:cNvPr id="13" name="Text 10"/>
          <p:cNvSpPr/>
          <p:nvPr/>
        </p:nvSpPr>
        <p:spPr>
          <a:xfrm>
            <a:off x="548640" y="4668012"/>
            <a:ext cx="8046720" cy="256032"/>
          </a:xfrm>
          <a:prstGeom prst="rect">
            <a:avLst/>
          </a:prstGeom>
          <a:noFill/>
          <a:ln/>
        </p:spPr>
        <p:txBody>
          <a:bodyPr wrap="square" lIns="0" tIns="0" rIns="0" bIns="0" rtlCol="0" anchor="ctr"/>
          <a:lstStyle/>
          <a:p>
            <a:pPr indent="0" marL="0">
              <a:buNone/>
            </a:pPr>
            <a:r>
              <a:rPr lang="en-US" sz="800" spc="100" kern="0" dirty="0">
                <a:solidFill>
                  <a:srgbClr val="5C6873"/>
                </a:solidFill>
                <a:latin typeface="Courier New" pitchFamily="34" charset="0"/>
                <a:ea typeface="Courier New" pitchFamily="34" charset="-122"/>
                <a:cs typeface="Courier New" pitchFamily="34" charset="-120"/>
              </a:rPr>
              <a:t>BECURRENT  ·  SOCIAL MEDIA  ·  TOPIC 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548640" y="310896"/>
            <a:ext cx="347472" cy="347472"/>
          </a:xfrm>
          <a:prstGeom prst="ellipse">
            <a:avLst/>
          </a:prstGeom>
          <a:solidFill>
            <a:srgbClr val="B22222"/>
          </a:solidFill>
          <a:ln w="12700">
            <a:solidFill>
              <a:srgbClr val="B22222"/>
            </a:solidFill>
            <a:prstDash val="solid"/>
          </a:ln>
        </p:spPr>
      </p:sp>
      <p:sp>
        <p:nvSpPr>
          <p:cNvPr id="3" name="Text 1"/>
          <p:cNvSpPr/>
          <p:nvPr/>
        </p:nvSpPr>
        <p:spPr>
          <a:xfrm>
            <a:off x="548640" y="310896"/>
            <a:ext cx="347472" cy="347472"/>
          </a:xfrm>
          <a:prstGeom prst="rect">
            <a:avLst/>
          </a:prstGeom>
          <a:noFill/>
          <a:ln/>
        </p:spPr>
        <p:txBody>
          <a:bodyPr wrap="square" lIns="0" tIns="0" rIns="0" bIns="0" rtlCol="0" anchor="ctr"/>
          <a:lstStyle/>
          <a:p>
            <a:pPr algn="ctr" indent="0" marL="0">
              <a:buNone/>
            </a:pPr>
            <a:r>
              <a:rPr lang="en-US" sz="1050" b="1" dirty="0">
                <a:solidFill>
                  <a:srgbClr val="FFFEFB"/>
                </a:solidFill>
                <a:latin typeface="Courier New" pitchFamily="34" charset="0"/>
                <a:ea typeface="Courier New" pitchFamily="34" charset="-122"/>
                <a:cs typeface="Courier New" pitchFamily="34" charset="-120"/>
              </a:rPr>
              <a:t>2</a:t>
            </a:r>
            <a:endParaRPr lang="en-US" sz="1050" dirty="0"/>
          </a:p>
        </p:txBody>
      </p:sp>
      <p:sp>
        <p:nvSpPr>
          <p:cNvPr id="4" name="Text 2"/>
          <p:cNvSpPr/>
          <p:nvPr/>
        </p:nvSpPr>
        <p:spPr>
          <a:xfrm>
            <a:off x="1005840" y="365760"/>
            <a:ext cx="8046720" cy="237744"/>
          </a:xfrm>
          <a:prstGeom prst="rect">
            <a:avLst/>
          </a:prstGeom>
          <a:noFill/>
          <a:ln/>
        </p:spPr>
        <p:txBody>
          <a:bodyPr wrap="square" lIns="0" tIns="0" rIns="0" bIns="0" rtlCol="0" anchor="ctr"/>
          <a:lstStyle/>
          <a:p>
            <a:pPr indent="0" marL="0">
              <a:buNone/>
            </a:pPr>
            <a:r>
              <a:rPr lang="en-US" sz="1000" b="1" spc="140" kern="0" dirty="0">
                <a:solidFill>
                  <a:srgbClr val="B22222"/>
                </a:solidFill>
                <a:latin typeface="Courier New" pitchFamily="34" charset="0"/>
                <a:ea typeface="Courier New" pitchFamily="34" charset="-122"/>
                <a:cs typeface="Courier New" pitchFamily="34" charset="-120"/>
              </a:rPr>
              <a:t>POSITION TWO</a:t>
            </a:r>
            <a:endParaRPr lang="en-US" sz="1000" dirty="0"/>
          </a:p>
        </p:txBody>
      </p:sp>
      <p:sp>
        <p:nvSpPr>
          <p:cNvPr id="5" name="Text 3"/>
          <p:cNvSpPr/>
          <p:nvPr/>
        </p:nvSpPr>
        <p:spPr>
          <a:xfrm>
            <a:off x="548640" y="822960"/>
            <a:ext cx="8046720" cy="731520"/>
          </a:xfrm>
          <a:prstGeom prst="rect">
            <a:avLst/>
          </a:prstGeom>
          <a:noFill/>
          <a:ln/>
        </p:spPr>
        <p:txBody>
          <a:bodyPr wrap="square" lIns="0" tIns="0" rIns="0" bIns="0" rtlCol="0" anchor="t"/>
          <a:lstStyle/>
          <a:p>
            <a:pPr indent="0" marL="0">
              <a:lnSpc>
                <a:spcPct val="92000"/>
              </a:lnSpc>
              <a:buNone/>
            </a:pPr>
            <a:r>
              <a:rPr lang="en-US" sz="3200" b="1" dirty="0">
                <a:solidFill>
                  <a:srgbClr val="14171A"/>
                </a:solidFill>
                <a:latin typeface="Cambria" pitchFamily="34" charset="0"/>
                <a:ea typeface="Cambria" pitchFamily="34" charset="-122"/>
                <a:cs typeface="Cambria" pitchFamily="34" charset="-120"/>
              </a:rPr>
              <a:t>The company decides</a:t>
            </a:r>
            <a:endParaRPr lang="en-US" sz="3200" dirty="0"/>
          </a:p>
        </p:txBody>
      </p:sp>
      <p:sp>
        <p:nvSpPr>
          <p:cNvPr id="6" name="Shape 4"/>
          <p:cNvSpPr/>
          <p:nvPr/>
        </p:nvSpPr>
        <p:spPr>
          <a:xfrm>
            <a:off x="548640" y="1627632"/>
            <a:ext cx="3840480" cy="2514600"/>
          </a:xfrm>
          <a:prstGeom prst="roundRect">
            <a:avLst>
              <a:gd name="adj" fmla="val 2182"/>
            </a:avLst>
          </a:prstGeom>
          <a:solidFill>
            <a:srgbClr val="FFFEFB"/>
          </a:solidFill>
          <a:ln w="9525">
            <a:solidFill>
              <a:srgbClr val="D9D6CF"/>
            </a:solidFill>
            <a:prstDash val="solid"/>
          </a:ln>
          <a:effectLst>
            <a:outerShdw sx="100000" sy="100000" kx="0" ky="0" algn="bl" rotWithShape="0" blurRad="88900" dist="12700" dir="5400000">
              <a:srgbClr val="9A968A">
                <a:alpha val="20000"/>
              </a:srgbClr>
            </a:outerShdw>
          </a:effectLst>
        </p:spPr>
      </p:sp>
      <p:sp>
        <p:nvSpPr>
          <p:cNvPr id="7" name="Text 5"/>
          <p:cNvSpPr/>
          <p:nvPr/>
        </p:nvSpPr>
        <p:spPr>
          <a:xfrm>
            <a:off x="786384" y="1828800"/>
            <a:ext cx="3364992" cy="219456"/>
          </a:xfrm>
          <a:prstGeom prst="rect">
            <a:avLst/>
          </a:prstGeom>
          <a:noFill/>
          <a:ln/>
        </p:spPr>
        <p:txBody>
          <a:bodyPr wrap="square" lIns="0" tIns="0" rIns="0" bIns="0" rtlCol="0" anchor="t"/>
          <a:lstStyle/>
          <a:p>
            <a:pPr algn="l" indent="0" marL="0">
              <a:lnSpc>
                <a:spcPct val="106000"/>
              </a:lnSpc>
              <a:buNone/>
            </a:pPr>
            <a:r>
              <a:rPr lang="en-US" sz="900" b="1" dirty="0">
                <a:solidFill>
                  <a:srgbClr val="1F5673"/>
                </a:solidFill>
                <a:latin typeface="Courier New" pitchFamily="34" charset="0"/>
                <a:ea typeface="Courier New" pitchFamily="34" charset="-122"/>
                <a:cs typeface="Courier New" pitchFamily="34" charset="-120"/>
              </a:rPr>
              <a:t>THE STRONGEST CASE</a:t>
            </a:r>
            <a:endParaRPr lang="en-US" sz="900" dirty="0"/>
          </a:p>
        </p:txBody>
      </p:sp>
      <p:sp>
        <p:nvSpPr>
          <p:cNvPr id="8" name="Text 6"/>
          <p:cNvSpPr/>
          <p:nvPr/>
        </p:nvSpPr>
        <p:spPr>
          <a:xfrm>
            <a:off x="786384" y="2121408"/>
            <a:ext cx="3364992" cy="1856232"/>
          </a:xfrm>
          <a:prstGeom prst="rect">
            <a:avLst/>
          </a:prstGeom>
          <a:noFill/>
          <a:ln/>
        </p:spPr>
        <p:txBody>
          <a:bodyPr wrap="square" lIns="0" tIns="0" rIns="0" bIns="0" rtlCol="0" anchor="t"/>
          <a:lstStyle/>
          <a:p>
            <a:pPr marL="177800" indent="-177800">
              <a:lnSpc>
                <a:spcPct val="104000"/>
              </a:lnSpc>
              <a:spcAft>
                <a:spcPts val="800"/>
              </a:spcAft>
              <a:buSzPct val="100000"/>
              <a:buChar char="•"/>
            </a:pPr>
            <a:r>
              <a:rPr lang="en-US" sz="1250" dirty="0">
                <a:solidFill>
                  <a:srgbClr val="3C444C"/>
                </a:solidFill>
                <a:latin typeface="Calibri" pitchFamily="34" charset="0"/>
                <a:ea typeface="Calibri" pitchFamily="34" charset="-122"/>
                <a:cs typeface="Calibri" pitchFamily="34" charset="-120"/>
              </a:rPr>
              <a:t>They built it, they pay for it, and you are not required to use it.</a:t>
            </a:r>
            <a:endParaRPr lang="en-US" sz="1250" dirty="0"/>
          </a:p>
          <a:p>
            <a:pPr marL="177800" indent="-177800">
              <a:lnSpc>
                <a:spcPct val="104000"/>
              </a:lnSpc>
              <a:spcAft>
                <a:spcPts val="800"/>
              </a:spcAft>
              <a:buSzPct val="100000"/>
              <a:buChar char="•"/>
            </a:pPr>
            <a:r>
              <a:rPr lang="en-US" sz="1250" dirty="0">
                <a:solidFill>
                  <a:srgbClr val="3C444C"/>
                </a:solidFill>
                <a:latin typeface="Calibri" pitchFamily="34" charset="0"/>
                <a:ea typeface="Calibri" pitchFamily="34" charset="-122"/>
                <a:cs typeface="Calibri" pitchFamily="34" charset="-120"/>
              </a:rPr>
              <a:t>Self-regulation is not nothing. Companies do change things, sometimes because users complain and sometimes because bad press costs money.</a:t>
            </a:r>
            <a:endParaRPr lang="en-US" sz="1250" dirty="0"/>
          </a:p>
          <a:p>
            <a:pPr marL="177800" indent="-177800">
              <a:lnSpc>
                <a:spcPct val="104000"/>
              </a:lnSpc>
              <a:spcAft>
                <a:spcPts val="800"/>
              </a:spcAft>
              <a:buSzPct val="100000"/>
              <a:buChar char="•"/>
            </a:pPr>
            <a:r>
              <a:rPr lang="en-US" sz="1250" dirty="0">
                <a:solidFill>
                  <a:srgbClr val="3C444C"/>
                </a:solidFill>
                <a:latin typeface="Calibri" pitchFamily="34" charset="0"/>
                <a:ea typeface="Calibri" pitchFamily="34" charset="-122"/>
                <a:cs typeface="Calibri" pitchFamily="34" charset="-120"/>
              </a:rPr>
              <a:t>They also know how the product works better than any regulator will.</a:t>
            </a:r>
            <a:endParaRPr lang="en-US" sz="1250" dirty="0"/>
          </a:p>
        </p:txBody>
      </p:sp>
      <p:sp>
        <p:nvSpPr>
          <p:cNvPr id="9" name="Shape 7"/>
          <p:cNvSpPr/>
          <p:nvPr/>
        </p:nvSpPr>
        <p:spPr>
          <a:xfrm>
            <a:off x="4754880" y="1627632"/>
            <a:ext cx="3840480" cy="2514600"/>
          </a:xfrm>
          <a:prstGeom prst="roundRect">
            <a:avLst>
              <a:gd name="adj" fmla="val 2182"/>
            </a:avLst>
          </a:prstGeom>
          <a:solidFill>
            <a:srgbClr val="F2E1E1"/>
          </a:solidFill>
          <a:ln w="9525">
            <a:solidFill>
              <a:srgbClr val="F2E1E1"/>
            </a:solidFill>
            <a:prstDash val="solid"/>
          </a:ln>
          <a:effectLst>
            <a:outerShdw sx="100000" sy="100000" kx="0" ky="0" algn="bl" rotWithShape="0" blurRad="88900" dist="12700" dir="5400000">
              <a:srgbClr val="9A968A">
                <a:alpha val="20000"/>
              </a:srgbClr>
            </a:outerShdw>
          </a:effectLst>
        </p:spPr>
      </p:sp>
      <p:sp>
        <p:nvSpPr>
          <p:cNvPr id="10" name="Text 8"/>
          <p:cNvSpPr/>
          <p:nvPr/>
        </p:nvSpPr>
        <p:spPr>
          <a:xfrm>
            <a:off x="4992624" y="1828800"/>
            <a:ext cx="3364992" cy="219456"/>
          </a:xfrm>
          <a:prstGeom prst="rect">
            <a:avLst/>
          </a:prstGeom>
          <a:noFill/>
          <a:ln/>
        </p:spPr>
        <p:txBody>
          <a:bodyPr wrap="square" lIns="0" tIns="0" rIns="0" bIns="0" rtlCol="0" anchor="t"/>
          <a:lstStyle/>
          <a:p>
            <a:pPr algn="l" indent="0" marL="0">
              <a:lnSpc>
                <a:spcPct val="106000"/>
              </a:lnSpc>
              <a:buNone/>
            </a:pPr>
            <a:r>
              <a:rPr lang="en-US" sz="900" b="1" dirty="0">
                <a:solidFill>
                  <a:srgbClr val="8A1A1A"/>
                </a:solidFill>
                <a:latin typeface="Courier New" pitchFamily="34" charset="0"/>
                <a:ea typeface="Courier New" pitchFamily="34" charset="-122"/>
                <a:cs typeface="Courier New" pitchFamily="34" charset="-120"/>
              </a:rPr>
              <a:t>THE HARDEST QUESTION</a:t>
            </a:r>
            <a:endParaRPr lang="en-US" sz="900" dirty="0"/>
          </a:p>
        </p:txBody>
      </p:sp>
      <p:sp>
        <p:nvSpPr>
          <p:cNvPr id="11" name="Text 9"/>
          <p:cNvSpPr/>
          <p:nvPr/>
        </p:nvSpPr>
        <p:spPr>
          <a:xfrm>
            <a:off x="4992624" y="2121408"/>
            <a:ext cx="3364992" cy="1856232"/>
          </a:xfrm>
          <a:prstGeom prst="rect">
            <a:avLst/>
          </a:prstGeom>
          <a:noFill/>
          <a:ln/>
        </p:spPr>
        <p:txBody>
          <a:bodyPr wrap="square" lIns="0" tIns="0" rIns="0" bIns="0" rtlCol="0" anchor="t"/>
          <a:lstStyle/>
          <a:p>
            <a:pPr algn="l" indent="0" marL="0">
              <a:lnSpc>
                <a:spcPct val="116000"/>
              </a:lnSpc>
              <a:buNone/>
            </a:pPr>
            <a:r>
              <a:rPr lang="en-US" sz="1300" dirty="0">
                <a:solidFill>
                  <a:srgbClr val="14171A"/>
                </a:solidFill>
                <a:latin typeface="Calibri" pitchFamily="34" charset="0"/>
                <a:ea typeface="Calibri" pitchFamily="34" charset="-122"/>
                <a:cs typeface="Calibri" pitchFamily="34" charset="-120"/>
              </a:rPr>
              <a:t>The company's income depends on your attention. When you ask somebody to protect you from the thing that pays them, what should you expect?</a:t>
            </a:r>
            <a:endParaRPr lang="en-US" sz="1300" dirty="0"/>
          </a:p>
        </p:txBody>
      </p:sp>
      <p:sp>
        <p:nvSpPr>
          <p:cNvPr id="13" name="Text 10"/>
          <p:cNvSpPr/>
          <p:nvPr/>
        </p:nvSpPr>
        <p:spPr>
          <a:xfrm>
            <a:off x="548640" y="4668012"/>
            <a:ext cx="8046720" cy="256032"/>
          </a:xfrm>
          <a:prstGeom prst="rect">
            <a:avLst/>
          </a:prstGeom>
          <a:noFill/>
          <a:ln/>
        </p:spPr>
        <p:txBody>
          <a:bodyPr wrap="square" lIns="0" tIns="0" rIns="0" bIns="0" rtlCol="0" anchor="ctr"/>
          <a:lstStyle/>
          <a:p>
            <a:pPr indent="0" marL="0">
              <a:buNone/>
            </a:pPr>
            <a:r>
              <a:rPr lang="en-US" sz="800" spc="100" kern="0" dirty="0">
                <a:solidFill>
                  <a:srgbClr val="5C6873"/>
                </a:solidFill>
                <a:latin typeface="Courier New" pitchFamily="34" charset="0"/>
                <a:ea typeface="Courier New" pitchFamily="34" charset="-122"/>
                <a:cs typeface="Courier New" pitchFamily="34" charset="-120"/>
              </a:rPr>
              <a:t>BECURRENT  ·  SOCIAL MEDIA  ·  TOPIC 6</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548640" y="310896"/>
            <a:ext cx="347472" cy="347472"/>
          </a:xfrm>
          <a:prstGeom prst="ellipse">
            <a:avLst/>
          </a:prstGeom>
          <a:solidFill>
            <a:srgbClr val="B22222"/>
          </a:solidFill>
          <a:ln w="12700">
            <a:solidFill>
              <a:srgbClr val="B22222"/>
            </a:solidFill>
            <a:prstDash val="solid"/>
          </a:ln>
        </p:spPr>
      </p:sp>
      <p:sp>
        <p:nvSpPr>
          <p:cNvPr id="3" name="Text 1"/>
          <p:cNvSpPr/>
          <p:nvPr/>
        </p:nvSpPr>
        <p:spPr>
          <a:xfrm>
            <a:off x="548640" y="310896"/>
            <a:ext cx="347472" cy="347472"/>
          </a:xfrm>
          <a:prstGeom prst="rect">
            <a:avLst/>
          </a:prstGeom>
          <a:noFill/>
          <a:ln/>
        </p:spPr>
        <p:txBody>
          <a:bodyPr wrap="square" lIns="0" tIns="0" rIns="0" bIns="0" rtlCol="0" anchor="ctr"/>
          <a:lstStyle/>
          <a:p>
            <a:pPr algn="ctr" indent="0" marL="0">
              <a:buNone/>
            </a:pPr>
            <a:r>
              <a:rPr lang="en-US" sz="1050" b="1" dirty="0">
                <a:solidFill>
                  <a:srgbClr val="FFFEFB"/>
                </a:solidFill>
                <a:latin typeface="Courier New" pitchFamily="34" charset="0"/>
                <a:ea typeface="Courier New" pitchFamily="34" charset="-122"/>
                <a:cs typeface="Courier New" pitchFamily="34" charset="-120"/>
              </a:rPr>
              <a:t>3</a:t>
            </a:r>
            <a:endParaRPr lang="en-US" sz="1050" dirty="0"/>
          </a:p>
        </p:txBody>
      </p:sp>
      <p:sp>
        <p:nvSpPr>
          <p:cNvPr id="4" name="Text 2"/>
          <p:cNvSpPr/>
          <p:nvPr/>
        </p:nvSpPr>
        <p:spPr>
          <a:xfrm>
            <a:off x="1005840" y="365760"/>
            <a:ext cx="8046720" cy="237744"/>
          </a:xfrm>
          <a:prstGeom prst="rect">
            <a:avLst/>
          </a:prstGeom>
          <a:noFill/>
          <a:ln/>
        </p:spPr>
        <p:txBody>
          <a:bodyPr wrap="square" lIns="0" tIns="0" rIns="0" bIns="0" rtlCol="0" anchor="ctr"/>
          <a:lstStyle/>
          <a:p>
            <a:pPr indent="0" marL="0">
              <a:buNone/>
            </a:pPr>
            <a:r>
              <a:rPr lang="en-US" sz="1000" b="1" spc="140" kern="0" dirty="0">
                <a:solidFill>
                  <a:srgbClr val="B22222"/>
                </a:solidFill>
                <a:latin typeface="Courier New" pitchFamily="34" charset="0"/>
                <a:ea typeface="Courier New" pitchFamily="34" charset="-122"/>
                <a:cs typeface="Courier New" pitchFamily="34" charset="-120"/>
              </a:rPr>
              <a:t>POSITION THREE</a:t>
            </a:r>
            <a:endParaRPr lang="en-US" sz="1000" dirty="0"/>
          </a:p>
        </p:txBody>
      </p:sp>
      <p:sp>
        <p:nvSpPr>
          <p:cNvPr id="5" name="Text 3"/>
          <p:cNvSpPr/>
          <p:nvPr/>
        </p:nvSpPr>
        <p:spPr>
          <a:xfrm>
            <a:off x="548640" y="822960"/>
            <a:ext cx="8046720" cy="731520"/>
          </a:xfrm>
          <a:prstGeom prst="rect">
            <a:avLst/>
          </a:prstGeom>
          <a:noFill/>
          <a:ln/>
        </p:spPr>
        <p:txBody>
          <a:bodyPr wrap="square" lIns="0" tIns="0" rIns="0" bIns="0" rtlCol="0" anchor="t"/>
          <a:lstStyle/>
          <a:p>
            <a:pPr indent="0" marL="0">
              <a:lnSpc>
                <a:spcPct val="92000"/>
              </a:lnSpc>
              <a:buNone/>
            </a:pPr>
            <a:r>
              <a:rPr lang="en-US" sz="3200" b="1" dirty="0">
                <a:solidFill>
                  <a:srgbClr val="14171A"/>
                </a:solidFill>
                <a:latin typeface="Cambria" pitchFamily="34" charset="0"/>
                <a:ea typeface="Cambria" pitchFamily="34" charset="-122"/>
                <a:cs typeface="Cambria" pitchFamily="34" charset="-120"/>
              </a:rPr>
              <a:t>The government decides</a:t>
            </a:r>
            <a:endParaRPr lang="en-US" sz="3200" dirty="0"/>
          </a:p>
        </p:txBody>
      </p:sp>
      <p:sp>
        <p:nvSpPr>
          <p:cNvPr id="6" name="Shape 4"/>
          <p:cNvSpPr/>
          <p:nvPr/>
        </p:nvSpPr>
        <p:spPr>
          <a:xfrm>
            <a:off x="548640" y="1627632"/>
            <a:ext cx="3840480" cy="2057400"/>
          </a:xfrm>
          <a:prstGeom prst="roundRect">
            <a:avLst>
              <a:gd name="adj" fmla="val 2667"/>
            </a:avLst>
          </a:prstGeom>
          <a:solidFill>
            <a:srgbClr val="FFFEFB"/>
          </a:solidFill>
          <a:ln w="9525">
            <a:solidFill>
              <a:srgbClr val="D9D6CF"/>
            </a:solidFill>
            <a:prstDash val="solid"/>
          </a:ln>
          <a:effectLst>
            <a:outerShdw sx="100000" sy="100000" kx="0" ky="0" algn="bl" rotWithShape="0" blurRad="88900" dist="12700" dir="5400000">
              <a:srgbClr val="9A968A">
                <a:alpha val="20000"/>
              </a:srgbClr>
            </a:outerShdw>
          </a:effectLst>
        </p:spPr>
      </p:sp>
      <p:sp>
        <p:nvSpPr>
          <p:cNvPr id="7" name="Text 5"/>
          <p:cNvSpPr/>
          <p:nvPr/>
        </p:nvSpPr>
        <p:spPr>
          <a:xfrm>
            <a:off x="786384" y="1828800"/>
            <a:ext cx="3364992" cy="219456"/>
          </a:xfrm>
          <a:prstGeom prst="rect">
            <a:avLst/>
          </a:prstGeom>
          <a:noFill/>
          <a:ln/>
        </p:spPr>
        <p:txBody>
          <a:bodyPr wrap="square" lIns="0" tIns="0" rIns="0" bIns="0" rtlCol="0" anchor="t"/>
          <a:lstStyle/>
          <a:p>
            <a:pPr algn="l" indent="0" marL="0">
              <a:lnSpc>
                <a:spcPct val="106000"/>
              </a:lnSpc>
              <a:buNone/>
            </a:pPr>
            <a:r>
              <a:rPr lang="en-US" sz="900" b="1" dirty="0">
                <a:solidFill>
                  <a:srgbClr val="1F5673"/>
                </a:solidFill>
                <a:latin typeface="Courier New" pitchFamily="34" charset="0"/>
                <a:ea typeface="Courier New" pitchFamily="34" charset="-122"/>
                <a:cs typeface="Courier New" pitchFamily="34" charset="-120"/>
              </a:rPr>
              <a:t>THE STRONGEST CASE</a:t>
            </a:r>
            <a:endParaRPr lang="en-US" sz="900" dirty="0"/>
          </a:p>
        </p:txBody>
      </p:sp>
      <p:sp>
        <p:nvSpPr>
          <p:cNvPr id="8" name="Text 6"/>
          <p:cNvSpPr/>
          <p:nvPr/>
        </p:nvSpPr>
        <p:spPr>
          <a:xfrm>
            <a:off x="786384" y="2121408"/>
            <a:ext cx="3364992" cy="1399032"/>
          </a:xfrm>
          <a:prstGeom prst="rect">
            <a:avLst/>
          </a:prstGeom>
          <a:noFill/>
          <a:ln/>
        </p:spPr>
        <p:txBody>
          <a:bodyPr wrap="square" lIns="0" tIns="0" rIns="0" bIns="0" rtlCol="0" anchor="t"/>
          <a:lstStyle/>
          <a:p>
            <a:pPr marL="177800" indent="-177800">
              <a:lnSpc>
                <a:spcPct val="104000"/>
              </a:lnSpc>
              <a:spcAft>
                <a:spcPts val="800"/>
              </a:spcAft>
              <a:buSzPct val="100000"/>
              <a:buChar char="•"/>
            </a:pPr>
            <a:r>
              <a:rPr lang="en-US" sz="1250" dirty="0">
                <a:solidFill>
                  <a:srgbClr val="3C444C"/>
                </a:solidFill>
                <a:latin typeface="Calibri" pitchFamily="34" charset="0"/>
                <a:ea typeface="Calibri" pitchFamily="34" charset="-122"/>
                <a:cs typeface="Calibri" pitchFamily="34" charset="-120"/>
              </a:rPr>
              <a:t>Regulation means the government sets rules a company has to follow.</a:t>
            </a:r>
            <a:endParaRPr lang="en-US" sz="1250" dirty="0"/>
          </a:p>
          <a:p>
            <a:pPr marL="177800" indent="-177800">
              <a:lnSpc>
                <a:spcPct val="104000"/>
              </a:lnSpc>
              <a:spcAft>
                <a:spcPts val="800"/>
              </a:spcAft>
              <a:buSzPct val="100000"/>
              <a:buChar char="•"/>
            </a:pPr>
            <a:r>
              <a:rPr lang="en-US" sz="1250" dirty="0">
                <a:solidFill>
                  <a:srgbClr val="3C444C"/>
                </a:solidFill>
                <a:latin typeface="Calibri" pitchFamily="34" charset="0"/>
                <a:ea typeface="Calibri" pitchFamily="34" charset="-122"/>
                <a:cs typeface="Calibri" pitchFamily="34" charset="-120"/>
              </a:rPr>
              <a:t>We already do this: seatbelts, no cigarette ads on TV, no full-time child labor.</a:t>
            </a:r>
            <a:endParaRPr lang="en-US" sz="1250" dirty="0"/>
          </a:p>
          <a:p>
            <a:pPr marL="177800" indent="-177800">
              <a:lnSpc>
                <a:spcPct val="104000"/>
              </a:lnSpc>
              <a:spcAft>
                <a:spcPts val="800"/>
              </a:spcAft>
              <a:buSzPct val="100000"/>
              <a:buChar char="•"/>
            </a:pPr>
            <a:r>
              <a:rPr lang="en-US" sz="1250" dirty="0">
                <a:solidFill>
                  <a:srgbClr val="3C444C"/>
                </a:solidFill>
                <a:latin typeface="Calibri" pitchFamily="34" charset="0"/>
                <a:ea typeface="Calibri" pitchFamily="34" charset="-122"/>
                <a:cs typeface="Calibri" pitchFamily="34" charset="-120"/>
              </a:rPr>
              <a:t>People once said each of those should be personal. Almost nobody does now.</a:t>
            </a:r>
            <a:endParaRPr lang="en-US" sz="1250" dirty="0"/>
          </a:p>
        </p:txBody>
      </p:sp>
      <p:sp>
        <p:nvSpPr>
          <p:cNvPr id="9" name="Shape 7"/>
          <p:cNvSpPr/>
          <p:nvPr/>
        </p:nvSpPr>
        <p:spPr>
          <a:xfrm>
            <a:off x="4754880" y="1627632"/>
            <a:ext cx="3840480" cy="2057400"/>
          </a:xfrm>
          <a:prstGeom prst="roundRect">
            <a:avLst>
              <a:gd name="adj" fmla="val 2667"/>
            </a:avLst>
          </a:prstGeom>
          <a:solidFill>
            <a:srgbClr val="F2E1E1"/>
          </a:solidFill>
          <a:ln w="9525">
            <a:solidFill>
              <a:srgbClr val="F2E1E1"/>
            </a:solidFill>
            <a:prstDash val="solid"/>
          </a:ln>
          <a:effectLst>
            <a:outerShdw sx="100000" sy="100000" kx="0" ky="0" algn="bl" rotWithShape="0" blurRad="88900" dist="12700" dir="5400000">
              <a:srgbClr val="9A968A">
                <a:alpha val="20000"/>
              </a:srgbClr>
            </a:outerShdw>
          </a:effectLst>
        </p:spPr>
      </p:sp>
      <p:sp>
        <p:nvSpPr>
          <p:cNvPr id="10" name="Text 8"/>
          <p:cNvSpPr/>
          <p:nvPr/>
        </p:nvSpPr>
        <p:spPr>
          <a:xfrm>
            <a:off x="4992624" y="1828800"/>
            <a:ext cx="3364992" cy="219456"/>
          </a:xfrm>
          <a:prstGeom prst="rect">
            <a:avLst/>
          </a:prstGeom>
          <a:noFill/>
          <a:ln/>
        </p:spPr>
        <p:txBody>
          <a:bodyPr wrap="square" lIns="0" tIns="0" rIns="0" bIns="0" rtlCol="0" anchor="t"/>
          <a:lstStyle/>
          <a:p>
            <a:pPr algn="l" indent="0" marL="0">
              <a:lnSpc>
                <a:spcPct val="106000"/>
              </a:lnSpc>
              <a:buNone/>
            </a:pPr>
            <a:r>
              <a:rPr lang="en-US" sz="900" b="1" dirty="0">
                <a:solidFill>
                  <a:srgbClr val="8A1A1A"/>
                </a:solidFill>
                <a:latin typeface="Courier New" pitchFamily="34" charset="0"/>
                <a:ea typeface="Courier New" pitchFamily="34" charset="-122"/>
                <a:cs typeface="Courier New" pitchFamily="34" charset="-120"/>
              </a:rPr>
              <a:t>THE HARDEST QUESTION</a:t>
            </a:r>
            <a:endParaRPr lang="en-US" sz="900" dirty="0"/>
          </a:p>
        </p:txBody>
      </p:sp>
      <p:sp>
        <p:nvSpPr>
          <p:cNvPr id="11" name="Text 9"/>
          <p:cNvSpPr/>
          <p:nvPr/>
        </p:nvSpPr>
        <p:spPr>
          <a:xfrm>
            <a:off x="4992624" y="2121408"/>
            <a:ext cx="3364992" cy="1399032"/>
          </a:xfrm>
          <a:prstGeom prst="rect">
            <a:avLst/>
          </a:prstGeom>
          <a:noFill/>
          <a:ln/>
        </p:spPr>
        <p:txBody>
          <a:bodyPr wrap="square" lIns="0" tIns="0" rIns="0" bIns="0" rtlCol="0" anchor="t"/>
          <a:lstStyle/>
          <a:p>
            <a:pPr algn="l" indent="0" marL="0">
              <a:lnSpc>
                <a:spcPct val="116000"/>
              </a:lnSpc>
              <a:buNone/>
            </a:pPr>
            <a:r>
              <a:rPr lang="en-US" sz="1300" dirty="0">
                <a:solidFill>
                  <a:srgbClr val="14171A"/>
                </a:solidFill>
                <a:latin typeface="Calibri" pitchFamily="34" charset="0"/>
                <a:ea typeface="Calibri" pitchFamily="34" charset="-122"/>
                <a:cs typeface="Calibri" pitchFamily="34" charset="-120"/>
              </a:rPr>
              <a:t>A government that can require a platform to change what it shows you can also require it to change what it shows you. The power to protect and the power to control are the same power, in different hands.</a:t>
            </a:r>
            <a:endParaRPr lang="en-US" sz="1300" dirty="0"/>
          </a:p>
        </p:txBody>
      </p:sp>
      <p:sp>
        <p:nvSpPr>
          <p:cNvPr id="12" name="Shape 10"/>
          <p:cNvSpPr/>
          <p:nvPr/>
        </p:nvSpPr>
        <p:spPr>
          <a:xfrm>
            <a:off x="548640" y="3858768"/>
            <a:ext cx="8046720" cy="640080"/>
          </a:xfrm>
          <a:prstGeom prst="roundRect">
            <a:avLst>
              <a:gd name="adj" fmla="val 8571"/>
            </a:avLst>
          </a:prstGeom>
          <a:solidFill>
            <a:srgbClr val="E3EAEE"/>
          </a:solidFill>
          <a:ln w="9525">
            <a:solidFill>
              <a:srgbClr val="E3EAEE"/>
            </a:solidFill>
            <a:prstDash val="solid"/>
          </a:ln>
          <a:effectLst>
            <a:outerShdw sx="100000" sy="100000" kx="0" ky="0" algn="bl" rotWithShape="0" blurRad="88900" dist="12700" dir="5400000">
              <a:srgbClr val="9A968A">
                <a:alpha val="20000"/>
              </a:srgbClr>
            </a:outerShdw>
          </a:effectLst>
        </p:spPr>
      </p:sp>
      <p:sp>
        <p:nvSpPr>
          <p:cNvPr id="13" name="Text 11"/>
          <p:cNvSpPr/>
          <p:nvPr/>
        </p:nvSpPr>
        <p:spPr>
          <a:xfrm>
            <a:off x="786384" y="3986784"/>
            <a:ext cx="1188720" cy="201168"/>
          </a:xfrm>
          <a:prstGeom prst="rect">
            <a:avLst/>
          </a:prstGeom>
          <a:noFill/>
          <a:ln/>
        </p:spPr>
        <p:txBody>
          <a:bodyPr wrap="square" lIns="0" tIns="0" rIns="0" bIns="0" rtlCol="0" anchor="t"/>
          <a:lstStyle/>
          <a:p>
            <a:pPr algn="l" indent="0" marL="0">
              <a:lnSpc>
                <a:spcPct val="106000"/>
              </a:lnSpc>
              <a:buNone/>
            </a:pPr>
            <a:r>
              <a:rPr lang="en-US" sz="850" b="1" dirty="0">
                <a:solidFill>
                  <a:srgbClr val="1F5673"/>
                </a:solidFill>
                <a:latin typeface="Courier New" pitchFamily="34" charset="0"/>
                <a:ea typeface="Courier New" pitchFamily="34" charset="-122"/>
                <a:cs typeface="Courier New" pitchFamily="34" charset="-120"/>
              </a:rPr>
              <a:t>WATCH FOR</a:t>
            </a:r>
            <a:endParaRPr lang="en-US" sz="850" dirty="0"/>
          </a:p>
        </p:txBody>
      </p:sp>
      <p:sp>
        <p:nvSpPr>
          <p:cNvPr id="14" name="Text 12"/>
          <p:cNvSpPr/>
          <p:nvPr/>
        </p:nvSpPr>
        <p:spPr>
          <a:xfrm>
            <a:off x="2011680" y="3931920"/>
            <a:ext cx="6309360" cy="493776"/>
          </a:xfrm>
          <a:prstGeom prst="rect">
            <a:avLst/>
          </a:prstGeom>
          <a:noFill/>
          <a:ln/>
        </p:spPr>
        <p:txBody>
          <a:bodyPr wrap="square" lIns="0" tIns="0" rIns="0" bIns="0" rtlCol="0" anchor="t"/>
          <a:lstStyle/>
          <a:p>
            <a:pPr algn="l" indent="0" marL="0">
              <a:lnSpc>
                <a:spcPct val="106000"/>
              </a:lnSpc>
              <a:buNone/>
            </a:pPr>
            <a:r>
              <a:rPr lang="en-US" sz="1200" dirty="0">
                <a:solidFill>
                  <a:srgbClr val="14171A"/>
                </a:solidFill>
                <a:latin typeface="Calibri" pitchFamily="34" charset="0"/>
                <a:ea typeface="Calibri" pitchFamily="34" charset="-122"/>
                <a:cs typeface="Calibri" pitchFamily="34" charset="-120"/>
              </a:rPr>
              <a:t>An unintended consequence is a result nobody wanted or predicted. Rules aimed at big platforms often land hardest on small ones that cannot afford lawyers.</a:t>
            </a:r>
            <a:endParaRPr lang="en-US" sz="1200" dirty="0"/>
          </a:p>
        </p:txBody>
      </p:sp>
      <p:sp>
        <p:nvSpPr>
          <p:cNvPr id="16" name="Text 13"/>
          <p:cNvSpPr/>
          <p:nvPr/>
        </p:nvSpPr>
        <p:spPr>
          <a:xfrm>
            <a:off x="548640" y="4668012"/>
            <a:ext cx="8046720" cy="256032"/>
          </a:xfrm>
          <a:prstGeom prst="rect">
            <a:avLst/>
          </a:prstGeom>
          <a:noFill/>
          <a:ln/>
        </p:spPr>
        <p:txBody>
          <a:bodyPr wrap="square" lIns="0" tIns="0" rIns="0" bIns="0" rtlCol="0" anchor="ctr"/>
          <a:lstStyle/>
          <a:p>
            <a:pPr indent="0" marL="0">
              <a:buNone/>
            </a:pPr>
            <a:r>
              <a:rPr lang="en-US" sz="800" spc="100" kern="0" dirty="0">
                <a:solidFill>
                  <a:srgbClr val="5C6873"/>
                </a:solidFill>
                <a:latin typeface="Courier New" pitchFamily="34" charset="0"/>
                <a:ea typeface="Courier New" pitchFamily="34" charset="-122"/>
                <a:cs typeface="Courier New" pitchFamily="34" charset="-120"/>
              </a:rPr>
              <a:t>BECURRENT  ·  SOCIAL MEDIA  ·  TOPIC 6</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2ED"/>
        </a:solidFill>
      </p:bgPr>
    </p:bg>
    <p:spTree>
      <p:nvGrpSpPr>
        <p:cNvPr id="1" name=""/>
        <p:cNvGrpSpPr/>
        <p:nvPr/>
      </p:nvGrpSpPr>
      <p:grpSpPr>
        <a:xfrm>
          <a:off x="0" y="0"/>
          <a:ext cx="0" cy="0"/>
          <a:chOff x="0" y="0"/>
          <a:chExt cx="0" cy="0"/>
        </a:xfrm>
      </p:grpSpPr>
      <p:sp>
        <p:nvSpPr>
          <p:cNvPr id="2" name="Text 0"/>
          <p:cNvSpPr/>
          <p:nvPr/>
        </p:nvSpPr>
        <p:spPr>
          <a:xfrm>
            <a:off x="548640" y="365760"/>
            <a:ext cx="8046720" cy="237744"/>
          </a:xfrm>
          <a:prstGeom prst="rect">
            <a:avLst/>
          </a:prstGeom>
          <a:noFill/>
          <a:ln/>
        </p:spPr>
        <p:txBody>
          <a:bodyPr wrap="square" lIns="0" tIns="0" rIns="0" bIns="0" rtlCol="0" anchor="ctr"/>
          <a:lstStyle/>
          <a:p>
            <a:pPr indent="0" marL="0">
              <a:buNone/>
            </a:pPr>
            <a:r>
              <a:rPr lang="en-US" sz="1000" b="1" spc="140" kern="0" dirty="0">
                <a:solidFill>
                  <a:srgbClr val="B22222"/>
                </a:solidFill>
                <a:latin typeface="Courier New" pitchFamily="34" charset="0"/>
                <a:ea typeface="Courier New" pitchFamily="34" charset="-122"/>
                <a:cs typeface="Courier New" pitchFamily="34" charset="-120"/>
              </a:rPr>
              <a:t>BEFORE YOU WRITE</a:t>
            </a:r>
            <a:endParaRPr lang="en-US" sz="1000" dirty="0"/>
          </a:p>
        </p:txBody>
      </p:sp>
      <p:sp>
        <p:nvSpPr>
          <p:cNvPr id="3" name="Text 1"/>
          <p:cNvSpPr/>
          <p:nvPr/>
        </p:nvSpPr>
        <p:spPr>
          <a:xfrm>
            <a:off x="548640" y="713232"/>
            <a:ext cx="8046720" cy="731520"/>
          </a:xfrm>
          <a:prstGeom prst="rect">
            <a:avLst/>
          </a:prstGeom>
          <a:noFill/>
          <a:ln/>
        </p:spPr>
        <p:txBody>
          <a:bodyPr wrap="square" lIns="0" tIns="0" rIns="0" bIns="0" rtlCol="0" anchor="t"/>
          <a:lstStyle/>
          <a:p>
            <a:pPr indent="0" marL="0">
              <a:lnSpc>
                <a:spcPct val="92000"/>
              </a:lnSpc>
              <a:buNone/>
            </a:pPr>
            <a:r>
              <a:rPr lang="en-US" sz="3000" b="1" dirty="0">
                <a:solidFill>
                  <a:srgbClr val="14171A"/>
                </a:solidFill>
                <a:latin typeface="Cambria" pitchFamily="34" charset="0"/>
                <a:ea typeface="Cambria" pitchFamily="34" charset="-122"/>
                <a:cs typeface="Cambria" pitchFamily="34" charset="-120"/>
              </a:rPr>
              <a:t>The case, and the cost</a:t>
            </a:r>
            <a:endParaRPr lang="en-US" sz="3000" dirty="0"/>
          </a:p>
        </p:txBody>
      </p:sp>
      <p:sp>
        <p:nvSpPr>
          <p:cNvPr id="4" name="Shape 2"/>
          <p:cNvSpPr/>
          <p:nvPr/>
        </p:nvSpPr>
        <p:spPr>
          <a:xfrm>
            <a:off x="548640" y="1554480"/>
            <a:ext cx="2560320" cy="2468880"/>
          </a:xfrm>
          <a:prstGeom prst="roundRect">
            <a:avLst>
              <a:gd name="adj" fmla="val 2222"/>
            </a:avLst>
          </a:prstGeom>
          <a:solidFill>
            <a:srgbClr val="FFFEFB"/>
          </a:solidFill>
          <a:ln w="9525">
            <a:solidFill>
              <a:srgbClr val="D9D6CF"/>
            </a:solidFill>
            <a:prstDash val="solid"/>
          </a:ln>
          <a:effectLst>
            <a:outerShdw sx="100000" sy="100000" kx="0" ky="0" algn="bl" rotWithShape="0" blurRad="88900" dist="12700" dir="5400000">
              <a:srgbClr val="9A968A">
                <a:alpha val="20000"/>
              </a:srgbClr>
            </a:outerShdw>
          </a:effectLst>
        </p:spPr>
      </p:sp>
      <p:sp>
        <p:nvSpPr>
          <p:cNvPr id="5" name="Text 3"/>
          <p:cNvSpPr/>
          <p:nvPr/>
        </p:nvSpPr>
        <p:spPr>
          <a:xfrm>
            <a:off x="768096" y="1755648"/>
            <a:ext cx="2121408" cy="274320"/>
          </a:xfrm>
          <a:prstGeom prst="rect">
            <a:avLst/>
          </a:prstGeom>
          <a:noFill/>
          <a:ln/>
        </p:spPr>
        <p:txBody>
          <a:bodyPr wrap="square" lIns="0" tIns="0" rIns="0" bIns="0" rtlCol="0" anchor="t"/>
          <a:lstStyle/>
          <a:p>
            <a:pPr algn="l" indent="0" marL="0">
              <a:lnSpc>
                <a:spcPct val="106000"/>
              </a:lnSpc>
              <a:buNone/>
            </a:pPr>
            <a:r>
              <a:rPr lang="en-US" sz="1600" b="1" dirty="0">
                <a:solidFill>
                  <a:srgbClr val="14171A"/>
                </a:solidFill>
                <a:latin typeface="Cambria" pitchFamily="34" charset="0"/>
                <a:ea typeface="Cambria" pitchFamily="34" charset="-122"/>
                <a:cs typeface="Cambria" pitchFamily="34" charset="-120"/>
              </a:rPr>
              <a:t>You</a:t>
            </a:r>
            <a:endParaRPr lang="en-US" sz="1600" dirty="0"/>
          </a:p>
        </p:txBody>
      </p:sp>
      <p:sp>
        <p:nvSpPr>
          <p:cNvPr id="6" name="Text 4"/>
          <p:cNvSpPr/>
          <p:nvPr/>
        </p:nvSpPr>
        <p:spPr>
          <a:xfrm>
            <a:off x="768096" y="2139696"/>
            <a:ext cx="2121408" cy="201168"/>
          </a:xfrm>
          <a:prstGeom prst="rect">
            <a:avLst/>
          </a:prstGeom>
          <a:noFill/>
          <a:ln/>
        </p:spPr>
        <p:txBody>
          <a:bodyPr wrap="square" lIns="0" tIns="0" rIns="0" bIns="0" rtlCol="0" anchor="t"/>
          <a:lstStyle/>
          <a:p>
            <a:pPr algn="l" indent="0" marL="0">
              <a:lnSpc>
                <a:spcPct val="106000"/>
              </a:lnSpc>
              <a:buNone/>
            </a:pPr>
            <a:r>
              <a:rPr lang="en-US" sz="850" b="1" dirty="0">
                <a:solidFill>
                  <a:srgbClr val="1F5673"/>
                </a:solidFill>
                <a:latin typeface="Courier New" pitchFamily="34" charset="0"/>
                <a:ea typeface="Courier New" pitchFamily="34" charset="-122"/>
                <a:cs typeface="Courier New" pitchFamily="34" charset="-120"/>
              </a:rPr>
              <a:t>THE CASE</a:t>
            </a:r>
            <a:endParaRPr lang="en-US" sz="850" dirty="0"/>
          </a:p>
        </p:txBody>
      </p:sp>
      <p:sp>
        <p:nvSpPr>
          <p:cNvPr id="7" name="Text 5"/>
          <p:cNvSpPr/>
          <p:nvPr/>
        </p:nvSpPr>
        <p:spPr>
          <a:xfrm>
            <a:off x="768096" y="2377440"/>
            <a:ext cx="2121408" cy="566928"/>
          </a:xfrm>
          <a:prstGeom prst="rect">
            <a:avLst/>
          </a:prstGeom>
          <a:noFill/>
          <a:ln/>
        </p:spPr>
        <p:txBody>
          <a:bodyPr wrap="square" lIns="0" tIns="0" rIns="0" bIns="0" rtlCol="0" anchor="t"/>
          <a:lstStyle/>
          <a:p>
            <a:pPr algn="l" indent="0" marL="0">
              <a:lnSpc>
                <a:spcPct val="106000"/>
              </a:lnSpc>
              <a:buNone/>
            </a:pPr>
            <a:r>
              <a:rPr lang="en-US" sz="1200" dirty="0">
                <a:solidFill>
                  <a:srgbClr val="3C444C"/>
                </a:solidFill>
                <a:latin typeface="Calibri" pitchFamily="34" charset="0"/>
                <a:ea typeface="Calibri" pitchFamily="34" charset="-122"/>
                <a:cs typeface="Calibri" pitchFamily="34" charset="-120"/>
              </a:rPr>
              <a:t>It is your attention, and the controls exist.</a:t>
            </a:r>
            <a:endParaRPr lang="en-US" sz="1200" dirty="0"/>
          </a:p>
        </p:txBody>
      </p:sp>
      <p:sp>
        <p:nvSpPr>
          <p:cNvPr id="8" name="Text 6"/>
          <p:cNvSpPr/>
          <p:nvPr/>
        </p:nvSpPr>
        <p:spPr>
          <a:xfrm>
            <a:off x="768096" y="3017520"/>
            <a:ext cx="2121408" cy="201168"/>
          </a:xfrm>
          <a:prstGeom prst="rect">
            <a:avLst/>
          </a:prstGeom>
          <a:noFill/>
          <a:ln/>
        </p:spPr>
        <p:txBody>
          <a:bodyPr wrap="square" lIns="0" tIns="0" rIns="0" bIns="0" rtlCol="0" anchor="t"/>
          <a:lstStyle/>
          <a:p>
            <a:pPr algn="l" indent="0" marL="0">
              <a:lnSpc>
                <a:spcPct val="106000"/>
              </a:lnSpc>
              <a:buNone/>
            </a:pPr>
            <a:r>
              <a:rPr lang="en-US" sz="850" b="1" dirty="0">
                <a:solidFill>
                  <a:srgbClr val="8A1A1A"/>
                </a:solidFill>
                <a:latin typeface="Courier New" pitchFamily="34" charset="0"/>
                <a:ea typeface="Courier New" pitchFamily="34" charset="-122"/>
                <a:cs typeface="Courier New" pitchFamily="34" charset="-120"/>
              </a:rPr>
              <a:t>THE COST</a:t>
            </a:r>
            <a:endParaRPr lang="en-US" sz="850" dirty="0"/>
          </a:p>
        </p:txBody>
      </p:sp>
      <p:sp>
        <p:nvSpPr>
          <p:cNvPr id="9" name="Text 7"/>
          <p:cNvSpPr/>
          <p:nvPr/>
        </p:nvSpPr>
        <p:spPr>
          <a:xfrm>
            <a:off x="768096" y="3255264"/>
            <a:ext cx="2121408" cy="640080"/>
          </a:xfrm>
          <a:prstGeom prst="rect">
            <a:avLst/>
          </a:prstGeom>
          <a:noFill/>
          <a:ln/>
        </p:spPr>
        <p:txBody>
          <a:bodyPr wrap="square" lIns="0" tIns="0" rIns="0" bIns="0" rtlCol="0" anchor="t"/>
          <a:lstStyle/>
          <a:p>
            <a:pPr algn="l" indent="0" marL="0">
              <a:lnSpc>
                <a:spcPct val="106000"/>
              </a:lnSpc>
              <a:buNone/>
            </a:pPr>
            <a:r>
              <a:rPr lang="en-US" sz="1200" dirty="0">
                <a:solidFill>
                  <a:srgbClr val="3C444C"/>
                </a:solidFill>
                <a:latin typeface="Calibri" pitchFamily="34" charset="0"/>
                <a:ea typeface="Calibri" pitchFamily="34" charset="-122"/>
                <a:cs typeface="Calibri" pitchFamily="34" charset="-120"/>
              </a:rPr>
              <a:t>The other side has thousands of engineers. You have willpower.</a:t>
            </a:r>
            <a:endParaRPr lang="en-US" sz="1200" dirty="0"/>
          </a:p>
        </p:txBody>
      </p:sp>
      <p:sp>
        <p:nvSpPr>
          <p:cNvPr id="10" name="Shape 8"/>
          <p:cNvSpPr/>
          <p:nvPr/>
        </p:nvSpPr>
        <p:spPr>
          <a:xfrm>
            <a:off x="3291840" y="1554480"/>
            <a:ext cx="2560320" cy="2468880"/>
          </a:xfrm>
          <a:prstGeom prst="roundRect">
            <a:avLst>
              <a:gd name="adj" fmla="val 2222"/>
            </a:avLst>
          </a:prstGeom>
          <a:solidFill>
            <a:srgbClr val="FFFEFB"/>
          </a:solidFill>
          <a:ln w="9525">
            <a:solidFill>
              <a:srgbClr val="D9D6CF"/>
            </a:solidFill>
            <a:prstDash val="solid"/>
          </a:ln>
          <a:effectLst>
            <a:outerShdw sx="100000" sy="100000" kx="0" ky="0" algn="bl" rotWithShape="0" blurRad="88900" dist="12700" dir="5400000">
              <a:srgbClr val="9A968A">
                <a:alpha val="20000"/>
              </a:srgbClr>
            </a:outerShdw>
          </a:effectLst>
        </p:spPr>
      </p:sp>
      <p:sp>
        <p:nvSpPr>
          <p:cNvPr id="11" name="Text 9"/>
          <p:cNvSpPr/>
          <p:nvPr/>
        </p:nvSpPr>
        <p:spPr>
          <a:xfrm>
            <a:off x="3511296" y="1755648"/>
            <a:ext cx="2121408" cy="274320"/>
          </a:xfrm>
          <a:prstGeom prst="rect">
            <a:avLst/>
          </a:prstGeom>
          <a:noFill/>
          <a:ln/>
        </p:spPr>
        <p:txBody>
          <a:bodyPr wrap="square" lIns="0" tIns="0" rIns="0" bIns="0" rtlCol="0" anchor="t"/>
          <a:lstStyle/>
          <a:p>
            <a:pPr algn="l" indent="0" marL="0">
              <a:lnSpc>
                <a:spcPct val="106000"/>
              </a:lnSpc>
              <a:buNone/>
            </a:pPr>
            <a:r>
              <a:rPr lang="en-US" sz="1600" b="1" dirty="0">
                <a:solidFill>
                  <a:srgbClr val="14171A"/>
                </a:solidFill>
                <a:latin typeface="Cambria" pitchFamily="34" charset="0"/>
                <a:ea typeface="Cambria" pitchFamily="34" charset="-122"/>
                <a:cs typeface="Cambria" pitchFamily="34" charset="-120"/>
              </a:rPr>
              <a:t>The company</a:t>
            </a:r>
            <a:endParaRPr lang="en-US" sz="1600" dirty="0"/>
          </a:p>
        </p:txBody>
      </p:sp>
      <p:sp>
        <p:nvSpPr>
          <p:cNvPr id="12" name="Text 10"/>
          <p:cNvSpPr/>
          <p:nvPr/>
        </p:nvSpPr>
        <p:spPr>
          <a:xfrm>
            <a:off x="3511296" y="2139696"/>
            <a:ext cx="2121408" cy="201168"/>
          </a:xfrm>
          <a:prstGeom prst="rect">
            <a:avLst/>
          </a:prstGeom>
          <a:noFill/>
          <a:ln/>
        </p:spPr>
        <p:txBody>
          <a:bodyPr wrap="square" lIns="0" tIns="0" rIns="0" bIns="0" rtlCol="0" anchor="t"/>
          <a:lstStyle/>
          <a:p>
            <a:pPr algn="l" indent="0" marL="0">
              <a:lnSpc>
                <a:spcPct val="106000"/>
              </a:lnSpc>
              <a:buNone/>
            </a:pPr>
            <a:r>
              <a:rPr lang="en-US" sz="850" b="1" dirty="0">
                <a:solidFill>
                  <a:srgbClr val="1F5673"/>
                </a:solidFill>
                <a:latin typeface="Courier New" pitchFamily="34" charset="0"/>
                <a:ea typeface="Courier New" pitchFamily="34" charset="-122"/>
                <a:cs typeface="Courier New" pitchFamily="34" charset="-120"/>
              </a:rPr>
              <a:t>THE CASE</a:t>
            </a:r>
            <a:endParaRPr lang="en-US" sz="850" dirty="0"/>
          </a:p>
        </p:txBody>
      </p:sp>
      <p:sp>
        <p:nvSpPr>
          <p:cNvPr id="13" name="Text 11"/>
          <p:cNvSpPr/>
          <p:nvPr/>
        </p:nvSpPr>
        <p:spPr>
          <a:xfrm>
            <a:off x="3511296" y="2377440"/>
            <a:ext cx="2121408" cy="566928"/>
          </a:xfrm>
          <a:prstGeom prst="rect">
            <a:avLst/>
          </a:prstGeom>
          <a:noFill/>
          <a:ln/>
        </p:spPr>
        <p:txBody>
          <a:bodyPr wrap="square" lIns="0" tIns="0" rIns="0" bIns="0" rtlCol="0" anchor="t"/>
          <a:lstStyle/>
          <a:p>
            <a:pPr algn="l" indent="0" marL="0">
              <a:lnSpc>
                <a:spcPct val="106000"/>
              </a:lnSpc>
              <a:buNone/>
            </a:pPr>
            <a:r>
              <a:rPr lang="en-US" sz="1200" dirty="0">
                <a:solidFill>
                  <a:srgbClr val="3C444C"/>
                </a:solidFill>
                <a:latin typeface="Calibri" pitchFamily="34" charset="0"/>
                <a:ea typeface="Calibri" pitchFamily="34" charset="-122"/>
                <a:cs typeface="Calibri" pitchFamily="34" charset="-120"/>
              </a:rPr>
              <a:t>They built it, and bad press does move them.</a:t>
            </a:r>
            <a:endParaRPr lang="en-US" sz="1200" dirty="0"/>
          </a:p>
        </p:txBody>
      </p:sp>
      <p:sp>
        <p:nvSpPr>
          <p:cNvPr id="14" name="Text 12"/>
          <p:cNvSpPr/>
          <p:nvPr/>
        </p:nvSpPr>
        <p:spPr>
          <a:xfrm>
            <a:off x="3511296" y="3017520"/>
            <a:ext cx="2121408" cy="201168"/>
          </a:xfrm>
          <a:prstGeom prst="rect">
            <a:avLst/>
          </a:prstGeom>
          <a:noFill/>
          <a:ln/>
        </p:spPr>
        <p:txBody>
          <a:bodyPr wrap="square" lIns="0" tIns="0" rIns="0" bIns="0" rtlCol="0" anchor="t"/>
          <a:lstStyle/>
          <a:p>
            <a:pPr algn="l" indent="0" marL="0">
              <a:lnSpc>
                <a:spcPct val="106000"/>
              </a:lnSpc>
              <a:buNone/>
            </a:pPr>
            <a:r>
              <a:rPr lang="en-US" sz="850" b="1" dirty="0">
                <a:solidFill>
                  <a:srgbClr val="8A1A1A"/>
                </a:solidFill>
                <a:latin typeface="Courier New" pitchFamily="34" charset="0"/>
                <a:ea typeface="Courier New" pitchFamily="34" charset="-122"/>
                <a:cs typeface="Courier New" pitchFamily="34" charset="-120"/>
              </a:rPr>
              <a:t>THE COST</a:t>
            </a:r>
            <a:endParaRPr lang="en-US" sz="850" dirty="0"/>
          </a:p>
        </p:txBody>
      </p:sp>
      <p:sp>
        <p:nvSpPr>
          <p:cNvPr id="15" name="Text 13"/>
          <p:cNvSpPr/>
          <p:nvPr/>
        </p:nvSpPr>
        <p:spPr>
          <a:xfrm>
            <a:off x="3511296" y="3255264"/>
            <a:ext cx="2121408" cy="640080"/>
          </a:xfrm>
          <a:prstGeom prst="rect">
            <a:avLst/>
          </a:prstGeom>
          <a:noFill/>
          <a:ln/>
        </p:spPr>
        <p:txBody>
          <a:bodyPr wrap="square" lIns="0" tIns="0" rIns="0" bIns="0" rtlCol="0" anchor="t"/>
          <a:lstStyle/>
          <a:p>
            <a:pPr algn="l" indent="0" marL="0">
              <a:lnSpc>
                <a:spcPct val="106000"/>
              </a:lnSpc>
              <a:buNone/>
            </a:pPr>
            <a:r>
              <a:rPr lang="en-US" sz="1200" dirty="0">
                <a:solidFill>
                  <a:srgbClr val="3C444C"/>
                </a:solidFill>
                <a:latin typeface="Calibri" pitchFamily="34" charset="0"/>
                <a:ea typeface="Calibri" pitchFamily="34" charset="-122"/>
                <a:cs typeface="Calibri" pitchFamily="34" charset="-120"/>
              </a:rPr>
              <a:t>Their income is your attention. You are asking the wrong party.</a:t>
            </a:r>
            <a:endParaRPr lang="en-US" sz="1200" dirty="0"/>
          </a:p>
        </p:txBody>
      </p:sp>
      <p:sp>
        <p:nvSpPr>
          <p:cNvPr id="16" name="Shape 14"/>
          <p:cNvSpPr/>
          <p:nvPr/>
        </p:nvSpPr>
        <p:spPr>
          <a:xfrm>
            <a:off x="6035040" y="1554480"/>
            <a:ext cx="2560320" cy="2468880"/>
          </a:xfrm>
          <a:prstGeom prst="roundRect">
            <a:avLst>
              <a:gd name="adj" fmla="val 2222"/>
            </a:avLst>
          </a:prstGeom>
          <a:solidFill>
            <a:srgbClr val="FFFEFB"/>
          </a:solidFill>
          <a:ln w="9525">
            <a:solidFill>
              <a:srgbClr val="D9D6CF"/>
            </a:solidFill>
            <a:prstDash val="solid"/>
          </a:ln>
          <a:effectLst>
            <a:outerShdw sx="100000" sy="100000" kx="0" ky="0" algn="bl" rotWithShape="0" blurRad="88900" dist="12700" dir="5400000">
              <a:srgbClr val="9A968A">
                <a:alpha val="20000"/>
              </a:srgbClr>
            </a:outerShdw>
          </a:effectLst>
        </p:spPr>
      </p:sp>
      <p:sp>
        <p:nvSpPr>
          <p:cNvPr id="17" name="Text 15"/>
          <p:cNvSpPr/>
          <p:nvPr/>
        </p:nvSpPr>
        <p:spPr>
          <a:xfrm>
            <a:off x="6254496" y="1755648"/>
            <a:ext cx="2121408" cy="274320"/>
          </a:xfrm>
          <a:prstGeom prst="rect">
            <a:avLst/>
          </a:prstGeom>
          <a:noFill/>
          <a:ln/>
        </p:spPr>
        <p:txBody>
          <a:bodyPr wrap="square" lIns="0" tIns="0" rIns="0" bIns="0" rtlCol="0" anchor="t"/>
          <a:lstStyle/>
          <a:p>
            <a:pPr algn="l" indent="0" marL="0">
              <a:lnSpc>
                <a:spcPct val="106000"/>
              </a:lnSpc>
              <a:buNone/>
            </a:pPr>
            <a:r>
              <a:rPr lang="en-US" sz="1600" b="1" dirty="0">
                <a:solidFill>
                  <a:srgbClr val="14171A"/>
                </a:solidFill>
                <a:latin typeface="Cambria" pitchFamily="34" charset="0"/>
                <a:ea typeface="Cambria" pitchFamily="34" charset="-122"/>
                <a:cs typeface="Cambria" pitchFamily="34" charset="-120"/>
              </a:rPr>
              <a:t>The government</a:t>
            </a:r>
            <a:endParaRPr lang="en-US" sz="1600" dirty="0"/>
          </a:p>
        </p:txBody>
      </p:sp>
      <p:sp>
        <p:nvSpPr>
          <p:cNvPr id="18" name="Text 16"/>
          <p:cNvSpPr/>
          <p:nvPr/>
        </p:nvSpPr>
        <p:spPr>
          <a:xfrm>
            <a:off x="6254496" y="2139696"/>
            <a:ext cx="2121408" cy="201168"/>
          </a:xfrm>
          <a:prstGeom prst="rect">
            <a:avLst/>
          </a:prstGeom>
          <a:noFill/>
          <a:ln/>
        </p:spPr>
        <p:txBody>
          <a:bodyPr wrap="square" lIns="0" tIns="0" rIns="0" bIns="0" rtlCol="0" anchor="t"/>
          <a:lstStyle/>
          <a:p>
            <a:pPr algn="l" indent="0" marL="0">
              <a:lnSpc>
                <a:spcPct val="106000"/>
              </a:lnSpc>
              <a:buNone/>
            </a:pPr>
            <a:r>
              <a:rPr lang="en-US" sz="850" b="1" dirty="0">
                <a:solidFill>
                  <a:srgbClr val="1F5673"/>
                </a:solidFill>
                <a:latin typeface="Courier New" pitchFamily="34" charset="0"/>
                <a:ea typeface="Courier New" pitchFamily="34" charset="-122"/>
                <a:cs typeface="Courier New" pitchFamily="34" charset="-120"/>
              </a:rPr>
              <a:t>THE CASE</a:t>
            </a:r>
            <a:endParaRPr lang="en-US" sz="850" dirty="0"/>
          </a:p>
        </p:txBody>
      </p:sp>
      <p:sp>
        <p:nvSpPr>
          <p:cNvPr id="19" name="Text 17"/>
          <p:cNvSpPr/>
          <p:nvPr/>
        </p:nvSpPr>
        <p:spPr>
          <a:xfrm>
            <a:off x="6254496" y="2377440"/>
            <a:ext cx="2121408" cy="566928"/>
          </a:xfrm>
          <a:prstGeom prst="rect">
            <a:avLst/>
          </a:prstGeom>
          <a:noFill/>
          <a:ln/>
        </p:spPr>
        <p:txBody>
          <a:bodyPr wrap="square" lIns="0" tIns="0" rIns="0" bIns="0" rtlCol="0" anchor="t"/>
          <a:lstStyle/>
          <a:p>
            <a:pPr algn="l" indent="0" marL="0">
              <a:lnSpc>
                <a:spcPct val="106000"/>
              </a:lnSpc>
              <a:buNone/>
            </a:pPr>
            <a:r>
              <a:rPr lang="en-US" sz="1200" dirty="0">
                <a:solidFill>
                  <a:srgbClr val="3C444C"/>
                </a:solidFill>
                <a:latin typeface="Calibri" pitchFamily="34" charset="0"/>
                <a:ea typeface="Calibri" pitchFamily="34" charset="-122"/>
                <a:cs typeface="Calibri" pitchFamily="34" charset="-120"/>
              </a:rPr>
              <a:t>Seatbelts. Cigarette ads. Child labor.</a:t>
            </a:r>
            <a:endParaRPr lang="en-US" sz="1200" dirty="0"/>
          </a:p>
        </p:txBody>
      </p:sp>
      <p:sp>
        <p:nvSpPr>
          <p:cNvPr id="20" name="Text 18"/>
          <p:cNvSpPr/>
          <p:nvPr/>
        </p:nvSpPr>
        <p:spPr>
          <a:xfrm>
            <a:off x="6254496" y="3017520"/>
            <a:ext cx="2121408" cy="201168"/>
          </a:xfrm>
          <a:prstGeom prst="rect">
            <a:avLst/>
          </a:prstGeom>
          <a:noFill/>
          <a:ln/>
        </p:spPr>
        <p:txBody>
          <a:bodyPr wrap="square" lIns="0" tIns="0" rIns="0" bIns="0" rtlCol="0" anchor="t"/>
          <a:lstStyle/>
          <a:p>
            <a:pPr algn="l" indent="0" marL="0">
              <a:lnSpc>
                <a:spcPct val="106000"/>
              </a:lnSpc>
              <a:buNone/>
            </a:pPr>
            <a:r>
              <a:rPr lang="en-US" sz="850" b="1" dirty="0">
                <a:solidFill>
                  <a:srgbClr val="8A1A1A"/>
                </a:solidFill>
                <a:latin typeface="Courier New" pitchFamily="34" charset="0"/>
                <a:ea typeface="Courier New" pitchFamily="34" charset="-122"/>
                <a:cs typeface="Courier New" pitchFamily="34" charset="-120"/>
              </a:rPr>
              <a:t>THE COST</a:t>
            </a:r>
            <a:endParaRPr lang="en-US" sz="850" dirty="0"/>
          </a:p>
        </p:txBody>
      </p:sp>
      <p:sp>
        <p:nvSpPr>
          <p:cNvPr id="21" name="Text 19"/>
          <p:cNvSpPr/>
          <p:nvPr/>
        </p:nvSpPr>
        <p:spPr>
          <a:xfrm>
            <a:off x="6254496" y="3255264"/>
            <a:ext cx="2121408" cy="640080"/>
          </a:xfrm>
          <a:prstGeom prst="rect">
            <a:avLst/>
          </a:prstGeom>
          <a:noFill/>
          <a:ln/>
        </p:spPr>
        <p:txBody>
          <a:bodyPr wrap="square" lIns="0" tIns="0" rIns="0" bIns="0" rtlCol="0" anchor="t"/>
          <a:lstStyle/>
          <a:p>
            <a:pPr algn="l" indent="0" marL="0">
              <a:lnSpc>
                <a:spcPct val="106000"/>
              </a:lnSpc>
              <a:buNone/>
            </a:pPr>
            <a:r>
              <a:rPr lang="en-US" sz="1200" dirty="0">
                <a:solidFill>
                  <a:srgbClr val="3C444C"/>
                </a:solidFill>
                <a:latin typeface="Calibri" pitchFamily="34" charset="0"/>
                <a:ea typeface="Calibri" pitchFamily="34" charset="-122"/>
                <a:cs typeface="Calibri" pitchFamily="34" charset="-120"/>
              </a:rPr>
              <a:t>Protect and control are the same power, in different hands.</a:t>
            </a:r>
            <a:endParaRPr lang="en-US" sz="1200" dirty="0"/>
          </a:p>
        </p:txBody>
      </p:sp>
      <p:sp>
        <p:nvSpPr>
          <p:cNvPr id="22" name="Text 20"/>
          <p:cNvSpPr/>
          <p:nvPr/>
        </p:nvSpPr>
        <p:spPr>
          <a:xfrm>
            <a:off x="548640" y="4169664"/>
            <a:ext cx="8046720" cy="310896"/>
          </a:xfrm>
          <a:prstGeom prst="rect">
            <a:avLst/>
          </a:prstGeom>
          <a:noFill/>
          <a:ln/>
        </p:spPr>
        <p:txBody>
          <a:bodyPr wrap="square" lIns="0" tIns="0" rIns="0" bIns="0" rtlCol="0" anchor="t"/>
          <a:lstStyle/>
          <a:p>
            <a:pPr algn="l" indent="0" marL="0">
              <a:lnSpc>
                <a:spcPct val="106000"/>
              </a:lnSpc>
              <a:buNone/>
            </a:pPr>
            <a:r>
              <a:rPr lang="en-US" sz="1350" i="1" dirty="0">
                <a:solidFill>
                  <a:srgbClr val="3C444C"/>
                </a:solidFill>
                <a:latin typeface="Calibri" pitchFamily="34" charset="0"/>
                <a:ea typeface="Calibri" pitchFamily="34" charset="-122"/>
                <a:cs typeface="Calibri" pitchFamily="34" charset="-120"/>
              </a:rPr>
              <a:t>If you cannot say the cost of your own position, you are not ready to write about it yet.</a:t>
            </a:r>
            <a:endParaRPr lang="en-US" sz="1350" dirty="0"/>
          </a:p>
        </p:txBody>
      </p:sp>
      <p:sp>
        <p:nvSpPr>
          <p:cNvPr id="24" name="Text 21"/>
          <p:cNvSpPr/>
          <p:nvPr/>
        </p:nvSpPr>
        <p:spPr>
          <a:xfrm>
            <a:off x="548640" y="4668012"/>
            <a:ext cx="8046720" cy="256032"/>
          </a:xfrm>
          <a:prstGeom prst="rect">
            <a:avLst/>
          </a:prstGeom>
          <a:noFill/>
          <a:ln/>
        </p:spPr>
        <p:txBody>
          <a:bodyPr wrap="square" lIns="0" tIns="0" rIns="0" bIns="0" rtlCol="0" anchor="ctr"/>
          <a:lstStyle/>
          <a:p>
            <a:pPr indent="0" marL="0">
              <a:buNone/>
            </a:pPr>
            <a:r>
              <a:rPr lang="en-US" sz="800" spc="100" kern="0" dirty="0">
                <a:solidFill>
                  <a:srgbClr val="5C6873"/>
                </a:solidFill>
                <a:latin typeface="Courier New" pitchFamily="34" charset="0"/>
                <a:ea typeface="Courier New" pitchFamily="34" charset="-122"/>
                <a:cs typeface="Courier New" pitchFamily="34" charset="-120"/>
              </a:rPr>
              <a:t>BECURRENT  ·  SOCIAL MEDIA  ·  TOPIC 6</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2ED"/>
        </a:solidFill>
      </p:bgPr>
    </p:bg>
    <p:spTree>
      <p:nvGrpSpPr>
        <p:cNvPr id="1" name=""/>
        <p:cNvGrpSpPr/>
        <p:nvPr/>
      </p:nvGrpSpPr>
      <p:grpSpPr>
        <a:xfrm>
          <a:off x="0" y="0"/>
          <a:ext cx="0" cy="0"/>
          <a:chOff x="0" y="0"/>
          <a:chExt cx="0" cy="0"/>
        </a:xfrm>
      </p:grpSpPr>
      <p:sp>
        <p:nvSpPr>
          <p:cNvPr id="2" name="Text 0"/>
          <p:cNvSpPr/>
          <p:nvPr/>
        </p:nvSpPr>
        <p:spPr>
          <a:xfrm>
            <a:off x="548640" y="365760"/>
            <a:ext cx="8046720" cy="237744"/>
          </a:xfrm>
          <a:prstGeom prst="rect">
            <a:avLst/>
          </a:prstGeom>
          <a:noFill/>
          <a:ln/>
        </p:spPr>
        <p:txBody>
          <a:bodyPr wrap="square" lIns="0" tIns="0" rIns="0" bIns="0" rtlCol="0" anchor="ctr"/>
          <a:lstStyle/>
          <a:p>
            <a:pPr indent="0" marL="0">
              <a:buNone/>
            </a:pPr>
            <a:r>
              <a:rPr lang="en-US" sz="1000" b="1" spc="140" kern="0" dirty="0">
                <a:solidFill>
                  <a:srgbClr val="B22222"/>
                </a:solidFill>
                <a:latin typeface="Courier New" pitchFamily="34" charset="0"/>
                <a:ea typeface="Courier New" pitchFamily="34" charset="-122"/>
                <a:cs typeface="Courier New" pitchFamily="34" charset="-120"/>
              </a:rPr>
              <a:t>THE METHOD</a:t>
            </a:r>
            <a:endParaRPr lang="en-US" sz="1000" dirty="0"/>
          </a:p>
        </p:txBody>
      </p:sp>
      <p:sp>
        <p:nvSpPr>
          <p:cNvPr id="3" name="Text 1"/>
          <p:cNvSpPr/>
          <p:nvPr/>
        </p:nvSpPr>
        <p:spPr>
          <a:xfrm>
            <a:off x="548640" y="713232"/>
            <a:ext cx="8046720" cy="731520"/>
          </a:xfrm>
          <a:prstGeom prst="rect">
            <a:avLst/>
          </a:prstGeom>
          <a:noFill/>
          <a:ln/>
        </p:spPr>
        <p:txBody>
          <a:bodyPr wrap="square" lIns="0" tIns="0" rIns="0" bIns="0" rtlCol="0" anchor="t"/>
          <a:lstStyle/>
          <a:p>
            <a:pPr indent="0" marL="0">
              <a:lnSpc>
                <a:spcPct val="92000"/>
              </a:lnSpc>
              <a:buNone/>
            </a:pPr>
            <a:r>
              <a:rPr lang="en-US" sz="3000" b="1" dirty="0">
                <a:solidFill>
                  <a:srgbClr val="14171A"/>
                </a:solidFill>
                <a:latin typeface="Cambria" pitchFamily="34" charset="0"/>
                <a:ea typeface="Cambria" pitchFamily="34" charset="-122"/>
                <a:cs typeface="Cambria" pitchFamily="34" charset="-120"/>
              </a:rPr>
              <a:t>This argument has been had before</a:t>
            </a:r>
            <a:endParaRPr lang="en-US" sz="3000" dirty="0"/>
          </a:p>
        </p:txBody>
      </p:sp>
      <p:sp>
        <p:nvSpPr>
          <p:cNvPr id="4" name="Shape 2"/>
          <p:cNvSpPr/>
          <p:nvPr/>
        </p:nvSpPr>
        <p:spPr>
          <a:xfrm>
            <a:off x="548640" y="1645920"/>
            <a:ext cx="1874520" cy="1828800"/>
          </a:xfrm>
          <a:prstGeom prst="roundRect">
            <a:avLst>
              <a:gd name="adj" fmla="val 3000"/>
            </a:avLst>
          </a:prstGeom>
          <a:solidFill>
            <a:srgbClr val="FFFEFB"/>
          </a:solidFill>
          <a:ln w="9525">
            <a:solidFill>
              <a:srgbClr val="D9D6CF"/>
            </a:solidFill>
            <a:prstDash val="solid"/>
          </a:ln>
          <a:effectLst>
            <a:outerShdw sx="100000" sy="100000" kx="0" ky="0" algn="bl" rotWithShape="0" blurRad="88900" dist="12700" dir="5400000">
              <a:srgbClr val="9A968A">
                <a:alpha val="20000"/>
              </a:srgbClr>
            </a:outerShdw>
          </a:effectLst>
        </p:spPr>
      </p:sp>
      <p:sp>
        <p:nvSpPr>
          <p:cNvPr id="5" name="Text 3"/>
          <p:cNvSpPr/>
          <p:nvPr/>
        </p:nvSpPr>
        <p:spPr>
          <a:xfrm>
            <a:off x="749808" y="1828800"/>
            <a:ext cx="1472184" cy="329184"/>
          </a:xfrm>
          <a:prstGeom prst="rect">
            <a:avLst/>
          </a:prstGeom>
          <a:noFill/>
          <a:ln/>
        </p:spPr>
        <p:txBody>
          <a:bodyPr wrap="square" lIns="0" tIns="0" rIns="0" bIns="0" rtlCol="0" anchor="t"/>
          <a:lstStyle/>
          <a:p>
            <a:pPr algn="l" indent="0" marL="0">
              <a:lnSpc>
                <a:spcPct val="106000"/>
              </a:lnSpc>
              <a:buNone/>
            </a:pPr>
            <a:r>
              <a:rPr lang="en-US" sz="2000" b="1" dirty="0">
                <a:solidFill>
                  <a:srgbClr val="8A1A1A"/>
                </a:solidFill>
                <a:latin typeface="Cambria" pitchFamily="34" charset="0"/>
                <a:ea typeface="Cambria" pitchFamily="34" charset="-122"/>
                <a:cs typeface="Cambria" pitchFamily="34" charset="-120"/>
              </a:rPr>
              <a:t>1954</a:t>
            </a:r>
            <a:endParaRPr lang="en-US" sz="2000" dirty="0"/>
          </a:p>
        </p:txBody>
      </p:sp>
      <p:sp>
        <p:nvSpPr>
          <p:cNvPr id="6" name="Text 4"/>
          <p:cNvSpPr/>
          <p:nvPr/>
        </p:nvSpPr>
        <p:spPr>
          <a:xfrm>
            <a:off x="749808" y="2231136"/>
            <a:ext cx="1472184" cy="457200"/>
          </a:xfrm>
          <a:prstGeom prst="rect">
            <a:avLst/>
          </a:prstGeom>
          <a:noFill/>
          <a:ln/>
        </p:spPr>
        <p:txBody>
          <a:bodyPr wrap="square" lIns="0" tIns="0" rIns="0" bIns="0" rtlCol="0" anchor="t"/>
          <a:lstStyle/>
          <a:p>
            <a:pPr algn="l" indent="0" marL="0">
              <a:lnSpc>
                <a:spcPct val="104000"/>
              </a:lnSpc>
              <a:buNone/>
            </a:pPr>
            <a:r>
              <a:rPr lang="en-US" sz="1300" b="1" dirty="0">
                <a:solidFill>
                  <a:srgbClr val="14171A"/>
                </a:solidFill>
                <a:latin typeface="Calibri" pitchFamily="34" charset="0"/>
                <a:ea typeface="Calibri" pitchFamily="34" charset="-122"/>
                <a:cs typeface="Calibri" pitchFamily="34" charset="-120"/>
              </a:rPr>
              <a:t>Comic books</a:t>
            </a:r>
            <a:endParaRPr lang="en-US" sz="1300" dirty="0"/>
          </a:p>
        </p:txBody>
      </p:sp>
      <p:sp>
        <p:nvSpPr>
          <p:cNvPr id="7" name="Text 5"/>
          <p:cNvSpPr/>
          <p:nvPr/>
        </p:nvSpPr>
        <p:spPr>
          <a:xfrm>
            <a:off x="749808" y="2724912"/>
            <a:ext cx="1472184" cy="640080"/>
          </a:xfrm>
          <a:prstGeom prst="rect">
            <a:avLst/>
          </a:prstGeom>
          <a:noFill/>
          <a:ln/>
        </p:spPr>
        <p:txBody>
          <a:bodyPr wrap="square" lIns="0" tIns="0" rIns="0" bIns="0" rtlCol="0" anchor="t"/>
          <a:lstStyle/>
          <a:p>
            <a:pPr algn="l" indent="0" marL="0">
              <a:lnSpc>
                <a:spcPct val="104000"/>
              </a:lnSpc>
              <a:buNone/>
            </a:pPr>
            <a:r>
              <a:rPr lang="en-US" sz="1150" dirty="0">
                <a:solidFill>
                  <a:srgbClr val="3C444C"/>
                </a:solidFill>
                <a:latin typeface="Calibri" pitchFamily="34" charset="0"/>
                <a:ea typeface="Calibri" pitchFamily="34" charset="-122"/>
                <a:cs typeface="Calibri" pitchFamily="34" charset="-120"/>
              </a:rPr>
              <a:t>A Senate hearing and an industry code.</a:t>
            </a:r>
            <a:endParaRPr lang="en-US" sz="1150" dirty="0"/>
          </a:p>
        </p:txBody>
      </p:sp>
      <p:sp>
        <p:nvSpPr>
          <p:cNvPr id="8" name="Shape 6"/>
          <p:cNvSpPr/>
          <p:nvPr/>
        </p:nvSpPr>
        <p:spPr>
          <a:xfrm>
            <a:off x="2587752" y="1645920"/>
            <a:ext cx="1874520" cy="1828800"/>
          </a:xfrm>
          <a:prstGeom prst="roundRect">
            <a:avLst>
              <a:gd name="adj" fmla="val 3000"/>
            </a:avLst>
          </a:prstGeom>
          <a:solidFill>
            <a:srgbClr val="FFFEFB"/>
          </a:solidFill>
          <a:ln w="9525">
            <a:solidFill>
              <a:srgbClr val="D9D6CF"/>
            </a:solidFill>
            <a:prstDash val="solid"/>
          </a:ln>
          <a:effectLst>
            <a:outerShdw sx="100000" sy="100000" kx="0" ky="0" algn="bl" rotWithShape="0" blurRad="88900" dist="12700" dir="5400000">
              <a:srgbClr val="9A968A">
                <a:alpha val="20000"/>
              </a:srgbClr>
            </a:outerShdw>
          </a:effectLst>
        </p:spPr>
      </p:sp>
      <p:sp>
        <p:nvSpPr>
          <p:cNvPr id="9" name="Text 7"/>
          <p:cNvSpPr/>
          <p:nvPr/>
        </p:nvSpPr>
        <p:spPr>
          <a:xfrm>
            <a:off x="2788920" y="1828800"/>
            <a:ext cx="1472184" cy="329184"/>
          </a:xfrm>
          <a:prstGeom prst="rect">
            <a:avLst/>
          </a:prstGeom>
          <a:noFill/>
          <a:ln/>
        </p:spPr>
        <p:txBody>
          <a:bodyPr wrap="square" lIns="0" tIns="0" rIns="0" bIns="0" rtlCol="0" anchor="t"/>
          <a:lstStyle/>
          <a:p>
            <a:pPr algn="l" indent="0" marL="0">
              <a:lnSpc>
                <a:spcPct val="106000"/>
              </a:lnSpc>
              <a:buNone/>
            </a:pPr>
            <a:r>
              <a:rPr lang="en-US" sz="2000" b="1" dirty="0">
                <a:solidFill>
                  <a:srgbClr val="8A1A1A"/>
                </a:solidFill>
                <a:latin typeface="Cambria" pitchFamily="34" charset="0"/>
                <a:ea typeface="Cambria" pitchFamily="34" charset="-122"/>
                <a:cs typeface="Cambria" pitchFamily="34" charset="-120"/>
              </a:rPr>
              <a:t>1970s</a:t>
            </a:r>
            <a:endParaRPr lang="en-US" sz="2000" dirty="0"/>
          </a:p>
        </p:txBody>
      </p:sp>
      <p:sp>
        <p:nvSpPr>
          <p:cNvPr id="10" name="Text 8"/>
          <p:cNvSpPr/>
          <p:nvPr/>
        </p:nvSpPr>
        <p:spPr>
          <a:xfrm>
            <a:off x="2788920" y="2231136"/>
            <a:ext cx="1472184" cy="457200"/>
          </a:xfrm>
          <a:prstGeom prst="rect">
            <a:avLst/>
          </a:prstGeom>
          <a:noFill/>
          <a:ln/>
        </p:spPr>
        <p:txBody>
          <a:bodyPr wrap="square" lIns="0" tIns="0" rIns="0" bIns="0" rtlCol="0" anchor="t"/>
          <a:lstStyle/>
          <a:p>
            <a:pPr algn="l" indent="0" marL="0">
              <a:lnSpc>
                <a:spcPct val="104000"/>
              </a:lnSpc>
              <a:buNone/>
            </a:pPr>
            <a:r>
              <a:rPr lang="en-US" sz="1300" b="1" dirty="0">
                <a:solidFill>
                  <a:srgbClr val="14171A"/>
                </a:solidFill>
                <a:latin typeface="Calibri" pitchFamily="34" charset="0"/>
                <a:ea typeface="Calibri" pitchFamily="34" charset="-122"/>
                <a:cs typeface="Calibri" pitchFamily="34" charset="-120"/>
              </a:rPr>
              <a:t>Television violence</a:t>
            </a:r>
            <a:endParaRPr lang="en-US" sz="1300" dirty="0"/>
          </a:p>
        </p:txBody>
      </p:sp>
      <p:sp>
        <p:nvSpPr>
          <p:cNvPr id="11" name="Text 9"/>
          <p:cNvSpPr/>
          <p:nvPr/>
        </p:nvSpPr>
        <p:spPr>
          <a:xfrm>
            <a:off x="2788920" y="2724912"/>
            <a:ext cx="1472184" cy="640080"/>
          </a:xfrm>
          <a:prstGeom prst="rect">
            <a:avLst/>
          </a:prstGeom>
          <a:noFill/>
          <a:ln/>
        </p:spPr>
        <p:txBody>
          <a:bodyPr wrap="square" lIns="0" tIns="0" rIns="0" bIns="0" rtlCol="0" anchor="t"/>
          <a:lstStyle/>
          <a:p>
            <a:pPr algn="l" indent="0" marL="0">
              <a:lnSpc>
                <a:spcPct val="104000"/>
              </a:lnSpc>
              <a:buNone/>
            </a:pPr>
            <a:r>
              <a:rPr lang="en-US" sz="1150" dirty="0">
                <a:solidFill>
                  <a:srgbClr val="3C444C"/>
                </a:solidFill>
                <a:latin typeface="Calibri" pitchFamily="34" charset="0"/>
                <a:ea typeface="Calibri" pitchFamily="34" charset="-122"/>
                <a:cs typeface="Calibri" pitchFamily="34" charset="-120"/>
              </a:rPr>
              <a:t>Hearings across the decade.</a:t>
            </a:r>
            <a:endParaRPr lang="en-US" sz="1150" dirty="0"/>
          </a:p>
        </p:txBody>
      </p:sp>
      <p:sp>
        <p:nvSpPr>
          <p:cNvPr id="12" name="Shape 10"/>
          <p:cNvSpPr/>
          <p:nvPr/>
        </p:nvSpPr>
        <p:spPr>
          <a:xfrm>
            <a:off x="4626864" y="1645920"/>
            <a:ext cx="1874520" cy="1828800"/>
          </a:xfrm>
          <a:prstGeom prst="roundRect">
            <a:avLst>
              <a:gd name="adj" fmla="val 3000"/>
            </a:avLst>
          </a:prstGeom>
          <a:solidFill>
            <a:srgbClr val="FFFEFB"/>
          </a:solidFill>
          <a:ln w="9525">
            <a:solidFill>
              <a:srgbClr val="D9D6CF"/>
            </a:solidFill>
            <a:prstDash val="solid"/>
          </a:ln>
          <a:effectLst>
            <a:outerShdw sx="100000" sy="100000" kx="0" ky="0" algn="bl" rotWithShape="0" blurRad="88900" dist="12700" dir="5400000">
              <a:srgbClr val="9A968A">
                <a:alpha val="20000"/>
              </a:srgbClr>
            </a:outerShdw>
          </a:effectLst>
        </p:spPr>
      </p:sp>
      <p:sp>
        <p:nvSpPr>
          <p:cNvPr id="13" name="Text 11"/>
          <p:cNvSpPr/>
          <p:nvPr/>
        </p:nvSpPr>
        <p:spPr>
          <a:xfrm>
            <a:off x="4828032" y="1828800"/>
            <a:ext cx="1472184" cy="329184"/>
          </a:xfrm>
          <a:prstGeom prst="rect">
            <a:avLst/>
          </a:prstGeom>
          <a:noFill/>
          <a:ln/>
        </p:spPr>
        <p:txBody>
          <a:bodyPr wrap="square" lIns="0" tIns="0" rIns="0" bIns="0" rtlCol="0" anchor="t"/>
          <a:lstStyle/>
          <a:p>
            <a:pPr algn="l" indent="0" marL="0">
              <a:lnSpc>
                <a:spcPct val="106000"/>
              </a:lnSpc>
              <a:buNone/>
            </a:pPr>
            <a:r>
              <a:rPr lang="en-US" sz="2000" b="1" dirty="0">
                <a:solidFill>
                  <a:srgbClr val="8A1A1A"/>
                </a:solidFill>
                <a:latin typeface="Cambria" pitchFamily="34" charset="0"/>
                <a:ea typeface="Cambria" pitchFamily="34" charset="-122"/>
                <a:cs typeface="Cambria" pitchFamily="34" charset="-120"/>
              </a:rPr>
              <a:t>1985</a:t>
            </a:r>
            <a:endParaRPr lang="en-US" sz="2000" dirty="0"/>
          </a:p>
        </p:txBody>
      </p:sp>
      <p:sp>
        <p:nvSpPr>
          <p:cNvPr id="14" name="Text 12"/>
          <p:cNvSpPr/>
          <p:nvPr/>
        </p:nvSpPr>
        <p:spPr>
          <a:xfrm>
            <a:off x="4828032" y="2231136"/>
            <a:ext cx="1472184" cy="457200"/>
          </a:xfrm>
          <a:prstGeom prst="rect">
            <a:avLst/>
          </a:prstGeom>
          <a:noFill/>
          <a:ln/>
        </p:spPr>
        <p:txBody>
          <a:bodyPr wrap="square" lIns="0" tIns="0" rIns="0" bIns="0" rtlCol="0" anchor="t"/>
          <a:lstStyle/>
          <a:p>
            <a:pPr algn="l" indent="0" marL="0">
              <a:lnSpc>
                <a:spcPct val="104000"/>
              </a:lnSpc>
              <a:buNone/>
            </a:pPr>
            <a:r>
              <a:rPr lang="en-US" sz="1300" b="1" dirty="0">
                <a:solidFill>
                  <a:srgbClr val="14171A"/>
                </a:solidFill>
                <a:latin typeface="Calibri" pitchFamily="34" charset="0"/>
                <a:ea typeface="Calibri" pitchFamily="34" charset="-122"/>
                <a:cs typeface="Calibri" pitchFamily="34" charset="-120"/>
              </a:rPr>
              <a:t>Music lyrics</a:t>
            </a:r>
            <a:endParaRPr lang="en-US" sz="1300" dirty="0"/>
          </a:p>
        </p:txBody>
      </p:sp>
      <p:sp>
        <p:nvSpPr>
          <p:cNvPr id="15" name="Text 13"/>
          <p:cNvSpPr/>
          <p:nvPr/>
        </p:nvSpPr>
        <p:spPr>
          <a:xfrm>
            <a:off x="4828032" y="2724912"/>
            <a:ext cx="1472184" cy="640080"/>
          </a:xfrm>
          <a:prstGeom prst="rect">
            <a:avLst/>
          </a:prstGeom>
          <a:noFill/>
          <a:ln/>
        </p:spPr>
        <p:txBody>
          <a:bodyPr wrap="square" lIns="0" tIns="0" rIns="0" bIns="0" rtlCol="0" anchor="t"/>
          <a:lstStyle/>
          <a:p>
            <a:pPr algn="l" indent="0" marL="0">
              <a:lnSpc>
                <a:spcPct val="104000"/>
              </a:lnSpc>
              <a:buNone/>
            </a:pPr>
            <a:r>
              <a:rPr lang="en-US" sz="1150" dirty="0">
                <a:solidFill>
                  <a:srgbClr val="3C444C"/>
                </a:solidFill>
                <a:latin typeface="Calibri" pitchFamily="34" charset="0"/>
                <a:ea typeface="Calibri" pitchFamily="34" charset="-122"/>
                <a:cs typeface="Calibri" pitchFamily="34" charset="-120"/>
              </a:rPr>
              <a:t>Senate hearings and the parental advisory sticker.</a:t>
            </a:r>
            <a:endParaRPr lang="en-US" sz="1150" dirty="0"/>
          </a:p>
        </p:txBody>
      </p:sp>
      <p:sp>
        <p:nvSpPr>
          <p:cNvPr id="16" name="Shape 14"/>
          <p:cNvSpPr/>
          <p:nvPr/>
        </p:nvSpPr>
        <p:spPr>
          <a:xfrm>
            <a:off x="6665976" y="1645920"/>
            <a:ext cx="1874520" cy="1828800"/>
          </a:xfrm>
          <a:prstGeom prst="roundRect">
            <a:avLst>
              <a:gd name="adj" fmla="val 3000"/>
            </a:avLst>
          </a:prstGeom>
          <a:solidFill>
            <a:srgbClr val="FFFEFB"/>
          </a:solidFill>
          <a:ln w="9525">
            <a:solidFill>
              <a:srgbClr val="D9D6CF"/>
            </a:solidFill>
            <a:prstDash val="solid"/>
          </a:ln>
          <a:effectLst>
            <a:outerShdw sx="100000" sy="100000" kx="0" ky="0" algn="bl" rotWithShape="0" blurRad="88900" dist="12700" dir="5400000">
              <a:srgbClr val="9A968A">
                <a:alpha val="20000"/>
              </a:srgbClr>
            </a:outerShdw>
          </a:effectLst>
        </p:spPr>
      </p:sp>
      <p:sp>
        <p:nvSpPr>
          <p:cNvPr id="17" name="Text 15"/>
          <p:cNvSpPr/>
          <p:nvPr/>
        </p:nvSpPr>
        <p:spPr>
          <a:xfrm>
            <a:off x="6867144" y="1828800"/>
            <a:ext cx="1472184" cy="329184"/>
          </a:xfrm>
          <a:prstGeom prst="rect">
            <a:avLst/>
          </a:prstGeom>
          <a:noFill/>
          <a:ln/>
        </p:spPr>
        <p:txBody>
          <a:bodyPr wrap="square" lIns="0" tIns="0" rIns="0" bIns="0" rtlCol="0" anchor="t"/>
          <a:lstStyle/>
          <a:p>
            <a:pPr algn="l" indent="0" marL="0">
              <a:lnSpc>
                <a:spcPct val="106000"/>
              </a:lnSpc>
              <a:buNone/>
            </a:pPr>
            <a:r>
              <a:rPr lang="en-US" sz="2000" b="1" dirty="0">
                <a:solidFill>
                  <a:srgbClr val="8A1A1A"/>
                </a:solidFill>
                <a:latin typeface="Cambria" pitchFamily="34" charset="0"/>
                <a:ea typeface="Cambria" pitchFamily="34" charset="-122"/>
                <a:cs typeface="Cambria" pitchFamily="34" charset="-120"/>
              </a:rPr>
              <a:t>1993</a:t>
            </a:r>
            <a:endParaRPr lang="en-US" sz="2000" dirty="0"/>
          </a:p>
        </p:txBody>
      </p:sp>
      <p:sp>
        <p:nvSpPr>
          <p:cNvPr id="18" name="Text 16"/>
          <p:cNvSpPr/>
          <p:nvPr/>
        </p:nvSpPr>
        <p:spPr>
          <a:xfrm>
            <a:off x="6867144" y="2231136"/>
            <a:ext cx="1472184" cy="457200"/>
          </a:xfrm>
          <a:prstGeom prst="rect">
            <a:avLst/>
          </a:prstGeom>
          <a:noFill/>
          <a:ln/>
        </p:spPr>
        <p:txBody>
          <a:bodyPr wrap="square" lIns="0" tIns="0" rIns="0" bIns="0" rtlCol="0" anchor="t"/>
          <a:lstStyle/>
          <a:p>
            <a:pPr algn="l" indent="0" marL="0">
              <a:lnSpc>
                <a:spcPct val="104000"/>
              </a:lnSpc>
              <a:buNone/>
            </a:pPr>
            <a:r>
              <a:rPr lang="en-US" sz="1300" b="1" dirty="0">
                <a:solidFill>
                  <a:srgbClr val="14171A"/>
                </a:solidFill>
                <a:latin typeface="Calibri" pitchFamily="34" charset="0"/>
                <a:ea typeface="Calibri" pitchFamily="34" charset="-122"/>
                <a:cs typeface="Calibri" pitchFamily="34" charset="-120"/>
              </a:rPr>
              <a:t>Video games</a:t>
            </a:r>
            <a:endParaRPr lang="en-US" sz="1300" dirty="0"/>
          </a:p>
        </p:txBody>
      </p:sp>
      <p:sp>
        <p:nvSpPr>
          <p:cNvPr id="19" name="Text 17"/>
          <p:cNvSpPr/>
          <p:nvPr/>
        </p:nvSpPr>
        <p:spPr>
          <a:xfrm>
            <a:off x="6867144" y="2724912"/>
            <a:ext cx="1472184" cy="640080"/>
          </a:xfrm>
          <a:prstGeom prst="rect">
            <a:avLst/>
          </a:prstGeom>
          <a:noFill/>
          <a:ln/>
        </p:spPr>
        <p:txBody>
          <a:bodyPr wrap="square" lIns="0" tIns="0" rIns="0" bIns="0" rtlCol="0" anchor="t"/>
          <a:lstStyle/>
          <a:p>
            <a:pPr algn="l" indent="0" marL="0">
              <a:lnSpc>
                <a:spcPct val="104000"/>
              </a:lnSpc>
              <a:buNone/>
            </a:pPr>
            <a:r>
              <a:rPr lang="en-US" sz="1150" dirty="0">
                <a:solidFill>
                  <a:srgbClr val="3C444C"/>
                </a:solidFill>
                <a:latin typeface="Calibri" pitchFamily="34" charset="0"/>
                <a:ea typeface="Calibri" pitchFamily="34" charset="-122"/>
                <a:cs typeface="Calibri" pitchFamily="34" charset="-120"/>
              </a:rPr>
              <a:t>Hearings, and the rating on every box today.</a:t>
            </a:r>
            <a:endParaRPr lang="en-US" sz="1150" dirty="0"/>
          </a:p>
        </p:txBody>
      </p:sp>
      <p:sp>
        <p:nvSpPr>
          <p:cNvPr id="20" name="Text 18"/>
          <p:cNvSpPr/>
          <p:nvPr/>
        </p:nvSpPr>
        <p:spPr>
          <a:xfrm>
            <a:off x="548640" y="3657600"/>
            <a:ext cx="8046720" cy="457200"/>
          </a:xfrm>
          <a:prstGeom prst="rect">
            <a:avLst/>
          </a:prstGeom>
          <a:noFill/>
          <a:ln/>
        </p:spPr>
        <p:txBody>
          <a:bodyPr wrap="square" lIns="0" tIns="0" rIns="0" bIns="0" rtlCol="0" anchor="t"/>
          <a:lstStyle/>
          <a:p>
            <a:pPr algn="l" indent="0" marL="0">
              <a:lnSpc>
                <a:spcPct val="114000"/>
              </a:lnSpc>
              <a:buNone/>
            </a:pPr>
            <a:r>
              <a:rPr lang="en-US" sz="1300" dirty="0">
                <a:solidFill>
                  <a:srgbClr val="3C444C"/>
                </a:solidFill>
                <a:latin typeface="Calibri" pitchFamily="34" charset="0"/>
                <a:ea typeface="Calibri" pitchFamily="34" charset="-122"/>
                <a:cs typeface="Calibri" pitchFamily="34" charset="-120"/>
              </a:rPr>
              <a:t>A precedent is an earlier case that people point to when deciding a new one. This exact fight, about a new medium and what it does to young people, has run at least four times before.</a:t>
            </a:r>
            <a:endParaRPr lang="en-US" sz="1300" dirty="0"/>
          </a:p>
        </p:txBody>
      </p:sp>
      <p:sp>
        <p:nvSpPr>
          <p:cNvPr id="21" name="Text 19"/>
          <p:cNvSpPr/>
          <p:nvPr/>
        </p:nvSpPr>
        <p:spPr>
          <a:xfrm>
            <a:off x="548640" y="4169664"/>
            <a:ext cx="8046720" cy="274320"/>
          </a:xfrm>
          <a:prstGeom prst="rect">
            <a:avLst/>
          </a:prstGeom>
          <a:noFill/>
          <a:ln/>
        </p:spPr>
        <p:txBody>
          <a:bodyPr wrap="square" lIns="0" tIns="0" rIns="0" bIns="0" rtlCol="0" anchor="t"/>
          <a:lstStyle/>
          <a:p>
            <a:pPr algn="l" indent="0" marL="0">
              <a:lnSpc>
                <a:spcPct val="106000"/>
              </a:lnSpc>
              <a:buNone/>
            </a:pPr>
            <a:r>
              <a:rPr lang="en-US" sz="1400" b="1" dirty="0">
                <a:solidFill>
                  <a:srgbClr val="14171A"/>
                </a:solidFill>
                <a:latin typeface="Calibri" pitchFamily="34" charset="0"/>
                <a:ea typeface="Calibri" pitchFamily="34" charset="-122"/>
                <a:cs typeface="Calibri" pitchFamily="34" charset="-120"/>
              </a:rPr>
              <a:t>Look at what the four have in common.</a:t>
            </a:r>
            <a:endParaRPr lang="en-US" sz="1400" dirty="0"/>
          </a:p>
        </p:txBody>
      </p:sp>
      <p:sp>
        <p:nvSpPr>
          <p:cNvPr id="23" name="Text 20"/>
          <p:cNvSpPr/>
          <p:nvPr/>
        </p:nvSpPr>
        <p:spPr>
          <a:xfrm>
            <a:off x="548640" y="4668012"/>
            <a:ext cx="8046720" cy="256032"/>
          </a:xfrm>
          <a:prstGeom prst="rect">
            <a:avLst/>
          </a:prstGeom>
          <a:noFill/>
          <a:ln/>
        </p:spPr>
        <p:txBody>
          <a:bodyPr wrap="square" lIns="0" tIns="0" rIns="0" bIns="0" rtlCol="0" anchor="ctr"/>
          <a:lstStyle/>
          <a:p>
            <a:pPr indent="0" marL="0">
              <a:buNone/>
            </a:pPr>
            <a:r>
              <a:rPr lang="en-US" sz="800" spc="100" kern="0" dirty="0">
                <a:solidFill>
                  <a:srgbClr val="5C6873"/>
                </a:solidFill>
                <a:latin typeface="Courier New" pitchFamily="34" charset="0"/>
                <a:ea typeface="Courier New" pitchFamily="34" charset="-122"/>
                <a:cs typeface="Courier New" pitchFamily="34" charset="-120"/>
              </a:rPr>
              <a:t>BECURRENT  ·  SOCIAL MEDIA  ·  TOPIC 6</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2ED"/>
        </a:solidFill>
      </p:bgPr>
    </p:bg>
    <p:spTree>
      <p:nvGrpSpPr>
        <p:cNvPr id="1" name=""/>
        <p:cNvGrpSpPr/>
        <p:nvPr/>
      </p:nvGrpSpPr>
      <p:grpSpPr>
        <a:xfrm>
          <a:off x="0" y="0"/>
          <a:ext cx="0" cy="0"/>
          <a:chOff x="0" y="0"/>
          <a:chExt cx="0" cy="0"/>
        </a:xfrm>
      </p:grpSpPr>
      <p:sp>
        <p:nvSpPr>
          <p:cNvPr id="2" name="Text 0"/>
          <p:cNvSpPr/>
          <p:nvPr/>
        </p:nvSpPr>
        <p:spPr>
          <a:xfrm>
            <a:off x="548640" y="365760"/>
            <a:ext cx="8046720" cy="237744"/>
          </a:xfrm>
          <a:prstGeom prst="rect">
            <a:avLst/>
          </a:prstGeom>
          <a:noFill/>
          <a:ln/>
        </p:spPr>
        <p:txBody>
          <a:bodyPr wrap="square" lIns="0" tIns="0" rIns="0" bIns="0" rtlCol="0" anchor="ctr"/>
          <a:lstStyle/>
          <a:p>
            <a:pPr indent="0" marL="0">
              <a:buNone/>
            </a:pPr>
            <a:r>
              <a:rPr lang="en-US" sz="1000" b="1" spc="140" kern="0" dirty="0">
                <a:solidFill>
                  <a:srgbClr val="B22222"/>
                </a:solidFill>
                <a:latin typeface="Courier New" pitchFamily="34" charset="0"/>
                <a:ea typeface="Courier New" pitchFamily="34" charset="-122"/>
                <a:cs typeface="Courier New" pitchFamily="34" charset="-120"/>
              </a:rPr>
              <a:t>THE METHOD · WHAT IT PREDICTS</a:t>
            </a:r>
            <a:endParaRPr lang="en-US" sz="1000" dirty="0"/>
          </a:p>
        </p:txBody>
      </p:sp>
      <p:sp>
        <p:nvSpPr>
          <p:cNvPr id="3" name="Text 1"/>
          <p:cNvSpPr/>
          <p:nvPr/>
        </p:nvSpPr>
        <p:spPr>
          <a:xfrm>
            <a:off x="548640" y="713232"/>
            <a:ext cx="8046720" cy="731520"/>
          </a:xfrm>
          <a:prstGeom prst="rect">
            <a:avLst/>
          </a:prstGeom>
          <a:noFill/>
          <a:ln/>
        </p:spPr>
        <p:txBody>
          <a:bodyPr wrap="square" lIns="0" tIns="0" rIns="0" bIns="0" rtlCol="0" anchor="t"/>
          <a:lstStyle/>
          <a:p>
            <a:pPr indent="0" marL="0">
              <a:lnSpc>
                <a:spcPct val="92000"/>
              </a:lnSpc>
              <a:buNone/>
            </a:pPr>
            <a:r>
              <a:rPr lang="en-US" sz="3000" b="1" dirty="0">
                <a:solidFill>
                  <a:srgbClr val="14171A"/>
                </a:solidFill>
                <a:latin typeface="Cambria" pitchFamily="34" charset="0"/>
                <a:ea typeface="Cambria" pitchFamily="34" charset="-122"/>
                <a:cs typeface="Cambria" pitchFamily="34" charset="-120"/>
              </a:rPr>
              <a:t>Four for four, and not one of them a law</a:t>
            </a:r>
            <a:endParaRPr lang="en-US" sz="3000" dirty="0"/>
          </a:p>
        </p:txBody>
      </p:sp>
      <p:sp>
        <p:nvSpPr>
          <p:cNvPr id="4" name="Shape 2"/>
          <p:cNvSpPr/>
          <p:nvPr/>
        </p:nvSpPr>
        <p:spPr>
          <a:xfrm>
            <a:off x="548640" y="1645920"/>
            <a:ext cx="3840480" cy="1920240"/>
          </a:xfrm>
          <a:prstGeom prst="roundRect">
            <a:avLst>
              <a:gd name="adj" fmla="val 2857"/>
            </a:avLst>
          </a:prstGeom>
          <a:solidFill>
            <a:srgbClr val="F2E1E1"/>
          </a:solidFill>
          <a:ln w="9525">
            <a:solidFill>
              <a:srgbClr val="F2E1E1"/>
            </a:solidFill>
            <a:prstDash val="solid"/>
          </a:ln>
          <a:effectLst>
            <a:outerShdw sx="100000" sy="100000" kx="0" ky="0" algn="bl" rotWithShape="0" blurRad="88900" dist="12700" dir="5400000">
              <a:srgbClr val="9A968A">
                <a:alpha val="20000"/>
              </a:srgbClr>
            </a:outerShdw>
          </a:effectLst>
        </p:spPr>
      </p:sp>
      <p:sp>
        <p:nvSpPr>
          <p:cNvPr id="5" name="Text 3"/>
          <p:cNvSpPr/>
          <p:nvPr/>
        </p:nvSpPr>
        <p:spPr>
          <a:xfrm>
            <a:off x="804672" y="1847088"/>
            <a:ext cx="3328416" cy="548640"/>
          </a:xfrm>
          <a:prstGeom prst="rect">
            <a:avLst/>
          </a:prstGeom>
          <a:noFill/>
          <a:ln/>
        </p:spPr>
        <p:txBody>
          <a:bodyPr wrap="square" lIns="0" tIns="0" rIns="0" bIns="0" rtlCol="0" anchor="t"/>
          <a:lstStyle/>
          <a:p>
            <a:pPr algn="l" indent="0" marL="0">
              <a:lnSpc>
                <a:spcPct val="106000"/>
              </a:lnSpc>
              <a:buNone/>
            </a:pPr>
            <a:r>
              <a:rPr lang="en-US" sz="3400" b="1" dirty="0">
                <a:solidFill>
                  <a:srgbClr val="8A1A1A"/>
                </a:solidFill>
                <a:latin typeface="Cambria" pitchFamily="34" charset="0"/>
                <a:ea typeface="Cambria" pitchFamily="34" charset="-122"/>
                <a:cs typeface="Cambria" pitchFamily="34" charset="-120"/>
              </a:rPr>
              <a:t>4 of 4</a:t>
            </a:r>
            <a:endParaRPr lang="en-US" sz="3400" dirty="0"/>
          </a:p>
        </p:txBody>
      </p:sp>
      <p:sp>
        <p:nvSpPr>
          <p:cNvPr id="6" name="Text 4"/>
          <p:cNvSpPr/>
          <p:nvPr/>
        </p:nvSpPr>
        <p:spPr>
          <a:xfrm>
            <a:off x="804672" y="2450592"/>
            <a:ext cx="3328416" cy="914400"/>
          </a:xfrm>
          <a:prstGeom prst="rect">
            <a:avLst/>
          </a:prstGeom>
          <a:noFill/>
          <a:ln/>
        </p:spPr>
        <p:txBody>
          <a:bodyPr wrap="square" lIns="0" tIns="0" rIns="0" bIns="0" rtlCol="0" anchor="t"/>
          <a:lstStyle/>
          <a:p>
            <a:pPr algn="l" indent="0" marL="0">
              <a:lnSpc>
                <a:spcPct val="116000"/>
              </a:lnSpc>
              <a:buNone/>
            </a:pPr>
            <a:r>
              <a:rPr lang="en-US" sz="1350" dirty="0">
                <a:solidFill>
                  <a:srgbClr val="14171A"/>
                </a:solidFill>
                <a:latin typeface="Calibri" pitchFamily="34" charset="0"/>
                <a:ea typeface="Calibri" pitchFamily="34" charset="-122"/>
                <a:cs typeface="Calibri" pitchFamily="34" charset="-120"/>
              </a:rPr>
              <a:t>ended in industry self-regulation under threat of government action, rather than in a law.</a:t>
            </a:r>
            <a:endParaRPr lang="en-US" sz="1350" dirty="0"/>
          </a:p>
        </p:txBody>
      </p:sp>
      <p:sp>
        <p:nvSpPr>
          <p:cNvPr id="7" name="Shape 5"/>
          <p:cNvSpPr/>
          <p:nvPr/>
        </p:nvSpPr>
        <p:spPr>
          <a:xfrm>
            <a:off x="4754880" y="1645920"/>
            <a:ext cx="3840480" cy="1920240"/>
          </a:xfrm>
          <a:prstGeom prst="roundRect">
            <a:avLst>
              <a:gd name="adj" fmla="val 2857"/>
            </a:avLst>
          </a:prstGeom>
          <a:solidFill>
            <a:srgbClr val="FFFEFB"/>
          </a:solidFill>
          <a:ln w="9525">
            <a:solidFill>
              <a:srgbClr val="D9D6CF"/>
            </a:solidFill>
            <a:prstDash val="solid"/>
          </a:ln>
          <a:effectLst>
            <a:outerShdw sx="100000" sy="100000" kx="0" ky="0" algn="bl" rotWithShape="0" blurRad="88900" dist="12700" dir="5400000">
              <a:srgbClr val="9A968A">
                <a:alpha val="20000"/>
              </a:srgbClr>
            </a:outerShdw>
          </a:effectLst>
        </p:spPr>
      </p:sp>
      <p:sp>
        <p:nvSpPr>
          <p:cNvPr id="8" name="Text 6"/>
          <p:cNvSpPr/>
          <p:nvPr/>
        </p:nvSpPr>
        <p:spPr>
          <a:xfrm>
            <a:off x="4992624" y="1847088"/>
            <a:ext cx="3364992" cy="219456"/>
          </a:xfrm>
          <a:prstGeom prst="rect">
            <a:avLst/>
          </a:prstGeom>
          <a:noFill/>
          <a:ln/>
        </p:spPr>
        <p:txBody>
          <a:bodyPr wrap="square" lIns="0" tIns="0" rIns="0" bIns="0" rtlCol="0" anchor="t"/>
          <a:lstStyle/>
          <a:p>
            <a:pPr algn="l" indent="0" marL="0">
              <a:lnSpc>
                <a:spcPct val="106000"/>
              </a:lnSpc>
              <a:buNone/>
            </a:pPr>
            <a:r>
              <a:rPr lang="en-US" sz="900" b="1" dirty="0">
                <a:solidFill>
                  <a:srgbClr val="1F5673"/>
                </a:solidFill>
                <a:latin typeface="Courier New" pitchFamily="34" charset="0"/>
                <a:ea typeface="Courier New" pitchFamily="34" charset="-122"/>
                <a:cs typeface="Courier New" pitchFamily="34" charset="-120"/>
              </a:rPr>
              <a:t>AND WORTH KNOWING</a:t>
            </a:r>
            <a:endParaRPr lang="en-US" sz="900" dirty="0"/>
          </a:p>
        </p:txBody>
      </p:sp>
      <p:sp>
        <p:nvSpPr>
          <p:cNvPr id="9" name="Text 7"/>
          <p:cNvSpPr/>
          <p:nvPr/>
        </p:nvSpPr>
        <p:spPr>
          <a:xfrm>
            <a:off x="4992624" y="2139696"/>
            <a:ext cx="3364992" cy="1188720"/>
          </a:xfrm>
          <a:prstGeom prst="rect">
            <a:avLst/>
          </a:prstGeom>
          <a:noFill/>
          <a:ln/>
        </p:spPr>
        <p:txBody>
          <a:bodyPr wrap="square" lIns="0" tIns="0" rIns="0" bIns="0" rtlCol="0" anchor="t"/>
          <a:lstStyle/>
          <a:p>
            <a:pPr algn="l" indent="0" marL="0">
              <a:lnSpc>
                <a:spcPct val="116000"/>
              </a:lnSpc>
              <a:buNone/>
            </a:pPr>
            <a:r>
              <a:rPr lang="en-US" sz="1300" dirty="0">
                <a:solidFill>
                  <a:srgbClr val="3C444C"/>
                </a:solidFill>
                <a:latin typeface="Calibri" pitchFamily="34" charset="0"/>
                <a:ea typeface="Calibri" pitchFamily="34" charset="-122"/>
                <a:cs typeface="Calibri" pitchFamily="34" charset="-120"/>
              </a:rPr>
              <a:t>The strongest claims made in several of those panics did not hold up later. The comic book research was largely discredited. The video game research is still contested.</a:t>
            </a:r>
            <a:endParaRPr lang="en-US" sz="1300" dirty="0"/>
          </a:p>
        </p:txBody>
      </p:sp>
      <p:sp>
        <p:nvSpPr>
          <p:cNvPr id="10" name="Text 8"/>
          <p:cNvSpPr/>
          <p:nvPr/>
        </p:nvSpPr>
        <p:spPr>
          <a:xfrm>
            <a:off x="548640" y="3749040"/>
            <a:ext cx="8046720" cy="640080"/>
          </a:xfrm>
          <a:prstGeom prst="rect">
            <a:avLst/>
          </a:prstGeom>
          <a:noFill/>
          <a:ln/>
        </p:spPr>
        <p:txBody>
          <a:bodyPr wrap="square" lIns="0" tIns="0" rIns="0" bIns="0" rtlCol="0" anchor="t"/>
          <a:lstStyle/>
          <a:p>
            <a:pPr algn="l" indent="0" marL="0">
              <a:lnSpc>
                <a:spcPct val="114000"/>
              </a:lnSpc>
              <a:buNone/>
            </a:pPr>
            <a:r>
              <a:rPr lang="en-US" sz="1300" dirty="0">
                <a:solidFill>
                  <a:srgbClr val="3C444C"/>
                </a:solidFill>
                <a:latin typeface="Calibri" pitchFamily="34" charset="0"/>
                <a:ea typeface="Calibri" pitchFamily="34" charset="-122"/>
                <a:cs typeface="Calibri" pitchFamily="34" charset="-120"/>
              </a:rPr>
              <a:t>That history does not tell you the answer. It tells you that "this new thing is harming children" has been said before, sometimes correctly and sometimes not, and that the people saying it were sincere either way.</a:t>
            </a:r>
            <a:endParaRPr lang="en-US" sz="1300" dirty="0"/>
          </a:p>
        </p:txBody>
      </p:sp>
      <p:sp>
        <p:nvSpPr>
          <p:cNvPr id="12" name="Text 9"/>
          <p:cNvSpPr/>
          <p:nvPr/>
        </p:nvSpPr>
        <p:spPr>
          <a:xfrm>
            <a:off x="548640" y="4668012"/>
            <a:ext cx="8046720" cy="256032"/>
          </a:xfrm>
          <a:prstGeom prst="rect">
            <a:avLst/>
          </a:prstGeom>
          <a:noFill/>
          <a:ln/>
        </p:spPr>
        <p:txBody>
          <a:bodyPr wrap="square" lIns="0" tIns="0" rIns="0" bIns="0" rtlCol="0" anchor="ctr"/>
          <a:lstStyle/>
          <a:p>
            <a:pPr indent="0" marL="0">
              <a:buNone/>
            </a:pPr>
            <a:r>
              <a:rPr lang="en-US" sz="800" spc="100" kern="0" dirty="0">
                <a:solidFill>
                  <a:srgbClr val="5C6873"/>
                </a:solidFill>
                <a:latin typeface="Courier New" pitchFamily="34" charset="0"/>
                <a:ea typeface="Courier New" pitchFamily="34" charset="-122"/>
                <a:cs typeface="Courier New" pitchFamily="34" charset="-120"/>
              </a:rPr>
              <a:t>BECURRENT  ·  SOCIAL MEDIA  ·  TOPIC 6</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2ED"/>
        </a:solidFill>
      </p:bgPr>
    </p:bg>
    <p:spTree>
      <p:nvGrpSpPr>
        <p:cNvPr id="1" name=""/>
        <p:cNvGrpSpPr/>
        <p:nvPr/>
      </p:nvGrpSpPr>
      <p:grpSpPr>
        <a:xfrm>
          <a:off x="0" y="0"/>
          <a:ext cx="0" cy="0"/>
          <a:chOff x="0" y="0"/>
          <a:chExt cx="0" cy="0"/>
        </a:xfrm>
      </p:grpSpPr>
      <p:sp>
        <p:nvSpPr>
          <p:cNvPr id="2" name="Text 0"/>
          <p:cNvSpPr/>
          <p:nvPr/>
        </p:nvSpPr>
        <p:spPr>
          <a:xfrm>
            <a:off x="548640" y="365760"/>
            <a:ext cx="8046720" cy="237744"/>
          </a:xfrm>
          <a:prstGeom prst="rect">
            <a:avLst/>
          </a:prstGeom>
          <a:noFill/>
          <a:ln/>
        </p:spPr>
        <p:txBody>
          <a:bodyPr wrap="square" lIns="0" tIns="0" rIns="0" bIns="0" rtlCol="0" anchor="ctr"/>
          <a:lstStyle/>
          <a:p>
            <a:pPr indent="0" marL="0">
              <a:buNone/>
            </a:pPr>
            <a:r>
              <a:rPr lang="en-US" sz="1000" b="1" spc="140" kern="0" dirty="0">
                <a:solidFill>
                  <a:srgbClr val="B22222"/>
                </a:solidFill>
                <a:latin typeface="Courier New" pitchFamily="34" charset="0"/>
                <a:ea typeface="Courier New" pitchFamily="34" charset="-122"/>
                <a:cs typeface="Courier New" pitchFamily="34" charset="-120"/>
              </a:rPr>
              <a:t>AP SKILL PARALLEL</a:t>
            </a:r>
            <a:endParaRPr lang="en-US" sz="1000" dirty="0"/>
          </a:p>
        </p:txBody>
      </p:sp>
      <p:sp>
        <p:nvSpPr>
          <p:cNvPr id="3" name="Text 1"/>
          <p:cNvSpPr/>
          <p:nvPr/>
        </p:nvSpPr>
        <p:spPr>
          <a:xfrm>
            <a:off x="548640" y="713232"/>
            <a:ext cx="8046720" cy="731520"/>
          </a:xfrm>
          <a:prstGeom prst="rect">
            <a:avLst/>
          </a:prstGeom>
          <a:noFill/>
          <a:ln/>
        </p:spPr>
        <p:txBody>
          <a:bodyPr wrap="square" lIns="0" tIns="0" rIns="0" bIns="0" rtlCol="0" anchor="t"/>
          <a:lstStyle/>
          <a:p>
            <a:pPr indent="0" marL="0">
              <a:lnSpc>
                <a:spcPct val="92000"/>
              </a:lnSpc>
              <a:buNone/>
            </a:pPr>
            <a:r>
              <a:rPr lang="en-US" sz="3000" b="1" dirty="0">
                <a:solidFill>
                  <a:srgbClr val="14171A"/>
                </a:solidFill>
                <a:latin typeface="Cambria" pitchFamily="34" charset="0"/>
                <a:ea typeface="Cambria" pitchFamily="34" charset="-122"/>
                <a:cs typeface="Cambria" pitchFamily="34" charset="-120"/>
              </a:rPr>
              <a:t>Social media is not a comic book</a:t>
            </a:r>
            <a:endParaRPr lang="en-US" sz="3000" dirty="0"/>
          </a:p>
        </p:txBody>
      </p:sp>
      <p:sp>
        <p:nvSpPr>
          <p:cNvPr id="4" name="Shape 2"/>
          <p:cNvSpPr/>
          <p:nvPr/>
        </p:nvSpPr>
        <p:spPr>
          <a:xfrm>
            <a:off x="548640" y="1645920"/>
            <a:ext cx="2560320" cy="1371600"/>
          </a:xfrm>
          <a:prstGeom prst="roundRect">
            <a:avLst>
              <a:gd name="adj" fmla="val 4000"/>
            </a:avLst>
          </a:prstGeom>
          <a:solidFill>
            <a:srgbClr val="FFFEFB"/>
          </a:solidFill>
          <a:ln w="9525">
            <a:solidFill>
              <a:srgbClr val="D9D6CF"/>
            </a:solidFill>
            <a:prstDash val="solid"/>
          </a:ln>
          <a:effectLst>
            <a:outerShdw sx="100000" sy="100000" kx="0" ky="0" algn="bl" rotWithShape="0" blurRad="88900" dist="12700" dir="5400000">
              <a:srgbClr val="9A968A">
                <a:alpha val="20000"/>
              </a:srgbClr>
            </a:outerShdw>
          </a:effectLst>
        </p:spPr>
      </p:sp>
      <p:sp>
        <p:nvSpPr>
          <p:cNvPr id="5" name="Text 3"/>
          <p:cNvSpPr/>
          <p:nvPr/>
        </p:nvSpPr>
        <p:spPr>
          <a:xfrm>
            <a:off x="768096" y="1865376"/>
            <a:ext cx="2121408" cy="274320"/>
          </a:xfrm>
          <a:prstGeom prst="rect">
            <a:avLst/>
          </a:prstGeom>
          <a:noFill/>
          <a:ln/>
        </p:spPr>
        <p:txBody>
          <a:bodyPr wrap="square" lIns="0" tIns="0" rIns="0" bIns="0" rtlCol="0" anchor="t"/>
          <a:lstStyle/>
          <a:p>
            <a:pPr algn="l" indent="0" marL="0">
              <a:lnSpc>
                <a:spcPct val="106000"/>
              </a:lnSpc>
              <a:buNone/>
            </a:pPr>
            <a:r>
              <a:rPr lang="en-US" sz="1500" b="1" dirty="0">
                <a:solidFill>
                  <a:srgbClr val="14171A"/>
                </a:solidFill>
                <a:latin typeface="Cambria" pitchFamily="34" charset="0"/>
                <a:ea typeface="Cambria" pitchFamily="34" charset="-122"/>
                <a:cs typeface="Cambria" pitchFamily="34" charset="-120"/>
              </a:rPr>
              <a:t>Personalized</a:t>
            </a:r>
            <a:endParaRPr lang="en-US" sz="1500" dirty="0"/>
          </a:p>
        </p:txBody>
      </p:sp>
      <p:sp>
        <p:nvSpPr>
          <p:cNvPr id="6" name="Text 4"/>
          <p:cNvSpPr/>
          <p:nvPr/>
        </p:nvSpPr>
        <p:spPr>
          <a:xfrm>
            <a:off x="768096" y="2212848"/>
            <a:ext cx="2121408" cy="566928"/>
          </a:xfrm>
          <a:prstGeom prst="rect">
            <a:avLst/>
          </a:prstGeom>
          <a:noFill/>
          <a:ln/>
        </p:spPr>
        <p:txBody>
          <a:bodyPr wrap="square" lIns="0" tIns="0" rIns="0" bIns="0" rtlCol="0" anchor="t"/>
          <a:lstStyle/>
          <a:p>
            <a:pPr algn="l" indent="0" marL="0">
              <a:lnSpc>
                <a:spcPct val="108000"/>
              </a:lnSpc>
              <a:buNone/>
            </a:pPr>
            <a:r>
              <a:rPr lang="en-US" sz="1250" dirty="0">
                <a:solidFill>
                  <a:srgbClr val="3C444C"/>
                </a:solidFill>
                <a:latin typeface="Calibri" pitchFamily="34" charset="0"/>
                <a:ea typeface="Calibri" pitchFamily="34" charset="-122"/>
                <a:cs typeface="Calibri" pitchFamily="34" charset="-120"/>
              </a:rPr>
              <a:t>A comic book did not know who was holding it.</a:t>
            </a:r>
            <a:endParaRPr lang="en-US" sz="1250" dirty="0"/>
          </a:p>
        </p:txBody>
      </p:sp>
      <p:sp>
        <p:nvSpPr>
          <p:cNvPr id="7" name="Shape 5"/>
          <p:cNvSpPr/>
          <p:nvPr/>
        </p:nvSpPr>
        <p:spPr>
          <a:xfrm>
            <a:off x="3291840" y="1645920"/>
            <a:ext cx="2560320" cy="1371600"/>
          </a:xfrm>
          <a:prstGeom prst="roundRect">
            <a:avLst>
              <a:gd name="adj" fmla="val 4000"/>
            </a:avLst>
          </a:prstGeom>
          <a:solidFill>
            <a:srgbClr val="FFFEFB"/>
          </a:solidFill>
          <a:ln w="9525">
            <a:solidFill>
              <a:srgbClr val="D9D6CF"/>
            </a:solidFill>
            <a:prstDash val="solid"/>
          </a:ln>
          <a:effectLst>
            <a:outerShdw sx="100000" sy="100000" kx="0" ky="0" algn="bl" rotWithShape="0" blurRad="88900" dist="12700" dir="5400000">
              <a:srgbClr val="9A968A">
                <a:alpha val="20000"/>
              </a:srgbClr>
            </a:outerShdw>
          </a:effectLst>
        </p:spPr>
      </p:sp>
      <p:sp>
        <p:nvSpPr>
          <p:cNvPr id="8" name="Text 6"/>
          <p:cNvSpPr/>
          <p:nvPr/>
        </p:nvSpPr>
        <p:spPr>
          <a:xfrm>
            <a:off x="3511296" y="1865376"/>
            <a:ext cx="2121408" cy="274320"/>
          </a:xfrm>
          <a:prstGeom prst="rect">
            <a:avLst/>
          </a:prstGeom>
          <a:noFill/>
          <a:ln/>
        </p:spPr>
        <p:txBody>
          <a:bodyPr wrap="square" lIns="0" tIns="0" rIns="0" bIns="0" rtlCol="0" anchor="t"/>
          <a:lstStyle/>
          <a:p>
            <a:pPr algn="l" indent="0" marL="0">
              <a:lnSpc>
                <a:spcPct val="106000"/>
              </a:lnSpc>
              <a:buNone/>
            </a:pPr>
            <a:r>
              <a:rPr lang="en-US" sz="1500" b="1" dirty="0">
                <a:solidFill>
                  <a:srgbClr val="14171A"/>
                </a:solidFill>
                <a:latin typeface="Cambria" pitchFamily="34" charset="0"/>
                <a:ea typeface="Cambria" pitchFamily="34" charset="-122"/>
                <a:cs typeface="Cambria" pitchFamily="34" charset="-120"/>
              </a:rPr>
              <a:t>Always with you</a:t>
            </a:r>
            <a:endParaRPr lang="en-US" sz="1500" dirty="0"/>
          </a:p>
        </p:txBody>
      </p:sp>
      <p:sp>
        <p:nvSpPr>
          <p:cNvPr id="9" name="Text 7"/>
          <p:cNvSpPr/>
          <p:nvPr/>
        </p:nvSpPr>
        <p:spPr>
          <a:xfrm>
            <a:off x="3511296" y="2212848"/>
            <a:ext cx="2121408" cy="566928"/>
          </a:xfrm>
          <a:prstGeom prst="rect">
            <a:avLst/>
          </a:prstGeom>
          <a:noFill/>
          <a:ln/>
        </p:spPr>
        <p:txBody>
          <a:bodyPr wrap="square" lIns="0" tIns="0" rIns="0" bIns="0" rtlCol="0" anchor="t"/>
          <a:lstStyle/>
          <a:p>
            <a:pPr algn="l" indent="0" marL="0">
              <a:lnSpc>
                <a:spcPct val="108000"/>
              </a:lnSpc>
              <a:buNone/>
            </a:pPr>
            <a:r>
              <a:rPr lang="en-US" sz="1250" dirty="0">
                <a:solidFill>
                  <a:srgbClr val="3C444C"/>
                </a:solidFill>
                <a:latin typeface="Calibri" pitchFamily="34" charset="0"/>
                <a:ea typeface="Calibri" pitchFamily="34" charset="-122"/>
                <a:cs typeface="Calibri" pitchFamily="34" charset="-120"/>
              </a:rPr>
              <a:t>It is not a thing you go to and then leave.</a:t>
            </a:r>
            <a:endParaRPr lang="en-US" sz="1250" dirty="0"/>
          </a:p>
        </p:txBody>
      </p:sp>
      <p:sp>
        <p:nvSpPr>
          <p:cNvPr id="10" name="Shape 8"/>
          <p:cNvSpPr/>
          <p:nvPr/>
        </p:nvSpPr>
        <p:spPr>
          <a:xfrm>
            <a:off x="6035040" y="1645920"/>
            <a:ext cx="2560320" cy="1371600"/>
          </a:xfrm>
          <a:prstGeom prst="roundRect">
            <a:avLst>
              <a:gd name="adj" fmla="val 4000"/>
            </a:avLst>
          </a:prstGeom>
          <a:solidFill>
            <a:srgbClr val="FFFEFB"/>
          </a:solidFill>
          <a:ln w="9525">
            <a:solidFill>
              <a:srgbClr val="D9D6CF"/>
            </a:solidFill>
            <a:prstDash val="solid"/>
          </a:ln>
          <a:effectLst>
            <a:outerShdw sx="100000" sy="100000" kx="0" ky="0" algn="bl" rotWithShape="0" blurRad="88900" dist="12700" dir="5400000">
              <a:srgbClr val="9A968A">
                <a:alpha val="20000"/>
              </a:srgbClr>
            </a:outerShdw>
          </a:effectLst>
        </p:spPr>
      </p:sp>
      <p:sp>
        <p:nvSpPr>
          <p:cNvPr id="11" name="Text 9"/>
          <p:cNvSpPr/>
          <p:nvPr/>
        </p:nvSpPr>
        <p:spPr>
          <a:xfrm>
            <a:off x="6254496" y="1865376"/>
            <a:ext cx="2121408" cy="274320"/>
          </a:xfrm>
          <a:prstGeom prst="rect">
            <a:avLst/>
          </a:prstGeom>
          <a:noFill/>
          <a:ln/>
        </p:spPr>
        <p:txBody>
          <a:bodyPr wrap="square" lIns="0" tIns="0" rIns="0" bIns="0" rtlCol="0" anchor="t"/>
          <a:lstStyle/>
          <a:p>
            <a:pPr algn="l" indent="0" marL="0">
              <a:lnSpc>
                <a:spcPct val="106000"/>
              </a:lnSpc>
              <a:buNone/>
            </a:pPr>
            <a:r>
              <a:rPr lang="en-US" sz="1500" b="1" dirty="0">
                <a:solidFill>
                  <a:srgbClr val="14171A"/>
                </a:solidFill>
                <a:latin typeface="Cambria" pitchFamily="34" charset="0"/>
                <a:ea typeface="Cambria" pitchFamily="34" charset="-122"/>
                <a:cs typeface="Cambria" pitchFamily="34" charset="-120"/>
              </a:rPr>
              <a:t>It responds to you</a:t>
            </a:r>
            <a:endParaRPr lang="en-US" sz="1500" dirty="0"/>
          </a:p>
        </p:txBody>
      </p:sp>
      <p:sp>
        <p:nvSpPr>
          <p:cNvPr id="12" name="Text 10"/>
          <p:cNvSpPr/>
          <p:nvPr/>
        </p:nvSpPr>
        <p:spPr>
          <a:xfrm>
            <a:off x="6254496" y="2212848"/>
            <a:ext cx="2121408" cy="566928"/>
          </a:xfrm>
          <a:prstGeom prst="rect">
            <a:avLst/>
          </a:prstGeom>
          <a:noFill/>
          <a:ln/>
        </p:spPr>
        <p:txBody>
          <a:bodyPr wrap="square" lIns="0" tIns="0" rIns="0" bIns="0" rtlCol="0" anchor="t"/>
          <a:lstStyle/>
          <a:p>
            <a:pPr algn="l" indent="0" marL="0">
              <a:lnSpc>
                <a:spcPct val="108000"/>
              </a:lnSpc>
              <a:buNone/>
            </a:pPr>
            <a:r>
              <a:rPr lang="en-US" sz="1250" dirty="0">
                <a:solidFill>
                  <a:srgbClr val="3C444C"/>
                </a:solidFill>
                <a:latin typeface="Calibri" pitchFamily="34" charset="0"/>
                <a:ea typeface="Calibri" pitchFamily="34" charset="-122"/>
                <a:cs typeface="Calibri" pitchFamily="34" charset="-120"/>
              </a:rPr>
              <a:t>What you do changes what it does next.</a:t>
            </a:r>
            <a:endParaRPr lang="en-US" sz="1250" dirty="0"/>
          </a:p>
        </p:txBody>
      </p:sp>
      <p:sp>
        <p:nvSpPr>
          <p:cNvPr id="13" name="Text 11"/>
          <p:cNvSpPr/>
          <p:nvPr/>
        </p:nvSpPr>
        <p:spPr>
          <a:xfrm>
            <a:off x="548640" y="3291840"/>
            <a:ext cx="8046720" cy="310896"/>
          </a:xfrm>
          <a:prstGeom prst="rect">
            <a:avLst/>
          </a:prstGeom>
          <a:noFill/>
          <a:ln/>
        </p:spPr>
        <p:txBody>
          <a:bodyPr wrap="square" lIns="0" tIns="0" rIns="0" bIns="0" rtlCol="0" anchor="t"/>
          <a:lstStyle/>
          <a:p>
            <a:pPr algn="l" indent="0" marL="0">
              <a:lnSpc>
                <a:spcPct val="106000"/>
              </a:lnSpc>
              <a:buNone/>
            </a:pPr>
            <a:r>
              <a:rPr lang="en-US" sz="1800" b="1" dirty="0">
                <a:solidFill>
                  <a:srgbClr val="14171A"/>
                </a:solidFill>
                <a:latin typeface="Cambria" pitchFamily="34" charset="0"/>
                <a:ea typeface="Cambria" pitchFamily="34" charset="-122"/>
                <a:cs typeface="Cambria" pitchFamily="34" charset="-120"/>
              </a:rPr>
              <a:t>Any argument from precedent has to survive those three differences.</a:t>
            </a:r>
            <a:endParaRPr lang="en-US" sz="1800" dirty="0"/>
          </a:p>
        </p:txBody>
      </p:sp>
      <p:sp>
        <p:nvSpPr>
          <p:cNvPr id="14" name="Text 12"/>
          <p:cNvSpPr/>
          <p:nvPr/>
        </p:nvSpPr>
        <p:spPr>
          <a:xfrm>
            <a:off x="548640" y="3712464"/>
            <a:ext cx="8046720" cy="457200"/>
          </a:xfrm>
          <a:prstGeom prst="rect">
            <a:avLst/>
          </a:prstGeom>
          <a:noFill/>
          <a:ln/>
        </p:spPr>
        <p:txBody>
          <a:bodyPr wrap="square" lIns="0" tIns="0" rIns="0" bIns="0" rtlCol="0" anchor="t"/>
          <a:lstStyle/>
          <a:p>
            <a:pPr algn="l" indent="0" marL="0">
              <a:lnSpc>
                <a:spcPct val="114000"/>
              </a:lnSpc>
              <a:buNone/>
            </a:pPr>
            <a:r>
              <a:rPr lang="en-US" sz="1350" dirty="0">
                <a:solidFill>
                  <a:srgbClr val="3C444C"/>
                </a:solidFill>
                <a:latin typeface="Calibri" pitchFamily="34" charset="0"/>
                <a:ea typeface="Calibri" pitchFamily="34" charset="-122"/>
                <a:cs typeface="Calibri" pitchFamily="34" charset="-120"/>
              </a:rPr>
              <a:t>Using a precedent well means naming what is the same and what is different. Both halves, every time.</a:t>
            </a:r>
            <a:endParaRPr lang="en-US" sz="1350" dirty="0"/>
          </a:p>
        </p:txBody>
      </p:sp>
      <p:sp>
        <p:nvSpPr>
          <p:cNvPr id="16" name="Text 13"/>
          <p:cNvSpPr/>
          <p:nvPr/>
        </p:nvSpPr>
        <p:spPr>
          <a:xfrm>
            <a:off x="548640" y="4668012"/>
            <a:ext cx="8046720" cy="256032"/>
          </a:xfrm>
          <a:prstGeom prst="rect">
            <a:avLst/>
          </a:prstGeom>
          <a:noFill/>
          <a:ln/>
        </p:spPr>
        <p:txBody>
          <a:bodyPr wrap="square" lIns="0" tIns="0" rIns="0" bIns="0" rtlCol="0" anchor="ctr"/>
          <a:lstStyle/>
          <a:p>
            <a:pPr indent="0" marL="0">
              <a:buNone/>
            </a:pPr>
            <a:r>
              <a:rPr lang="en-US" sz="800" spc="100" kern="0" dirty="0">
                <a:solidFill>
                  <a:srgbClr val="5C6873"/>
                </a:solidFill>
                <a:latin typeface="Courier New" pitchFamily="34" charset="0"/>
                <a:ea typeface="Courier New" pitchFamily="34" charset="-122"/>
                <a:cs typeface="Courier New" pitchFamily="34" charset="-120"/>
              </a:rPr>
              <a:t>BECURRENT  ·  SOCIAL MEDIA  ·  TOPIC 6</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2ED"/>
        </a:solidFill>
      </p:bgPr>
    </p:bg>
    <p:spTree>
      <p:nvGrpSpPr>
        <p:cNvPr id="1" name=""/>
        <p:cNvGrpSpPr/>
        <p:nvPr/>
      </p:nvGrpSpPr>
      <p:grpSpPr>
        <a:xfrm>
          <a:off x="0" y="0"/>
          <a:ext cx="0" cy="0"/>
          <a:chOff x="0" y="0"/>
          <a:chExt cx="0" cy="0"/>
        </a:xfrm>
      </p:grpSpPr>
      <p:sp>
        <p:nvSpPr>
          <p:cNvPr id="2" name="Text 0"/>
          <p:cNvSpPr/>
          <p:nvPr/>
        </p:nvSpPr>
        <p:spPr>
          <a:xfrm>
            <a:off x="548640" y="365760"/>
            <a:ext cx="8046720" cy="237744"/>
          </a:xfrm>
          <a:prstGeom prst="rect">
            <a:avLst/>
          </a:prstGeom>
          <a:noFill/>
          <a:ln/>
        </p:spPr>
        <p:txBody>
          <a:bodyPr wrap="square" lIns="0" tIns="0" rIns="0" bIns="0" rtlCol="0" anchor="ctr"/>
          <a:lstStyle/>
          <a:p>
            <a:pPr indent="0" marL="0">
              <a:buNone/>
            </a:pPr>
            <a:r>
              <a:rPr lang="en-US" sz="1000" b="1" spc="140" kern="0" dirty="0">
                <a:solidFill>
                  <a:srgbClr val="B22222"/>
                </a:solidFill>
                <a:latin typeface="Courier New" pitchFamily="34" charset="0"/>
                <a:ea typeface="Courier New" pitchFamily="34" charset="-122"/>
                <a:cs typeface="Courier New" pitchFamily="34" charset="-120"/>
              </a:rPr>
              <a:t>THE ROAD NOT TAKEN</a:t>
            </a:r>
            <a:endParaRPr lang="en-US" sz="1000" dirty="0"/>
          </a:p>
        </p:txBody>
      </p:sp>
      <p:sp>
        <p:nvSpPr>
          <p:cNvPr id="3" name="Text 1"/>
          <p:cNvSpPr/>
          <p:nvPr/>
        </p:nvSpPr>
        <p:spPr>
          <a:xfrm>
            <a:off x="548640" y="713232"/>
            <a:ext cx="8046720" cy="731520"/>
          </a:xfrm>
          <a:prstGeom prst="rect">
            <a:avLst/>
          </a:prstGeom>
          <a:noFill/>
          <a:ln/>
        </p:spPr>
        <p:txBody>
          <a:bodyPr wrap="square" lIns="0" tIns="0" rIns="0" bIns="0" rtlCol="0" anchor="t"/>
          <a:lstStyle/>
          <a:p>
            <a:pPr indent="0" marL="0">
              <a:lnSpc>
                <a:spcPct val="92000"/>
              </a:lnSpc>
              <a:buNone/>
            </a:pPr>
            <a:r>
              <a:rPr lang="en-US" sz="3000" b="1" dirty="0">
                <a:solidFill>
                  <a:srgbClr val="14171A"/>
                </a:solidFill>
                <a:latin typeface="Cambria" pitchFamily="34" charset="0"/>
                <a:ea typeface="Cambria" pitchFamily="34" charset="-122"/>
                <a:cs typeface="Cambria" pitchFamily="34" charset="-120"/>
              </a:rPr>
              <a:t>One sentence, from 1996</a:t>
            </a:r>
            <a:endParaRPr lang="en-US" sz="3000" dirty="0"/>
          </a:p>
        </p:txBody>
      </p:sp>
      <p:sp>
        <p:nvSpPr>
          <p:cNvPr id="4" name="Shape 2"/>
          <p:cNvSpPr/>
          <p:nvPr/>
        </p:nvSpPr>
        <p:spPr>
          <a:xfrm>
            <a:off x="548640" y="1517904"/>
            <a:ext cx="8046720" cy="859536"/>
          </a:xfrm>
          <a:prstGeom prst="roundRect">
            <a:avLst>
              <a:gd name="adj" fmla="val 6383"/>
            </a:avLst>
          </a:prstGeom>
          <a:solidFill>
            <a:srgbClr val="F2E1E1"/>
          </a:solidFill>
          <a:ln w="9525">
            <a:solidFill>
              <a:srgbClr val="F2E1E1"/>
            </a:solidFill>
            <a:prstDash val="solid"/>
          </a:ln>
          <a:effectLst>
            <a:outerShdw sx="100000" sy="100000" kx="0" ky="0" algn="bl" rotWithShape="0" blurRad="88900" dist="12700" dir="5400000">
              <a:srgbClr val="9A968A">
                <a:alpha val="20000"/>
              </a:srgbClr>
            </a:outerShdw>
          </a:effectLst>
        </p:spPr>
      </p:sp>
      <p:sp>
        <p:nvSpPr>
          <p:cNvPr id="5" name="Text 3"/>
          <p:cNvSpPr/>
          <p:nvPr/>
        </p:nvSpPr>
        <p:spPr>
          <a:xfrm>
            <a:off x="822960" y="1517904"/>
            <a:ext cx="7498080" cy="859536"/>
          </a:xfrm>
          <a:prstGeom prst="rect">
            <a:avLst/>
          </a:prstGeom>
          <a:noFill/>
          <a:ln/>
        </p:spPr>
        <p:txBody>
          <a:bodyPr wrap="square" lIns="0" tIns="0" rIns="0" bIns="0" rtlCol="0" anchor="ctr"/>
          <a:lstStyle/>
          <a:p>
            <a:pPr algn="l" indent="0" marL="0">
              <a:lnSpc>
                <a:spcPct val="106000"/>
              </a:lnSpc>
              <a:buNone/>
            </a:pPr>
            <a:r>
              <a:rPr lang="en-US" sz="1800" i="1" dirty="0">
                <a:solidFill>
                  <a:srgbClr val="14171A"/>
                </a:solidFill>
                <a:latin typeface="Cambria" pitchFamily="34" charset="0"/>
                <a:ea typeface="Cambria" pitchFamily="34" charset="-122"/>
                <a:cs typeface="Cambria" pitchFamily="34" charset="-120"/>
              </a:rPr>
              <a:t>"A platform is generally not treated as the publisher of what its users post."</a:t>
            </a:r>
            <a:endParaRPr lang="en-US" sz="1800" dirty="0"/>
          </a:p>
        </p:txBody>
      </p:sp>
      <p:sp>
        <p:nvSpPr>
          <p:cNvPr id="6" name="Text 4"/>
          <p:cNvSpPr/>
          <p:nvPr/>
        </p:nvSpPr>
        <p:spPr>
          <a:xfrm>
            <a:off x="548640" y="2487168"/>
            <a:ext cx="658368" cy="256032"/>
          </a:xfrm>
          <a:prstGeom prst="rect">
            <a:avLst/>
          </a:prstGeom>
          <a:noFill/>
          <a:ln/>
        </p:spPr>
        <p:txBody>
          <a:bodyPr wrap="square" lIns="0" tIns="0" rIns="0" bIns="0" rtlCol="0" anchor="ctr"/>
          <a:lstStyle/>
          <a:p>
            <a:pPr algn="l" indent="0" marL="0">
              <a:lnSpc>
                <a:spcPct val="106000"/>
              </a:lnSpc>
              <a:buNone/>
            </a:pPr>
            <a:r>
              <a:rPr lang="en-US" sz="1050" b="1" dirty="0">
                <a:solidFill>
                  <a:srgbClr val="8A1A1A"/>
                </a:solidFill>
                <a:latin typeface="Courier New" pitchFamily="34" charset="0"/>
                <a:ea typeface="Courier New" pitchFamily="34" charset="-122"/>
                <a:cs typeface="Courier New" pitchFamily="34" charset="-120"/>
              </a:rPr>
              <a:t>1996</a:t>
            </a:r>
            <a:endParaRPr lang="en-US" sz="1050" dirty="0"/>
          </a:p>
        </p:txBody>
      </p:sp>
      <p:sp>
        <p:nvSpPr>
          <p:cNvPr id="7" name="Text 5"/>
          <p:cNvSpPr/>
          <p:nvPr/>
        </p:nvSpPr>
        <p:spPr>
          <a:xfrm>
            <a:off x="1298448" y="2487168"/>
            <a:ext cx="7296912" cy="329184"/>
          </a:xfrm>
          <a:prstGeom prst="rect">
            <a:avLst/>
          </a:prstGeom>
          <a:noFill/>
          <a:ln/>
        </p:spPr>
        <p:txBody>
          <a:bodyPr wrap="square" lIns="0" tIns="0" rIns="0" bIns="0" rtlCol="0" anchor="ctr"/>
          <a:lstStyle/>
          <a:p>
            <a:pPr algn="l" indent="0" marL="0">
              <a:lnSpc>
                <a:spcPct val="104000"/>
              </a:lnSpc>
              <a:buNone/>
            </a:pPr>
            <a:r>
              <a:rPr lang="en-US" sz="1250" dirty="0">
                <a:solidFill>
                  <a:srgbClr val="14171A"/>
                </a:solidFill>
                <a:latin typeface="Calibri" pitchFamily="34" charset="0"/>
                <a:ea typeface="Calibri" pitchFamily="34" charset="-122"/>
                <a:cs typeface="Calibri" pitchFamily="34" charset="-120"/>
              </a:rPr>
              <a:t>Section 230 of the Communications Decency Act. A large part of why the internet looks the way it does.</a:t>
            </a:r>
            <a:endParaRPr lang="en-US" sz="1250" dirty="0"/>
          </a:p>
        </p:txBody>
      </p:sp>
      <p:sp>
        <p:nvSpPr>
          <p:cNvPr id="8" name="Text 6"/>
          <p:cNvSpPr/>
          <p:nvPr/>
        </p:nvSpPr>
        <p:spPr>
          <a:xfrm>
            <a:off x="548640" y="2926080"/>
            <a:ext cx="658368" cy="256032"/>
          </a:xfrm>
          <a:prstGeom prst="rect">
            <a:avLst/>
          </a:prstGeom>
          <a:noFill/>
          <a:ln/>
        </p:spPr>
        <p:txBody>
          <a:bodyPr wrap="square" lIns="0" tIns="0" rIns="0" bIns="0" rtlCol="0" anchor="ctr"/>
          <a:lstStyle/>
          <a:p>
            <a:pPr algn="l" indent="0" marL="0">
              <a:lnSpc>
                <a:spcPct val="106000"/>
              </a:lnSpc>
              <a:buNone/>
            </a:pPr>
            <a:r>
              <a:rPr lang="en-US" sz="1050" b="1" dirty="0">
                <a:solidFill>
                  <a:srgbClr val="8A1A1A"/>
                </a:solidFill>
                <a:latin typeface="Courier New" pitchFamily="34" charset="0"/>
                <a:ea typeface="Courier New" pitchFamily="34" charset="-122"/>
                <a:cs typeface="Courier New" pitchFamily="34" charset="-120"/>
              </a:rPr>
              <a:t>1997</a:t>
            </a:r>
            <a:endParaRPr lang="en-US" sz="1050" dirty="0"/>
          </a:p>
        </p:txBody>
      </p:sp>
      <p:sp>
        <p:nvSpPr>
          <p:cNvPr id="9" name="Text 7"/>
          <p:cNvSpPr/>
          <p:nvPr/>
        </p:nvSpPr>
        <p:spPr>
          <a:xfrm>
            <a:off x="1298448" y="2926080"/>
            <a:ext cx="7296912" cy="329184"/>
          </a:xfrm>
          <a:prstGeom prst="rect">
            <a:avLst/>
          </a:prstGeom>
          <a:noFill/>
          <a:ln/>
        </p:spPr>
        <p:txBody>
          <a:bodyPr wrap="square" lIns="0" tIns="0" rIns="0" bIns="0" rtlCol="0" anchor="ctr"/>
          <a:lstStyle/>
          <a:p>
            <a:pPr algn="l" indent="0" marL="0">
              <a:lnSpc>
                <a:spcPct val="104000"/>
              </a:lnSpc>
              <a:buNone/>
            </a:pPr>
            <a:r>
              <a:rPr lang="en-US" sz="1250" dirty="0">
                <a:solidFill>
                  <a:srgbClr val="14171A"/>
                </a:solidFill>
                <a:latin typeface="Calibri" pitchFamily="34" charset="0"/>
                <a:ea typeface="Calibri" pitchFamily="34" charset="-122"/>
                <a:cs typeface="Calibri" pitchFamily="34" charset="-120"/>
              </a:rPr>
              <a:t>The rest of that law is struck down by the Supreme Court as a violation of free speech. Section 230 survives.</a:t>
            </a:r>
            <a:endParaRPr lang="en-US" sz="1250" dirty="0"/>
          </a:p>
        </p:txBody>
      </p:sp>
      <p:sp>
        <p:nvSpPr>
          <p:cNvPr id="10" name="Text 8"/>
          <p:cNvSpPr/>
          <p:nvPr/>
        </p:nvSpPr>
        <p:spPr>
          <a:xfrm>
            <a:off x="548640" y="3364992"/>
            <a:ext cx="658368" cy="256032"/>
          </a:xfrm>
          <a:prstGeom prst="rect">
            <a:avLst/>
          </a:prstGeom>
          <a:noFill/>
          <a:ln/>
        </p:spPr>
        <p:txBody>
          <a:bodyPr wrap="square" lIns="0" tIns="0" rIns="0" bIns="0" rtlCol="0" anchor="ctr"/>
          <a:lstStyle/>
          <a:p>
            <a:pPr algn="l" indent="0" marL="0">
              <a:lnSpc>
                <a:spcPct val="106000"/>
              </a:lnSpc>
              <a:buNone/>
            </a:pPr>
            <a:r>
              <a:rPr lang="en-US" sz="1050" b="1" dirty="0">
                <a:solidFill>
                  <a:srgbClr val="8A1A1A"/>
                </a:solidFill>
                <a:latin typeface="Courier New" pitchFamily="34" charset="0"/>
                <a:ea typeface="Courier New" pitchFamily="34" charset="-122"/>
                <a:cs typeface="Courier New" pitchFamily="34" charset="-120"/>
              </a:rPr>
              <a:t>Since</a:t>
            </a:r>
            <a:endParaRPr lang="en-US" sz="1050" dirty="0"/>
          </a:p>
        </p:txBody>
      </p:sp>
      <p:sp>
        <p:nvSpPr>
          <p:cNvPr id="11" name="Text 9"/>
          <p:cNvSpPr/>
          <p:nvPr/>
        </p:nvSpPr>
        <p:spPr>
          <a:xfrm>
            <a:off x="1298448" y="3364992"/>
            <a:ext cx="7296912" cy="329184"/>
          </a:xfrm>
          <a:prstGeom prst="rect">
            <a:avLst/>
          </a:prstGeom>
          <a:noFill/>
          <a:ln/>
        </p:spPr>
        <p:txBody>
          <a:bodyPr wrap="square" lIns="0" tIns="0" rIns="0" bIns="0" rtlCol="0" anchor="ctr"/>
          <a:lstStyle/>
          <a:p>
            <a:pPr algn="l" indent="0" marL="0">
              <a:lnSpc>
                <a:spcPct val="104000"/>
              </a:lnSpc>
              <a:buNone/>
            </a:pPr>
            <a:r>
              <a:rPr lang="en-US" sz="1250" dirty="0">
                <a:solidFill>
                  <a:srgbClr val="14171A"/>
                </a:solidFill>
                <a:latin typeface="Calibri" pitchFamily="34" charset="0"/>
                <a:ea typeface="Calibri" pitchFamily="34" charset="-122"/>
                <a:cs typeface="Calibri" pitchFamily="34" charset="-120"/>
              </a:rPr>
              <a:t>Politicians in both parties have proposed repealing or narrowing it, for opposite reasons.</a:t>
            </a:r>
            <a:endParaRPr lang="en-US" sz="1250" dirty="0"/>
          </a:p>
        </p:txBody>
      </p:sp>
      <p:sp>
        <p:nvSpPr>
          <p:cNvPr id="12" name="Text 10"/>
          <p:cNvSpPr/>
          <p:nvPr/>
        </p:nvSpPr>
        <p:spPr>
          <a:xfrm>
            <a:off x="548640" y="3803904"/>
            <a:ext cx="658368" cy="256032"/>
          </a:xfrm>
          <a:prstGeom prst="rect">
            <a:avLst/>
          </a:prstGeom>
          <a:noFill/>
          <a:ln/>
        </p:spPr>
        <p:txBody>
          <a:bodyPr wrap="square" lIns="0" tIns="0" rIns="0" bIns="0" rtlCol="0" anchor="ctr"/>
          <a:lstStyle/>
          <a:p>
            <a:pPr algn="l" indent="0" marL="0">
              <a:lnSpc>
                <a:spcPct val="106000"/>
              </a:lnSpc>
              <a:buNone/>
            </a:pPr>
            <a:r>
              <a:rPr lang="en-US" sz="1050" b="1" dirty="0">
                <a:solidFill>
                  <a:srgbClr val="8A1A1A"/>
                </a:solidFill>
                <a:latin typeface="Courier New" pitchFamily="34" charset="0"/>
                <a:ea typeface="Courier New" pitchFamily="34" charset="-122"/>
                <a:cs typeface="Courier New" pitchFamily="34" charset="-120"/>
              </a:rPr>
              <a:t>Now</a:t>
            </a:r>
            <a:endParaRPr lang="en-US" sz="1050" dirty="0"/>
          </a:p>
        </p:txBody>
      </p:sp>
      <p:sp>
        <p:nvSpPr>
          <p:cNvPr id="13" name="Text 11"/>
          <p:cNvSpPr/>
          <p:nvPr/>
        </p:nvSpPr>
        <p:spPr>
          <a:xfrm>
            <a:off x="1298448" y="3803904"/>
            <a:ext cx="7296912" cy="329184"/>
          </a:xfrm>
          <a:prstGeom prst="rect">
            <a:avLst/>
          </a:prstGeom>
          <a:noFill/>
          <a:ln/>
        </p:spPr>
        <p:txBody>
          <a:bodyPr wrap="square" lIns="0" tIns="0" rIns="0" bIns="0" rtlCol="0" anchor="ctr"/>
          <a:lstStyle/>
          <a:p>
            <a:pPr algn="l" indent="0" marL="0">
              <a:lnSpc>
                <a:spcPct val="104000"/>
              </a:lnSpc>
              <a:buNone/>
            </a:pPr>
            <a:r>
              <a:rPr lang="en-US" sz="1250" dirty="0">
                <a:solidFill>
                  <a:srgbClr val="14171A"/>
                </a:solidFill>
                <a:latin typeface="Calibri" pitchFamily="34" charset="0"/>
                <a:ea typeface="Calibri" pitchFamily="34" charset="-122"/>
                <a:cs typeface="Calibri" pitchFamily="34" charset="-120"/>
              </a:rPr>
              <a:t>It is still there, and people are still fighting over it right now.</a:t>
            </a:r>
            <a:endParaRPr lang="en-US" sz="1250" dirty="0"/>
          </a:p>
        </p:txBody>
      </p:sp>
      <p:sp>
        <p:nvSpPr>
          <p:cNvPr id="14" name="Text 12"/>
          <p:cNvSpPr/>
          <p:nvPr/>
        </p:nvSpPr>
        <p:spPr>
          <a:xfrm>
            <a:off x="548640" y="4279392"/>
            <a:ext cx="8046720" cy="274320"/>
          </a:xfrm>
          <a:prstGeom prst="rect">
            <a:avLst/>
          </a:prstGeom>
          <a:noFill/>
          <a:ln/>
        </p:spPr>
        <p:txBody>
          <a:bodyPr wrap="square" lIns="0" tIns="0" rIns="0" bIns="0" rtlCol="0" anchor="t"/>
          <a:lstStyle/>
          <a:p>
            <a:pPr algn="l" indent="0" marL="0">
              <a:lnSpc>
                <a:spcPct val="106000"/>
              </a:lnSpc>
              <a:buNone/>
            </a:pPr>
            <a:r>
              <a:rPr lang="en-US" sz="1350" b="1" dirty="0">
                <a:solidFill>
                  <a:srgbClr val="14171A"/>
                </a:solidFill>
                <a:latin typeface="Calibri" pitchFamily="34" charset="0"/>
                <a:ea typeface="Calibri" pitchFamily="34" charset="-122"/>
                <a:cs typeface="Calibri" pitchFamily="34" charset="-120"/>
              </a:rPr>
              <a:t>The current arrangement is not the natural state of things.</a:t>
            </a:r>
            <a:endParaRPr lang="en-US" sz="1350" dirty="0"/>
          </a:p>
        </p:txBody>
      </p:sp>
      <p:sp>
        <p:nvSpPr>
          <p:cNvPr id="16" name="Text 13"/>
          <p:cNvSpPr/>
          <p:nvPr/>
        </p:nvSpPr>
        <p:spPr>
          <a:xfrm>
            <a:off x="548640" y="4668012"/>
            <a:ext cx="8046720" cy="256032"/>
          </a:xfrm>
          <a:prstGeom prst="rect">
            <a:avLst/>
          </a:prstGeom>
          <a:noFill/>
          <a:ln/>
        </p:spPr>
        <p:txBody>
          <a:bodyPr wrap="square" lIns="0" tIns="0" rIns="0" bIns="0" rtlCol="0" anchor="ctr"/>
          <a:lstStyle/>
          <a:p>
            <a:pPr indent="0" marL="0">
              <a:buNone/>
            </a:pPr>
            <a:r>
              <a:rPr lang="en-US" sz="800" spc="100" kern="0" dirty="0">
                <a:solidFill>
                  <a:srgbClr val="5C6873"/>
                </a:solidFill>
                <a:latin typeface="Courier New" pitchFamily="34" charset="0"/>
                <a:ea typeface="Courier New" pitchFamily="34" charset="-122"/>
                <a:cs typeface="Courier New" pitchFamily="34" charset="-120"/>
              </a:rPr>
              <a:t>BECURRENT  ·  SOCIAL MEDIA  ·  TOPIC 6</a:t>
            </a:r>
            <a:endParaRPr lang="en-US" sz="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71B1F"/>
        </a:solidFill>
      </p:bgPr>
    </p:bg>
    <p:spTree>
      <p:nvGrpSpPr>
        <p:cNvPr id="1" name=""/>
        <p:cNvGrpSpPr/>
        <p:nvPr/>
      </p:nvGrpSpPr>
      <p:grpSpPr>
        <a:xfrm>
          <a:off x="0" y="0"/>
          <a:ext cx="0" cy="0"/>
          <a:chOff x="0" y="0"/>
          <a:chExt cx="0" cy="0"/>
        </a:xfrm>
      </p:grpSpPr>
      <p:sp>
        <p:nvSpPr>
          <p:cNvPr id="2" name="Text 0"/>
          <p:cNvSpPr/>
          <p:nvPr/>
        </p:nvSpPr>
        <p:spPr>
          <a:xfrm>
            <a:off x="548640" y="365760"/>
            <a:ext cx="8046720" cy="237744"/>
          </a:xfrm>
          <a:prstGeom prst="rect">
            <a:avLst/>
          </a:prstGeom>
          <a:noFill/>
          <a:ln/>
        </p:spPr>
        <p:txBody>
          <a:bodyPr wrap="square" lIns="0" tIns="0" rIns="0" bIns="0" rtlCol="0" anchor="ctr"/>
          <a:lstStyle/>
          <a:p>
            <a:pPr indent="0" marL="0">
              <a:buNone/>
            </a:pPr>
            <a:r>
              <a:rPr lang="en-US" sz="1000" b="1" spc="140" kern="0" dirty="0">
                <a:solidFill>
                  <a:srgbClr val="E8A0A0"/>
                </a:solidFill>
                <a:latin typeface="Courier New" pitchFamily="34" charset="0"/>
                <a:ea typeface="Courier New" pitchFamily="34" charset="-122"/>
                <a:cs typeface="Courier New" pitchFamily="34" charset="-120"/>
              </a:rPr>
              <a:t>BEREADY · 10-SECOND TAKEAWAY</a:t>
            </a:r>
            <a:endParaRPr lang="en-US" sz="1000" dirty="0"/>
          </a:p>
        </p:txBody>
      </p:sp>
      <p:sp>
        <p:nvSpPr>
          <p:cNvPr id="3" name="Text 1"/>
          <p:cNvSpPr/>
          <p:nvPr/>
        </p:nvSpPr>
        <p:spPr>
          <a:xfrm>
            <a:off x="548640" y="694944"/>
            <a:ext cx="7863840" cy="694944"/>
          </a:xfrm>
          <a:prstGeom prst="rect">
            <a:avLst/>
          </a:prstGeom>
          <a:noFill/>
          <a:ln/>
        </p:spPr>
        <p:txBody>
          <a:bodyPr wrap="square" lIns="0" tIns="0" rIns="0" bIns="0" rtlCol="0" anchor="t"/>
          <a:lstStyle/>
          <a:p>
            <a:pPr algn="l" indent="0" marL="0">
              <a:lnSpc>
                <a:spcPct val="110000"/>
              </a:lnSpc>
              <a:buNone/>
            </a:pPr>
            <a:r>
              <a:rPr lang="en-US" sz="1850" b="1" dirty="0">
                <a:solidFill>
                  <a:srgbClr val="FFFEFB"/>
                </a:solidFill>
                <a:latin typeface="Cambria" pitchFamily="34" charset="0"/>
                <a:ea typeface="Cambria" pitchFamily="34" charset="-122"/>
                <a:cs typeface="Cambria" pitchFamily="34" charset="-120"/>
              </a:rPr>
              <a:t>Three answers, each with a real case and a real cost. Your job is not to win the argument today.</a:t>
            </a:r>
            <a:endParaRPr lang="en-US" sz="1850" dirty="0"/>
          </a:p>
        </p:txBody>
      </p:sp>
      <p:sp>
        <p:nvSpPr>
          <p:cNvPr id="4" name="Shape 2"/>
          <p:cNvSpPr/>
          <p:nvPr/>
        </p:nvSpPr>
        <p:spPr>
          <a:xfrm>
            <a:off x="548640" y="1627632"/>
            <a:ext cx="8046720" cy="2286000"/>
          </a:xfrm>
          <a:prstGeom prst="roundRect">
            <a:avLst>
              <a:gd name="adj" fmla="val 2400"/>
            </a:avLst>
          </a:prstGeom>
          <a:solidFill>
            <a:srgbClr val="2B3238"/>
          </a:solidFill>
          <a:ln w="9525">
            <a:solidFill>
              <a:srgbClr val="2B3238"/>
            </a:solidFill>
            <a:prstDash val="solid"/>
          </a:ln>
        </p:spPr>
      </p:sp>
      <p:sp>
        <p:nvSpPr>
          <p:cNvPr id="5" name="Text 3"/>
          <p:cNvSpPr/>
          <p:nvPr/>
        </p:nvSpPr>
        <p:spPr>
          <a:xfrm>
            <a:off x="804672" y="1810512"/>
            <a:ext cx="7498080" cy="219456"/>
          </a:xfrm>
          <a:prstGeom prst="rect">
            <a:avLst/>
          </a:prstGeom>
          <a:noFill/>
          <a:ln/>
        </p:spPr>
        <p:txBody>
          <a:bodyPr wrap="square" lIns="0" tIns="0" rIns="0" bIns="0" rtlCol="0" anchor="t"/>
          <a:lstStyle/>
          <a:p>
            <a:pPr algn="l" indent="0" marL="0">
              <a:lnSpc>
                <a:spcPct val="106000"/>
              </a:lnSpc>
              <a:buNone/>
            </a:pPr>
            <a:r>
              <a:rPr lang="en-US" sz="900" b="1" dirty="0">
                <a:solidFill>
                  <a:srgbClr val="E8A0A0"/>
                </a:solidFill>
                <a:latin typeface="Courier New" pitchFamily="34" charset="0"/>
                <a:ea typeface="Courier New" pitchFamily="34" charset="-122"/>
                <a:cs typeface="Courier New" pitchFamily="34" charset="-120"/>
              </a:rPr>
              <a:t>CHECK YOUR UNDERSTANDING</a:t>
            </a:r>
            <a:endParaRPr lang="en-US" sz="900" dirty="0"/>
          </a:p>
        </p:txBody>
      </p:sp>
      <p:sp>
        <p:nvSpPr>
          <p:cNvPr id="6" name="Shape 4"/>
          <p:cNvSpPr/>
          <p:nvPr/>
        </p:nvSpPr>
        <p:spPr>
          <a:xfrm>
            <a:off x="804672" y="2176272"/>
            <a:ext cx="310896" cy="310896"/>
          </a:xfrm>
          <a:prstGeom prst="ellipse">
            <a:avLst/>
          </a:prstGeom>
          <a:solidFill>
            <a:srgbClr val="B22222"/>
          </a:solidFill>
          <a:ln w="12700">
            <a:solidFill>
              <a:srgbClr val="B22222"/>
            </a:solidFill>
            <a:prstDash val="solid"/>
          </a:ln>
        </p:spPr>
      </p:sp>
      <p:sp>
        <p:nvSpPr>
          <p:cNvPr id="7" name="Text 5"/>
          <p:cNvSpPr/>
          <p:nvPr/>
        </p:nvSpPr>
        <p:spPr>
          <a:xfrm>
            <a:off x="804672" y="2176272"/>
            <a:ext cx="310896" cy="310896"/>
          </a:xfrm>
          <a:prstGeom prst="rect">
            <a:avLst/>
          </a:prstGeom>
          <a:noFill/>
          <a:ln/>
        </p:spPr>
        <p:txBody>
          <a:bodyPr wrap="square" lIns="0" tIns="0" rIns="0" bIns="0" rtlCol="0" anchor="ctr"/>
          <a:lstStyle/>
          <a:p>
            <a:pPr algn="ctr" indent="0" marL="0">
              <a:buNone/>
            </a:pPr>
            <a:r>
              <a:rPr lang="en-US" sz="950" b="1" dirty="0">
                <a:solidFill>
                  <a:srgbClr val="FFFEFB"/>
                </a:solidFill>
                <a:latin typeface="Courier New" pitchFamily="34" charset="0"/>
                <a:ea typeface="Courier New" pitchFamily="34" charset="-122"/>
                <a:cs typeface="Courier New" pitchFamily="34" charset="-120"/>
              </a:rPr>
              <a:t>1</a:t>
            </a:r>
            <a:endParaRPr lang="en-US" sz="950" dirty="0"/>
          </a:p>
        </p:txBody>
      </p:sp>
      <p:sp>
        <p:nvSpPr>
          <p:cNvPr id="8" name="Text 6"/>
          <p:cNvSpPr/>
          <p:nvPr/>
        </p:nvSpPr>
        <p:spPr>
          <a:xfrm>
            <a:off x="1243584" y="2157984"/>
            <a:ext cx="7040880" cy="201168"/>
          </a:xfrm>
          <a:prstGeom prst="rect">
            <a:avLst/>
          </a:prstGeom>
          <a:noFill/>
          <a:ln/>
        </p:spPr>
        <p:txBody>
          <a:bodyPr wrap="square" lIns="0" tIns="0" rIns="0" bIns="0" rtlCol="0" anchor="t"/>
          <a:lstStyle/>
          <a:p>
            <a:pPr algn="l" indent="0" marL="0">
              <a:lnSpc>
                <a:spcPct val="106000"/>
              </a:lnSpc>
              <a:buNone/>
            </a:pPr>
            <a:r>
              <a:rPr lang="en-US" sz="800" b="1" dirty="0">
                <a:solidFill>
                  <a:srgbClr val="E8A0A0"/>
                </a:solidFill>
                <a:latin typeface="Courier New" pitchFamily="34" charset="0"/>
                <a:ea typeface="Courier New" pitchFamily="34" charset="-122"/>
                <a:cs typeface="Courier New" pitchFamily="34" charset="-120"/>
              </a:rPr>
              <a:t>SYNTHESIZING PATTERNS</a:t>
            </a:r>
            <a:endParaRPr lang="en-US" sz="800" dirty="0"/>
          </a:p>
        </p:txBody>
      </p:sp>
      <p:sp>
        <p:nvSpPr>
          <p:cNvPr id="9" name="Text 7"/>
          <p:cNvSpPr/>
          <p:nvPr/>
        </p:nvSpPr>
        <p:spPr>
          <a:xfrm>
            <a:off x="1243584" y="2359152"/>
            <a:ext cx="7040880" cy="402336"/>
          </a:xfrm>
          <a:prstGeom prst="rect">
            <a:avLst/>
          </a:prstGeom>
          <a:noFill/>
          <a:ln/>
        </p:spPr>
        <p:txBody>
          <a:bodyPr wrap="square" lIns="0" tIns="0" rIns="0" bIns="0" rtlCol="0" anchor="t"/>
          <a:lstStyle/>
          <a:p>
            <a:pPr algn="l" indent="0" marL="0">
              <a:lnSpc>
                <a:spcPct val="104000"/>
              </a:lnSpc>
              <a:buNone/>
            </a:pPr>
            <a:r>
              <a:rPr lang="en-US" sz="1200" dirty="0">
                <a:solidFill>
                  <a:srgbClr val="FFFEFB"/>
                </a:solidFill>
                <a:latin typeface="Calibri" pitchFamily="34" charset="0"/>
                <a:ea typeface="Calibri" pitchFamily="34" charset="-122"/>
                <a:cs typeface="Calibri" pitchFamily="34" charset="-120"/>
              </a:rPr>
              <a:t>Pick the position you do NOT hold. State the strongest version of it, in your own words, as well as you possibly can.</a:t>
            </a:r>
            <a:endParaRPr lang="en-US" sz="1200" dirty="0"/>
          </a:p>
        </p:txBody>
      </p:sp>
      <p:sp>
        <p:nvSpPr>
          <p:cNvPr id="10" name="Shape 8"/>
          <p:cNvSpPr/>
          <p:nvPr/>
        </p:nvSpPr>
        <p:spPr>
          <a:xfrm>
            <a:off x="804672" y="2779776"/>
            <a:ext cx="310896" cy="310896"/>
          </a:xfrm>
          <a:prstGeom prst="ellipse">
            <a:avLst/>
          </a:prstGeom>
          <a:solidFill>
            <a:srgbClr val="B22222"/>
          </a:solidFill>
          <a:ln w="12700">
            <a:solidFill>
              <a:srgbClr val="B22222"/>
            </a:solidFill>
            <a:prstDash val="solid"/>
          </a:ln>
        </p:spPr>
      </p:sp>
      <p:sp>
        <p:nvSpPr>
          <p:cNvPr id="11" name="Text 9"/>
          <p:cNvSpPr/>
          <p:nvPr/>
        </p:nvSpPr>
        <p:spPr>
          <a:xfrm>
            <a:off x="804672" y="2779776"/>
            <a:ext cx="310896" cy="310896"/>
          </a:xfrm>
          <a:prstGeom prst="rect">
            <a:avLst/>
          </a:prstGeom>
          <a:noFill/>
          <a:ln/>
        </p:spPr>
        <p:txBody>
          <a:bodyPr wrap="square" lIns="0" tIns="0" rIns="0" bIns="0" rtlCol="0" anchor="ctr"/>
          <a:lstStyle/>
          <a:p>
            <a:pPr algn="ctr" indent="0" marL="0">
              <a:buNone/>
            </a:pPr>
            <a:r>
              <a:rPr lang="en-US" sz="950" b="1" dirty="0">
                <a:solidFill>
                  <a:srgbClr val="FFFEFB"/>
                </a:solidFill>
                <a:latin typeface="Courier New" pitchFamily="34" charset="0"/>
                <a:ea typeface="Courier New" pitchFamily="34" charset="-122"/>
                <a:cs typeface="Courier New" pitchFamily="34" charset="-120"/>
              </a:rPr>
              <a:t>2</a:t>
            </a:r>
            <a:endParaRPr lang="en-US" sz="950" dirty="0"/>
          </a:p>
        </p:txBody>
      </p:sp>
      <p:sp>
        <p:nvSpPr>
          <p:cNvPr id="12" name="Text 10"/>
          <p:cNvSpPr/>
          <p:nvPr/>
        </p:nvSpPr>
        <p:spPr>
          <a:xfrm>
            <a:off x="1243584" y="2761488"/>
            <a:ext cx="7040880" cy="201168"/>
          </a:xfrm>
          <a:prstGeom prst="rect">
            <a:avLst/>
          </a:prstGeom>
          <a:noFill/>
          <a:ln/>
        </p:spPr>
        <p:txBody>
          <a:bodyPr wrap="square" lIns="0" tIns="0" rIns="0" bIns="0" rtlCol="0" anchor="t"/>
          <a:lstStyle/>
          <a:p>
            <a:pPr algn="l" indent="0" marL="0">
              <a:lnSpc>
                <a:spcPct val="106000"/>
              </a:lnSpc>
              <a:buNone/>
            </a:pPr>
            <a:r>
              <a:rPr lang="en-US" sz="800" b="1" dirty="0">
                <a:solidFill>
                  <a:srgbClr val="E8A0A0"/>
                </a:solidFill>
                <a:latin typeface="Courier New" pitchFamily="34" charset="0"/>
                <a:ea typeface="Courier New" pitchFamily="34" charset="-122"/>
                <a:cs typeface="Courier New" pitchFamily="34" charset="-120"/>
              </a:rPr>
              <a:t>GENERALIZING FROM EVIDENCE</a:t>
            </a:r>
            <a:endParaRPr lang="en-US" sz="800" dirty="0"/>
          </a:p>
        </p:txBody>
      </p:sp>
      <p:sp>
        <p:nvSpPr>
          <p:cNvPr id="13" name="Text 11"/>
          <p:cNvSpPr/>
          <p:nvPr/>
        </p:nvSpPr>
        <p:spPr>
          <a:xfrm>
            <a:off x="1243584" y="2962656"/>
            <a:ext cx="7040880" cy="402336"/>
          </a:xfrm>
          <a:prstGeom prst="rect">
            <a:avLst/>
          </a:prstGeom>
          <a:noFill/>
          <a:ln/>
        </p:spPr>
        <p:txBody>
          <a:bodyPr wrap="square" lIns="0" tIns="0" rIns="0" bIns="0" rtlCol="0" anchor="t"/>
          <a:lstStyle/>
          <a:p>
            <a:pPr algn="l" indent="0" marL="0">
              <a:lnSpc>
                <a:spcPct val="104000"/>
              </a:lnSpc>
              <a:buNone/>
            </a:pPr>
            <a:r>
              <a:rPr lang="en-US" sz="1200" dirty="0">
                <a:solidFill>
                  <a:srgbClr val="FFFEFB"/>
                </a:solidFill>
                <a:latin typeface="Calibri" pitchFamily="34" charset="0"/>
                <a:ea typeface="Calibri" pitchFamily="34" charset="-122"/>
                <a:cs typeface="Calibri" pitchFamily="34" charset="-120"/>
              </a:rPr>
              <a:t>Pick one earlier fight: comic books, television, music lyrics, or video games. What happened, and what does it predict about this one?</a:t>
            </a:r>
            <a:endParaRPr lang="en-US" sz="1200" dirty="0"/>
          </a:p>
        </p:txBody>
      </p:sp>
      <p:sp>
        <p:nvSpPr>
          <p:cNvPr id="14" name="Shape 12"/>
          <p:cNvSpPr/>
          <p:nvPr/>
        </p:nvSpPr>
        <p:spPr>
          <a:xfrm>
            <a:off x="804672" y="3383280"/>
            <a:ext cx="310896" cy="310896"/>
          </a:xfrm>
          <a:prstGeom prst="ellipse">
            <a:avLst/>
          </a:prstGeom>
          <a:solidFill>
            <a:srgbClr val="B22222"/>
          </a:solidFill>
          <a:ln w="12700">
            <a:solidFill>
              <a:srgbClr val="B22222"/>
            </a:solidFill>
            <a:prstDash val="solid"/>
          </a:ln>
        </p:spPr>
      </p:sp>
      <p:sp>
        <p:nvSpPr>
          <p:cNvPr id="15" name="Text 13"/>
          <p:cNvSpPr/>
          <p:nvPr/>
        </p:nvSpPr>
        <p:spPr>
          <a:xfrm>
            <a:off x="804672" y="3383280"/>
            <a:ext cx="310896" cy="310896"/>
          </a:xfrm>
          <a:prstGeom prst="rect">
            <a:avLst/>
          </a:prstGeom>
          <a:noFill/>
          <a:ln/>
        </p:spPr>
        <p:txBody>
          <a:bodyPr wrap="square" lIns="0" tIns="0" rIns="0" bIns="0" rtlCol="0" anchor="ctr"/>
          <a:lstStyle/>
          <a:p>
            <a:pPr algn="ctr" indent="0" marL="0">
              <a:buNone/>
            </a:pPr>
            <a:r>
              <a:rPr lang="en-US" sz="950" b="1" dirty="0">
                <a:solidFill>
                  <a:srgbClr val="FFFEFB"/>
                </a:solidFill>
                <a:latin typeface="Courier New" pitchFamily="34" charset="0"/>
                <a:ea typeface="Courier New" pitchFamily="34" charset="-122"/>
                <a:cs typeface="Courier New" pitchFamily="34" charset="-120"/>
              </a:rPr>
              <a:t>3</a:t>
            </a:r>
            <a:endParaRPr lang="en-US" sz="950" dirty="0"/>
          </a:p>
        </p:txBody>
      </p:sp>
      <p:sp>
        <p:nvSpPr>
          <p:cNvPr id="16" name="Text 14"/>
          <p:cNvSpPr/>
          <p:nvPr/>
        </p:nvSpPr>
        <p:spPr>
          <a:xfrm>
            <a:off x="1243584" y="3364992"/>
            <a:ext cx="7040880" cy="201168"/>
          </a:xfrm>
          <a:prstGeom prst="rect">
            <a:avLst/>
          </a:prstGeom>
          <a:noFill/>
          <a:ln/>
        </p:spPr>
        <p:txBody>
          <a:bodyPr wrap="square" lIns="0" tIns="0" rIns="0" bIns="0" rtlCol="0" anchor="t"/>
          <a:lstStyle/>
          <a:p>
            <a:pPr algn="l" indent="0" marL="0">
              <a:lnSpc>
                <a:spcPct val="106000"/>
              </a:lnSpc>
              <a:buNone/>
            </a:pPr>
            <a:r>
              <a:rPr lang="en-US" sz="800" b="1" dirty="0">
                <a:solidFill>
                  <a:srgbClr val="E8A0A0"/>
                </a:solidFill>
                <a:latin typeface="Courier New" pitchFamily="34" charset="0"/>
                <a:ea typeface="Courier New" pitchFamily="34" charset="-122"/>
                <a:cs typeface="Courier New" pitchFamily="34" charset="-120"/>
              </a:rPr>
              <a:t>GENERALIZING FROM EVIDENCE</a:t>
            </a:r>
            <a:endParaRPr lang="en-US" sz="800" dirty="0"/>
          </a:p>
        </p:txBody>
      </p:sp>
      <p:sp>
        <p:nvSpPr>
          <p:cNvPr id="17" name="Text 15"/>
          <p:cNvSpPr/>
          <p:nvPr/>
        </p:nvSpPr>
        <p:spPr>
          <a:xfrm>
            <a:off x="1243584" y="3566160"/>
            <a:ext cx="7040880" cy="402336"/>
          </a:xfrm>
          <a:prstGeom prst="rect">
            <a:avLst/>
          </a:prstGeom>
          <a:noFill/>
          <a:ln/>
        </p:spPr>
        <p:txBody>
          <a:bodyPr wrap="square" lIns="0" tIns="0" rIns="0" bIns="0" rtlCol="0" anchor="t"/>
          <a:lstStyle/>
          <a:p>
            <a:pPr algn="l" indent="0" marL="0">
              <a:lnSpc>
                <a:spcPct val="104000"/>
              </a:lnSpc>
              <a:buNone/>
            </a:pPr>
            <a:r>
              <a:rPr lang="en-US" sz="1200" dirty="0">
                <a:solidFill>
                  <a:srgbClr val="FFFEFB"/>
                </a:solidFill>
                <a:latin typeface="Calibri" pitchFamily="34" charset="0"/>
                <a:ea typeface="Calibri" pitchFamily="34" charset="-122"/>
                <a:cs typeface="Calibri" pitchFamily="34" charset="-120"/>
              </a:rPr>
              <a:t>What evidence would change your mind? Be specific enough that somebody could go looking for it.</a:t>
            </a:r>
            <a:endParaRPr lang="en-US" sz="1200" dirty="0"/>
          </a:p>
        </p:txBody>
      </p:sp>
      <p:sp>
        <p:nvSpPr>
          <p:cNvPr id="18" name="Text 16"/>
          <p:cNvSpPr/>
          <p:nvPr/>
        </p:nvSpPr>
        <p:spPr>
          <a:xfrm>
            <a:off x="548640" y="4096512"/>
            <a:ext cx="7863840" cy="310896"/>
          </a:xfrm>
          <a:prstGeom prst="rect">
            <a:avLst/>
          </a:prstGeom>
          <a:noFill/>
          <a:ln/>
        </p:spPr>
        <p:txBody>
          <a:bodyPr wrap="square" lIns="0" tIns="0" rIns="0" bIns="0" rtlCol="0" anchor="t"/>
          <a:lstStyle/>
          <a:p>
            <a:pPr algn="l" indent="0" marL="0">
              <a:lnSpc>
                <a:spcPct val="106000"/>
              </a:lnSpc>
              <a:buNone/>
            </a:pPr>
            <a:r>
              <a:rPr lang="en-US" sz="1500" i="1" dirty="0">
                <a:solidFill>
                  <a:srgbClr val="A8B2BA"/>
                </a:solidFill>
                <a:latin typeface="Cambria" pitchFamily="34" charset="0"/>
                <a:ea typeface="Cambria" pitchFamily="34" charset="-122"/>
                <a:cs typeface="Cambria" pitchFamily="34" charset="-120"/>
              </a:rPr>
              <a:t>State the other side well enough that somebody who holds it would say you got it right.</a:t>
            </a:r>
            <a:endParaRPr lang="en-US" sz="1500" dirty="0"/>
          </a:p>
        </p:txBody>
      </p:sp>
      <p:sp>
        <p:nvSpPr>
          <p:cNvPr id="20" name="Text 17"/>
          <p:cNvSpPr/>
          <p:nvPr/>
        </p:nvSpPr>
        <p:spPr>
          <a:xfrm>
            <a:off x="548640" y="4668012"/>
            <a:ext cx="8046720" cy="256032"/>
          </a:xfrm>
          <a:prstGeom prst="rect">
            <a:avLst/>
          </a:prstGeom>
          <a:noFill/>
          <a:ln/>
        </p:spPr>
        <p:txBody>
          <a:bodyPr wrap="square" lIns="0" tIns="0" rIns="0" bIns="0" rtlCol="0" anchor="ctr"/>
          <a:lstStyle/>
          <a:p>
            <a:pPr indent="0" marL="0">
              <a:buNone/>
            </a:pPr>
            <a:r>
              <a:rPr lang="en-US" sz="800" spc="100" kern="0" dirty="0">
                <a:solidFill>
                  <a:srgbClr val="A8B2BA"/>
                </a:solidFill>
                <a:latin typeface="Courier New" pitchFamily="34" charset="0"/>
                <a:ea typeface="Courier New" pitchFamily="34" charset="-122"/>
                <a:cs typeface="Courier New" pitchFamily="34" charset="-120"/>
              </a:rPr>
              <a:t>BECURRENT  ·  SOCIAL MEDIA  ·  TOPIC 6</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BeCurrent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Who Gets to Decide?, Social Media Topic 6</dc:title>
  <dc:subject>BeCurrent, Current Events</dc:subject>
  <dc:creator>BeCurrent</dc:creator>
  <cp:lastModifiedBy>BeCurrent</cp:lastModifiedBy>
  <cp:revision>1</cp:revision>
  <dcterms:created xsi:type="dcterms:W3CDTF">2026-08-20T13:11:37Z</dcterms:created>
  <dcterms:modified xsi:type="dcterms:W3CDTF">2026-08-20T13:11:37Z</dcterms:modified>
</cp:coreProperties>
</file>