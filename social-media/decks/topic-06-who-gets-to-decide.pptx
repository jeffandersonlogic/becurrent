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keeping the promise. You told them on day one that a hard question was coming, and this is it. Read the question off the slide and then stop talking. Do not let anybody answer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the point is that today is earned. Four topics of machinery so that this can be an argument instead of a room of opinions. Read the Reading Target aloud: they are graded on the side they did not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three answers up and take a straw poll by hands, without discussion. Note the split on the board and leave it there; you will come back to it at the end and ask who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decides whether the argument is any good. Say it plainly: nobody in this argument is stupid. If a position sounds obviously wrong, they are arguing with the weak version of it, and beating the weak version teaches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tradeoff and then hold everybody to it for the rest of the block. An answer with no cost in it is not finished, and that is the standard you will grade against, so say so now rather than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strongest case first and make somebody who disagrees state it. Then the hardest question, and do not resolve it. Willpower against thousands of engineers is the honest shape of the problem, not a rhetorical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self-regulation card is the one they underrate, so give it real weight: bad press does move companies. Then the hardest question, which is the cleanest conflict of interest in the unit. Let the silence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ordinary cases, because seatbelts and cigarette ads are the reason this position is not exotic. Then the hardest question, and read it slowly enough that they hear the same sentence twice. The Watch For belongs in the argument without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a column, as a memory aid before they write. If a student cannot state the cost of their own position, they are not ready to write about it, and this is where you find that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 move: the argument has a history. Four fights, four media, and they have heard of none of them. Ask what the four have in common before you turn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halves matter. Every one ended in self-regulation under threat rather than in a law, which predicts something. And several of the strongest claims did not hold up, which predicts something else. Sincere and wrong is the pair to sit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break the precedent on purpose. A comic book did not know who was holding it. Any argument from 1954 has to survive these three differences, and naming what is different is half of using a precedent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230 is the one fact that changes how the argument feels: the current arrangement is one sentence that survived a court case, not the natural state of things. If they think the rules are permanent, they will argue as if nothing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straw poll from the start and ask who moved and why. Then set the writing: the strongest version of the side they did not pick. Last line out loud, because it is the whole assessment: state it well enough that somebody who holds it would recognize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B1F"/>
        </a:solidFill>
      </p:bgPr>
    </p:bg>
    <p:spTree>
      <p:nvGrpSpPr>
        <p:cNvPr id="1" name=""/>
        <p:cNvGrpSpPr/>
        <p:nvPr/>
      </p:nvGrpSpPr>
      <p:grpSpPr>
        <a:xfrm>
          <a:off x="0" y="0"/>
          <a:ext cx="0" cy="0"/>
          <a:chOff x="0" y="0"/>
          <a:chExt cx="0" cy="0"/>
        </a:xfrm>
      </p:grpSpPr>
      <p:sp>
        <p:nvSpPr>
          <p:cNvPr id="2" name="Shape 0"/>
          <p:cNvSpPr/>
          <p:nvPr/>
        </p:nvSpPr>
        <p:spPr>
          <a:xfrm>
            <a:off x="548640" y="548640"/>
            <a:ext cx="512064" cy="512064"/>
          </a:xfrm>
          <a:prstGeom prst="ellipse">
            <a:avLst/>
          </a:prstGeom>
          <a:solidFill>
            <a:srgbClr val="B22222"/>
          </a:solidFill>
          <a:ln w="12700">
            <a:solidFill>
              <a:srgbClr val="B22222"/>
            </a:solidFill>
            <a:prstDash val="solid"/>
          </a:ln>
        </p:spPr>
      </p:sp>
      <p:sp>
        <p:nvSpPr>
          <p:cNvPr id="3" name="Text 1"/>
          <p:cNvSpPr/>
          <p:nvPr/>
        </p:nvSpPr>
        <p:spPr>
          <a:xfrm>
            <a:off x="548640" y="548640"/>
            <a:ext cx="512064" cy="512064"/>
          </a:xfrm>
          <a:prstGeom prst="rect">
            <a:avLst/>
          </a:prstGeom>
          <a:noFill/>
          <a:ln/>
        </p:spPr>
        <p:txBody>
          <a:bodyPr wrap="square" lIns="0" tIns="0" rIns="0" bIns="0" rtlCol="0" anchor="ctr"/>
          <a:lstStyle/>
          <a:p>
            <a:pPr algn="ctr" indent="0" marL="0">
              <a:buNone/>
            </a:pPr>
            <a:r>
              <a:rPr lang="en-US" sz="1400" b="1" dirty="0">
                <a:solidFill>
                  <a:srgbClr val="FFFEFB"/>
                </a:solidFill>
                <a:latin typeface="Courier New" pitchFamily="34" charset="0"/>
                <a:ea typeface="Courier New" pitchFamily="34" charset="-122"/>
                <a:cs typeface="Courier New" pitchFamily="34" charset="-120"/>
              </a:rPr>
              <a:t>06</a:t>
            </a:r>
            <a:endParaRPr lang="en-US" sz="1400" dirty="0"/>
          </a:p>
        </p:txBody>
      </p:sp>
      <p:sp>
        <p:nvSpPr>
          <p:cNvPr id="4" name="Text 2"/>
          <p:cNvSpPr/>
          <p:nvPr/>
        </p:nvSpPr>
        <p:spPr>
          <a:xfrm>
            <a:off x="1207008" y="68580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SOCIAL MEDIA · TOPIC 6</a:t>
            </a:r>
            <a:endParaRPr lang="en-US" sz="1000" dirty="0"/>
          </a:p>
        </p:txBody>
      </p:sp>
      <p:sp>
        <p:nvSpPr>
          <p:cNvPr id="5" name="Text 3"/>
          <p:cNvSpPr/>
          <p:nvPr/>
        </p:nvSpPr>
        <p:spPr>
          <a:xfrm>
            <a:off x="548640" y="1298448"/>
            <a:ext cx="8046720" cy="868680"/>
          </a:xfrm>
          <a:prstGeom prst="rect">
            <a:avLst/>
          </a:prstGeom>
          <a:noFill/>
          <a:ln/>
        </p:spPr>
        <p:txBody>
          <a:bodyPr wrap="square" lIns="0" tIns="0" rIns="0" bIns="0" rtlCol="0" anchor="t"/>
          <a:lstStyle/>
          <a:p>
            <a:pPr indent="0" marL="0">
              <a:lnSpc>
                <a:spcPct val="92000"/>
              </a:lnSpc>
              <a:buNone/>
            </a:pPr>
            <a:r>
              <a:rPr lang="en-US" sz="4200" b="1" dirty="0">
                <a:solidFill>
                  <a:srgbClr val="FFFEFB"/>
                </a:solidFill>
                <a:latin typeface="Cambria" pitchFamily="34" charset="0"/>
                <a:ea typeface="Cambria" pitchFamily="34" charset="-122"/>
                <a:cs typeface="Cambria" pitchFamily="34" charset="-120"/>
              </a:rPr>
              <a:t>Who Gets to Decide?</a:t>
            </a:r>
            <a:endParaRPr lang="en-US" sz="4200" dirty="0"/>
          </a:p>
        </p:txBody>
      </p:sp>
      <p:sp>
        <p:nvSpPr>
          <p:cNvPr id="6" name="Text 4"/>
          <p:cNvSpPr/>
          <p:nvPr/>
        </p:nvSpPr>
        <p:spPr>
          <a:xfrm>
            <a:off x="548640" y="2286000"/>
            <a:ext cx="6858000" cy="822960"/>
          </a:xfrm>
          <a:prstGeom prst="rect">
            <a:avLst/>
          </a:prstGeom>
          <a:noFill/>
          <a:ln/>
        </p:spPr>
        <p:txBody>
          <a:bodyPr wrap="square" lIns="0" tIns="0" rIns="0" bIns="0" rtlCol="0" anchor="t"/>
          <a:lstStyle/>
          <a:p>
            <a:pPr algn="l" indent="0" marL="0">
              <a:lnSpc>
                <a:spcPct val="115000"/>
              </a:lnSpc>
              <a:buNone/>
            </a:pPr>
            <a:r>
              <a:rPr lang="en-US" sz="1700" i="1" dirty="0">
                <a:solidFill>
                  <a:srgbClr val="A8B2BA"/>
                </a:solidFill>
                <a:latin typeface="Cambria" pitchFamily="34" charset="0"/>
                <a:ea typeface="Cambria" pitchFamily="34" charset="-122"/>
                <a:cs typeface="Cambria" pitchFamily="34" charset="-120"/>
              </a:rPr>
              <a:t>I told you on the first day I would ask you a hard question at the end. Here it is.</a:t>
            </a:r>
            <a:endParaRPr lang="en-US" sz="1700" dirty="0"/>
          </a:p>
        </p:txBody>
      </p:sp>
      <p:sp>
        <p:nvSpPr>
          <p:cNvPr id="7" name="Shape 5"/>
          <p:cNvSpPr/>
          <p:nvPr/>
        </p:nvSpPr>
        <p:spPr>
          <a:xfrm>
            <a:off x="548640" y="3401568"/>
            <a:ext cx="1828800" cy="329184"/>
          </a:xfrm>
          <a:prstGeom prst="roundRect">
            <a:avLst>
              <a:gd name="adj" fmla="val 16667"/>
            </a:avLst>
          </a:prstGeom>
          <a:solidFill>
            <a:srgbClr val="2B3238"/>
          </a:solidFill>
          <a:ln w="9525">
            <a:solidFill>
              <a:srgbClr val="2B3238"/>
            </a:solidFill>
            <a:prstDash val="solid"/>
          </a:ln>
        </p:spPr>
      </p:sp>
      <p:sp>
        <p:nvSpPr>
          <p:cNvPr id="8" name="Text 6"/>
          <p:cNvSpPr/>
          <p:nvPr/>
        </p:nvSpPr>
        <p:spPr>
          <a:xfrm>
            <a:off x="548640" y="3401568"/>
            <a:ext cx="182880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SYNTHESIZING PATTERNS</a:t>
            </a:r>
            <a:endParaRPr lang="en-US" sz="900" dirty="0"/>
          </a:p>
        </p:txBody>
      </p:sp>
      <p:sp>
        <p:nvSpPr>
          <p:cNvPr id="9" name="Shape 7"/>
          <p:cNvSpPr/>
          <p:nvPr/>
        </p:nvSpPr>
        <p:spPr>
          <a:xfrm>
            <a:off x="2578608" y="3401568"/>
            <a:ext cx="2331720" cy="329184"/>
          </a:xfrm>
          <a:prstGeom prst="roundRect">
            <a:avLst>
              <a:gd name="adj" fmla="val 16667"/>
            </a:avLst>
          </a:prstGeom>
          <a:solidFill>
            <a:srgbClr val="2B3238"/>
          </a:solidFill>
          <a:ln w="9525">
            <a:solidFill>
              <a:srgbClr val="2B3238"/>
            </a:solidFill>
            <a:prstDash val="solid"/>
          </a:ln>
        </p:spPr>
      </p:sp>
      <p:sp>
        <p:nvSpPr>
          <p:cNvPr id="10" name="Text 8"/>
          <p:cNvSpPr/>
          <p:nvPr/>
        </p:nvSpPr>
        <p:spPr>
          <a:xfrm>
            <a:off x="2578608" y="3401568"/>
            <a:ext cx="233172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GENERALIZING FROM EVIDENCE</a:t>
            </a:r>
            <a:endParaRPr lang="en-US" sz="900" dirty="0"/>
          </a:p>
        </p:txBody>
      </p:sp>
      <p:sp>
        <p:nvSpPr>
          <p:cNvPr id="12" name="Text 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READ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2500" b="1" dirty="0">
                <a:solidFill>
                  <a:srgbClr val="14171A"/>
                </a:solidFill>
                <a:latin typeface="Cambria" pitchFamily="34" charset="0"/>
                <a:ea typeface="Cambria" pitchFamily="34" charset="-122"/>
                <a:cs typeface="Cambria" pitchFamily="34" charset="-120"/>
              </a:rPr>
              <a:t>Everything so far was so that today is a real argument</a:t>
            </a:r>
            <a:endParaRPr lang="en-US" sz="2500" dirty="0"/>
          </a:p>
        </p:txBody>
      </p:sp>
      <p:sp>
        <p:nvSpPr>
          <p:cNvPr id="4" name="Shape 2"/>
          <p:cNvSpPr/>
          <p:nvPr/>
        </p:nvSpPr>
        <p:spPr>
          <a:xfrm>
            <a:off x="548640" y="1481328"/>
            <a:ext cx="310896" cy="310896"/>
          </a:xfrm>
          <a:prstGeom prst="ellipse">
            <a:avLst/>
          </a:prstGeom>
          <a:solidFill>
            <a:srgbClr val="2B3238"/>
          </a:solidFill>
          <a:ln w="12700">
            <a:solidFill>
              <a:srgbClr val="2B3238"/>
            </a:solidFill>
            <a:prstDash val="solid"/>
          </a:ln>
        </p:spPr>
      </p:sp>
      <p:sp>
        <p:nvSpPr>
          <p:cNvPr id="5" name="Text 3"/>
          <p:cNvSpPr/>
          <p:nvPr/>
        </p:nvSpPr>
        <p:spPr>
          <a:xfrm>
            <a:off x="548640" y="1481328"/>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6" name="Text 4"/>
          <p:cNvSpPr/>
          <p:nvPr/>
        </p:nvSpPr>
        <p:spPr>
          <a:xfrm>
            <a:off x="987552" y="1463040"/>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Where the Money Comes From</a:t>
            </a:r>
            <a:endParaRPr lang="en-US" sz="1200" dirty="0"/>
          </a:p>
        </p:txBody>
      </p:sp>
      <p:sp>
        <p:nvSpPr>
          <p:cNvPr id="7" name="Text 5"/>
          <p:cNvSpPr/>
          <p:nvPr/>
        </p:nvSpPr>
        <p:spPr>
          <a:xfrm>
            <a:off x="3730752" y="1463040"/>
            <a:ext cx="4846320" cy="274320"/>
          </a:xfrm>
          <a:prstGeom prst="rect">
            <a:avLst/>
          </a:prstGeom>
          <a:noFill/>
          <a:ln/>
        </p:spPr>
        <p:txBody>
          <a:bodyPr wrap="square" lIns="0" tIns="0" rIns="0" bIns="0" rtlCol="0" anchor="ctr"/>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You built the chain from opening an app to a company getting paid.</a:t>
            </a:r>
            <a:endParaRPr lang="en-US" sz="1200" dirty="0"/>
          </a:p>
        </p:txBody>
      </p:sp>
      <p:sp>
        <p:nvSpPr>
          <p:cNvPr id="8" name="Shape 6"/>
          <p:cNvSpPr/>
          <p:nvPr/>
        </p:nvSpPr>
        <p:spPr>
          <a:xfrm>
            <a:off x="548640" y="1975104"/>
            <a:ext cx="310896" cy="310896"/>
          </a:xfrm>
          <a:prstGeom prst="ellipse">
            <a:avLst/>
          </a:prstGeom>
          <a:solidFill>
            <a:srgbClr val="2B3238"/>
          </a:solidFill>
          <a:ln w="12700">
            <a:solidFill>
              <a:srgbClr val="2B3238"/>
            </a:solidFill>
            <a:prstDash val="solid"/>
          </a:ln>
        </p:spPr>
      </p:sp>
      <p:sp>
        <p:nvSpPr>
          <p:cNvPr id="9" name="Text 7"/>
          <p:cNvSpPr/>
          <p:nvPr/>
        </p:nvSpPr>
        <p:spPr>
          <a:xfrm>
            <a:off x="548640" y="1975104"/>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0" name="Text 8"/>
          <p:cNvSpPr/>
          <p:nvPr/>
        </p:nvSpPr>
        <p:spPr>
          <a:xfrm>
            <a:off x="987552" y="1956816"/>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Somebody Made a Film About This</a:t>
            </a:r>
            <a:endParaRPr lang="en-US" sz="1200" dirty="0"/>
          </a:p>
        </p:txBody>
      </p:sp>
      <p:sp>
        <p:nvSpPr>
          <p:cNvPr id="11" name="Text 9"/>
          <p:cNvSpPr/>
          <p:nvPr/>
        </p:nvSpPr>
        <p:spPr>
          <a:xfrm>
            <a:off x="3730752" y="1956816"/>
            <a:ext cx="4846320" cy="274320"/>
          </a:xfrm>
          <a:prstGeom prst="rect">
            <a:avLst/>
          </a:prstGeom>
          <a:noFill/>
          <a:ln/>
        </p:spPr>
        <p:txBody>
          <a:bodyPr wrap="square" lIns="0" tIns="0" rIns="0" bIns="0" rtlCol="0" anchor="ctr"/>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You took the film apart the way you took your app apart.</a:t>
            </a:r>
            <a:endParaRPr lang="en-US" sz="1200" dirty="0"/>
          </a:p>
        </p:txBody>
      </p:sp>
      <p:sp>
        <p:nvSpPr>
          <p:cNvPr id="12" name="Shape 10"/>
          <p:cNvSpPr/>
          <p:nvPr/>
        </p:nvSpPr>
        <p:spPr>
          <a:xfrm>
            <a:off x="548640" y="2468880"/>
            <a:ext cx="310896" cy="310896"/>
          </a:xfrm>
          <a:prstGeom prst="ellipse">
            <a:avLst/>
          </a:prstGeom>
          <a:solidFill>
            <a:srgbClr val="2B3238"/>
          </a:solidFill>
          <a:ln w="12700">
            <a:solidFill>
              <a:srgbClr val="2B3238"/>
            </a:solidFill>
            <a:prstDash val="solid"/>
          </a:ln>
        </p:spPr>
      </p:sp>
      <p:sp>
        <p:nvSpPr>
          <p:cNvPr id="13" name="Text 11"/>
          <p:cNvSpPr/>
          <p:nvPr/>
        </p:nvSpPr>
        <p:spPr>
          <a:xfrm>
            <a:off x="548640" y="24688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4" name="Text 12"/>
          <p:cNvSpPr/>
          <p:nvPr/>
        </p:nvSpPr>
        <p:spPr>
          <a:xfrm>
            <a:off x="987552" y="2450592"/>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Inside the Algorithm Box</a:t>
            </a:r>
            <a:endParaRPr lang="en-US" sz="1200" dirty="0"/>
          </a:p>
        </p:txBody>
      </p:sp>
      <p:sp>
        <p:nvSpPr>
          <p:cNvPr id="15" name="Text 13"/>
          <p:cNvSpPr/>
          <p:nvPr/>
        </p:nvSpPr>
        <p:spPr>
          <a:xfrm>
            <a:off x="3730752" y="2450592"/>
            <a:ext cx="4846320" cy="274320"/>
          </a:xfrm>
          <a:prstGeom prst="rect">
            <a:avLst/>
          </a:prstGeom>
          <a:noFill/>
          <a:ln/>
        </p:spPr>
        <p:txBody>
          <a:bodyPr wrap="square" lIns="0" tIns="0" rIns="0" bIns="0" rtlCol="0" anchor="ctr"/>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You opened the box almost every chain had in the middle.</a:t>
            </a:r>
            <a:endParaRPr lang="en-US" sz="1200" dirty="0"/>
          </a:p>
        </p:txBody>
      </p:sp>
      <p:sp>
        <p:nvSpPr>
          <p:cNvPr id="16" name="Shape 14"/>
          <p:cNvSpPr/>
          <p:nvPr/>
        </p:nvSpPr>
        <p:spPr>
          <a:xfrm>
            <a:off x="548640" y="2962656"/>
            <a:ext cx="310896" cy="310896"/>
          </a:xfrm>
          <a:prstGeom prst="ellipse">
            <a:avLst/>
          </a:prstGeom>
          <a:solidFill>
            <a:srgbClr val="2B3238"/>
          </a:solidFill>
          <a:ln w="12700">
            <a:solidFill>
              <a:srgbClr val="2B3238"/>
            </a:solidFill>
            <a:prstDash val="solid"/>
          </a:ln>
        </p:spPr>
      </p:sp>
      <p:sp>
        <p:nvSpPr>
          <p:cNvPr id="17" name="Text 15"/>
          <p:cNvSpPr/>
          <p:nvPr/>
        </p:nvSpPr>
        <p:spPr>
          <a:xfrm>
            <a:off x="548640" y="296265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4</a:t>
            </a:r>
            <a:endParaRPr lang="en-US" sz="950" dirty="0"/>
          </a:p>
        </p:txBody>
      </p:sp>
      <p:sp>
        <p:nvSpPr>
          <p:cNvPr id="18" name="Text 16"/>
          <p:cNvSpPr/>
          <p:nvPr/>
        </p:nvSpPr>
        <p:spPr>
          <a:xfrm>
            <a:off x="987552" y="2944368"/>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The Impact and the Digital Footprint</a:t>
            </a:r>
            <a:endParaRPr lang="en-US" sz="1200" dirty="0"/>
          </a:p>
        </p:txBody>
      </p:sp>
      <p:sp>
        <p:nvSpPr>
          <p:cNvPr id="19" name="Text 17"/>
          <p:cNvSpPr/>
          <p:nvPr/>
        </p:nvSpPr>
        <p:spPr>
          <a:xfrm>
            <a:off x="3730752" y="2944368"/>
            <a:ext cx="4846320" cy="274320"/>
          </a:xfrm>
          <a:prstGeom prst="rect">
            <a:avLst/>
          </a:prstGeom>
          <a:noFill/>
          <a:ln/>
        </p:spPr>
        <p:txBody>
          <a:bodyPr wrap="square" lIns="0" tIns="0" rIns="0" bIns="0" rtlCol="0" anchor="ctr"/>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You read the evidence about effects, and what a record keeps.</a:t>
            </a:r>
            <a:endParaRPr lang="en-US" sz="1200" dirty="0"/>
          </a:p>
        </p:txBody>
      </p:sp>
      <p:sp>
        <p:nvSpPr>
          <p:cNvPr id="20" name="Shape 18"/>
          <p:cNvSpPr/>
          <p:nvPr/>
        </p:nvSpPr>
        <p:spPr>
          <a:xfrm>
            <a:off x="548640" y="3456432"/>
            <a:ext cx="310896" cy="310896"/>
          </a:xfrm>
          <a:prstGeom prst="ellipse">
            <a:avLst/>
          </a:prstGeom>
          <a:solidFill>
            <a:srgbClr val="2B3238"/>
          </a:solidFill>
          <a:ln w="12700">
            <a:solidFill>
              <a:srgbClr val="2B3238"/>
            </a:solidFill>
            <a:prstDash val="solid"/>
          </a:ln>
        </p:spPr>
      </p:sp>
      <p:sp>
        <p:nvSpPr>
          <p:cNvPr id="21" name="Text 19"/>
          <p:cNvSpPr/>
          <p:nvPr/>
        </p:nvSpPr>
        <p:spPr>
          <a:xfrm>
            <a:off x="548640" y="345643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5</a:t>
            </a:r>
            <a:endParaRPr lang="en-US" sz="950" dirty="0"/>
          </a:p>
        </p:txBody>
      </p:sp>
      <p:sp>
        <p:nvSpPr>
          <p:cNvPr id="22" name="Text 20"/>
          <p:cNvSpPr/>
          <p:nvPr/>
        </p:nvSpPr>
        <p:spPr>
          <a:xfrm>
            <a:off x="987552" y="3438144"/>
            <a:ext cx="2651760" cy="274320"/>
          </a:xfrm>
          <a:prstGeom prst="rect">
            <a:avLst/>
          </a:prstGeom>
          <a:noFill/>
          <a:ln/>
        </p:spPr>
        <p:txBody>
          <a:bodyPr wrap="square" lIns="0" tIns="0" rIns="0" bIns="0" rtlCol="0" anchor="ctr"/>
          <a:lstStyle/>
          <a:p>
            <a:pPr algn="l" indent="0" marL="0">
              <a:lnSpc>
                <a:spcPct val="106000"/>
              </a:lnSpc>
              <a:buNone/>
            </a:pPr>
            <a:r>
              <a:rPr lang="en-US" sz="1200" b="1" dirty="0">
                <a:solidFill>
                  <a:srgbClr val="14171A"/>
                </a:solidFill>
                <a:latin typeface="Calibri" pitchFamily="34" charset="0"/>
                <a:ea typeface="Calibri" pitchFamily="34" charset="-122"/>
                <a:cs typeface="Calibri" pitchFamily="34" charset="-120"/>
              </a:rPr>
              <a:t>How a Lie Travels</a:t>
            </a:r>
            <a:endParaRPr lang="en-US" sz="1200" dirty="0"/>
          </a:p>
        </p:txBody>
      </p:sp>
      <p:sp>
        <p:nvSpPr>
          <p:cNvPr id="23" name="Text 21"/>
          <p:cNvSpPr/>
          <p:nvPr/>
        </p:nvSpPr>
        <p:spPr>
          <a:xfrm>
            <a:off x="3730752" y="3438144"/>
            <a:ext cx="4846320" cy="274320"/>
          </a:xfrm>
          <a:prstGeom prst="rect">
            <a:avLst/>
          </a:prstGeom>
          <a:noFill/>
          <a:ln/>
        </p:spPr>
        <p:txBody>
          <a:bodyPr wrap="square" lIns="0" tIns="0" rIns="0" bIns="0" rtlCol="0" anchor="ctr"/>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You found out what that machine rewards, and who builds for it.</a:t>
            </a:r>
            <a:endParaRPr lang="en-US" sz="1200" dirty="0"/>
          </a:p>
        </p:txBody>
      </p:sp>
      <p:sp>
        <p:nvSpPr>
          <p:cNvPr id="24" name="Shape 22"/>
          <p:cNvSpPr/>
          <p:nvPr/>
        </p:nvSpPr>
        <p:spPr>
          <a:xfrm>
            <a:off x="548640" y="3931920"/>
            <a:ext cx="8046720" cy="585216"/>
          </a:xfrm>
          <a:prstGeom prst="roundRect">
            <a:avLst>
              <a:gd name="adj" fmla="val 9375"/>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25" name="Text 23"/>
          <p:cNvSpPr/>
          <p:nvPr/>
        </p:nvSpPr>
        <p:spPr>
          <a:xfrm>
            <a:off x="786384" y="3931920"/>
            <a:ext cx="640080" cy="585216"/>
          </a:xfrm>
          <a:prstGeom prst="rect">
            <a:avLst/>
          </a:prstGeom>
          <a:noFill/>
          <a:ln/>
        </p:spPr>
        <p:txBody>
          <a:bodyPr wrap="square" lIns="0" tIns="0" rIns="0" bIns="0" rtlCol="0" anchor="ctr"/>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TODAY</a:t>
            </a:r>
            <a:endParaRPr lang="en-US" sz="850" dirty="0"/>
          </a:p>
        </p:txBody>
      </p:sp>
      <p:sp>
        <p:nvSpPr>
          <p:cNvPr id="26" name="Text 24"/>
          <p:cNvSpPr/>
          <p:nvPr/>
        </p:nvSpPr>
        <p:spPr>
          <a:xfrm>
            <a:off x="1481328" y="3931920"/>
            <a:ext cx="6858000" cy="585216"/>
          </a:xfrm>
          <a:prstGeom prst="rect">
            <a:avLst/>
          </a:prstGeom>
          <a:noFill/>
          <a:ln/>
        </p:spPr>
        <p:txBody>
          <a:bodyPr wrap="square" lIns="0" tIns="0" rIns="0" bIns="0" rtlCol="0" anchor="ctr"/>
          <a:lstStyle/>
          <a:p>
            <a:pPr algn="l" indent="0" marL="0">
              <a:lnSpc>
                <a:spcPct val="104000"/>
              </a:lnSpc>
              <a:buNone/>
            </a:pPr>
            <a:r>
              <a:rPr lang="en-US" sz="1200" dirty="0">
                <a:solidFill>
                  <a:srgbClr val="14171A"/>
                </a:solidFill>
                <a:latin typeface="Calibri" pitchFamily="34" charset="0"/>
                <a:ea typeface="Calibri" pitchFamily="34" charset="-122"/>
                <a:cs typeface="Calibri" pitchFamily="34" charset="-120"/>
              </a:rPr>
              <a:t>By the end you should be able to state the strongest version of a position you do not hold, well enough that somebody who holds it would say you got it right.</a:t>
            </a:r>
            <a:endParaRPr lang="en-US" sz="1200" dirty="0"/>
          </a:p>
        </p:txBody>
      </p:sp>
      <p:sp>
        <p:nvSpPr>
          <p:cNvPr id="28" name="Text 25"/>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QUESTION</a:t>
            </a:r>
            <a:endParaRPr lang="en-US" sz="1000" dirty="0"/>
          </a:p>
        </p:txBody>
      </p:sp>
      <p:sp>
        <p:nvSpPr>
          <p:cNvPr id="3" name="Text 1"/>
          <p:cNvSpPr/>
          <p:nvPr/>
        </p:nvSpPr>
        <p:spPr>
          <a:xfrm>
            <a:off x="548640" y="694944"/>
            <a:ext cx="7863840" cy="1234440"/>
          </a:xfrm>
          <a:prstGeom prst="rect">
            <a:avLst/>
          </a:prstGeom>
          <a:noFill/>
          <a:ln/>
        </p:spPr>
        <p:txBody>
          <a:bodyPr wrap="square" lIns="0" tIns="0" rIns="0" bIns="0" rtlCol="0" anchor="t"/>
          <a:lstStyle/>
          <a:p>
            <a:pPr algn="l" indent="0" marL="0">
              <a:lnSpc>
                <a:spcPct val="106000"/>
              </a:lnSpc>
              <a:buNone/>
            </a:pPr>
            <a:r>
              <a:rPr lang="en-US" sz="2500" b="1" dirty="0">
                <a:solidFill>
                  <a:srgbClr val="14171A"/>
                </a:solidFill>
                <a:latin typeface="Cambria" pitchFamily="34" charset="0"/>
                <a:ea typeface="Cambria" pitchFamily="34" charset="-122"/>
                <a:cs typeface="Cambria" pitchFamily="34" charset="-120"/>
              </a:rPr>
              <a:t>Who should get to decide what a platform is allowed to do to your attention: you, the company, or the government?</a:t>
            </a:r>
            <a:endParaRPr lang="en-US" sz="2500" dirty="0"/>
          </a:p>
        </p:txBody>
      </p:sp>
      <p:sp>
        <p:nvSpPr>
          <p:cNvPr id="4" name="Shape 2"/>
          <p:cNvSpPr/>
          <p:nvPr/>
        </p:nvSpPr>
        <p:spPr>
          <a:xfrm>
            <a:off x="548640" y="2157984"/>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Shape 3"/>
          <p:cNvSpPr/>
          <p:nvPr/>
        </p:nvSpPr>
        <p:spPr>
          <a:xfrm>
            <a:off x="768096" y="2359152"/>
            <a:ext cx="347472" cy="347472"/>
          </a:xfrm>
          <a:prstGeom prst="ellipse">
            <a:avLst/>
          </a:prstGeom>
          <a:solidFill>
            <a:srgbClr val="B22222"/>
          </a:solidFill>
          <a:ln w="12700">
            <a:solidFill>
              <a:srgbClr val="B22222"/>
            </a:solidFill>
            <a:prstDash val="solid"/>
          </a:ln>
        </p:spPr>
      </p:sp>
      <p:sp>
        <p:nvSpPr>
          <p:cNvPr id="6" name="Text 4"/>
          <p:cNvSpPr/>
          <p:nvPr/>
        </p:nvSpPr>
        <p:spPr>
          <a:xfrm>
            <a:off x="768096" y="2359152"/>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1</a:t>
            </a:r>
            <a:endParaRPr lang="en-US" sz="1050" dirty="0"/>
          </a:p>
        </p:txBody>
      </p:sp>
      <p:sp>
        <p:nvSpPr>
          <p:cNvPr id="7" name="Text 5"/>
          <p:cNvSpPr/>
          <p:nvPr/>
        </p:nvSpPr>
        <p:spPr>
          <a:xfrm>
            <a:off x="768096" y="2798064"/>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You</a:t>
            </a:r>
            <a:endParaRPr lang="en-US" sz="1600" dirty="0"/>
          </a:p>
        </p:txBody>
      </p:sp>
      <p:sp>
        <p:nvSpPr>
          <p:cNvPr id="8" name="Text 6"/>
          <p:cNvSpPr/>
          <p:nvPr/>
        </p:nvSpPr>
        <p:spPr>
          <a:xfrm>
            <a:off x="768096" y="3108960"/>
            <a:ext cx="2121408" cy="274320"/>
          </a:xfrm>
          <a:prstGeom prst="rect">
            <a:avLst/>
          </a:prstGeom>
          <a:noFill/>
          <a:ln/>
        </p:spPr>
        <p:txBody>
          <a:bodyPr wrap="square" lIns="0" tIns="0" rIns="0" bIns="0" rtlCol="0" anchor="t"/>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It is your attention.</a:t>
            </a:r>
            <a:endParaRPr lang="en-US" sz="1250" dirty="0"/>
          </a:p>
        </p:txBody>
      </p:sp>
      <p:sp>
        <p:nvSpPr>
          <p:cNvPr id="9" name="Shape 7"/>
          <p:cNvSpPr/>
          <p:nvPr/>
        </p:nvSpPr>
        <p:spPr>
          <a:xfrm>
            <a:off x="3291840" y="2157984"/>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Shape 8"/>
          <p:cNvSpPr/>
          <p:nvPr/>
        </p:nvSpPr>
        <p:spPr>
          <a:xfrm>
            <a:off x="3511296" y="2359152"/>
            <a:ext cx="347472" cy="347472"/>
          </a:xfrm>
          <a:prstGeom prst="ellipse">
            <a:avLst/>
          </a:prstGeom>
          <a:solidFill>
            <a:srgbClr val="B22222"/>
          </a:solidFill>
          <a:ln w="12700">
            <a:solidFill>
              <a:srgbClr val="B22222"/>
            </a:solidFill>
            <a:prstDash val="solid"/>
          </a:ln>
        </p:spPr>
      </p:sp>
      <p:sp>
        <p:nvSpPr>
          <p:cNvPr id="11" name="Text 9"/>
          <p:cNvSpPr/>
          <p:nvPr/>
        </p:nvSpPr>
        <p:spPr>
          <a:xfrm>
            <a:off x="3511296" y="2359152"/>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2</a:t>
            </a:r>
            <a:endParaRPr lang="en-US" sz="1050" dirty="0"/>
          </a:p>
        </p:txBody>
      </p:sp>
      <p:sp>
        <p:nvSpPr>
          <p:cNvPr id="12" name="Text 10"/>
          <p:cNvSpPr/>
          <p:nvPr/>
        </p:nvSpPr>
        <p:spPr>
          <a:xfrm>
            <a:off x="3511296" y="2798064"/>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company</a:t>
            </a:r>
            <a:endParaRPr lang="en-US" sz="1600" dirty="0"/>
          </a:p>
        </p:txBody>
      </p:sp>
      <p:sp>
        <p:nvSpPr>
          <p:cNvPr id="13" name="Text 11"/>
          <p:cNvSpPr/>
          <p:nvPr/>
        </p:nvSpPr>
        <p:spPr>
          <a:xfrm>
            <a:off x="3511296" y="3108960"/>
            <a:ext cx="2121408" cy="274320"/>
          </a:xfrm>
          <a:prstGeom prst="rect">
            <a:avLst/>
          </a:prstGeom>
          <a:noFill/>
          <a:ln/>
        </p:spPr>
        <p:txBody>
          <a:bodyPr wrap="square" lIns="0" tIns="0" rIns="0" bIns="0" rtlCol="0" anchor="t"/>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They built it.</a:t>
            </a:r>
            <a:endParaRPr lang="en-US" sz="1250" dirty="0"/>
          </a:p>
        </p:txBody>
      </p:sp>
      <p:sp>
        <p:nvSpPr>
          <p:cNvPr id="14" name="Shape 12"/>
          <p:cNvSpPr/>
          <p:nvPr/>
        </p:nvSpPr>
        <p:spPr>
          <a:xfrm>
            <a:off x="6035040" y="2157984"/>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5" name="Shape 13"/>
          <p:cNvSpPr/>
          <p:nvPr/>
        </p:nvSpPr>
        <p:spPr>
          <a:xfrm>
            <a:off x="6254496" y="2359152"/>
            <a:ext cx="347472" cy="347472"/>
          </a:xfrm>
          <a:prstGeom prst="ellipse">
            <a:avLst/>
          </a:prstGeom>
          <a:solidFill>
            <a:srgbClr val="B22222"/>
          </a:solidFill>
          <a:ln w="12700">
            <a:solidFill>
              <a:srgbClr val="B22222"/>
            </a:solidFill>
            <a:prstDash val="solid"/>
          </a:ln>
        </p:spPr>
      </p:sp>
      <p:sp>
        <p:nvSpPr>
          <p:cNvPr id="16" name="Text 14"/>
          <p:cNvSpPr/>
          <p:nvPr/>
        </p:nvSpPr>
        <p:spPr>
          <a:xfrm>
            <a:off x="6254496" y="2359152"/>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3</a:t>
            </a:r>
            <a:endParaRPr lang="en-US" sz="1050" dirty="0"/>
          </a:p>
        </p:txBody>
      </p:sp>
      <p:sp>
        <p:nvSpPr>
          <p:cNvPr id="17" name="Text 15"/>
          <p:cNvSpPr/>
          <p:nvPr/>
        </p:nvSpPr>
        <p:spPr>
          <a:xfrm>
            <a:off x="6254496" y="2798064"/>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government</a:t>
            </a:r>
            <a:endParaRPr lang="en-US" sz="1600" dirty="0"/>
          </a:p>
        </p:txBody>
      </p:sp>
      <p:sp>
        <p:nvSpPr>
          <p:cNvPr id="18" name="Text 16"/>
          <p:cNvSpPr/>
          <p:nvPr/>
        </p:nvSpPr>
        <p:spPr>
          <a:xfrm>
            <a:off x="6254496" y="3108960"/>
            <a:ext cx="2121408" cy="274320"/>
          </a:xfrm>
          <a:prstGeom prst="rect">
            <a:avLst/>
          </a:prstGeom>
          <a:noFill/>
          <a:ln/>
        </p:spPr>
        <p:txBody>
          <a:bodyPr wrap="square" lIns="0" tIns="0" rIns="0" bIns="0" rtlCol="0" anchor="t"/>
          <a:lstStyle/>
          <a:p>
            <a:pPr algn="l" indent="0" marL="0">
              <a:lnSpc>
                <a:spcPct val="106000"/>
              </a:lnSpc>
              <a:buNone/>
            </a:pPr>
            <a:r>
              <a:rPr lang="en-US" sz="1250" dirty="0">
                <a:solidFill>
                  <a:srgbClr val="3C444C"/>
                </a:solidFill>
                <a:latin typeface="Calibri" pitchFamily="34" charset="0"/>
                <a:ea typeface="Calibri" pitchFamily="34" charset="-122"/>
                <a:cs typeface="Calibri" pitchFamily="34" charset="-120"/>
              </a:rPr>
              <a:t>We already do this.</a:t>
            </a:r>
            <a:endParaRPr lang="en-US" sz="1250" dirty="0"/>
          </a:p>
        </p:txBody>
      </p:sp>
      <p:sp>
        <p:nvSpPr>
          <p:cNvPr id="19" name="Text 17"/>
          <p:cNvSpPr/>
          <p:nvPr/>
        </p:nvSpPr>
        <p:spPr>
          <a:xfrm>
            <a:off x="548640" y="3785616"/>
            <a:ext cx="8046720" cy="310896"/>
          </a:xfrm>
          <a:prstGeom prst="rect">
            <a:avLst/>
          </a:prstGeom>
          <a:noFill/>
          <a:ln/>
        </p:spPr>
        <p:txBody>
          <a:bodyPr wrap="square" lIns="0" tIns="0" rIns="0" bIns="0" rtlCol="0" anchor="t"/>
          <a:lstStyle/>
          <a:p>
            <a:pPr algn="l" indent="0" marL="0">
              <a:lnSpc>
                <a:spcPct val="106000"/>
              </a:lnSpc>
              <a:buNone/>
            </a:pPr>
            <a:r>
              <a:rPr lang="en-US" sz="1800" b="1" dirty="0">
                <a:solidFill>
                  <a:srgbClr val="14171A"/>
                </a:solidFill>
                <a:latin typeface="Cambria" pitchFamily="34" charset="0"/>
                <a:ea typeface="Cambria" pitchFamily="34" charset="-122"/>
                <a:cs typeface="Cambria" pitchFamily="34" charset="-120"/>
              </a:rPr>
              <a:t>You will not be graded on which one you pick.</a:t>
            </a:r>
            <a:endParaRPr lang="en-US" sz="1800" dirty="0"/>
          </a:p>
        </p:txBody>
      </p:sp>
      <p:sp>
        <p:nvSpPr>
          <p:cNvPr id="20" name="Text 18"/>
          <p:cNvSpPr/>
          <p:nvPr/>
        </p:nvSpPr>
        <p:spPr>
          <a:xfrm>
            <a:off x="548640" y="4151376"/>
            <a:ext cx="8046720" cy="310896"/>
          </a:xfrm>
          <a:prstGeom prst="rect">
            <a:avLst/>
          </a:prstGeom>
          <a:noFill/>
          <a:ln/>
        </p:spPr>
        <p:txBody>
          <a:bodyPr wrap="square" lIns="0" tIns="0" rIns="0" bIns="0" rtlCol="0" anchor="t"/>
          <a:lstStyle/>
          <a:p>
            <a:pPr algn="l" indent="0" marL="0">
              <a:lnSpc>
                <a:spcPct val="106000"/>
              </a:lnSpc>
              <a:buNone/>
            </a:pPr>
            <a:r>
              <a:rPr lang="en-US" sz="1350" dirty="0">
                <a:solidFill>
                  <a:srgbClr val="3C444C"/>
                </a:solidFill>
                <a:latin typeface="Calibri" pitchFamily="34" charset="0"/>
                <a:ea typeface="Calibri" pitchFamily="34" charset="-122"/>
                <a:cs typeface="Calibri" pitchFamily="34" charset="-120"/>
              </a:rPr>
              <a:t>You will be graded on whether you can state the strongest version of the one you did not pick.</a:t>
            </a:r>
            <a:endParaRPr lang="en-US" sz="1350" dirty="0"/>
          </a:p>
        </p:txBody>
      </p:sp>
      <p:sp>
        <p:nvSpPr>
          <p:cNvPr id="22" name="Text 1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GROUND RULE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Nobody in this argument is stupid</a:t>
            </a:r>
            <a:endParaRPr lang="en-US" sz="3000" dirty="0"/>
          </a:p>
        </p:txBody>
      </p:sp>
      <p:sp>
        <p:nvSpPr>
          <p:cNvPr id="4" name="Text 2"/>
          <p:cNvSpPr/>
          <p:nvPr/>
        </p:nvSpPr>
        <p:spPr>
          <a:xfrm>
            <a:off x="548640" y="1627632"/>
            <a:ext cx="4023360" cy="914400"/>
          </a:xfrm>
          <a:prstGeom prst="rect">
            <a:avLst/>
          </a:prstGeom>
          <a:noFill/>
          <a:ln/>
        </p:spPr>
        <p:txBody>
          <a:bodyPr wrap="square" lIns="0" tIns="0" rIns="0" bIns="0" rtlCol="0" anchor="t"/>
          <a:lstStyle/>
          <a:p>
            <a:pPr algn="l" indent="0" marL="0">
              <a:lnSpc>
                <a:spcPct val="120000"/>
              </a:lnSpc>
              <a:buNone/>
            </a:pPr>
            <a:r>
              <a:rPr lang="en-US" sz="1500" dirty="0">
                <a:solidFill>
                  <a:srgbClr val="14171A"/>
                </a:solidFill>
                <a:latin typeface="Calibri" pitchFamily="34" charset="0"/>
                <a:ea typeface="Calibri" pitchFamily="34" charset="-122"/>
                <a:cs typeface="Calibri" pitchFamily="34" charset="-120"/>
              </a:rPr>
              <a:t>Every one of these three positions is held by serious people who have thought about it more than we have.</a:t>
            </a:r>
            <a:endParaRPr lang="en-US" sz="1500" dirty="0"/>
          </a:p>
        </p:txBody>
      </p:sp>
      <p:sp>
        <p:nvSpPr>
          <p:cNvPr id="5" name="Shape 3"/>
          <p:cNvSpPr/>
          <p:nvPr/>
        </p:nvSpPr>
        <p:spPr>
          <a:xfrm>
            <a:off x="4846320" y="1554480"/>
            <a:ext cx="3749040" cy="1737360"/>
          </a:xfrm>
          <a:prstGeom prst="roundRect">
            <a:avLst>
              <a:gd name="adj" fmla="val 3158"/>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6" name="Text 4"/>
          <p:cNvSpPr/>
          <p:nvPr/>
        </p:nvSpPr>
        <p:spPr>
          <a:xfrm>
            <a:off x="5102352" y="1773936"/>
            <a:ext cx="3236976"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TRAP</a:t>
            </a:r>
            <a:endParaRPr lang="en-US" sz="900" dirty="0"/>
          </a:p>
        </p:txBody>
      </p:sp>
      <p:sp>
        <p:nvSpPr>
          <p:cNvPr id="7" name="Text 5"/>
          <p:cNvSpPr/>
          <p:nvPr/>
        </p:nvSpPr>
        <p:spPr>
          <a:xfrm>
            <a:off x="5102352" y="2066544"/>
            <a:ext cx="3236976" cy="1005840"/>
          </a:xfrm>
          <a:prstGeom prst="rect">
            <a:avLst/>
          </a:prstGeom>
          <a:noFill/>
          <a:ln/>
        </p:spPr>
        <p:txBody>
          <a:bodyPr wrap="square" lIns="0" tIns="0" rIns="0" bIns="0" rtlCol="0" anchor="t"/>
          <a:lstStyle/>
          <a:p>
            <a:pPr algn="l" indent="0" marL="0">
              <a:lnSpc>
                <a:spcPct val="118000"/>
              </a:lnSpc>
              <a:buNone/>
            </a:pPr>
            <a:r>
              <a:rPr lang="en-US" sz="1400" dirty="0">
                <a:solidFill>
                  <a:srgbClr val="14171A"/>
                </a:solidFill>
                <a:latin typeface="Calibri" pitchFamily="34" charset="0"/>
                <a:ea typeface="Calibri" pitchFamily="34" charset="-122"/>
                <a:cs typeface="Calibri" pitchFamily="34" charset="-120"/>
              </a:rPr>
              <a:t>If a position sounds obviously wrong to you, you are probably arguing against the weak version of it.</a:t>
            </a:r>
            <a:endParaRPr lang="en-US" sz="1400" dirty="0"/>
          </a:p>
        </p:txBody>
      </p:sp>
      <p:sp>
        <p:nvSpPr>
          <p:cNvPr id="8" name="Text 6"/>
          <p:cNvSpPr/>
          <p:nvPr/>
        </p:nvSpPr>
        <p:spPr>
          <a:xfrm>
            <a:off x="548640" y="3566160"/>
            <a:ext cx="8046720" cy="457200"/>
          </a:xfrm>
          <a:prstGeom prst="rect">
            <a:avLst/>
          </a:prstGeom>
          <a:noFill/>
          <a:ln/>
        </p:spPr>
        <p:txBody>
          <a:bodyPr wrap="square" lIns="0" tIns="0" rIns="0" bIns="0" rtlCol="0" anchor="t"/>
          <a:lstStyle/>
          <a:p>
            <a:pPr algn="l" indent="0" marL="0">
              <a:lnSpc>
                <a:spcPct val="114000"/>
              </a:lnSpc>
              <a:buNone/>
            </a:pPr>
            <a:r>
              <a:rPr lang="en-US" sz="1350" i="1" dirty="0">
                <a:solidFill>
                  <a:srgbClr val="3C444C"/>
                </a:solidFill>
                <a:latin typeface="Calibri" pitchFamily="34" charset="0"/>
                <a:ea typeface="Calibri" pitchFamily="34" charset="-122"/>
                <a:cs typeface="Calibri" pitchFamily="34" charset="-120"/>
              </a:rPr>
              <a:t>Beating the weak version of an argument teaches you nothing, and it is the easiest thing in the room to do by accident.</a:t>
            </a:r>
            <a:endParaRPr lang="en-US" sz="1350" dirty="0"/>
          </a:p>
        </p:txBody>
      </p:sp>
      <p:sp>
        <p:nvSpPr>
          <p:cNvPr id="10" name="Text 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STANDARD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Every answer costs something</a:t>
            </a:r>
            <a:endParaRPr lang="en-US" sz="3000" dirty="0"/>
          </a:p>
        </p:txBody>
      </p:sp>
      <p:sp>
        <p:nvSpPr>
          <p:cNvPr id="4" name="Shape 2"/>
          <p:cNvSpPr/>
          <p:nvPr/>
        </p:nvSpPr>
        <p:spPr>
          <a:xfrm>
            <a:off x="548640" y="1554480"/>
            <a:ext cx="8046720" cy="914400"/>
          </a:xfrm>
          <a:prstGeom prst="roundRect">
            <a:avLst>
              <a:gd name="adj" fmla="val 60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22960" y="1554480"/>
            <a:ext cx="7498080" cy="914400"/>
          </a:xfrm>
          <a:prstGeom prst="rect">
            <a:avLst/>
          </a:prstGeom>
          <a:noFill/>
          <a:ln/>
        </p:spPr>
        <p:txBody>
          <a:bodyPr wrap="square" lIns="0" tIns="0" rIns="0" bIns="0" rtlCol="0" anchor="ctr"/>
          <a:lstStyle/>
          <a:p>
            <a:pPr algn="l" indent="0" marL="0">
              <a:lnSpc>
                <a:spcPct val="106000"/>
              </a:lnSpc>
              <a:buNone/>
            </a:pPr>
            <a:r>
              <a:rPr lang="en-US" sz="2200" b="1" dirty="0">
                <a:solidFill>
                  <a:srgbClr val="14171A"/>
                </a:solidFill>
                <a:latin typeface="Cambria" pitchFamily="34" charset="0"/>
                <a:ea typeface="Cambria" pitchFamily="34" charset="-122"/>
                <a:cs typeface="Cambria" pitchFamily="34" charset="-120"/>
              </a:rPr>
              <a:t>An answer with no tradeoff in it is not finished.</a:t>
            </a:r>
            <a:endParaRPr lang="en-US" sz="2200" dirty="0"/>
          </a:p>
        </p:txBody>
      </p:sp>
      <p:sp>
        <p:nvSpPr>
          <p:cNvPr id="6" name="Shape 4"/>
          <p:cNvSpPr/>
          <p:nvPr/>
        </p:nvSpPr>
        <p:spPr>
          <a:xfrm>
            <a:off x="548640" y="2688336"/>
            <a:ext cx="3840480" cy="1280160"/>
          </a:xfrm>
          <a:prstGeom prst="roundRect">
            <a:avLst>
              <a:gd name="adj" fmla="val 4286"/>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2907792"/>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TRADEOFF</a:t>
            </a:r>
            <a:endParaRPr lang="en-US" sz="900" dirty="0"/>
          </a:p>
        </p:txBody>
      </p:sp>
      <p:sp>
        <p:nvSpPr>
          <p:cNvPr id="8" name="Text 6"/>
          <p:cNvSpPr/>
          <p:nvPr/>
        </p:nvSpPr>
        <p:spPr>
          <a:xfrm>
            <a:off x="786384" y="3200400"/>
            <a:ext cx="3364992" cy="658368"/>
          </a:xfrm>
          <a:prstGeom prst="rect">
            <a:avLst/>
          </a:prstGeom>
          <a:noFill/>
          <a:ln/>
        </p:spPr>
        <p:txBody>
          <a:bodyPr wrap="square" lIns="0" tIns="0" rIns="0" bIns="0" rtlCol="0" anchor="t"/>
          <a:lstStyle/>
          <a:p>
            <a:pPr algn="l" indent="0" marL="0">
              <a:lnSpc>
                <a:spcPct val="114000"/>
              </a:lnSpc>
              <a:buNone/>
            </a:pPr>
            <a:r>
              <a:rPr lang="en-US" sz="1350" dirty="0">
                <a:solidFill>
                  <a:srgbClr val="14171A"/>
                </a:solidFill>
                <a:latin typeface="Calibri" pitchFamily="34" charset="0"/>
                <a:ea typeface="Calibri" pitchFamily="34" charset="-122"/>
                <a:cs typeface="Calibri" pitchFamily="34" charset="-120"/>
              </a:rPr>
              <a:t>You give something up to get something. Every answer here has one.</a:t>
            </a:r>
            <a:endParaRPr lang="en-US" sz="1350" dirty="0"/>
          </a:p>
        </p:txBody>
      </p:sp>
      <p:sp>
        <p:nvSpPr>
          <p:cNvPr id="9" name="Shape 7"/>
          <p:cNvSpPr/>
          <p:nvPr/>
        </p:nvSpPr>
        <p:spPr>
          <a:xfrm>
            <a:off x="4754880" y="2688336"/>
            <a:ext cx="3840480" cy="1280160"/>
          </a:xfrm>
          <a:prstGeom prst="roundRect">
            <a:avLst>
              <a:gd name="adj" fmla="val 4286"/>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2907792"/>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SO, TODAY</a:t>
            </a:r>
            <a:endParaRPr lang="en-US" sz="900" dirty="0"/>
          </a:p>
        </p:txBody>
      </p:sp>
      <p:sp>
        <p:nvSpPr>
          <p:cNvPr id="11" name="Text 9"/>
          <p:cNvSpPr/>
          <p:nvPr/>
        </p:nvSpPr>
        <p:spPr>
          <a:xfrm>
            <a:off x="4992624" y="3200400"/>
            <a:ext cx="3364992" cy="658368"/>
          </a:xfrm>
          <a:prstGeom prst="rect">
            <a:avLst/>
          </a:prstGeom>
          <a:noFill/>
          <a:ln/>
        </p:spPr>
        <p:txBody>
          <a:bodyPr wrap="square" lIns="0" tIns="0" rIns="0" bIns="0" rtlCol="0" anchor="t"/>
          <a:lstStyle/>
          <a:p>
            <a:pPr algn="l" indent="0" marL="0">
              <a:lnSpc>
                <a:spcPct val="114000"/>
              </a:lnSpc>
              <a:buNone/>
            </a:pPr>
            <a:r>
              <a:rPr lang="en-US" sz="1350" dirty="0">
                <a:solidFill>
                  <a:srgbClr val="14171A"/>
                </a:solidFill>
                <a:latin typeface="Calibri" pitchFamily="34" charset="0"/>
                <a:ea typeface="Calibri" pitchFamily="34" charset="-122"/>
                <a:cs typeface="Calibri" pitchFamily="34" charset="-120"/>
              </a:rPr>
              <a:t>Name your position, then name what it costs. If you cannot, you are not finished.</a:t>
            </a:r>
            <a:endParaRPr lang="en-US" sz="135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1</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ONE</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You decide</a:t>
            </a:r>
            <a:endParaRPr lang="en-US" sz="3200" dirty="0"/>
          </a:p>
        </p:txBody>
      </p:sp>
      <p:sp>
        <p:nvSpPr>
          <p:cNvPr id="6" name="Shape 4"/>
          <p:cNvSpPr/>
          <p:nvPr/>
        </p:nvSpPr>
        <p:spPr>
          <a:xfrm>
            <a:off x="548640" y="1627632"/>
            <a:ext cx="3840480" cy="2514600"/>
          </a:xfrm>
          <a:prstGeom prst="roundRect">
            <a:avLst>
              <a:gd name="adj" fmla="val 21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STRONGEST CASE</a:t>
            </a:r>
            <a:endParaRPr lang="en-US" sz="900" dirty="0"/>
          </a:p>
        </p:txBody>
      </p:sp>
      <p:sp>
        <p:nvSpPr>
          <p:cNvPr id="8" name="Text 6"/>
          <p:cNvSpPr/>
          <p:nvPr/>
        </p:nvSpPr>
        <p:spPr>
          <a:xfrm>
            <a:off x="786384" y="2121408"/>
            <a:ext cx="3364992" cy="18562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It is your attention and your phone.</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 controls exist: delete the app, turn off notifications, use the chronological feed, set a timer.</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Adults get to make bad choices about their own time, and treating teenagers as incapable of choosing is its own kind of insult.</a:t>
            </a:r>
            <a:endParaRPr lang="en-US" sz="1250" dirty="0"/>
          </a:p>
        </p:txBody>
      </p:sp>
      <p:sp>
        <p:nvSpPr>
          <p:cNvPr id="9" name="Shape 7"/>
          <p:cNvSpPr/>
          <p:nvPr/>
        </p:nvSpPr>
        <p:spPr>
          <a:xfrm>
            <a:off x="4754880" y="1627632"/>
            <a:ext cx="3840480" cy="2514600"/>
          </a:xfrm>
          <a:prstGeom prst="roundRect">
            <a:avLst>
              <a:gd name="adj" fmla="val 218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HARDEST QUESTION</a:t>
            </a:r>
            <a:endParaRPr lang="en-US" sz="900" dirty="0"/>
          </a:p>
        </p:txBody>
      </p:sp>
      <p:sp>
        <p:nvSpPr>
          <p:cNvPr id="11" name="Text 9"/>
          <p:cNvSpPr/>
          <p:nvPr/>
        </p:nvSpPr>
        <p:spPr>
          <a:xfrm>
            <a:off x="4992624" y="2121408"/>
            <a:ext cx="3364992" cy="1856232"/>
          </a:xfrm>
          <a:prstGeom prst="rect">
            <a:avLst/>
          </a:prstGeom>
          <a:noFill/>
          <a:ln/>
        </p:spPr>
        <p:txBody>
          <a:bodyPr wrap="square" lIns="0" tIns="0" rIns="0" bIns="0" rtlCol="0" anchor="t"/>
          <a:lstStyle/>
          <a:p>
            <a:pPr algn="l" indent="0" marL="0">
              <a:lnSpc>
                <a:spcPct val="116000"/>
              </a:lnSpc>
              <a:buNone/>
            </a:pPr>
            <a:r>
              <a:rPr lang="en-US" sz="1300" dirty="0">
                <a:solidFill>
                  <a:srgbClr val="14171A"/>
                </a:solidFill>
                <a:latin typeface="Calibri" pitchFamily="34" charset="0"/>
                <a:ea typeface="Calibri" pitchFamily="34" charset="-122"/>
                <a:cs typeface="Calibri" pitchFamily="34" charset="-120"/>
              </a:rPr>
              <a:t>The app was designed by people whose job was to make it hard to put down, and they are very good at their job. Is a choice still free when one side has thousands of engineers and A/B tests and you have willpower?</a:t>
            </a:r>
            <a:endParaRPr lang="en-US" sz="13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2</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TWO</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The company decides</a:t>
            </a:r>
            <a:endParaRPr lang="en-US" sz="3200" dirty="0"/>
          </a:p>
        </p:txBody>
      </p:sp>
      <p:sp>
        <p:nvSpPr>
          <p:cNvPr id="6" name="Shape 4"/>
          <p:cNvSpPr/>
          <p:nvPr/>
        </p:nvSpPr>
        <p:spPr>
          <a:xfrm>
            <a:off x="548640" y="1627632"/>
            <a:ext cx="3840480" cy="2514600"/>
          </a:xfrm>
          <a:prstGeom prst="roundRect">
            <a:avLst>
              <a:gd name="adj" fmla="val 21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STRONGEST CASE</a:t>
            </a:r>
            <a:endParaRPr lang="en-US" sz="900" dirty="0"/>
          </a:p>
        </p:txBody>
      </p:sp>
      <p:sp>
        <p:nvSpPr>
          <p:cNvPr id="8" name="Text 6"/>
          <p:cNvSpPr/>
          <p:nvPr/>
        </p:nvSpPr>
        <p:spPr>
          <a:xfrm>
            <a:off x="786384" y="2121408"/>
            <a:ext cx="3364992" cy="18562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They built it, they pay for it, and you are not required to use it.</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Self-regulation is not nothing. Companies do change things, sometimes because users complain and sometimes because bad press costs money.</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They also know how the product works better than any regulator will.</a:t>
            </a:r>
            <a:endParaRPr lang="en-US" sz="1250" dirty="0"/>
          </a:p>
        </p:txBody>
      </p:sp>
      <p:sp>
        <p:nvSpPr>
          <p:cNvPr id="9" name="Shape 7"/>
          <p:cNvSpPr/>
          <p:nvPr/>
        </p:nvSpPr>
        <p:spPr>
          <a:xfrm>
            <a:off x="4754880" y="1627632"/>
            <a:ext cx="3840480" cy="2514600"/>
          </a:xfrm>
          <a:prstGeom prst="roundRect">
            <a:avLst>
              <a:gd name="adj" fmla="val 218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HARDEST QUESTION</a:t>
            </a:r>
            <a:endParaRPr lang="en-US" sz="900" dirty="0"/>
          </a:p>
        </p:txBody>
      </p:sp>
      <p:sp>
        <p:nvSpPr>
          <p:cNvPr id="11" name="Text 9"/>
          <p:cNvSpPr/>
          <p:nvPr/>
        </p:nvSpPr>
        <p:spPr>
          <a:xfrm>
            <a:off x="4992624" y="2121408"/>
            <a:ext cx="3364992" cy="1856232"/>
          </a:xfrm>
          <a:prstGeom prst="rect">
            <a:avLst/>
          </a:prstGeom>
          <a:noFill/>
          <a:ln/>
        </p:spPr>
        <p:txBody>
          <a:bodyPr wrap="square" lIns="0" tIns="0" rIns="0" bIns="0" rtlCol="0" anchor="t"/>
          <a:lstStyle/>
          <a:p>
            <a:pPr algn="l" indent="0" marL="0">
              <a:lnSpc>
                <a:spcPct val="116000"/>
              </a:lnSpc>
              <a:buNone/>
            </a:pPr>
            <a:r>
              <a:rPr lang="en-US" sz="1300" dirty="0">
                <a:solidFill>
                  <a:srgbClr val="14171A"/>
                </a:solidFill>
                <a:latin typeface="Calibri" pitchFamily="34" charset="0"/>
                <a:ea typeface="Calibri" pitchFamily="34" charset="-122"/>
                <a:cs typeface="Calibri" pitchFamily="34" charset="-120"/>
              </a:rPr>
              <a:t>The company's income depends on your attention. When you ask somebody to protect you from the thing that pays them, what should you expect?</a:t>
            </a:r>
            <a:endParaRPr lang="en-US" sz="13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548640" y="310896"/>
            <a:ext cx="347472" cy="347472"/>
          </a:xfrm>
          <a:prstGeom prst="ellipse">
            <a:avLst/>
          </a:prstGeom>
          <a:solidFill>
            <a:srgbClr val="B22222"/>
          </a:solidFill>
          <a:ln w="12700">
            <a:solidFill>
              <a:srgbClr val="B22222"/>
            </a:solidFill>
            <a:prstDash val="solid"/>
          </a:ln>
        </p:spPr>
      </p:sp>
      <p:sp>
        <p:nvSpPr>
          <p:cNvPr id="3" name="Text 1"/>
          <p:cNvSpPr/>
          <p:nvPr/>
        </p:nvSpPr>
        <p:spPr>
          <a:xfrm>
            <a:off x="548640" y="310896"/>
            <a:ext cx="347472" cy="347472"/>
          </a:xfrm>
          <a:prstGeom prst="rect">
            <a:avLst/>
          </a:prstGeom>
          <a:noFill/>
          <a:ln/>
        </p:spPr>
        <p:txBody>
          <a:bodyPr wrap="square" lIns="0" tIns="0" rIns="0" bIns="0" rtlCol="0" anchor="ctr"/>
          <a:lstStyle/>
          <a:p>
            <a:pPr algn="ctr" indent="0" marL="0">
              <a:buNone/>
            </a:pPr>
            <a:r>
              <a:rPr lang="en-US" sz="1050" b="1" dirty="0">
                <a:solidFill>
                  <a:srgbClr val="FFFEFB"/>
                </a:solidFill>
                <a:latin typeface="Courier New" pitchFamily="34" charset="0"/>
                <a:ea typeface="Courier New" pitchFamily="34" charset="-122"/>
                <a:cs typeface="Courier New" pitchFamily="34" charset="-120"/>
              </a:rPr>
              <a:t>3</a:t>
            </a:r>
            <a:endParaRPr lang="en-US" sz="1050" dirty="0"/>
          </a:p>
        </p:txBody>
      </p:sp>
      <p:sp>
        <p:nvSpPr>
          <p:cNvPr id="4" name="Text 2"/>
          <p:cNvSpPr/>
          <p:nvPr/>
        </p:nvSpPr>
        <p:spPr>
          <a:xfrm>
            <a:off x="10058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POSITION THREE</a:t>
            </a:r>
            <a:endParaRPr lang="en-US" sz="1000" dirty="0"/>
          </a:p>
        </p:txBody>
      </p:sp>
      <p:sp>
        <p:nvSpPr>
          <p:cNvPr id="5" name="Text 3"/>
          <p:cNvSpPr/>
          <p:nvPr/>
        </p:nvSpPr>
        <p:spPr>
          <a:xfrm>
            <a:off x="548640" y="822960"/>
            <a:ext cx="8046720" cy="731520"/>
          </a:xfrm>
          <a:prstGeom prst="rect">
            <a:avLst/>
          </a:prstGeom>
          <a:noFill/>
          <a:ln/>
        </p:spPr>
        <p:txBody>
          <a:bodyPr wrap="square" lIns="0" tIns="0" rIns="0" bIns="0" rtlCol="0" anchor="t"/>
          <a:lstStyle/>
          <a:p>
            <a:pPr indent="0" marL="0">
              <a:lnSpc>
                <a:spcPct val="92000"/>
              </a:lnSpc>
              <a:buNone/>
            </a:pPr>
            <a:r>
              <a:rPr lang="en-US" sz="3200" b="1" dirty="0">
                <a:solidFill>
                  <a:srgbClr val="14171A"/>
                </a:solidFill>
                <a:latin typeface="Cambria" pitchFamily="34" charset="0"/>
                <a:ea typeface="Cambria" pitchFamily="34" charset="-122"/>
                <a:cs typeface="Cambria" pitchFamily="34" charset="-120"/>
              </a:rPr>
              <a:t>The government decides</a:t>
            </a:r>
            <a:endParaRPr lang="en-US" sz="3200" dirty="0"/>
          </a:p>
        </p:txBody>
      </p:sp>
      <p:sp>
        <p:nvSpPr>
          <p:cNvPr id="6" name="Shape 4"/>
          <p:cNvSpPr/>
          <p:nvPr/>
        </p:nvSpPr>
        <p:spPr>
          <a:xfrm>
            <a:off x="548640" y="1627632"/>
            <a:ext cx="3840480" cy="2057400"/>
          </a:xfrm>
          <a:prstGeom prst="roundRect">
            <a:avLst>
              <a:gd name="adj" fmla="val 266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78638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STRONGEST CASE</a:t>
            </a:r>
            <a:endParaRPr lang="en-US" sz="900" dirty="0"/>
          </a:p>
        </p:txBody>
      </p:sp>
      <p:sp>
        <p:nvSpPr>
          <p:cNvPr id="8" name="Text 6"/>
          <p:cNvSpPr/>
          <p:nvPr/>
        </p:nvSpPr>
        <p:spPr>
          <a:xfrm>
            <a:off x="786384" y="2121408"/>
            <a:ext cx="3364992" cy="1399032"/>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Regulation means the government sets rules a company has to follow.</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We already do this: seatbelts, no cigarette ads on TV, no full-time child labor.</a:t>
            </a:r>
            <a:endParaRPr lang="en-US" sz="1250" dirty="0"/>
          </a:p>
          <a:p>
            <a:pPr marL="177800" indent="-177800">
              <a:lnSpc>
                <a:spcPct val="104000"/>
              </a:lnSpc>
              <a:spcAft>
                <a:spcPts val="800"/>
              </a:spcAft>
              <a:buSzPct val="100000"/>
              <a:buChar char="•"/>
            </a:pPr>
            <a:r>
              <a:rPr lang="en-US" sz="1250" dirty="0">
                <a:solidFill>
                  <a:srgbClr val="3C444C"/>
                </a:solidFill>
                <a:latin typeface="Calibri" pitchFamily="34" charset="0"/>
                <a:ea typeface="Calibri" pitchFamily="34" charset="-122"/>
                <a:cs typeface="Calibri" pitchFamily="34" charset="-120"/>
              </a:rPr>
              <a:t>People once said each of those should be personal. Almost nobody does now.</a:t>
            </a:r>
            <a:endParaRPr lang="en-US" sz="1250" dirty="0"/>
          </a:p>
        </p:txBody>
      </p:sp>
      <p:sp>
        <p:nvSpPr>
          <p:cNvPr id="9" name="Shape 7"/>
          <p:cNvSpPr/>
          <p:nvPr/>
        </p:nvSpPr>
        <p:spPr>
          <a:xfrm>
            <a:off x="4754880" y="1627632"/>
            <a:ext cx="3840480" cy="2057400"/>
          </a:xfrm>
          <a:prstGeom prst="roundRect">
            <a:avLst>
              <a:gd name="adj" fmla="val 2667"/>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0" name="Text 8"/>
          <p:cNvSpPr/>
          <p:nvPr/>
        </p:nvSpPr>
        <p:spPr>
          <a:xfrm>
            <a:off x="4992624" y="1828800"/>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HARDEST QUESTION</a:t>
            </a:r>
            <a:endParaRPr lang="en-US" sz="900" dirty="0"/>
          </a:p>
        </p:txBody>
      </p:sp>
      <p:sp>
        <p:nvSpPr>
          <p:cNvPr id="11" name="Text 9"/>
          <p:cNvSpPr/>
          <p:nvPr/>
        </p:nvSpPr>
        <p:spPr>
          <a:xfrm>
            <a:off x="4992624" y="2121408"/>
            <a:ext cx="3364992" cy="1399032"/>
          </a:xfrm>
          <a:prstGeom prst="rect">
            <a:avLst/>
          </a:prstGeom>
          <a:noFill/>
          <a:ln/>
        </p:spPr>
        <p:txBody>
          <a:bodyPr wrap="square" lIns="0" tIns="0" rIns="0" bIns="0" rtlCol="0" anchor="t"/>
          <a:lstStyle/>
          <a:p>
            <a:pPr algn="l" indent="0" marL="0">
              <a:lnSpc>
                <a:spcPct val="116000"/>
              </a:lnSpc>
              <a:buNone/>
            </a:pPr>
            <a:r>
              <a:rPr lang="en-US" sz="1300" dirty="0">
                <a:solidFill>
                  <a:srgbClr val="14171A"/>
                </a:solidFill>
                <a:latin typeface="Calibri" pitchFamily="34" charset="0"/>
                <a:ea typeface="Calibri" pitchFamily="34" charset="-122"/>
                <a:cs typeface="Calibri" pitchFamily="34" charset="-120"/>
              </a:rPr>
              <a:t>A government that can require a platform to change what it shows you can also require it to change what it shows you. The power to protect and the power to control are the same power, in different hands.</a:t>
            </a:r>
            <a:endParaRPr lang="en-US" sz="1300" dirty="0"/>
          </a:p>
        </p:txBody>
      </p:sp>
      <p:sp>
        <p:nvSpPr>
          <p:cNvPr id="12" name="Shape 10"/>
          <p:cNvSpPr/>
          <p:nvPr/>
        </p:nvSpPr>
        <p:spPr>
          <a:xfrm>
            <a:off x="548640" y="3858768"/>
            <a:ext cx="8046720" cy="640080"/>
          </a:xfrm>
          <a:prstGeom prst="roundRect">
            <a:avLst>
              <a:gd name="adj" fmla="val 8571"/>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786384" y="3986784"/>
            <a:ext cx="1188720"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WATCH FOR</a:t>
            </a:r>
            <a:endParaRPr lang="en-US" sz="850" dirty="0"/>
          </a:p>
        </p:txBody>
      </p:sp>
      <p:sp>
        <p:nvSpPr>
          <p:cNvPr id="14" name="Text 12"/>
          <p:cNvSpPr/>
          <p:nvPr/>
        </p:nvSpPr>
        <p:spPr>
          <a:xfrm>
            <a:off x="2011680" y="3931920"/>
            <a:ext cx="6309360" cy="493776"/>
          </a:xfrm>
          <a:prstGeom prst="rect">
            <a:avLst/>
          </a:prstGeom>
          <a:noFill/>
          <a:ln/>
        </p:spPr>
        <p:txBody>
          <a:bodyPr wrap="square" lIns="0" tIns="0" rIns="0" bIns="0" rtlCol="0" anchor="t"/>
          <a:lstStyle/>
          <a:p>
            <a:pPr algn="l" indent="0" marL="0">
              <a:lnSpc>
                <a:spcPct val="106000"/>
              </a:lnSpc>
              <a:buNone/>
            </a:pPr>
            <a:r>
              <a:rPr lang="en-US" sz="1200" dirty="0">
                <a:solidFill>
                  <a:srgbClr val="14171A"/>
                </a:solidFill>
                <a:latin typeface="Calibri" pitchFamily="34" charset="0"/>
                <a:ea typeface="Calibri" pitchFamily="34" charset="-122"/>
                <a:cs typeface="Calibri" pitchFamily="34" charset="-120"/>
              </a:rPr>
              <a:t>An unintended consequence is a result nobody wanted or predicted. Rules aimed at big platforms often land hardest on small ones that cannot afford lawyers.</a:t>
            </a:r>
            <a:endParaRPr lang="en-US" sz="120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WRITE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The case, and the cost</a:t>
            </a:r>
            <a:endParaRPr lang="en-US" sz="3000" dirty="0"/>
          </a:p>
        </p:txBody>
      </p:sp>
      <p:sp>
        <p:nvSpPr>
          <p:cNvPr id="4" name="Shape 2"/>
          <p:cNvSpPr/>
          <p:nvPr/>
        </p:nvSpPr>
        <p:spPr>
          <a:xfrm>
            <a:off x="5486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680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You</a:t>
            </a:r>
            <a:endParaRPr lang="en-US" sz="1600" dirty="0"/>
          </a:p>
        </p:txBody>
      </p:sp>
      <p:sp>
        <p:nvSpPr>
          <p:cNvPr id="6" name="Text 4"/>
          <p:cNvSpPr/>
          <p:nvPr/>
        </p:nvSpPr>
        <p:spPr>
          <a:xfrm>
            <a:off x="7680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7" name="Text 5"/>
          <p:cNvSpPr/>
          <p:nvPr/>
        </p:nvSpPr>
        <p:spPr>
          <a:xfrm>
            <a:off x="7680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It is your attention, and the controls exist.</a:t>
            </a:r>
            <a:endParaRPr lang="en-US" sz="1200" dirty="0"/>
          </a:p>
        </p:txBody>
      </p:sp>
      <p:sp>
        <p:nvSpPr>
          <p:cNvPr id="8" name="Text 6"/>
          <p:cNvSpPr/>
          <p:nvPr/>
        </p:nvSpPr>
        <p:spPr>
          <a:xfrm>
            <a:off x="7680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9" name="Text 7"/>
          <p:cNvSpPr/>
          <p:nvPr/>
        </p:nvSpPr>
        <p:spPr>
          <a:xfrm>
            <a:off x="7680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 other side has thousands of engineers. You have willpower.</a:t>
            </a:r>
            <a:endParaRPr lang="en-US" sz="1200" dirty="0"/>
          </a:p>
        </p:txBody>
      </p:sp>
      <p:sp>
        <p:nvSpPr>
          <p:cNvPr id="10" name="Shape 8"/>
          <p:cNvSpPr/>
          <p:nvPr/>
        </p:nvSpPr>
        <p:spPr>
          <a:xfrm>
            <a:off x="32918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35112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company</a:t>
            </a:r>
            <a:endParaRPr lang="en-US" sz="1600" dirty="0"/>
          </a:p>
        </p:txBody>
      </p:sp>
      <p:sp>
        <p:nvSpPr>
          <p:cNvPr id="12" name="Text 10"/>
          <p:cNvSpPr/>
          <p:nvPr/>
        </p:nvSpPr>
        <p:spPr>
          <a:xfrm>
            <a:off x="35112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13" name="Text 11"/>
          <p:cNvSpPr/>
          <p:nvPr/>
        </p:nvSpPr>
        <p:spPr>
          <a:xfrm>
            <a:off x="35112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They built it, and bad press does move them.</a:t>
            </a:r>
            <a:endParaRPr lang="en-US" sz="1200" dirty="0"/>
          </a:p>
        </p:txBody>
      </p:sp>
      <p:sp>
        <p:nvSpPr>
          <p:cNvPr id="14" name="Text 12"/>
          <p:cNvSpPr/>
          <p:nvPr/>
        </p:nvSpPr>
        <p:spPr>
          <a:xfrm>
            <a:off x="35112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15" name="Text 13"/>
          <p:cNvSpPr/>
          <p:nvPr/>
        </p:nvSpPr>
        <p:spPr>
          <a:xfrm>
            <a:off x="35112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Their income is your attention. You are asking the wrong party.</a:t>
            </a:r>
            <a:endParaRPr lang="en-US" sz="1200" dirty="0"/>
          </a:p>
        </p:txBody>
      </p:sp>
      <p:sp>
        <p:nvSpPr>
          <p:cNvPr id="16" name="Shape 14"/>
          <p:cNvSpPr/>
          <p:nvPr/>
        </p:nvSpPr>
        <p:spPr>
          <a:xfrm>
            <a:off x="6035040" y="1554480"/>
            <a:ext cx="2560320" cy="2468880"/>
          </a:xfrm>
          <a:prstGeom prst="roundRect">
            <a:avLst>
              <a:gd name="adj" fmla="val 222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6254496" y="1755648"/>
            <a:ext cx="2121408" cy="274320"/>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government</a:t>
            </a:r>
            <a:endParaRPr lang="en-US" sz="1600" dirty="0"/>
          </a:p>
        </p:txBody>
      </p:sp>
      <p:sp>
        <p:nvSpPr>
          <p:cNvPr id="18" name="Text 16"/>
          <p:cNvSpPr/>
          <p:nvPr/>
        </p:nvSpPr>
        <p:spPr>
          <a:xfrm>
            <a:off x="6254496" y="2139696"/>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THE CASE</a:t>
            </a:r>
            <a:endParaRPr lang="en-US" sz="850" dirty="0"/>
          </a:p>
        </p:txBody>
      </p:sp>
      <p:sp>
        <p:nvSpPr>
          <p:cNvPr id="19" name="Text 17"/>
          <p:cNvSpPr/>
          <p:nvPr/>
        </p:nvSpPr>
        <p:spPr>
          <a:xfrm>
            <a:off x="6254496" y="2377440"/>
            <a:ext cx="2121408" cy="56692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Seatbelts. Cigarette ads. Child labor.</a:t>
            </a:r>
            <a:endParaRPr lang="en-US" sz="1200" dirty="0"/>
          </a:p>
        </p:txBody>
      </p:sp>
      <p:sp>
        <p:nvSpPr>
          <p:cNvPr id="20" name="Text 18"/>
          <p:cNvSpPr/>
          <p:nvPr/>
        </p:nvSpPr>
        <p:spPr>
          <a:xfrm>
            <a:off x="6254496" y="3017520"/>
            <a:ext cx="2121408" cy="201168"/>
          </a:xfrm>
          <a:prstGeom prst="rect">
            <a:avLst/>
          </a:prstGeom>
          <a:noFill/>
          <a:ln/>
        </p:spPr>
        <p:txBody>
          <a:bodyPr wrap="square" lIns="0" tIns="0" rIns="0" bIns="0" rtlCol="0" anchor="t"/>
          <a:lstStyle/>
          <a:p>
            <a:pPr algn="l" indent="0" marL="0">
              <a:lnSpc>
                <a:spcPct val="106000"/>
              </a:lnSpc>
              <a:buNone/>
            </a:pPr>
            <a:r>
              <a:rPr lang="en-US" sz="850" b="1" dirty="0">
                <a:solidFill>
                  <a:srgbClr val="8A1A1A"/>
                </a:solidFill>
                <a:latin typeface="Courier New" pitchFamily="34" charset="0"/>
                <a:ea typeface="Courier New" pitchFamily="34" charset="-122"/>
                <a:cs typeface="Courier New" pitchFamily="34" charset="-120"/>
              </a:rPr>
              <a:t>THE COST</a:t>
            </a:r>
            <a:endParaRPr lang="en-US" sz="850" dirty="0"/>
          </a:p>
        </p:txBody>
      </p:sp>
      <p:sp>
        <p:nvSpPr>
          <p:cNvPr id="21" name="Text 19"/>
          <p:cNvSpPr/>
          <p:nvPr/>
        </p:nvSpPr>
        <p:spPr>
          <a:xfrm>
            <a:off x="6254496" y="3255264"/>
            <a:ext cx="2121408" cy="640080"/>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Protect and control are the same power, in different hands.</a:t>
            </a:r>
            <a:endParaRPr lang="en-US" sz="1200" dirty="0"/>
          </a:p>
        </p:txBody>
      </p:sp>
      <p:sp>
        <p:nvSpPr>
          <p:cNvPr id="22" name="Text 20"/>
          <p:cNvSpPr/>
          <p:nvPr/>
        </p:nvSpPr>
        <p:spPr>
          <a:xfrm>
            <a:off x="548640" y="4169664"/>
            <a:ext cx="8046720" cy="310896"/>
          </a:xfrm>
          <a:prstGeom prst="rect">
            <a:avLst/>
          </a:prstGeom>
          <a:noFill/>
          <a:ln/>
        </p:spPr>
        <p:txBody>
          <a:bodyPr wrap="square" lIns="0" tIns="0" rIns="0" bIns="0" rtlCol="0" anchor="t"/>
          <a:lstStyle/>
          <a:p>
            <a:pPr algn="l" indent="0" marL="0">
              <a:lnSpc>
                <a:spcPct val="106000"/>
              </a:lnSpc>
              <a:buNone/>
            </a:pPr>
            <a:r>
              <a:rPr lang="en-US" sz="1350" i="1" dirty="0">
                <a:solidFill>
                  <a:srgbClr val="3C444C"/>
                </a:solidFill>
                <a:latin typeface="Calibri" pitchFamily="34" charset="0"/>
                <a:ea typeface="Calibri" pitchFamily="34" charset="-122"/>
                <a:cs typeface="Calibri" pitchFamily="34" charset="-120"/>
              </a:rPr>
              <a:t>If you cannot say the cost of your own position, you are not ready to write about it yet.</a:t>
            </a:r>
            <a:endParaRPr lang="en-US" sz="1350" dirty="0"/>
          </a:p>
        </p:txBody>
      </p:sp>
      <p:sp>
        <p:nvSpPr>
          <p:cNvPr id="24" name="Text 2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METHOD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This argument has been had before</a:t>
            </a:r>
            <a:endParaRPr lang="en-US" sz="3000" dirty="0"/>
          </a:p>
        </p:txBody>
      </p:sp>
      <p:sp>
        <p:nvSpPr>
          <p:cNvPr id="4" name="Shape 2"/>
          <p:cNvSpPr/>
          <p:nvPr/>
        </p:nvSpPr>
        <p:spPr>
          <a:xfrm>
            <a:off x="548640"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49808"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1954</a:t>
            </a:r>
            <a:endParaRPr lang="en-US" sz="2000" dirty="0"/>
          </a:p>
        </p:txBody>
      </p:sp>
      <p:sp>
        <p:nvSpPr>
          <p:cNvPr id="6" name="Text 4"/>
          <p:cNvSpPr/>
          <p:nvPr/>
        </p:nvSpPr>
        <p:spPr>
          <a:xfrm>
            <a:off x="749808"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Comic books</a:t>
            </a:r>
            <a:endParaRPr lang="en-US" sz="1300" dirty="0"/>
          </a:p>
        </p:txBody>
      </p:sp>
      <p:sp>
        <p:nvSpPr>
          <p:cNvPr id="7" name="Text 5"/>
          <p:cNvSpPr/>
          <p:nvPr/>
        </p:nvSpPr>
        <p:spPr>
          <a:xfrm>
            <a:off x="749808"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A Senate hearing and an industry code.</a:t>
            </a:r>
            <a:endParaRPr lang="en-US" sz="1150" dirty="0"/>
          </a:p>
        </p:txBody>
      </p:sp>
      <p:sp>
        <p:nvSpPr>
          <p:cNvPr id="8" name="Shape 6"/>
          <p:cNvSpPr/>
          <p:nvPr/>
        </p:nvSpPr>
        <p:spPr>
          <a:xfrm>
            <a:off x="2587752"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9" name="Text 7"/>
          <p:cNvSpPr/>
          <p:nvPr/>
        </p:nvSpPr>
        <p:spPr>
          <a:xfrm>
            <a:off x="2788920"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1970s</a:t>
            </a:r>
            <a:endParaRPr lang="en-US" sz="2000" dirty="0"/>
          </a:p>
        </p:txBody>
      </p:sp>
      <p:sp>
        <p:nvSpPr>
          <p:cNvPr id="10" name="Text 8"/>
          <p:cNvSpPr/>
          <p:nvPr/>
        </p:nvSpPr>
        <p:spPr>
          <a:xfrm>
            <a:off x="2788920"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Television violence</a:t>
            </a:r>
            <a:endParaRPr lang="en-US" sz="1300" dirty="0"/>
          </a:p>
        </p:txBody>
      </p:sp>
      <p:sp>
        <p:nvSpPr>
          <p:cNvPr id="11" name="Text 9"/>
          <p:cNvSpPr/>
          <p:nvPr/>
        </p:nvSpPr>
        <p:spPr>
          <a:xfrm>
            <a:off x="2788920"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Hearings across the decade.</a:t>
            </a:r>
            <a:endParaRPr lang="en-US" sz="1150" dirty="0"/>
          </a:p>
        </p:txBody>
      </p:sp>
      <p:sp>
        <p:nvSpPr>
          <p:cNvPr id="12" name="Shape 10"/>
          <p:cNvSpPr/>
          <p:nvPr/>
        </p:nvSpPr>
        <p:spPr>
          <a:xfrm>
            <a:off x="4626864"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4828032"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1985</a:t>
            </a:r>
            <a:endParaRPr lang="en-US" sz="2000" dirty="0"/>
          </a:p>
        </p:txBody>
      </p:sp>
      <p:sp>
        <p:nvSpPr>
          <p:cNvPr id="14" name="Text 12"/>
          <p:cNvSpPr/>
          <p:nvPr/>
        </p:nvSpPr>
        <p:spPr>
          <a:xfrm>
            <a:off x="4828032"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Music lyrics</a:t>
            </a:r>
            <a:endParaRPr lang="en-US" sz="1300" dirty="0"/>
          </a:p>
        </p:txBody>
      </p:sp>
      <p:sp>
        <p:nvSpPr>
          <p:cNvPr id="15" name="Text 13"/>
          <p:cNvSpPr/>
          <p:nvPr/>
        </p:nvSpPr>
        <p:spPr>
          <a:xfrm>
            <a:off x="4828032"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Senate hearings and the parental advisory sticker.</a:t>
            </a:r>
            <a:endParaRPr lang="en-US" sz="1150" dirty="0"/>
          </a:p>
        </p:txBody>
      </p:sp>
      <p:sp>
        <p:nvSpPr>
          <p:cNvPr id="16" name="Shape 14"/>
          <p:cNvSpPr/>
          <p:nvPr/>
        </p:nvSpPr>
        <p:spPr>
          <a:xfrm>
            <a:off x="6665976" y="1645920"/>
            <a:ext cx="1874520" cy="1828800"/>
          </a:xfrm>
          <a:prstGeom prst="roundRect">
            <a:avLst>
              <a:gd name="adj" fmla="val 3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6867144" y="1828800"/>
            <a:ext cx="1472184" cy="329184"/>
          </a:xfrm>
          <a:prstGeom prst="rect">
            <a:avLst/>
          </a:prstGeom>
          <a:noFill/>
          <a:ln/>
        </p:spPr>
        <p:txBody>
          <a:bodyPr wrap="square" lIns="0" tIns="0" rIns="0" bIns="0" rtlCol="0" anchor="t"/>
          <a:lstStyle/>
          <a:p>
            <a:pPr algn="l" indent="0" marL="0">
              <a:lnSpc>
                <a:spcPct val="106000"/>
              </a:lnSpc>
              <a:buNone/>
            </a:pPr>
            <a:r>
              <a:rPr lang="en-US" sz="2000" b="1" dirty="0">
                <a:solidFill>
                  <a:srgbClr val="8A1A1A"/>
                </a:solidFill>
                <a:latin typeface="Cambria" pitchFamily="34" charset="0"/>
                <a:ea typeface="Cambria" pitchFamily="34" charset="-122"/>
                <a:cs typeface="Cambria" pitchFamily="34" charset="-120"/>
              </a:rPr>
              <a:t>1993</a:t>
            </a:r>
            <a:endParaRPr lang="en-US" sz="2000" dirty="0"/>
          </a:p>
        </p:txBody>
      </p:sp>
      <p:sp>
        <p:nvSpPr>
          <p:cNvPr id="18" name="Text 16"/>
          <p:cNvSpPr/>
          <p:nvPr/>
        </p:nvSpPr>
        <p:spPr>
          <a:xfrm>
            <a:off x="6867144" y="2231136"/>
            <a:ext cx="1472184" cy="457200"/>
          </a:xfrm>
          <a:prstGeom prst="rect">
            <a:avLst/>
          </a:prstGeom>
          <a:noFill/>
          <a:ln/>
        </p:spPr>
        <p:txBody>
          <a:bodyPr wrap="square" lIns="0" tIns="0" rIns="0" bIns="0" rtlCol="0" anchor="t"/>
          <a:lstStyle/>
          <a:p>
            <a:pPr algn="l" indent="0" marL="0">
              <a:lnSpc>
                <a:spcPct val="104000"/>
              </a:lnSpc>
              <a:buNone/>
            </a:pPr>
            <a:r>
              <a:rPr lang="en-US" sz="1300" b="1" dirty="0">
                <a:solidFill>
                  <a:srgbClr val="14171A"/>
                </a:solidFill>
                <a:latin typeface="Calibri" pitchFamily="34" charset="0"/>
                <a:ea typeface="Calibri" pitchFamily="34" charset="-122"/>
                <a:cs typeface="Calibri" pitchFamily="34" charset="-120"/>
              </a:rPr>
              <a:t>Video games</a:t>
            </a:r>
            <a:endParaRPr lang="en-US" sz="1300" dirty="0"/>
          </a:p>
        </p:txBody>
      </p:sp>
      <p:sp>
        <p:nvSpPr>
          <p:cNvPr id="19" name="Text 17"/>
          <p:cNvSpPr/>
          <p:nvPr/>
        </p:nvSpPr>
        <p:spPr>
          <a:xfrm>
            <a:off x="6867144" y="2724912"/>
            <a:ext cx="1472184" cy="640080"/>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Hearings, and the rating on every box today.</a:t>
            </a:r>
            <a:endParaRPr lang="en-US" sz="1150" dirty="0"/>
          </a:p>
        </p:txBody>
      </p:sp>
      <p:sp>
        <p:nvSpPr>
          <p:cNvPr id="20" name="Text 18"/>
          <p:cNvSpPr/>
          <p:nvPr/>
        </p:nvSpPr>
        <p:spPr>
          <a:xfrm>
            <a:off x="548640" y="3657600"/>
            <a:ext cx="8046720" cy="457200"/>
          </a:xfrm>
          <a:prstGeom prst="rect">
            <a:avLst/>
          </a:prstGeom>
          <a:noFill/>
          <a:ln/>
        </p:spPr>
        <p:txBody>
          <a:bodyPr wrap="square" lIns="0" tIns="0" rIns="0" bIns="0" rtlCol="0" anchor="t"/>
          <a:lstStyle/>
          <a:p>
            <a:pPr algn="l" indent="0" marL="0">
              <a:lnSpc>
                <a:spcPct val="114000"/>
              </a:lnSpc>
              <a:buNone/>
            </a:pPr>
            <a:r>
              <a:rPr lang="en-US" sz="1300" dirty="0">
                <a:solidFill>
                  <a:srgbClr val="3C444C"/>
                </a:solidFill>
                <a:latin typeface="Calibri" pitchFamily="34" charset="0"/>
                <a:ea typeface="Calibri" pitchFamily="34" charset="-122"/>
                <a:cs typeface="Calibri" pitchFamily="34" charset="-120"/>
              </a:rPr>
              <a:t>A precedent is an earlier case that people point to when deciding a new one. This exact fight, about a new medium and what it does to young people, has run at least four times before.</a:t>
            </a:r>
            <a:endParaRPr lang="en-US" sz="1300" dirty="0"/>
          </a:p>
        </p:txBody>
      </p:sp>
      <p:sp>
        <p:nvSpPr>
          <p:cNvPr id="21" name="Text 19"/>
          <p:cNvSpPr/>
          <p:nvPr/>
        </p:nvSpPr>
        <p:spPr>
          <a:xfrm>
            <a:off x="548640" y="4169664"/>
            <a:ext cx="8046720"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libri" pitchFamily="34" charset="0"/>
                <a:ea typeface="Calibri" pitchFamily="34" charset="-122"/>
                <a:cs typeface="Calibri" pitchFamily="34" charset="-120"/>
              </a:rPr>
              <a:t>Look at what the four have in common.</a:t>
            </a:r>
            <a:endParaRPr lang="en-US" sz="1400" dirty="0"/>
          </a:p>
        </p:txBody>
      </p:sp>
      <p:sp>
        <p:nvSpPr>
          <p:cNvPr id="23" name="Text 2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METHOD · WHAT IT PREDICTS</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Four for four, and not one of them a law</a:t>
            </a:r>
            <a:endParaRPr lang="en-US" sz="3000" dirty="0"/>
          </a:p>
        </p:txBody>
      </p:sp>
      <p:sp>
        <p:nvSpPr>
          <p:cNvPr id="4" name="Shape 2"/>
          <p:cNvSpPr/>
          <p:nvPr/>
        </p:nvSpPr>
        <p:spPr>
          <a:xfrm>
            <a:off x="548640" y="1645920"/>
            <a:ext cx="3840480" cy="1920240"/>
          </a:xfrm>
          <a:prstGeom prst="roundRect">
            <a:avLst>
              <a:gd name="adj" fmla="val 2857"/>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847088"/>
            <a:ext cx="3328416" cy="548640"/>
          </a:xfrm>
          <a:prstGeom prst="rect">
            <a:avLst/>
          </a:prstGeom>
          <a:noFill/>
          <a:ln/>
        </p:spPr>
        <p:txBody>
          <a:bodyPr wrap="square" lIns="0" tIns="0" rIns="0" bIns="0" rtlCol="0" anchor="t"/>
          <a:lstStyle/>
          <a:p>
            <a:pPr algn="l" indent="0" marL="0">
              <a:lnSpc>
                <a:spcPct val="106000"/>
              </a:lnSpc>
              <a:buNone/>
            </a:pPr>
            <a:r>
              <a:rPr lang="en-US" sz="3400" b="1" dirty="0">
                <a:solidFill>
                  <a:srgbClr val="8A1A1A"/>
                </a:solidFill>
                <a:latin typeface="Cambria" pitchFamily="34" charset="0"/>
                <a:ea typeface="Cambria" pitchFamily="34" charset="-122"/>
                <a:cs typeface="Cambria" pitchFamily="34" charset="-120"/>
              </a:rPr>
              <a:t>4 of 4</a:t>
            </a:r>
            <a:endParaRPr lang="en-US" sz="3400" dirty="0"/>
          </a:p>
        </p:txBody>
      </p:sp>
      <p:sp>
        <p:nvSpPr>
          <p:cNvPr id="6" name="Text 4"/>
          <p:cNvSpPr/>
          <p:nvPr/>
        </p:nvSpPr>
        <p:spPr>
          <a:xfrm>
            <a:off x="804672" y="2450592"/>
            <a:ext cx="3328416" cy="914400"/>
          </a:xfrm>
          <a:prstGeom prst="rect">
            <a:avLst/>
          </a:prstGeom>
          <a:noFill/>
          <a:ln/>
        </p:spPr>
        <p:txBody>
          <a:bodyPr wrap="square" lIns="0" tIns="0" rIns="0" bIns="0" rtlCol="0" anchor="t"/>
          <a:lstStyle/>
          <a:p>
            <a:pPr algn="l" indent="0" marL="0">
              <a:lnSpc>
                <a:spcPct val="116000"/>
              </a:lnSpc>
              <a:buNone/>
            </a:pPr>
            <a:r>
              <a:rPr lang="en-US" sz="1350" dirty="0">
                <a:solidFill>
                  <a:srgbClr val="14171A"/>
                </a:solidFill>
                <a:latin typeface="Calibri" pitchFamily="34" charset="0"/>
                <a:ea typeface="Calibri" pitchFamily="34" charset="-122"/>
                <a:cs typeface="Calibri" pitchFamily="34" charset="-120"/>
              </a:rPr>
              <a:t>ended in industry self-regulation under threat of government action, rather than in a law.</a:t>
            </a:r>
            <a:endParaRPr lang="en-US" sz="1350" dirty="0"/>
          </a:p>
        </p:txBody>
      </p:sp>
      <p:sp>
        <p:nvSpPr>
          <p:cNvPr id="7" name="Shape 5"/>
          <p:cNvSpPr/>
          <p:nvPr/>
        </p:nvSpPr>
        <p:spPr>
          <a:xfrm>
            <a:off x="4754880" y="1645920"/>
            <a:ext cx="384048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4992624" y="1847088"/>
            <a:ext cx="336499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AND WORTH KNOWING</a:t>
            </a:r>
            <a:endParaRPr lang="en-US" sz="900" dirty="0"/>
          </a:p>
        </p:txBody>
      </p:sp>
      <p:sp>
        <p:nvSpPr>
          <p:cNvPr id="9" name="Text 7"/>
          <p:cNvSpPr/>
          <p:nvPr/>
        </p:nvSpPr>
        <p:spPr>
          <a:xfrm>
            <a:off x="4992624" y="2139696"/>
            <a:ext cx="3364992" cy="1188720"/>
          </a:xfrm>
          <a:prstGeom prst="rect">
            <a:avLst/>
          </a:prstGeom>
          <a:noFill/>
          <a:ln/>
        </p:spPr>
        <p:txBody>
          <a:bodyPr wrap="square" lIns="0" tIns="0" rIns="0" bIns="0" rtlCol="0" anchor="t"/>
          <a:lstStyle/>
          <a:p>
            <a:pPr algn="l" indent="0" marL="0">
              <a:lnSpc>
                <a:spcPct val="116000"/>
              </a:lnSpc>
              <a:buNone/>
            </a:pPr>
            <a:r>
              <a:rPr lang="en-US" sz="1300" dirty="0">
                <a:solidFill>
                  <a:srgbClr val="3C444C"/>
                </a:solidFill>
                <a:latin typeface="Calibri" pitchFamily="34" charset="0"/>
                <a:ea typeface="Calibri" pitchFamily="34" charset="-122"/>
                <a:cs typeface="Calibri" pitchFamily="34" charset="-120"/>
              </a:rPr>
              <a:t>The strongest claims made in several of those panics did not hold up later. The comic book research was largely discredited. The video game research is still contested.</a:t>
            </a:r>
            <a:endParaRPr lang="en-US" sz="1300" dirty="0"/>
          </a:p>
        </p:txBody>
      </p:sp>
      <p:sp>
        <p:nvSpPr>
          <p:cNvPr id="10" name="Text 8"/>
          <p:cNvSpPr/>
          <p:nvPr/>
        </p:nvSpPr>
        <p:spPr>
          <a:xfrm>
            <a:off x="548640" y="3749040"/>
            <a:ext cx="8046720" cy="640080"/>
          </a:xfrm>
          <a:prstGeom prst="rect">
            <a:avLst/>
          </a:prstGeom>
          <a:noFill/>
          <a:ln/>
        </p:spPr>
        <p:txBody>
          <a:bodyPr wrap="square" lIns="0" tIns="0" rIns="0" bIns="0" rtlCol="0" anchor="t"/>
          <a:lstStyle/>
          <a:p>
            <a:pPr algn="l" indent="0" marL="0">
              <a:lnSpc>
                <a:spcPct val="114000"/>
              </a:lnSpc>
              <a:buNone/>
            </a:pPr>
            <a:r>
              <a:rPr lang="en-US" sz="1300" dirty="0">
                <a:solidFill>
                  <a:srgbClr val="3C444C"/>
                </a:solidFill>
                <a:latin typeface="Calibri" pitchFamily="34" charset="0"/>
                <a:ea typeface="Calibri" pitchFamily="34" charset="-122"/>
                <a:cs typeface="Calibri" pitchFamily="34" charset="-120"/>
              </a:rPr>
              <a:t>That history does not tell you the answer. It tells you that "this new thing is harming children" has been said before, sometimes correctly and sometimes not, and that the people saying it were sincere either way.</a:t>
            </a:r>
            <a:endParaRPr lang="en-US" sz="1300" dirty="0"/>
          </a:p>
        </p:txBody>
      </p:sp>
      <p:sp>
        <p:nvSpPr>
          <p:cNvPr id="12" name="Text 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AP SKILL PARALLEL</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Social media is not a comic book</a:t>
            </a:r>
            <a:endParaRPr lang="en-US" sz="3000" dirty="0"/>
          </a:p>
        </p:txBody>
      </p:sp>
      <p:sp>
        <p:nvSpPr>
          <p:cNvPr id="4" name="Shape 2"/>
          <p:cNvSpPr/>
          <p:nvPr/>
        </p:nvSpPr>
        <p:spPr>
          <a:xfrm>
            <a:off x="5486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68096" y="1865376"/>
            <a:ext cx="2121408"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Personalized</a:t>
            </a:r>
            <a:endParaRPr lang="en-US" sz="1500" dirty="0"/>
          </a:p>
        </p:txBody>
      </p:sp>
      <p:sp>
        <p:nvSpPr>
          <p:cNvPr id="6" name="Text 4"/>
          <p:cNvSpPr/>
          <p:nvPr/>
        </p:nvSpPr>
        <p:spPr>
          <a:xfrm>
            <a:off x="7680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 comic book did not know who was holding it.</a:t>
            </a:r>
            <a:endParaRPr lang="en-US" sz="1250" dirty="0"/>
          </a:p>
        </p:txBody>
      </p:sp>
      <p:sp>
        <p:nvSpPr>
          <p:cNvPr id="7" name="Shape 5"/>
          <p:cNvSpPr/>
          <p:nvPr/>
        </p:nvSpPr>
        <p:spPr>
          <a:xfrm>
            <a:off x="32918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3511296" y="1865376"/>
            <a:ext cx="2121408"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Always with you</a:t>
            </a:r>
            <a:endParaRPr lang="en-US" sz="1500" dirty="0"/>
          </a:p>
        </p:txBody>
      </p:sp>
      <p:sp>
        <p:nvSpPr>
          <p:cNvPr id="9" name="Text 7"/>
          <p:cNvSpPr/>
          <p:nvPr/>
        </p:nvSpPr>
        <p:spPr>
          <a:xfrm>
            <a:off x="35112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It is not a thing you go to and then leave.</a:t>
            </a:r>
            <a:endParaRPr lang="en-US" sz="1250" dirty="0"/>
          </a:p>
        </p:txBody>
      </p:sp>
      <p:sp>
        <p:nvSpPr>
          <p:cNvPr id="10" name="Shape 8"/>
          <p:cNvSpPr/>
          <p:nvPr/>
        </p:nvSpPr>
        <p:spPr>
          <a:xfrm>
            <a:off x="6035040" y="1645920"/>
            <a:ext cx="2560320" cy="1371600"/>
          </a:xfrm>
          <a:prstGeom prst="roundRect">
            <a:avLst>
              <a:gd name="adj" fmla="val 4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6254496" y="1865376"/>
            <a:ext cx="2121408"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It responds to you</a:t>
            </a:r>
            <a:endParaRPr lang="en-US" sz="1500" dirty="0"/>
          </a:p>
        </p:txBody>
      </p:sp>
      <p:sp>
        <p:nvSpPr>
          <p:cNvPr id="12" name="Text 10"/>
          <p:cNvSpPr/>
          <p:nvPr/>
        </p:nvSpPr>
        <p:spPr>
          <a:xfrm>
            <a:off x="6254496" y="2212848"/>
            <a:ext cx="2121408" cy="566928"/>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What you do changes what it does next.</a:t>
            </a:r>
            <a:endParaRPr lang="en-US" sz="1250" dirty="0"/>
          </a:p>
        </p:txBody>
      </p:sp>
      <p:sp>
        <p:nvSpPr>
          <p:cNvPr id="13" name="Text 11"/>
          <p:cNvSpPr/>
          <p:nvPr/>
        </p:nvSpPr>
        <p:spPr>
          <a:xfrm>
            <a:off x="548640" y="3291840"/>
            <a:ext cx="8046720" cy="310896"/>
          </a:xfrm>
          <a:prstGeom prst="rect">
            <a:avLst/>
          </a:prstGeom>
          <a:noFill/>
          <a:ln/>
        </p:spPr>
        <p:txBody>
          <a:bodyPr wrap="square" lIns="0" tIns="0" rIns="0" bIns="0" rtlCol="0" anchor="t"/>
          <a:lstStyle/>
          <a:p>
            <a:pPr algn="l" indent="0" marL="0">
              <a:lnSpc>
                <a:spcPct val="106000"/>
              </a:lnSpc>
              <a:buNone/>
            </a:pPr>
            <a:r>
              <a:rPr lang="en-US" sz="1800" b="1" dirty="0">
                <a:solidFill>
                  <a:srgbClr val="14171A"/>
                </a:solidFill>
                <a:latin typeface="Cambria" pitchFamily="34" charset="0"/>
                <a:ea typeface="Cambria" pitchFamily="34" charset="-122"/>
                <a:cs typeface="Cambria" pitchFamily="34" charset="-120"/>
              </a:rPr>
              <a:t>Any argument from precedent has to survive those three differences.</a:t>
            </a:r>
            <a:endParaRPr lang="en-US" sz="1800" dirty="0"/>
          </a:p>
        </p:txBody>
      </p:sp>
      <p:sp>
        <p:nvSpPr>
          <p:cNvPr id="14" name="Text 12"/>
          <p:cNvSpPr/>
          <p:nvPr/>
        </p:nvSpPr>
        <p:spPr>
          <a:xfrm>
            <a:off x="548640" y="3712464"/>
            <a:ext cx="8046720" cy="457200"/>
          </a:xfrm>
          <a:prstGeom prst="rect">
            <a:avLst/>
          </a:prstGeom>
          <a:noFill/>
          <a:ln/>
        </p:spPr>
        <p:txBody>
          <a:bodyPr wrap="square" lIns="0" tIns="0" rIns="0" bIns="0" rtlCol="0" anchor="t"/>
          <a:lstStyle/>
          <a:p>
            <a:pPr algn="l" indent="0" marL="0">
              <a:lnSpc>
                <a:spcPct val="114000"/>
              </a:lnSpc>
              <a:buNone/>
            </a:pPr>
            <a:r>
              <a:rPr lang="en-US" sz="1350" dirty="0">
                <a:solidFill>
                  <a:srgbClr val="3C444C"/>
                </a:solidFill>
                <a:latin typeface="Calibri" pitchFamily="34" charset="0"/>
                <a:ea typeface="Calibri" pitchFamily="34" charset="-122"/>
                <a:cs typeface="Calibri" pitchFamily="34" charset="-120"/>
              </a:rPr>
              <a:t>Using a precedent well means naming what is the same and what is different. Both halves, every time.</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ROAD NOT TAKEN</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One sentence, from 1996</a:t>
            </a:r>
            <a:endParaRPr lang="en-US" sz="3000" dirty="0"/>
          </a:p>
        </p:txBody>
      </p:sp>
      <p:sp>
        <p:nvSpPr>
          <p:cNvPr id="4" name="Shape 2"/>
          <p:cNvSpPr/>
          <p:nvPr/>
        </p:nvSpPr>
        <p:spPr>
          <a:xfrm>
            <a:off x="548640" y="1517904"/>
            <a:ext cx="8046720" cy="859536"/>
          </a:xfrm>
          <a:prstGeom prst="roundRect">
            <a:avLst>
              <a:gd name="adj" fmla="val 6383"/>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22960" y="1517904"/>
            <a:ext cx="7498080" cy="859536"/>
          </a:xfrm>
          <a:prstGeom prst="rect">
            <a:avLst/>
          </a:prstGeom>
          <a:noFill/>
          <a:ln/>
        </p:spPr>
        <p:txBody>
          <a:bodyPr wrap="square" lIns="0" tIns="0" rIns="0" bIns="0" rtlCol="0" anchor="ctr"/>
          <a:lstStyle/>
          <a:p>
            <a:pPr algn="l" indent="0" marL="0">
              <a:lnSpc>
                <a:spcPct val="106000"/>
              </a:lnSpc>
              <a:buNone/>
            </a:pPr>
            <a:r>
              <a:rPr lang="en-US" sz="1800" i="1" dirty="0">
                <a:solidFill>
                  <a:srgbClr val="14171A"/>
                </a:solidFill>
                <a:latin typeface="Cambria" pitchFamily="34" charset="0"/>
                <a:ea typeface="Cambria" pitchFamily="34" charset="-122"/>
                <a:cs typeface="Cambria" pitchFamily="34" charset="-120"/>
              </a:rPr>
              <a:t>"A platform is generally not treated as the publisher of what its users post."</a:t>
            </a:r>
            <a:endParaRPr lang="en-US" sz="1800" dirty="0"/>
          </a:p>
        </p:txBody>
      </p:sp>
      <p:sp>
        <p:nvSpPr>
          <p:cNvPr id="6" name="Text 4"/>
          <p:cNvSpPr/>
          <p:nvPr/>
        </p:nvSpPr>
        <p:spPr>
          <a:xfrm>
            <a:off x="548640" y="2487168"/>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1996</a:t>
            </a:r>
            <a:endParaRPr lang="en-US" sz="1050" dirty="0"/>
          </a:p>
        </p:txBody>
      </p:sp>
      <p:sp>
        <p:nvSpPr>
          <p:cNvPr id="7" name="Text 5"/>
          <p:cNvSpPr/>
          <p:nvPr/>
        </p:nvSpPr>
        <p:spPr>
          <a:xfrm>
            <a:off x="1298448" y="2487168"/>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Section 230 of the Communications Decency Act. A large part of why the internet looks the way it does.</a:t>
            </a:r>
            <a:endParaRPr lang="en-US" sz="1250" dirty="0"/>
          </a:p>
        </p:txBody>
      </p:sp>
      <p:sp>
        <p:nvSpPr>
          <p:cNvPr id="8" name="Text 6"/>
          <p:cNvSpPr/>
          <p:nvPr/>
        </p:nvSpPr>
        <p:spPr>
          <a:xfrm>
            <a:off x="548640" y="2926080"/>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1997</a:t>
            </a:r>
            <a:endParaRPr lang="en-US" sz="1050" dirty="0"/>
          </a:p>
        </p:txBody>
      </p:sp>
      <p:sp>
        <p:nvSpPr>
          <p:cNvPr id="9" name="Text 7"/>
          <p:cNvSpPr/>
          <p:nvPr/>
        </p:nvSpPr>
        <p:spPr>
          <a:xfrm>
            <a:off x="1298448" y="2926080"/>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The rest of that law is struck down by the Supreme Court as a violation of free speech. Section 230 survives.</a:t>
            </a:r>
            <a:endParaRPr lang="en-US" sz="1250" dirty="0"/>
          </a:p>
        </p:txBody>
      </p:sp>
      <p:sp>
        <p:nvSpPr>
          <p:cNvPr id="10" name="Text 8"/>
          <p:cNvSpPr/>
          <p:nvPr/>
        </p:nvSpPr>
        <p:spPr>
          <a:xfrm>
            <a:off x="548640" y="3364992"/>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Since</a:t>
            </a:r>
            <a:endParaRPr lang="en-US" sz="1050" dirty="0"/>
          </a:p>
        </p:txBody>
      </p:sp>
      <p:sp>
        <p:nvSpPr>
          <p:cNvPr id="11" name="Text 9"/>
          <p:cNvSpPr/>
          <p:nvPr/>
        </p:nvSpPr>
        <p:spPr>
          <a:xfrm>
            <a:off x="1298448" y="3364992"/>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Politicians in both parties have proposed repealing or narrowing it, for opposite reasons.</a:t>
            </a:r>
            <a:endParaRPr lang="en-US" sz="1250" dirty="0"/>
          </a:p>
        </p:txBody>
      </p:sp>
      <p:sp>
        <p:nvSpPr>
          <p:cNvPr id="12" name="Text 10"/>
          <p:cNvSpPr/>
          <p:nvPr/>
        </p:nvSpPr>
        <p:spPr>
          <a:xfrm>
            <a:off x="548640" y="3803904"/>
            <a:ext cx="658368" cy="256032"/>
          </a:xfrm>
          <a:prstGeom prst="rect">
            <a:avLst/>
          </a:prstGeom>
          <a:noFill/>
          <a:ln/>
        </p:spPr>
        <p:txBody>
          <a:bodyPr wrap="square" lIns="0" tIns="0" rIns="0" bIns="0" rtlCol="0" anchor="ctr"/>
          <a:lstStyle/>
          <a:p>
            <a:pPr algn="l" indent="0" marL="0">
              <a:lnSpc>
                <a:spcPct val="106000"/>
              </a:lnSpc>
              <a:buNone/>
            </a:pPr>
            <a:r>
              <a:rPr lang="en-US" sz="1050" b="1" dirty="0">
                <a:solidFill>
                  <a:srgbClr val="8A1A1A"/>
                </a:solidFill>
                <a:latin typeface="Courier New" pitchFamily="34" charset="0"/>
                <a:ea typeface="Courier New" pitchFamily="34" charset="-122"/>
                <a:cs typeface="Courier New" pitchFamily="34" charset="-120"/>
              </a:rPr>
              <a:t>Now</a:t>
            </a:r>
            <a:endParaRPr lang="en-US" sz="1050" dirty="0"/>
          </a:p>
        </p:txBody>
      </p:sp>
      <p:sp>
        <p:nvSpPr>
          <p:cNvPr id="13" name="Text 11"/>
          <p:cNvSpPr/>
          <p:nvPr/>
        </p:nvSpPr>
        <p:spPr>
          <a:xfrm>
            <a:off x="1298448" y="3803904"/>
            <a:ext cx="7296912" cy="329184"/>
          </a:xfrm>
          <a:prstGeom prst="rect">
            <a:avLst/>
          </a:prstGeom>
          <a:noFill/>
          <a:ln/>
        </p:spPr>
        <p:txBody>
          <a:bodyPr wrap="square" lIns="0" tIns="0" rIns="0" bIns="0" rtlCol="0" anchor="ctr"/>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It is still there, and people are still fighting over it right now.</a:t>
            </a:r>
            <a:endParaRPr lang="en-US" sz="1250" dirty="0"/>
          </a:p>
        </p:txBody>
      </p:sp>
      <p:sp>
        <p:nvSpPr>
          <p:cNvPr id="14" name="Text 12"/>
          <p:cNvSpPr/>
          <p:nvPr/>
        </p:nvSpPr>
        <p:spPr>
          <a:xfrm>
            <a:off x="548640" y="4279392"/>
            <a:ext cx="8046720" cy="274320"/>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libri" pitchFamily="34" charset="0"/>
                <a:ea typeface="Calibri" pitchFamily="34" charset="-122"/>
                <a:cs typeface="Calibri" pitchFamily="34" charset="-120"/>
              </a:rPr>
              <a:t>The current arrangement is not the natural state of things.</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B1F"/>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BEREADY · 10-SECOND TAKEAWAY</a:t>
            </a:r>
            <a:endParaRPr lang="en-US" sz="1000" dirty="0"/>
          </a:p>
        </p:txBody>
      </p:sp>
      <p:sp>
        <p:nvSpPr>
          <p:cNvPr id="3" name="Text 1"/>
          <p:cNvSpPr/>
          <p:nvPr/>
        </p:nvSpPr>
        <p:spPr>
          <a:xfrm>
            <a:off x="548640" y="694944"/>
            <a:ext cx="7863840" cy="694944"/>
          </a:xfrm>
          <a:prstGeom prst="rect">
            <a:avLst/>
          </a:prstGeom>
          <a:noFill/>
          <a:ln/>
        </p:spPr>
        <p:txBody>
          <a:bodyPr wrap="square" lIns="0" tIns="0" rIns="0" bIns="0" rtlCol="0" anchor="t"/>
          <a:lstStyle/>
          <a:p>
            <a:pPr algn="l" indent="0" marL="0">
              <a:lnSpc>
                <a:spcPct val="110000"/>
              </a:lnSpc>
              <a:buNone/>
            </a:pPr>
            <a:r>
              <a:rPr lang="en-US" sz="1850" b="1" dirty="0">
                <a:solidFill>
                  <a:srgbClr val="FFFEFB"/>
                </a:solidFill>
                <a:latin typeface="Cambria" pitchFamily="34" charset="0"/>
                <a:ea typeface="Cambria" pitchFamily="34" charset="-122"/>
                <a:cs typeface="Cambria" pitchFamily="34" charset="-120"/>
              </a:rPr>
              <a:t>Three answers, each with a real case and a real cost. Your job is not to win the argument today.</a:t>
            </a:r>
            <a:endParaRPr lang="en-US" sz="1850" dirty="0"/>
          </a:p>
        </p:txBody>
      </p:sp>
      <p:sp>
        <p:nvSpPr>
          <p:cNvPr id="4" name="Shape 2"/>
          <p:cNvSpPr/>
          <p:nvPr/>
        </p:nvSpPr>
        <p:spPr>
          <a:xfrm>
            <a:off x="548640" y="1627632"/>
            <a:ext cx="8046720" cy="2286000"/>
          </a:xfrm>
          <a:prstGeom prst="roundRect">
            <a:avLst>
              <a:gd name="adj" fmla="val 2400"/>
            </a:avLst>
          </a:prstGeom>
          <a:solidFill>
            <a:srgbClr val="2B3238"/>
          </a:solidFill>
          <a:ln w="9525">
            <a:solidFill>
              <a:srgbClr val="2B3238"/>
            </a:solidFill>
            <a:prstDash val="solid"/>
          </a:ln>
        </p:spPr>
      </p:sp>
      <p:sp>
        <p:nvSpPr>
          <p:cNvPr id="5" name="Text 3"/>
          <p:cNvSpPr/>
          <p:nvPr/>
        </p:nvSpPr>
        <p:spPr>
          <a:xfrm>
            <a:off x="804672" y="1810512"/>
            <a:ext cx="7498080" cy="219456"/>
          </a:xfrm>
          <a:prstGeom prst="rect">
            <a:avLst/>
          </a:prstGeom>
          <a:noFill/>
          <a:ln/>
        </p:spPr>
        <p:txBody>
          <a:bodyPr wrap="square" lIns="0" tIns="0" rIns="0" bIns="0" rtlCol="0" anchor="t"/>
          <a:lstStyle/>
          <a:p>
            <a:pPr algn="l"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CHECK YOUR UNDERSTANDING</a:t>
            </a:r>
            <a:endParaRPr lang="en-US" sz="900" dirty="0"/>
          </a:p>
        </p:txBody>
      </p:sp>
      <p:sp>
        <p:nvSpPr>
          <p:cNvPr id="6" name="Shape 4"/>
          <p:cNvSpPr/>
          <p:nvPr/>
        </p:nvSpPr>
        <p:spPr>
          <a:xfrm>
            <a:off x="804672" y="2176272"/>
            <a:ext cx="310896" cy="310896"/>
          </a:xfrm>
          <a:prstGeom prst="ellipse">
            <a:avLst/>
          </a:prstGeom>
          <a:solidFill>
            <a:srgbClr val="B22222"/>
          </a:solidFill>
          <a:ln w="12700">
            <a:solidFill>
              <a:srgbClr val="B22222"/>
            </a:solidFill>
            <a:prstDash val="solid"/>
          </a:ln>
        </p:spPr>
      </p:sp>
      <p:sp>
        <p:nvSpPr>
          <p:cNvPr id="7" name="Text 5"/>
          <p:cNvSpPr/>
          <p:nvPr/>
        </p:nvSpPr>
        <p:spPr>
          <a:xfrm>
            <a:off x="804672" y="217627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8" name="Text 6"/>
          <p:cNvSpPr/>
          <p:nvPr/>
        </p:nvSpPr>
        <p:spPr>
          <a:xfrm>
            <a:off x="1243584" y="2157984"/>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SYNTHESIZING PATTERNS</a:t>
            </a:r>
            <a:endParaRPr lang="en-US" sz="800" dirty="0"/>
          </a:p>
        </p:txBody>
      </p:sp>
      <p:sp>
        <p:nvSpPr>
          <p:cNvPr id="9" name="Text 7"/>
          <p:cNvSpPr/>
          <p:nvPr/>
        </p:nvSpPr>
        <p:spPr>
          <a:xfrm>
            <a:off x="1243584" y="2359152"/>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Pick the position you do NOT hold. State the strongest version of it, in your own words, as well as you possibly can.</a:t>
            </a:r>
            <a:endParaRPr lang="en-US" sz="1200" dirty="0"/>
          </a:p>
        </p:txBody>
      </p:sp>
      <p:sp>
        <p:nvSpPr>
          <p:cNvPr id="10" name="Shape 8"/>
          <p:cNvSpPr/>
          <p:nvPr/>
        </p:nvSpPr>
        <p:spPr>
          <a:xfrm>
            <a:off x="804672" y="2779776"/>
            <a:ext cx="310896" cy="310896"/>
          </a:xfrm>
          <a:prstGeom prst="ellipse">
            <a:avLst/>
          </a:prstGeom>
          <a:solidFill>
            <a:srgbClr val="B22222"/>
          </a:solidFill>
          <a:ln w="12700">
            <a:solidFill>
              <a:srgbClr val="B22222"/>
            </a:solidFill>
            <a:prstDash val="solid"/>
          </a:ln>
        </p:spPr>
      </p:sp>
      <p:sp>
        <p:nvSpPr>
          <p:cNvPr id="11" name="Text 9"/>
          <p:cNvSpPr/>
          <p:nvPr/>
        </p:nvSpPr>
        <p:spPr>
          <a:xfrm>
            <a:off x="804672" y="277977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2" name="Text 10"/>
          <p:cNvSpPr/>
          <p:nvPr/>
        </p:nvSpPr>
        <p:spPr>
          <a:xfrm>
            <a:off x="1243584" y="2761488"/>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3" name="Text 11"/>
          <p:cNvSpPr/>
          <p:nvPr/>
        </p:nvSpPr>
        <p:spPr>
          <a:xfrm>
            <a:off x="1243584" y="2962656"/>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Pick one earlier fight: comic books, television, music lyrics, or video games. What happened, and what does it predict about this one?</a:t>
            </a:r>
            <a:endParaRPr lang="en-US" sz="1200" dirty="0"/>
          </a:p>
        </p:txBody>
      </p:sp>
      <p:sp>
        <p:nvSpPr>
          <p:cNvPr id="14" name="Shape 12"/>
          <p:cNvSpPr/>
          <p:nvPr/>
        </p:nvSpPr>
        <p:spPr>
          <a:xfrm>
            <a:off x="804672" y="3383280"/>
            <a:ext cx="310896" cy="310896"/>
          </a:xfrm>
          <a:prstGeom prst="ellipse">
            <a:avLst/>
          </a:prstGeom>
          <a:solidFill>
            <a:srgbClr val="B22222"/>
          </a:solidFill>
          <a:ln w="12700">
            <a:solidFill>
              <a:srgbClr val="B22222"/>
            </a:solidFill>
            <a:prstDash val="solid"/>
          </a:ln>
        </p:spPr>
      </p:sp>
      <p:sp>
        <p:nvSpPr>
          <p:cNvPr id="15" name="Text 13"/>
          <p:cNvSpPr/>
          <p:nvPr/>
        </p:nvSpPr>
        <p:spPr>
          <a:xfrm>
            <a:off x="804672" y="33832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6" name="Text 14"/>
          <p:cNvSpPr/>
          <p:nvPr/>
        </p:nvSpPr>
        <p:spPr>
          <a:xfrm>
            <a:off x="1243584" y="3364992"/>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7" name="Text 15"/>
          <p:cNvSpPr/>
          <p:nvPr/>
        </p:nvSpPr>
        <p:spPr>
          <a:xfrm>
            <a:off x="1243584" y="3566160"/>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What evidence would change your mind? Be specific enough that somebody could go looking for it.</a:t>
            </a:r>
            <a:endParaRPr lang="en-US" sz="1200" dirty="0"/>
          </a:p>
        </p:txBody>
      </p:sp>
      <p:sp>
        <p:nvSpPr>
          <p:cNvPr id="18" name="Text 16"/>
          <p:cNvSpPr/>
          <p:nvPr/>
        </p:nvSpPr>
        <p:spPr>
          <a:xfrm>
            <a:off x="548640" y="4096512"/>
            <a:ext cx="7863840" cy="310896"/>
          </a:xfrm>
          <a:prstGeom prst="rect">
            <a:avLst/>
          </a:prstGeom>
          <a:noFill/>
          <a:ln/>
        </p:spPr>
        <p:txBody>
          <a:bodyPr wrap="square" lIns="0" tIns="0" rIns="0" bIns="0" rtlCol="0" anchor="t"/>
          <a:lstStyle/>
          <a:p>
            <a:pPr algn="l" indent="0" marL="0">
              <a:lnSpc>
                <a:spcPct val="106000"/>
              </a:lnSpc>
              <a:buNone/>
            </a:pPr>
            <a:r>
              <a:rPr lang="en-US" sz="1500" i="1" dirty="0">
                <a:solidFill>
                  <a:srgbClr val="A8B2BA"/>
                </a:solidFill>
                <a:latin typeface="Cambria" pitchFamily="34" charset="0"/>
                <a:ea typeface="Cambria" pitchFamily="34" charset="-122"/>
                <a:cs typeface="Cambria" pitchFamily="34" charset="-120"/>
              </a:rPr>
              <a:t>State the other side well enough that somebody who holds it would say you got it right.</a:t>
            </a:r>
            <a:endParaRPr lang="en-US" sz="1500" dirty="0"/>
          </a:p>
        </p:txBody>
      </p:sp>
      <p:sp>
        <p:nvSpPr>
          <p:cNvPr id="20" name="Text 1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BeCurrent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Gets to Decide?, Social Media Topic 6</dc:title>
  <dc:subject>BeCurrent, Current Events</dc:subject>
  <dc:creator>BeCurrent</dc:creator>
  <cp:lastModifiedBy>BeCurrent</cp:lastModifiedBy>
  <cp:revision>1</cp:revision>
  <dcterms:created xsi:type="dcterms:W3CDTF">2026-08-20T15:09:43Z</dcterms:created>
  <dcterms:modified xsi:type="dcterms:W3CDTF">2026-08-20T15:09:43Z</dcterms:modified>
</cp:coreProperties>
</file>