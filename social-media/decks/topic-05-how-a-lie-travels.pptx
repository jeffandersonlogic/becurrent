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cold, without the word misinformation on the board. Read the deck line and stop. The question is not whether people lie, it is the speed difference between a claim and its correction. Say out loud that nobody is going to be asked today whether they personally fall for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Point back at their own work: the chain from Topic 1 and the ranking number from Topic 3 are the two things today rests on. Read the Reading Target aloud, because it is the whole assessment: check a claim in under two minutes and SAY what you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distinction the rest of the block runs on, so do not rush it. Same words on the screen, different sender. Ask for a case where they could not tell which one they were looking at, and let the answer be "you often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most of the time on the third card. Ask for a headline where every fact underneath was true and the headline still misled. If nobody has one, use one from the week's reading. Name it framing, and say it is far more common than outright invention.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case is trust, not the market. The account was one people had reason to believe, which is why one sentence moved money in seconds. Note the recovery too: corrections do work, they are just slower and quieter than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cards, four minutes. Do not moralize. Bots is the one they usually have backwards, so press it: the network is not there to persuade anyone, it is there to manufacture the look of consensus. End on Emotion and let the last line land: naming the feeling is the counter, and it takes four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intellectual center of the block. Walk the chain left to right and make them supply the third box. Nobody at the company decided to promote a lie; the number did it. If a student says "so it is not their fault", that is the setup for Topic 6, so hold it rather than answering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Give them the design of the study before the finding: 126,000 cascades, eleven years, then the move that makes it matter, which is removing the bots and getting the same answer. Ask what that implies before you say it. The last line is theirs to arrive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cases, and they do different jobs. Veles kills the assumption that this is always ideological: it was advertising money. Pizzagate is the consequence case, and deliver it flatly. The Watch For is the important part for this room: the comfortable explanations are the ones that put the problem outside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practical half of the block, so demonstrate it live rather than describing it. Take one claim, leave the page, open two tabs, and narrate what you are doing. The Stanford contrast is worth naming: the students were studying the things the page itself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skip this slide. It is the failure mode this course could accidentally teach, and the sharpest students are the ones most at risk of it. Doubting everything is not sophistication and it helps a campaign. Land on calibration, then on the one rule with the best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 pass, thirty seconds a card, because the Brief carries the detail. The two worth pausing on are procedure, because it changes turnout rather than opinion, and the regulation gap, because it is the handoff to Topic 6: nobody voted on those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intellectual honesty here. The echo chamber is the explanation they have heard most and it is the shakiest thing in the block. Point at the Facebook affiliation and ask what to do about it: read it carefully, not throw it out. Then flag that somebody will propose exactly this fix in Topic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takeaway, then set the three questions. Both cards under each question in the Brief are real answers, so say that out loud, and say the confidence rating is not graded. Last thing on the way out: tomorrow you get asked who should be allowed to do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B1F"/>
        </a:solidFill>
      </p:bgPr>
    </p:bg>
    <p:spTree>
      <p:nvGrpSpPr>
        <p:cNvPr id="1" name=""/>
        <p:cNvGrpSpPr/>
        <p:nvPr/>
      </p:nvGrpSpPr>
      <p:grpSpPr>
        <a:xfrm>
          <a:off x="0" y="0"/>
          <a:ext cx="0" cy="0"/>
          <a:chOff x="0" y="0"/>
          <a:chExt cx="0" cy="0"/>
        </a:xfrm>
      </p:grpSpPr>
      <p:sp>
        <p:nvSpPr>
          <p:cNvPr id="2" name="Shape 0"/>
          <p:cNvSpPr/>
          <p:nvPr/>
        </p:nvSpPr>
        <p:spPr>
          <a:xfrm>
            <a:off x="548640" y="548640"/>
            <a:ext cx="512064" cy="512064"/>
          </a:xfrm>
          <a:prstGeom prst="ellipse">
            <a:avLst/>
          </a:prstGeom>
          <a:solidFill>
            <a:srgbClr val="B22222"/>
          </a:solidFill>
          <a:ln w="12700">
            <a:solidFill>
              <a:srgbClr val="B22222"/>
            </a:solidFill>
            <a:prstDash val="solid"/>
          </a:ln>
        </p:spPr>
      </p:sp>
      <p:sp>
        <p:nvSpPr>
          <p:cNvPr id="3" name="Text 1"/>
          <p:cNvSpPr/>
          <p:nvPr/>
        </p:nvSpPr>
        <p:spPr>
          <a:xfrm>
            <a:off x="548640" y="548640"/>
            <a:ext cx="512064" cy="512064"/>
          </a:xfrm>
          <a:prstGeom prst="rect">
            <a:avLst/>
          </a:prstGeom>
          <a:noFill/>
          <a:ln/>
        </p:spPr>
        <p:txBody>
          <a:bodyPr wrap="square" lIns="0" tIns="0" rIns="0" bIns="0" rtlCol="0" anchor="ctr"/>
          <a:lstStyle/>
          <a:p>
            <a:pPr algn="ctr" indent="0" marL="0">
              <a:buNone/>
            </a:pPr>
            <a:r>
              <a:rPr lang="en-US" sz="1400" b="1" dirty="0">
                <a:solidFill>
                  <a:srgbClr val="FFFEFB"/>
                </a:solidFill>
                <a:latin typeface="Courier New" pitchFamily="34" charset="0"/>
                <a:ea typeface="Courier New" pitchFamily="34" charset="-122"/>
                <a:cs typeface="Courier New" pitchFamily="34" charset="-120"/>
              </a:rPr>
              <a:t>05</a:t>
            </a:r>
            <a:endParaRPr lang="en-US" sz="1400" dirty="0"/>
          </a:p>
        </p:txBody>
      </p:sp>
      <p:sp>
        <p:nvSpPr>
          <p:cNvPr id="4" name="Text 2"/>
          <p:cNvSpPr/>
          <p:nvPr/>
        </p:nvSpPr>
        <p:spPr>
          <a:xfrm>
            <a:off x="1207008" y="685800"/>
            <a:ext cx="8046720" cy="237744"/>
          </a:xfrm>
          <a:prstGeom prst="rect">
            <a:avLst/>
          </a:prstGeom>
          <a:noFill/>
          <a:ln/>
        </p:spPr>
        <p:txBody>
          <a:bodyPr wrap="square" lIns="0" tIns="0" rIns="0" bIns="0" rtlCol="0" anchor="ctr"/>
          <a:lstStyle/>
          <a:p>
            <a:pPr indent="0" marL="0">
              <a:buNone/>
            </a:pPr>
            <a:r>
              <a:rPr lang="en-US" sz="1000" b="1" spc="140" kern="0" dirty="0">
                <a:solidFill>
                  <a:srgbClr val="E8A0A0"/>
                </a:solidFill>
                <a:latin typeface="Courier New" pitchFamily="34" charset="0"/>
                <a:ea typeface="Courier New" pitchFamily="34" charset="-122"/>
                <a:cs typeface="Courier New" pitchFamily="34" charset="-120"/>
              </a:rPr>
              <a:t>SOCIAL MEDIA · TOPIC 5</a:t>
            </a:r>
            <a:endParaRPr lang="en-US" sz="1000" dirty="0"/>
          </a:p>
        </p:txBody>
      </p:sp>
      <p:sp>
        <p:nvSpPr>
          <p:cNvPr id="5" name="Text 3"/>
          <p:cNvSpPr/>
          <p:nvPr/>
        </p:nvSpPr>
        <p:spPr>
          <a:xfrm>
            <a:off x="548640" y="1298448"/>
            <a:ext cx="8046720" cy="868680"/>
          </a:xfrm>
          <a:prstGeom prst="rect">
            <a:avLst/>
          </a:prstGeom>
          <a:noFill/>
          <a:ln/>
        </p:spPr>
        <p:txBody>
          <a:bodyPr wrap="square" lIns="0" tIns="0" rIns="0" bIns="0" rtlCol="0" anchor="t"/>
          <a:lstStyle/>
          <a:p>
            <a:pPr indent="0" marL="0">
              <a:lnSpc>
                <a:spcPct val="92000"/>
              </a:lnSpc>
              <a:buNone/>
            </a:pPr>
            <a:r>
              <a:rPr lang="en-US" sz="4200" b="1" dirty="0">
                <a:solidFill>
                  <a:srgbClr val="FFFEFB"/>
                </a:solidFill>
                <a:latin typeface="Cambria" pitchFamily="34" charset="0"/>
                <a:ea typeface="Cambria" pitchFamily="34" charset="-122"/>
                <a:cs typeface="Cambria" pitchFamily="34" charset="-120"/>
              </a:rPr>
              <a:t>How a Lie Travels</a:t>
            </a:r>
            <a:endParaRPr lang="en-US" sz="4200" dirty="0"/>
          </a:p>
        </p:txBody>
      </p:sp>
      <p:sp>
        <p:nvSpPr>
          <p:cNvPr id="6" name="Text 4"/>
          <p:cNvSpPr/>
          <p:nvPr/>
        </p:nvSpPr>
        <p:spPr>
          <a:xfrm>
            <a:off x="548640" y="2286000"/>
            <a:ext cx="6858000" cy="822960"/>
          </a:xfrm>
          <a:prstGeom prst="rect">
            <a:avLst/>
          </a:prstGeom>
          <a:noFill/>
          <a:ln/>
        </p:spPr>
        <p:txBody>
          <a:bodyPr wrap="square" lIns="0" tIns="0" rIns="0" bIns="0" rtlCol="0" anchor="t"/>
          <a:lstStyle/>
          <a:p>
            <a:pPr algn="l" indent="0" marL="0">
              <a:lnSpc>
                <a:spcPct val="115000"/>
              </a:lnSpc>
              <a:buNone/>
            </a:pPr>
            <a:r>
              <a:rPr lang="en-US" sz="1700" i="1" dirty="0">
                <a:solidFill>
                  <a:srgbClr val="A8B2BA"/>
                </a:solidFill>
                <a:latin typeface="Cambria" pitchFamily="34" charset="0"/>
                <a:ea typeface="Cambria" pitchFamily="34" charset="-122"/>
                <a:cs typeface="Cambria" pitchFamily="34" charset="-120"/>
              </a:rPr>
              <a:t>The interesting question is not whether people lie online. It is why the lie moves faster than the correction.</a:t>
            </a:r>
            <a:endParaRPr lang="en-US" sz="1700" dirty="0"/>
          </a:p>
        </p:txBody>
      </p:sp>
      <p:sp>
        <p:nvSpPr>
          <p:cNvPr id="7" name="Shape 5"/>
          <p:cNvSpPr/>
          <p:nvPr/>
        </p:nvSpPr>
        <p:spPr>
          <a:xfrm>
            <a:off x="548640" y="3401568"/>
            <a:ext cx="1371600" cy="329184"/>
          </a:xfrm>
          <a:prstGeom prst="roundRect">
            <a:avLst>
              <a:gd name="adj" fmla="val 16667"/>
            </a:avLst>
          </a:prstGeom>
          <a:solidFill>
            <a:srgbClr val="2B3238"/>
          </a:solidFill>
          <a:ln w="9525">
            <a:solidFill>
              <a:srgbClr val="2B3238"/>
            </a:solidFill>
            <a:prstDash val="solid"/>
          </a:ln>
        </p:spPr>
      </p:sp>
      <p:sp>
        <p:nvSpPr>
          <p:cNvPr id="8" name="Text 6"/>
          <p:cNvSpPr/>
          <p:nvPr/>
        </p:nvSpPr>
        <p:spPr>
          <a:xfrm>
            <a:off x="548640" y="3401568"/>
            <a:ext cx="1371600" cy="329184"/>
          </a:xfrm>
          <a:prstGeom prst="rect">
            <a:avLst/>
          </a:prstGeom>
          <a:noFill/>
          <a:ln/>
        </p:spPr>
        <p:txBody>
          <a:bodyPr wrap="square" lIns="0" tIns="0" rIns="0" bIns="0" rtlCol="0" anchor="ctr"/>
          <a:lstStyle/>
          <a:p>
            <a:pPr algn="ctr" indent="0" marL="0">
              <a:lnSpc>
                <a:spcPct val="106000"/>
              </a:lnSpc>
              <a:buNone/>
            </a:pPr>
            <a:r>
              <a:rPr lang="en-US" sz="900" b="1" dirty="0">
                <a:solidFill>
                  <a:srgbClr val="E8A0A0"/>
                </a:solidFill>
                <a:latin typeface="Courier New" pitchFamily="34" charset="0"/>
                <a:ea typeface="Courier New" pitchFamily="34" charset="-122"/>
                <a:cs typeface="Courier New" pitchFamily="34" charset="-120"/>
              </a:rPr>
              <a:t>SOURCING</a:t>
            </a:r>
            <a:endParaRPr lang="en-US" sz="900" dirty="0"/>
          </a:p>
        </p:txBody>
      </p:sp>
      <p:sp>
        <p:nvSpPr>
          <p:cNvPr id="9" name="Shape 7"/>
          <p:cNvSpPr/>
          <p:nvPr/>
        </p:nvSpPr>
        <p:spPr>
          <a:xfrm>
            <a:off x="2121408" y="3401568"/>
            <a:ext cx="1920240" cy="329184"/>
          </a:xfrm>
          <a:prstGeom prst="roundRect">
            <a:avLst>
              <a:gd name="adj" fmla="val 16667"/>
            </a:avLst>
          </a:prstGeom>
          <a:solidFill>
            <a:srgbClr val="2B3238"/>
          </a:solidFill>
          <a:ln w="9525">
            <a:solidFill>
              <a:srgbClr val="2B3238"/>
            </a:solidFill>
            <a:prstDash val="solid"/>
          </a:ln>
        </p:spPr>
      </p:sp>
      <p:sp>
        <p:nvSpPr>
          <p:cNvPr id="10" name="Text 8"/>
          <p:cNvSpPr/>
          <p:nvPr/>
        </p:nvSpPr>
        <p:spPr>
          <a:xfrm>
            <a:off x="2121408" y="3401568"/>
            <a:ext cx="1920240" cy="329184"/>
          </a:xfrm>
          <a:prstGeom prst="rect">
            <a:avLst/>
          </a:prstGeom>
          <a:noFill/>
          <a:ln/>
        </p:spPr>
        <p:txBody>
          <a:bodyPr wrap="square" lIns="0" tIns="0" rIns="0" bIns="0" rtlCol="0" anchor="ctr"/>
          <a:lstStyle/>
          <a:p>
            <a:pPr algn="ctr" indent="0" marL="0">
              <a:lnSpc>
                <a:spcPct val="106000"/>
              </a:lnSpc>
              <a:buNone/>
            </a:pPr>
            <a:r>
              <a:rPr lang="en-US" sz="900" b="1" dirty="0">
                <a:solidFill>
                  <a:srgbClr val="E8A0A0"/>
                </a:solidFill>
                <a:latin typeface="Courier New" pitchFamily="34" charset="0"/>
                <a:ea typeface="Courier New" pitchFamily="34" charset="-122"/>
                <a:cs typeface="Courier New" pitchFamily="34" charset="-120"/>
              </a:rPr>
              <a:t>CORROBORATION</a:t>
            </a:r>
            <a:endParaRPr lang="en-US" sz="900" dirty="0"/>
          </a:p>
        </p:txBody>
      </p:sp>
      <p:sp>
        <p:nvSpPr>
          <p:cNvPr id="12" name="Text 9"/>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A8B2BA"/>
                </a:solidFill>
                <a:latin typeface="Courier New" pitchFamily="34" charset="0"/>
                <a:ea typeface="Courier New" pitchFamily="34" charset="-122"/>
                <a:cs typeface="Courier New" pitchFamily="34" charset="-120"/>
              </a:rPr>
              <a:t>BECURRENT  ·  SOCIAL MEDIA  ·  TOPIC 5</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BEFORE YOU READ</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2700" b="1" dirty="0">
                <a:solidFill>
                  <a:srgbClr val="14171A"/>
                </a:solidFill>
                <a:latin typeface="Cambria" pitchFamily="34" charset="0"/>
                <a:ea typeface="Cambria" pitchFamily="34" charset="-122"/>
                <a:cs typeface="Cambria" pitchFamily="34" charset="-120"/>
              </a:rPr>
              <a:t>You know the machine. Now what it rewards.</a:t>
            </a:r>
            <a:endParaRPr lang="en-US" sz="2700" dirty="0"/>
          </a:p>
        </p:txBody>
      </p:sp>
      <p:sp>
        <p:nvSpPr>
          <p:cNvPr id="4" name="Shape 2"/>
          <p:cNvSpPr/>
          <p:nvPr/>
        </p:nvSpPr>
        <p:spPr>
          <a:xfrm>
            <a:off x="548640" y="1737360"/>
            <a:ext cx="402336" cy="402336"/>
          </a:xfrm>
          <a:prstGeom prst="ellipse">
            <a:avLst/>
          </a:prstGeom>
          <a:solidFill>
            <a:srgbClr val="2B3238"/>
          </a:solidFill>
          <a:ln w="12700">
            <a:solidFill>
              <a:srgbClr val="2B3238"/>
            </a:solidFill>
            <a:prstDash val="solid"/>
          </a:ln>
        </p:spPr>
      </p:sp>
      <p:sp>
        <p:nvSpPr>
          <p:cNvPr id="5" name="Text 3"/>
          <p:cNvSpPr/>
          <p:nvPr/>
        </p:nvSpPr>
        <p:spPr>
          <a:xfrm>
            <a:off x="548640" y="1737360"/>
            <a:ext cx="402336" cy="402336"/>
          </a:xfrm>
          <a:prstGeom prst="rect">
            <a:avLst/>
          </a:prstGeom>
          <a:noFill/>
          <a:ln/>
        </p:spPr>
        <p:txBody>
          <a:bodyPr wrap="square" lIns="0" tIns="0" rIns="0" bIns="0" rtlCol="0" anchor="ctr"/>
          <a:lstStyle/>
          <a:p>
            <a:pPr algn="ctr" indent="0" marL="0">
              <a:buNone/>
            </a:pPr>
            <a:r>
              <a:rPr lang="en-US" sz="1100" b="1" dirty="0">
                <a:solidFill>
                  <a:srgbClr val="FFFEFB"/>
                </a:solidFill>
                <a:latin typeface="Courier New" pitchFamily="34" charset="0"/>
                <a:ea typeface="Courier New" pitchFamily="34" charset="-122"/>
                <a:cs typeface="Courier New" pitchFamily="34" charset="-120"/>
              </a:rPr>
              <a:t>1</a:t>
            </a:r>
            <a:endParaRPr lang="en-US" sz="1100" dirty="0"/>
          </a:p>
        </p:txBody>
      </p:sp>
      <p:sp>
        <p:nvSpPr>
          <p:cNvPr id="6" name="Text 4"/>
          <p:cNvSpPr/>
          <p:nvPr/>
        </p:nvSpPr>
        <p:spPr>
          <a:xfrm>
            <a:off x="1097280" y="1719072"/>
            <a:ext cx="3566160" cy="237744"/>
          </a:xfrm>
          <a:prstGeom prst="rect">
            <a:avLst/>
          </a:prstGeom>
          <a:noFill/>
          <a:ln/>
        </p:spPr>
        <p:txBody>
          <a:bodyPr wrap="square" lIns="0" tIns="0" rIns="0" bIns="0" rtlCol="0" anchor="t"/>
          <a:lstStyle/>
          <a:p>
            <a:pPr algn="l" indent="0" marL="0">
              <a:lnSpc>
                <a:spcPct val="106000"/>
              </a:lnSpc>
              <a:buNone/>
            </a:pPr>
            <a:r>
              <a:rPr lang="en-US" sz="1200" b="1" dirty="0">
                <a:solidFill>
                  <a:srgbClr val="14171A"/>
                </a:solidFill>
                <a:latin typeface="Courier New" pitchFamily="34" charset="0"/>
                <a:ea typeface="Courier New" pitchFamily="34" charset="-122"/>
                <a:cs typeface="Courier New" pitchFamily="34" charset="-120"/>
              </a:rPr>
              <a:t>Topic 1</a:t>
            </a:r>
            <a:endParaRPr lang="en-US" sz="1200" dirty="0"/>
          </a:p>
        </p:txBody>
      </p:sp>
      <p:sp>
        <p:nvSpPr>
          <p:cNvPr id="7" name="Text 5"/>
          <p:cNvSpPr/>
          <p:nvPr/>
        </p:nvSpPr>
        <p:spPr>
          <a:xfrm>
            <a:off x="1097280" y="1956816"/>
            <a:ext cx="3566160" cy="475488"/>
          </a:xfrm>
          <a:prstGeom prst="rect">
            <a:avLst/>
          </a:prstGeom>
          <a:noFill/>
          <a:ln/>
        </p:spPr>
        <p:txBody>
          <a:bodyPr wrap="square" lIns="0" tIns="0" rIns="0" bIns="0" rtlCol="0" anchor="t"/>
          <a:lstStyle/>
          <a:p>
            <a:pPr algn="l" indent="0" marL="0">
              <a:lnSpc>
                <a:spcPct val="106000"/>
              </a:lnSpc>
              <a:buNone/>
            </a:pPr>
            <a:r>
              <a:rPr lang="en-US" sz="1300" dirty="0">
                <a:solidFill>
                  <a:srgbClr val="3C444C"/>
                </a:solidFill>
                <a:latin typeface="Calibri" pitchFamily="34" charset="0"/>
                <a:ea typeface="Calibri" pitchFamily="34" charset="-122"/>
                <a:cs typeface="Calibri" pitchFamily="34" charset="-120"/>
              </a:rPr>
              <a:t>The click is what pays. You drew that chain yourself.</a:t>
            </a:r>
            <a:endParaRPr lang="en-US" sz="1300" dirty="0"/>
          </a:p>
        </p:txBody>
      </p:sp>
      <p:sp>
        <p:nvSpPr>
          <p:cNvPr id="8" name="Shape 6"/>
          <p:cNvSpPr/>
          <p:nvPr/>
        </p:nvSpPr>
        <p:spPr>
          <a:xfrm>
            <a:off x="548640" y="2578608"/>
            <a:ext cx="402336" cy="402336"/>
          </a:xfrm>
          <a:prstGeom prst="ellipse">
            <a:avLst/>
          </a:prstGeom>
          <a:solidFill>
            <a:srgbClr val="2B3238"/>
          </a:solidFill>
          <a:ln w="12700">
            <a:solidFill>
              <a:srgbClr val="2B3238"/>
            </a:solidFill>
            <a:prstDash val="solid"/>
          </a:ln>
        </p:spPr>
      </p:sp>
      <p:sp>
        <p:nvSpPr>
          <p:cNvPr id="9" name="Text 7"/>
          <p:cNvSpPr/>
          <p:nvPr/>
        </p:nvSpPr>
        <p:spPr>
          <a:xfrm>
            <a:off x="548640" y="2578608"/>
            <a:ext cx="402336" cy="402336"/>
          </a:xfrm>
          <a:prstGeom prst="rect">
            <a:avLst/>
          </a:prstGeom>
          <a:noFill/>
          <a:ln/>
        </p:spPr>
        <p:txBody>
          <a:bodyPr wrap="square" lIns="0" tIns="0" rIns="0" bIns="0" rtlCol="0" anchor="ctr"/>
          <a:lstStyle/>
          <a:p>
            <a:pPr algn="ctr" indent="0" marL="0">
              <a:buNone/>
            </a:pPr>
            <a:r>
              <a:rPr lang="en-US" sz="1100" b="1" dirty="0">
                <a:solidFill>
                  <a:srgbClr val="FFFEFB"/>
                </a:solidFill>
                <a:latin typeface="Courier New" pitchFamily="34" charset="0"/>
                <a:ea typeface="Courier New" pitchFamily="34" charset="-122"/>
                <a:cs typeface="Courier New" pitchFamily="34" charset="-120"/>
              </a:rPr>
              <a:t>3</a:t>
            </a:r>
            <a:endParaRPr lang="en-US" sz="1100" dirty="0"/>
          </a:p>
        </p:txBody>
      </p:sp>
      <p:sp>
        <p:nvSpPr>
          <p:cNvPr id="10" name="Text 8"/>
          <p:cNvSpPr/>
          <p:nvPr/>
        </p:nvSpPr>
        <p:spPr>
          <a:xfrm>
            <a:off x="1097280" y="2560320"/>
            <a:ext cx="3566160" cy="237744"/>
          </a:xfrm>
          <a:prstGeom prst="rect">
            <a:avLst/>
          </a:prstGeom>
          <a:noFill/>
          <a:ln/>
        </p:spPr>
        <p:txBody>
          <a:bodyPr wrap="square" lIns="0" tIns="0" rIns="0" bIns="0" rtlCol="0" anchor="t"/>
          <a:lstStyle/>
          <a:p>
            <a:pPr algn="l" indent="0" marL="0">
              <a:lnSpc>
                <a:spcPct val="106000"/>
              </a:lnSpc>
              <a:buNone/>
            </a:pPr>
            <a:r>
              <a:rPr lang="en-US" sz="1200" b="1" dirty="0">
                <a:solidFill>
                  <a:srgbClr val="14171A"/>
                </a:solidFill>
                <a:latin typeface="Courier New" pitchFamily="34" charset="0"/>
                <a:ea typeface="Courier New" pitchFamily="34" charset="-122"/>
                <a:cs typeface="Courier New" pitchFamily="34" charset="-120"/>
              </a:rPr>
              <a:t>Topic 3</a:t>
            </a:r>
            <a:endParaRPr lang="en-US" sz="1200" dirty="0"/>
          </a:p>
        </p:txBody>
      </p:sp>
      <p:sp>
        <p:nvSpPr>
          <p:cNvPr id="11" name="Text 9"/>
          <p:cNvSpPr/>
          <p:nvPr/>
        </p:nvSpPr>
        <p:spPr>
          <a:xfrm>
            <a:off x="1097280" y="2798064"/>
            <a:ext cx="3566160" cy="475488"/>
          </a:xfrm>
          <a:prstGeom prst="rect">
            <a:avLst/>
          </a:prstGeom>
          <a:noFill/>
          <a:ln/>
        </p:spPr>
        <p:txBody>
          <a:bodyPr wrap="square" lIns="0" tIns="0" rIns="0" bIns="0" rtlCol="0" anchor="t"/>
          <a:lstStyle/>
          <a:p>
            <a:pPr algn="l" indent="0" marL="0">
              <a:lnSpc>
                <a:spcPct val="106000"/>
              </a:lnSpc>
              <a:buNone/>
            </a:pPr>
            <a:r>
              <a:rPr lang="en-US" sz="1300" dirty="0">
                <a:solidFill>
                  <a:srgbClr val="3C444C"/>
                </a:solidFill>
                <a:latin typeface="Calibri" pitchFamily="34" charset="0"/>
                <a:ea typeface="Calibri" pitchFamily="34" charset="-122"/>
                <a:cs typeface="Calibri" pitchFamily="34" charset="-120"/>
              </a:rPr>
              <a:t>The feed is optimized for a number somebody chose.</a:t>
            </a:r>
            <a:endParaRPr lang="en-US" sz="1300" dirty="0"/>
          </a:p>
        </p:txBody>
      </p:sp>
      <p:sp>
        <p:nvSpPr>
          <p:cNvPr id="12" name="Shape 10"/>
          <p:cNvSpPr/>
          <p:nvPr/>
        </p:nvSpPr>
        <p:spPr>
          <a:xfrm>
            <a:off x="548640" y="3419856"/>
            <a:ext cx="402336" cy="402336"/>
          </a:xfrm>
          <a:prstGeom prst="ellipse">
            <a:avLst/>
          </a:prstGeom>
          <a:solidFill>
            <a:srgbClr val="B22222"/>
          </a:solidFill>
          <a:ln w="12700">
            <a:solidFill>
              <a:srgbClr val="B22222"/>
            </a:solidFill>
            <a:prstDash val="solid"/>
          </a:ln>
        </p:spPr>
      </p:sp>
      <p:sp>
        <p:nvSpPr>
          <p:cNvPr id="13" name="Text 11"/>
          <p:cNvSpPr/>
          <p:nvPr/>
        </p:nvSpPr>
        <p:spPr>
          <a:xfrm>
            <a:off x="548640" y="3419856"/>
            <a:ext cx="402336" cy="402336"/>
          </a:xfrm>
          <a:prstGeom prst="rect">
            <a:avLst/>
          </a:prstGeom>
          <a:noFill/>
          <a:ln/>
        </p:spPr>
        <p:txBody>
          <a:bodyPr wrap="square" lIns="0" tIns="0" rIns="0" bIns="0" rtlCol="0" anchor="ctr"/>
          <a:lstStyle/>
          <a:p>
            <a:pPr algn="ctr" indent="0" marL="0">
              <a:buNone/>
            </a:pPr>
            <a:r>
              <a:rPr lang="en-US" sz="1100" b="1" dirty="0">
                <a:solidFill>
                  <a:srgbClr val="FFFEFB"/>
                </a:solidFill>
                <a:latin typeface="Courier New" pitchFamily="34" charset="0"/>
                <a:ea typeface="Courier New" pitchFamily="34" charset="-122"/>
                <a:cs typeface="Courier New" pitchFamily="34" charset="-120"/>
              </a:rPr>
              <a:t>5</a:t>
            </a:r>
            <a:endParaRPr lang="en-US" sz="1100" dirty="0"/>
          </a:p>
        </p:txBody>
      </p:sp>
      <p:sp>
        <p:nvSpPr>
          <p:cNvPr id="14" name="Text 12"/>
          <p:cNvSpPr/>
          <p:nvPr/>
        </p:nvSpPr>
        <p:spPr>
          <a:xfrm>
            <a:off x="1097280" y="3401568"/>
            <a:ext cx="3566160" cy="237744"/>
          </a:xfrm>
          <a:prstGeom prst="rect">
            <a:avLst/>
          </a:prstGeom>
          <a:noFill/>
          <a:ln/>
        </p:spPr>
        <p:txBody>
          <a:bodyPr wrap="square" lIns="0" tIns="0" rIns="0" bIns="0" rtlCol="0" anchor="t"/>
          <a:lstStyle/>
          <a:p>
            <a:pPr algn="l" indent="0" marL="0">
              <a:lnSpc>
                <a:spcPct val="106000"/>
              </a:lnSpc>
              <a:buNone/>
            </a:pPr>
            <a:r>
              <a:rPr lang="en-US" sz="1200" b="1" dirty="0">
                <a:solidFill>
                  <a:srgbClr val="14171A"/>
                </a:solidFill>
                <a:latin typeface="Courier New" pitchFamily="34" charset="0"/>
                <a:ea typeface="Courier New" pitchFamily="34" charset="-122"/>
                <a:cs typeface="Courier New" pitchFamily="34" charset="-120"/>
              </a:rPr>
              <a:t>Topic 5</a:t>
            </a:r>
            <a:endParaRPr lang="en-US" sz="1200" dirty="0"/>
          </a:p>
        </p:txBody>
      </p:sp>
      <p:sp>
        <p:nvSpPr>
          <p:cNvPr id="15" name="Text 13"/>
          <p:cNvSpPr/>
          <p:nvPr/>
        </p:nvSpPr>
        <p:spPr>
          <a:xfrm>
            <a:off x="1097280" y="3639312"/>
            <a:ext cx="3566160" cy="475488"/>
          </a:xfrm>
          <a:prstGeom prst="rect">
            <a:avLst/>
          </a:prstGeom>
          <a:noFill/>
          <a:ln/>
        </p:spPr>
        <p:txBody>
          <a:bodyPr wrap="square" lIns="0" tIns="0" rIns="0" bIns="0" rtlCol="0" anchor="t"/>
          <a:lstStyle/>
          <a:p>
            <a:pPr algn="l" indent="0" marL="0">
              <a:lnSpc>
                <a:spcPct val="106000"/>
              </a:lnSpc>
              <a:buNone/>
            </a:pPr>
            <a:r>
              <a:rPr lang="en-US" sz="1300" dirty="0">
                <a:solidFill>
                  <a:srgbClr val="3C444C"/>
                </a:solidFill>
                <a:latin typeface="Calibri" pitchFamily="34" charset="0"/>
                <a:ea typeface="Calibri" pitchFamily="34" charset="-122"/>
                <a:cs typeface="Calibri" pitchFamily="34" charset="-120"/>
              </a:rPr>
              <a:t>What that number rewards, and who builds for it deliberately.</a:t>
            </a:r>
            <a:endParaRPr lang="en-US" sz="1300" dirty="0"/>
          </a:p>
        </p:txBody>
      </p:sp>
      <p:sp>
        <p:nvSpPr>
          <p:cNvPr id="16" name="Shape 14"/>
          <p:cNvSpPr/>
          <p:nvPr/>
        </p:nvSpPr>
        <p:spPr>
          <a:xfrm>
            <a:off x="4937760" y="1682496"/>
            <a:ext cx="3657600" cy="2432304"/>
          </a:xfrm>
          <a:prstGeom prst="roundRect">
            <a:avLst>
              <a:gd name="adj" fmla="val 2256"/>
            </a:avLst>
          </a:prstGeom>
          <a:solidFill>
            <a:srgbClr val="E3EAEE"/>
          </a:solidFill>
          <a:ln w="9525">
            <a:solidFill>
              <a:srgbClr val="E3EAEE"/>
            </a:solidFill>
            <a:prstDash val="solid"/>
          </a:ln>
          <a:effectLst>
            <a:outerShdw sx="100000" sy="100000" kx="0" ky="0" algn="bl" rotWithShape="0" blurRad="88900" dist="12700" dir="5400000">
              <a:srgbClr val="9A968A">
                <a:alpha val="20000"/>
              </a:srgbClr>
            </a:outerShdw>
          </a:effectLst>
        </p:spPr>
      </p:sp>
      <p:sp>
        <p:nvSpPr>
          <p:cNvPr id="17" name="Text 15"/>
          <p:cNvSpPr/>
          <p:nvPr/>
        </p:nvSpPr>
        <p:spPr>
          <a:xfrm>
            <a:off x="5193792" y="1938528"/>
            <a:ext cx="3145536" cy="237744"/>
          </a:xfrm>
          <a:prstGeom prst="rect">
            <a:avLst/>
          </a:prstGeom>
          <a:noFill/>
          <a:ln/>
        </p:spPr>
        <p:txBody>
          <a:bodyPr wrap="square" lIns="0" tIns="0" rIns="0" bIns="0" rtlCol="0" anchor="t"/>
          <a:lstStyle/>
          <a:p>
            <a:pPr algn="l" indent="0" marL="0">
              <a:lnSpc>
                <a:spcPct val="106000"/>
              </a:lnSpc>
              <a:buNone/>
            </a:pPr>
            <a:r>
              <a:rPr lang="en-US" sz="900" b="1" dirty="0">
                <a:solidFill>
                  <a:srgbClr val="1F5673"/>
                </a:solidFill>
                <a:latin typeface="Courier New" pitchFamily="34" charset="0"/>
                <a:ea typeface="Courier New" pitchFamily="34" charset="-122"/>
                <a:cs typeface="Courier New" pitchFamily="34" charset="-120"/>
              </a:rPr>
              <a:t>READING TARGET</a:t>
            </a:r>
            <a:endParaRPr lang="en-US" sz="900" dirty="0"/>
          </a:p>
        </p:txBody>
      </p:sp>
      <p:sp>
        <p:nvSpPr>
          <p:cNvPr id="18" name="Text 16"/>
          <p:cNvSpPr/>
          <p:nvPr/>
        </p:nvSpPr>
        <p:spPr>
          <a:xfrm>
            <a:off x="5193792" y="2286000"/>
            <a:ext cx="3145536" cy="1554480"/>
          </a:xfrm>
          <a:prstGeom prst="rect">
            <a:avLst/>
          </a:prstGeom>
          <a:noFill/>
          <a:ln/>
        </p:spPr>
        <p:txBody>
          <a:bodyPr wrap="square" lIns="0" tIns="0" rIns="0" bIns="0" rtlCol="0" anchor="t"/>
          <a:lstStyle/>
          <a:p>
            <a:pPr algn="l" indent="0" marL="0">
              <a:lnSpc>
                <a:spcPct val="120000"/>
              </a:lnSpc>
              <a:buNone/>
            </a:pPr>
            <a:r>
              <a:rPr lang="en-US" sz="1450" dirty="0">
                <a:solidFill>
                  <a:srgbClr val="14171A"/>
                </a:solidFill>
                <a:latin typeface="Calibri" pitchFamily="34" charset="0"/>
                <a:ea typeface="Calibri" pitchFamily="34" charset="-122"/>
                <a:cs typeface="Calibri" pitchFamily="34" charset="-120"/>
              </a:rPr>
              <a:t>Check a claim you are unsure about in under two minutes, and say out loud what you checked, rather than that you did not believe it.</a:t>
            </a:r>
            <a:endParaRPr lang="en-US" sz="1450" dirty="0"/>
          </a:p>
        </p:txBody>
      </p:sp>
      <p:sp>
        <p:nvSpPr>
          <p:cNvPr id="20" name="Text 17"/>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5</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PART ONE</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Two words. The difference is the sender.</a:t>
            </a:r>
            <a:endParaRPr lang="en-US" sz="3000" dirty="0"/>
          </a:p>
        </p:txBody>
      </p:sp>
      <p:sp>
        <p:nvSpPr>
          <p:cNvPr id="4" name="Shape 2"/>
          <p:cNvSpPr/>
          <p:nvPr/>
        </p:nvSpPr>
        <p:spPr>
          <a:xfrm>
            <a:off x="548640" y="1536192"/>
            <a:ext cx="3840480" cy="1371600"/>
          </a:xfrm>
          <a:prstGeom prst="roundRect">
            <a:avLst>
              <a:gd name="adj" fmla="val 4000"/>
            </a:avLst>
          </a:prstGeom>
          <a:solidFill>
            <a:srgbClr val="E3EAEE"/>
          </a:solidFill>
          <a:ln w="9525">
            <a:solidFill>
              <a:srgbClr val="E3EAEE"/>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804672" y="1755648"/>
            <a:ext cx="3328416" cy="256032"/>
          </a:xfrm>
          <a:prstGeom prst="rect">
            <a:avLst/>
          </a:prstGeom>
          <a:noFill/>
          <a:ln/>
        </p:spPr>
        <p:txBody>
          <a:bodyPr wrap="square" lIns="0" tIns="0" rIns="0" bIns="0" rtlCol="0" anchor="t"/>
          <a:lstStyle/>
          <a:p>
            <a:pPr algn="l" indent="0" marL="0">
              <a:lnSpc>
                <a:spcPct val="106000"/>
              </a:lnSpc>
              <a:buNone/>
            </a:pPr>
            <a:r>
              <a:rPr lang="en-US" sz="1000" b="1" dirty="0">
                <a:solidFill>
                  <a:srgbClr val="1F5673"/>
                </a:solidFill>
                <a:latin typeface="Courier New" pitchFamily="34" charset="0"/>
                <a:ea typeface="Courier New" pitchFamily="34" charset="-122"/>
                <a:cs typeface="Courier New" pitchFamily="34" charset="-120"/>
              </a:rPr>
              <a:t>MISINFORMATION</a:t>
            </a:r>
            <a:endParaRPr lang="en-US" sz="1000" dirty="0"/>
          </a:p>
        </p:txBody>
      </p:sp>
      <p:sp>
        <p:nvSpPr>
          <p:cNvPr id="6" name="Text 4"/>
          <p:cNvSpPr/>
          <p:nvPr/>
        </p:nvSpPr>
        <p:spPr>
          <a:xfrm>
            <a:off x="804672" y="2084832"/>
            <a:ext cx="3328416" cy="658368"/>
          </a:xfrm>
          <a:prstGeom prst="rect">
            <a:avLst/>
          </a:prstGeom>
          <a:noFill/>
          <a:ln/>
        </p:spPr>
        <p:txBody>
          <a:bodyPr wrap="square" lIns="0" tIns="0" rIns="0" bIns="0" rtlCol="0" anchor="t"/>
          <a:lstStyle/>
          <a:p>
            <a:pPr algn="l" indent="0" marL="0">
              <a:lnSpc>
                <a:spcPct val="116000"/>
              </a:lnSpc>
              <a:buNone/>
            </a:pPr>
            <a:r>
              <a:rPr lang="en-US" sz="1400" dirty="0">
                <a:solidFill>
                  <a:srgbClr val="14171A"/>
                </a:solidFill>
                <a:latin typeface="Calibri" pitchFamily="34" charset="0"/>
                <a:ea typeface="Calibri" pitchFamily="34" charset="-122"/>
                <a:cs typeface="Calibri" pitchFamily="34" charset="-120"/>
              </a:rPr>
              <a:t>False information spread by somebody who thinks it is true.</a:t>
            </a:r>
            <a:endParaRPr lang="en-US" sz="1400" dirty="0"/>
          </a:p>
        </p:txBody>
      </p:sp>
      <p:sp>
        <p:nvSpPr>
          <p:cNvPr id="7" name="Shape 5"/>
          <p:cNvSpPr/>
          <p:nvPr/>
        </p:nvSpPr>
        <p:spPr>
          <a:xfrm>
            <a:off x="4754880" y="1536192"/>
            <a:ext cx="3840480" cy="1371600"/>
          </a:xfrm>
          <a:prstGeom prst="roundRect">
            <a:avLst>
              <a:gd name="adj" fmla="val 4000"/>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8" name="Text 6"/>
          <p:cNvSpPr/>
          <p:nvPr/>
        </p:nvSpPr>
        <p:spPr>
          <a:xfrm>
            <a:off x="5010912" y="1755648"/>
            <a:ext cx="3328416" cy="256032"/>
          </a:xfrm>
          <a:prstGeom prst="rect">
            <a:avLst/>
          </a:prstGeom>
          <a:noFill/>
          <a:ln/>
        </p:spPr>
        <p:txBody>
          <a:bodyPr wrap="square" lIns="0" tIns="0" rIns="0" bIns="0" rtlCol="0" anchor="t"/>
          <a:lstStyle/>
          <a:p>
            <a:pPr algn="l" indent="0" marL="0">
              <a:lnSpc>
                <a:spcPct val="106000"/>
              </a:lnSpc>
              <a:buNone/>
            </a:pPr>
            <a:r>
              <a:rPr lang="en-US" sz="1000" b="1" dirty="0">
                <a:solidFill>
                  <a:srgbClr val="8A1A1A"/>
                </a:solidFill>
                <a:latin typeface="Courier New" pitchFamily="34" charset="0"/>
                <a:ea typeface="Courier New" pitchFamily="34" charset="-122"/>
                <a:cs typeface="Courier New" pitchFamily="34" charset="-120"/>
              </a:rPr>
              <a:t>DISINFORMATION</a:t>
            </a:r>
            <a:endParaRPr lang="en-US" sz="1000" dirty="0"/>
          </a:p>
        </p:txBody>
      </p:sp>
      <p:sp>
        <p:nvSpPr>
          <p:cNvPr id="9" name="Text 7"/>
          <p:cNvSpPr/>
          <p:nvPr/>
        </p:nvSpPr>
        <p:spPr>
          <a:xfrm>
            <a:off x="5010912" y="2084832"/>
            <a:ext cx="3328416" cy="658368"/>
          </a:xfrm>
          <a:prstGeom prst="rect">
            <a:avLst/>
          </a:prstGeom>
          <a:noFill/>
          <a:ln/>
        </p:spPr>
        <p:txBody>
          <a:bodyPr wrap="square" lIns="0" tIns="0" rIns="0" bIns="0" rtlCol="0" anchor="t"/>
          <a:lstStyle/>
          <a:p>
            <a:pPr algn="l" indent="0" marL="0">
              <a:lnSpc>
                <a:spcPct val="116000"/>
              </a:lnSpc>
              <a:buNone/>
            </a:pPr>
            <a:r>
              <a:rPr lang="en-US" sz="1400" dirty="0">
                <a:solidFill>
                  <a:srgbClr val="14171A"/>
                </a:solidFill>
                <a:latin typeface="Calibri" pitchFamily="34" charset="0"/>
                <a:ea typeface="Calibri" pitchFamily="34" charset="-122"/>
                <a:cs typeface="Calibri" pitchFamily="34" charset="-120"/>
              </a:rPr>
              <a:t>False information spread by somebody who knows it is false.</a:t>
            </a:r>
            <a:endParaRPr lang="en-US" sz="1400" dirty="0"/>
          </a:p>
        </p:txBody>
      </p:sp>
      <p:sp>
        <p:nvSpPr>
          <p:cNvPr id="10" name="Text 8"/>
          <p:cNvSpPr/>
          <p:nvPr/>
        </p:nvSpPr>
        <p:spPr>
          <a:xfrm>
            <a:off x="548640" y="3127248"/>
            <a:ext cx="8046720" cy="329184"/>
          </a:xfrm>
          <a:prstGeom prst="rect">
            <a:avLst/>
          </a:prstGeom>
          <a:noFill/>
          <a:ln/>
        </p:spPr>
        <p:txBody>
          <a:bodyPr wrap="square" lIns="0" tIns="0" rIns="0" bIns="0" rtlCol="0" anchor="t"/>
          <a:lstStyle/>
          <a:p>
            <a:pPr algn="l" indent="0" marL="0">
              <a:lnSpc>
                <a:spcPct val="106000"/>
              </a:lnSpc>
              <a:buNone/>
            </a:pPr>
            <a:r>
              <a:rPr lang="en-US" sz="1900" b="1" dirty="0">
                <a:solidFill>
                  <a:srgbClr val="14171A"/>
                </a:solidFill>
                <a:latin typeface="Cambria" pitchFamily="34" charset="0"/>
                <a:ea typeface="Cambria" pitchFamily="34" charset="-122"/>
                <a:cs typeface="Cambria" pitchFamily="34" charset="-120"/>
              </a:rPr>
              <a:t>Identical content. Different sender. Your response should be different.</a:t>
            </a:r>
            <a:endParaRPr lang="en-US" sz="1900" dirty="0"/>
          </a:p>
        </p:txBody>
      </p:sp>
      <p:sp>
        <p:nvSpPr>
          <p:cNvPr id="11" name="Text 9"/>
          <p:cNvSpPr/>
          <p:nvPr/>
        </p:nvSpPr>
        <p:spPr>
          <a:xfrm>
            <a:off x="548640" y="3566160"/>
            <a:ext cx="7315200" cy="548640"/>
          </a:xfrm>
          <a:prstGeom prst="rect">
            <a:avLst/>
          </a:prstGeom>
          <a:noFill/>
          <a:ln/>
        </p:spPr>
        <p:txBody>
          <a:bodyPr wrap="square" lIns="0" tIns="0" rIns="0" bIns="0" rtlCol="0" anchor="t"/>
          <a:lstStyle/>
          <a:p>
            <a:pPr algn="l" indent="0" marL="0">
              <a:lnSpc>
                <a:spcPct val="116000"/>
              </a:lnSpc>
              <a:buNone/>
            </a:pPr>
            <a:r>
              <a:rPr lang="en-US" sz="1400" dirty="0">
                <a:solidFill>
                  <a:srgbClr val="3C444C"/>
                </a:solidFill>
                <a:latin typeface="Calibri" pitchFamily="34" charset="0"/>
                <a:ea typeface="Calibri" pitchFamily="34" charset="-122"/>
                <a:cs typeface="Calibri" pitchFamily="34" charset="-120"/>
              </a:rPr>
              <a:t>You can correct a person who is mistaken. You cannot correct a campaign, because being wrong was the plan.</a:t>
            </a:r>
            <a:endParaRPr lang="en-US" sz="1400" dirty="0"/>
          </a:p>
        </p:txBody>
      </p:sp>
      <p:sp>
        <p:nvSpPr>
          <p:cNvPr id="13" name="Text 10"/>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PART ONE · THE SHAPES</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Three shapes it arrives in</a:t>
            </a:r>
            <a:endParaRPr lang="en-US" sz="3000" dirty="0"/>
          </a:p>
        </p:txBody>
      </p:sp>
      <p:sp>
        <p:nvSpPr>
          <p:cNvPr id="4" name="Shape 2"/>
          <p:cNvSpPr/>
          <p:nvPr/>
        </p:nvSpPr>
        <p:spPr>
          <a:xfrm>
            <a:off x="548640" y="1536192"/>
            <a:ext cx="2560320" cy="1920240"/>
          </a:xfrm>
          <a:prstGeom prst="roundRect">
            <a:avLst>
              <a:gd name="adj" fmla="val 2857"/>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5" name="Shape 3"/>
          <p:cNvSpPr/>
          <p:nvPr/>
        </p:nvSpPr>
        <p:spPr>
          <a:xfrm>
            <a:off x="786384" y="1737360"/>
            <a:ext cx="365760" cy="365760"/>
          </a:xfrm>
          <a:prstGeom prst="ellipse">
            <a:avLst/>
          </a:prstGeom>
          <a:solidFill>
            <a:srgbClr val="B22222"/>
          </a:solidFill>
          <a:ln w="12700">
            <a:solidFill>
              <a:srgbClr val="B22222"/>
            </a:solidFill>
            <a:prstDash val="solid"/>
          </a:ln>
        </p:spPr>
      </p:sp>
      <p:sp>
        <p:nvSpPr>
          <p:cNvPr id="6" name="Text 4"/>
          <p:cNvSpPr/>
          <p:nvPr/>
        </p:nvSpPr>
        <p:spPr>
          <a:xfrm>
            <a:off x="786384" y="1737360"/>
            <a:ext cx="365760" cy="365760"/>
          </a:xfrm>
          <a:prstGeom prst="rect">
            <a:avLst/>
          </a:prstGeom>
          <a:noFill/>
          <a:ln/>
        </p:spPr>
        <p:txBody>
          <a:bodyPr wrap="square" lIns="0" tIns="0" rIns="0" bIns="0" rtlCol="0" anchor="ctr"/>
          <a:lstStyle/>
          <a:p>
            <a:pPr algn="ctr" indent="0" marL="0">
              <a:buNone/>
            </a:pPr>
            <a:r>
              <a:rPr lang="en-US" sz="1100" b="1" dirty="0">
                <a:solidFill>
                  <a:srgbClr val="FFFEFB"/>
                </a:solidFill>
                <a:latin typeface="Courier New" pitchFamily="34" charset="0"/>
                <a:ea typeface="Courier New" pitchFamily="34" charset="-122"/>
                <a:cs typeface="Courier New" pitchFamily="34" charset="-120"/>
              </a:rPr>
              <a:t>1</a:t>
            </a:r>
            <a:endParaRPr lang="en-US" sz="1100" dirty="0"/>
          </a:p>
        </p:txBody>
      </p:sp>
      <p:sp>
        <p:nvSpPr>
          <p:cNvPr id="7" name="Text 5"/>
          <p:cNvSpPr/>
          <p:nvPr/>
        </p:nvSpPr>
        <p:spPr>
          <a:xfrm>
            <a:off x="786384" y="2212848"/>
            <a:ext cx="2084832" cy="256032"/>
          </a:xfrm>
          <a:prstGeom prst="rect">
            <a:avLst/>
          </a:prstGeom>
          <a:noFill/>
          <a:ln/>
        </p:spPr>
        <p:txBody>
          <a:bodyPr wrap="square" lIns="0" tIns="0" rIns="0" bIns="0" rtlCol="0" anchor="t"/>
          <a:lstStyle/>
          <a:p>
            <a:pPr algn="l" indent="0" marL="0">
              <a:lnSpc>
                <a:spcPct val="106000"/>
              </a:lnSpc>
              <a:buNone/>
            </a:pPr>
            <a:r>
              <a:rPr lang="en-US" sz="1500" b="1" dirty="0">
                <a:solidFill>
                  <a:srgbClr val="14171A"/>
                </a:solidFill>
                <a:latin typeface="Cambria" pitchFamily="34" charset="0"/>
                <a:ea typeface="Cambria" pitchFamily="34" charset="-122"/>
                <a:cs typeface="Cambria" pitchFamily="34" charset="-120"/>
              </a:rPr>
              <a:t>Viral hoax</a:t>
            </a:r>
            <a:endParaRPr lang="en-US" sz="1500" dirty="0"/>
          </a:p>
        </p:txBody>
      </p:sp>
      <p:sp>
        <p:nvSpPr>
          <p:cNvPr id="8" name="Text 6"/>
          <p:cNvSpPr/>
          <p:nvPr/>
        </p:nvSpPr>
        <p:spPr>
          <a:xfrm>
            <a:off x="786384" y="2523744"/>
            <a:ext cx="2084832" cy="676656"/>
          </a:xfrm>
          <a:prstGeom prst="rect">
            <a:avLst/>
          </a:prstGeom>
          <a:noFill/>
          <a:ln/>
        </p:spPr>
        <p:txBody>
          <a:bodyPr wrap="square" lIns="0" tIns="0" rIns="0" bIns="0" rtlCol="0" anchor="t"/>
          <a:lstStyle/>
          <a:p>
            <a:pPr algn="l" indent="0" marL="0">
              <a:lnSpc>
                <a:spcPct val="110000"/>
              </a:lnSpc>
              <a:buNone/>
            </a:pPr>
            <a:r>
              <a:rPr lang="en-US" sz="1250" dirty="0">
                <a:solidFill>
                  <a:srgbClr val="3C444C"/>
                </a:solidFill>
                <a:latin typeface="Calibri" pitchFamily="34" charset="0"/>
                <a:ea typeface="Calibri" pitchFamily="34" charset="-122"/>
                <a:cs typeface="Calibri" pitchFamily="34" charset="-120"/>
              </a:rPr>
              <a:t>A story that is simply invented.</a:t>
            </a:r>
            <a:endParaRPr lang="en-US" sz="1250" dirty="0"/>
          </a:p>
        </p:txBody>
      </p:sp>
      <p:sp>
        <p:nvSpPr>
          <p:cNvPr id="9" name="Shape 7"/>
          <p:cNvSpPr/>
          <p:nvPr/>
        </p:nvSpPr>
        <p:spPr>
          <a:xfrm>
            <a:off x="3291840" y="1536192"/>
            <a:ext cx="2560320" cy="1920240"/>
          </a:xfrm>
          <a:prstGeom prst="roundRect">
            <a:avLst>
              <a:gd name="adj" fmla="val 2857"/>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0" name="Shape 8"/>
          <p:cNvSpPr/>
          <p:nvPr/>
        </p:nvSpPr>
        <p:spPr>
          <a:xfrm>
            <a:off x="3529584" y="1737360"/>
            <a:ext cx="365760" cy="365760"/>
          </a:xfrm>
          <a:prstGeom prst="ellipse">
            <a:avLst/>
          </a:prstGeom>
          <a:solidFill>
            <a:srgbClr val="B22222"/>
          </a:solidFill>
          <a:ln w="12700">
            <a:solidFill>
              <a:srgbClr val="B22222"/>
            </a:solidFill>
            <a:prstDash val="solid"/>
          </a:ln>
        </p:spPr>
      </p:sp>
      <p:sp>
        <p:nvSpPr>
          <p:cNvPr id="11" name="Text 9"/>
          <p:cNvSpPr/>
          <p:nvPr/>
        </p:nvSpPr>
        <p:spPr>
          <a:xfrm>
            <a:off x="3529584" y="1737360"/>
            <a:ext cx="365760" cy="365760"/>
          </a:xfrm>
          <a:prstGeom prst="rect">
            <a:avLst/>
          </a:prstGeom>
          <a:noFill/>
          <a:ln/>
        </p:spPr>
        <p:txBody>
          <a:bodyPr wrap="square" lIns="0" tIns="0" rIns="0" bIns="0" rtlCol="0" anchor="ctr"/>
          <a:lstStyle/>
          <a:p>
            <a:pPr algn="ctr" indent="0" marL="0">
              <a:buNone/>
            </a:pPr>
            <a:r>
              <a:rPr lang="en-US" sz="1100" b="1" dirty="0">
                <a:solidFill>
                  <a:srgbClr val="FFFEFB"/>
                </a:solidFill>
                <a:latin typeface="Courier New" pitchFamily="34" charset="0"/>
                <a:ea typeface="Courier New" pitchFamily="34" charset="-122"/>
                <a:cs typeface="Courier New" pitchFamily="34" charset="-120"/>
              </a:rPr>
              <a:t>2</a:t>
            </a:r>
            <a:endParaRPr lang="en-US" sz="1100" dirty="0"/>
          </a:p>
        </p:txBody>
      </p:sp>
      <p:sp>
        <p:nvSpPr>
          <p:cNvPr id="12" name="Text 10"/>
          <p:cNvSpPr/>
          <p:nvPr/>
        </p:nvSpPr>
        <p:spPr>
          <a:xfrm>
            <a:off x="3529584" y="2212848"/>
            <a:ext cx="2084832" cy="256032"/>
          </a:xfrm>
          <a:prstGeom prst="rect">
            <a:avLst/>
          </a:prstGeom>
          <a:noFill/>
          <a:ln/>
        </p:spPr>
        <p:txBody>
          <a:bodyPr wrap="square" lIns="0" tIns="0" rIns="0" bIns="0" rtlCol="0" anchor="t"/>
          <a:lstStyle/>
          <a:p>
            <a:pPr algn="l" indent="0" marL="0">
              <a:lnSpc>
                <a:spcPct val="106000"/>
              </a:lnSpc>
              <a:buNone/>
            </a:pPr>
            <a:r>
              <a:rPr lang="en-US" sz="1500" b="1" dirty="0">
                <a:solidFill>
                  <a:srgbClr val="14171A"/>
                </a:solidFill>
                <a:latin typeface="Cambria" pitchFamily="34" charset="0"/>
                <a:ea typeface="Cambria" pitchFamily="34" charset="-122"/>
                <a:cs typeface="Cambria" pitchFamily="34" charset="-120"/>
              </a:rPr>
              <a:t>Doctored image</a:t>
            </a:r>
            <a:endParaRPr lang="en-US" sz="1500" dirty="0"/>
          </a:p>
        </p:txBody>
      </p:sp>
      <p:sp>
        <p:nvSpPr>
          <p:cNvPr id="13" name="Text 11"/>
          <p:cNvSpPr/>
          <p:nvPr/>
        </p:nvSpPr>
        <p:spPr>
          <a:xfrm>
            <a:off x="3529584" y="2523744"/>
            <a:ext cx="2084832" cy="676656"/>
          </a:xfrm>
          <a:prstGeom prst="rect">
            <a:avLst/>
          </a:prstGeom>
          <a:noFill/>
          <a:ln/>
        </p:spPr>
        <p:txBody>
          <a:bodyPr wrap="square" lIns="0" tIns="0" rIns="0" bIns="0" rtlCol="0" anchor="t"/>
          <a:lstStyle/>
          <a:p>
            <a:pPr algn="l" indent="0" marL="0">
              <a:lnSpc>
                <a:spcPct val="110000"/>
              </a:lnSpc>
              <a:buNone/>
            </a:pPr>
            <a:r>
              <a:rPr lang="en-US" sz="1250" dirty="0">
                <a:solidFill>
                  <a:srgbClr val="3C444C"/>
                </a:solidFill>
                <a:latin typeface="Calibri" pitchFamily="34" charset="0"/>
                <a:ea typeface="Calibri" pitchFamily="34" charset="-122"/>
                <a:cs typeface="Calibri" pitchFamily="34" charset="-120"/>
              </a:rPr>
              <a:t>Edited, and now often generated outright rather than edited at all.</a:t>
            </a:r>
            <a:endParaRPr lang="en-US" sz="1250" dirty="0"/>
          </a:p>
        </p:txBody>
      </p:sp>
      <p:sp>
        <p:nvSpPr>
          <p:cNvPr id="14" name="Shape 12"/>
          <p:cNvSpPr/>
          <p:nvPr/>
        </p:nvSpPr>
        <p:spPr>
          <a:xfrm>
            <a:off x="6035040" y="1536192"/>
            <a:ext cx="2560320" cy="1920240"/>
          </a:xfrm>
          <a:prstGeom prst="roundRect">
            <a:avLst>
              <a:gd name="adj" fmla="val 2857"/>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5" name="Shape 13"/>
          <p:cNvSpPr/>
          <p:nvPr/>
        </p:nvSpPr>
        <p:spPr>
          <a:xfrm>
            <a:off x="6272784" y="1737360"/>
            <a:ext cx="365760" cy="365760"/>
          </a:xfrm>
          <a:prstGeom prst="ellipse">
            <a:avLst/>
          </a:prstGeom>
          <a:solidFill>
            <a:srgbClr val="B22222"/>
          </a:solidFill>
          <a:ln w="12700">
            <a:solidFill>
              <a:srgbClr val="B22222"/>
            </a:solidFill>
            <a:prstDash val="solid"/>
          </a:ln>
        </p:spPr>
      </p:sp>
      <p:sp>
        <p:nvSpPr>
          <p:cNvPr id="16" name="Text 14"/>
          <p:cNvSpPr/>
          <p:nvPr/>
        </p:nvSpPr>
        <p:spPr>
          <a:xfrm>
            <a:off x="6272784" y="1737360"/>
            <a:ext cx="365760" cy="365760"/>
          </a:xfrm>
          <a:prstGeom prst="rect">
            <a:avLst/>
          </a:prstGeom>
          <a:noFill/>
          <a:ln/>
        </p:spPr>
        <p:txBody>
          <a:bodyPr wrap="square" lIns="0" tIns="0" rIns="0" bIns="0" rtlCol="0" anchor="ctr"/>
          <a:lstStyle/>
          <a:p>
            <a:pPr algn="ctr" indent="0" marL="0">
              <a:buNone/>
            </a:pPr>
            <a:r>
              <a:rPr lang="en-US" sz="1100" b="1" dirty="0">
                <a:solidFill>
                  <a:srgbClr val="FFFEFB"/>
                </a:solidFill>
                <a:latin typeface="Courier New" pitchFamily="34" charset="0"/>
                <a:ea typeface="Courier New" pitchFamily="34" charset="-122"/>
                <a:cs typeface="Courier New" pitchFamily="34" charset="-120"/>
              </a:rPr>
              <a:t>3</a:t>
            </a:r>
            <a:endParaRPr lang="en-US" sz="1100" dirty="0"/>
          </a:p>
        </p:txBody>
      </p:sp>
      <p:sp>
        <p:nvSpPr>
          <p:cNvPr id="17" name="Text 15"/>
          <p:cNvSpPr/>
          <p:nvPr/>
        </p:nvSpPr>
        <p:spPr>
          <a:xfrm>
            <a:off x="6272784" y="2212848"/>
            <a:ext cx="2084832" cy="256032"/>
          </a:xfrm>
          <a:prstGeom prst="rect">
            <a:avLst/>
          </a:prstGeom>
          <a:noFill/>
          <a:ln/>
        </p:spPr>
        <p:txBody>
          <a:bodyPr wrap="square" lIns="0" tIns="0" rIns="0" bIns="0" rtlCol="0" anchor="t"/>
          <a:lstStyle/>
          <a:p>
            <a:pPr algn="l" indent="0" marL="0">
              <a:lnSpc>
                <a:spcPct val="106000"/>
              </a:lnSpc>
              <a:buNone/>
            </a:pPr>
            <a:r>
              <a:rPr lang="en-US" sz="1500" b="1" dirty="0">
                <a:solidFill>
                  <a:srgbClr val="14171A"/>
                </a:solidFill>
                <a:latin typeface="Cambria" pitchFamily="34" charset="0"/>
                <a:ea typeface="Cambria" pitchFamily="34" charset="-122"/>
                <a:cs typeface="Cambria" pitchFamily="34" charset="-120"/>
              </a:rPr>
              <a:t>Misleading headline</a:t>
            </a:r>
            <a:endParaRPr lang="en-US" sz="1500" dirty="0"/>
          </a:p>
        </p:txBody>
      </p:sp>
      <p:sp>
        <p:nvSpPr>
          <p:cNvPr id="18" name="Text 16"/>
          <p:cNvSpPr/>
          <p:nvPr/>
        </p:nvSpPr>
        <p:spPr>
          <a:xfrm>
            <a:off x="6272784" y="2523744"/>
            <a:ext cx="2084832" cy="676656"/>
          </a:xfrm>
          <a:prstGeom prst="rect">
            <a:avLst/>
          </a:prstGeom>
          <a:noFill/>
          <a:ln/>
        </p:spPr>
        <p:txBody>
          <a:bodyPr wrap="square" lIns="0" tIns="0" rIns="0" bIns="0" rtlCol="0" anchor="t"/>
          <a:lstStyle/>
          <a:p>
            <a:pPr algn="l" indent="0" marL="0">
              <a:lnSpc>
                <a:spcPct val="110000"/>
              </a:lnSpc>
              <a:buNone/>
            </a:pPr>
            <a:r>
              <a:rPr lang="en-US" sz="1250" dirty="0">
                <a:solidFill>
                  <a:srgbClr val="3C444C"/>
                </a:solidFill>
                <a:latin typeface="Calibri" pitchFamily="34" charset="0"/>
                <a:ea typeface="Calibri" pitchFamily="34" charset="-122"/>
                <a:cs typeface="Calibri" pitchFamily="34" charset="-120"/>
              </a:rPr>
              <a:t>Every fact underneath it can be true while the headline still leaves you believing something false.</a:t>
            </a:r>
            <a:endParaRPr lang="en-US" sz="1250" dirty="0"/>
          </a:p>
        </p:txBody>
      </p:sp>
      <p:sp>
        <p:nvSpPr>
          <p:cNvPr id="19" name="Text 17"/>
          <p:cNvSpPr/>
          <p:nvPr/>
        </p:nvSpPr>
        <p:spPr>
          <a:xfrm>
            <a:off x="548640" y="3657600"/>
            <a:ext cx="8046720" cy="310896"/>
          </a:xfrm>
          <a:prstGeom prst="rect">
            <a:avLst/>
          </a:prstGeom>
          <a:noFill/>
          <a:ln/>
        </p:spPr>
        <p:txBody>
          <a:bodyPr wrap="square" lIns="0" tIns="0" rIns="0" bIns="0" rtlCol="0" anchor="t"/>
          <a:lstStyle/>
          <a:p>
            <a:pPr algn="l" indent="0" marL="0">
              <a:lnSpc>
                <a:spcPct val="106000"/>
              </a:lnSpc>
              <a:buNone/>
            </a:pPr>
            <a:r>
              <a:rPr lang="en-US" sz="1600" b="1" dirty="0">
                <a:solidFill>
                  <a:srgbClr val="14171A"/>
                </a:solidFill>
                <a:latin typeface="Cambria" pitchFamily="34" charset="0"/>
                <a:ea typeface="Cambria" pitchFamily="34" charset="-122"/>
                <a:cs typeface="Cambria" pitchFamily="34" charset="-120"/>
              </a:rPr>
              <a:t>The third is the sneakiest, and much the most common: that is framing, not invention.</a:t>
            </a:r>
            <a:endParaRPr lang="en-US" sz="1600" dirty="0"/>
          </a:p>
        </p:txBody>
      </p:sp>
      <p:sp>
        <p:nvSpPr>
          <p:cNvPr id="20" name="Text 18"/>
          <p:cNvSpPr/>
          <p:nvPr/>
        </p:nvSpPr>
        <p:spPr>
          <a:xfrm>
            <a:off x="548640" y="4078224"/>
            <a:ext cx="8046720" cy="310896"/>
          </a:xfrm>
          <a:prstGeom prst="rect">
            <a:avLst/>
          </a:prstGeom>
          <a:noFill/>
          <a:ln/>
        </p:spPr>
        <p:txBody>
          <a:bodyPr wrap="square" lIns="0" tIns="0" rIns="0" bIns="0" rtlCol="0" anchor="t"/>
          <a:lstStyle/>
          <a:p>
            <a:pPr algn="l" indent="0" marL="0">
              <a:lnSpc>
                <a:spcPct val="106000"/>
              </a:lnSpc>
              <a:buNone/>
            </a:pPr>
            <a:r>
              <a:rPr lang="en-US" sz="1300" i="1" dirty="0">
                <a:solidFill>
                  <a:srgbClr val="3C444C"/>
                </a:solidFill>
                <a:latin typeface="Calibri" pitchFamily="34" charset="0"/>
                <a:ea typeface="Calibri" pitchFamily="34" charset="-122"/>
                <a:cs typeface="Calibri" pitchFamily="34" charset="-120"/>
              </a:rPr>
              <a:t>Sourcing starts before the content. Who sent this, and do they know whether it is true?</a:t>
            </a:r>
            <a:endParaRPr lang="en-US" sz="1300" dirty="0"/>
          </a:p>
        </p:txBody>
      </p:sp>
      <p:sp>
        <p:nvSpPr>
          <p:cNvPr id="22" name="Text 19"/>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APRIL 2013</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One fake sentence, from an account people had reason to trust</a:t>
            </a:r>
            <a:endParaRPr lang="en-US" sz="3000" dirty="0"/>
          </a:p>
        </p:txBody>
      </p:sp>
      <p:sp>
        <p:nvSpPr>
          <p:cNvPr id="4" name="Shape 2"/>
          <p:cNvSpPr/>
          <p:nvPr/>
        </p:nvSpPr>
        <p:spPr>
          <a:xfrm>
            <a:off x="548640" y="1572768"/>
            <a:ext cx="4754880" cy="2148840"/>
          </a:xfrm>
          <a:prstGeom prst="roundRect">
            <a:avLst>
              <a:gd name="adj" fmla="val 2553"/>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804672" y="1810512"/>
            <a:ext cx="4242816" cy="1691640"/>
          </a:xfrm>
          <a:prstGeom prst="rect">
            <a:avLst/>
          </a:prstGeom>
          <a:noFill/>
          <a:ln/>
        </p:spPr>
        <p:txBody>
          <a:bodyPr wrap="square" lIns="0" tIns="0" rIns="0" bIns="0" rtlCol="0" anchor="t"/>
          <a:lstStyle/>
          <a:p>
            <a:pPr marL="177800" indent="-177800">
              <a:lnSpc>
                <a:spcPct val="104000"/>
              </a:lnSpc>
              <a:spcAft>
                <a:spcPts val="900"/>
              </a:spcAft>
              <a:buSzPct val="100000"/>
              <a:buChar char="•"/>
            </a:pPr>
            <a:r>
              <a:rPr lang="en-US" sz="1350" dirty="0">
                <a:solidFill>
                  <a:srgbClr val="3C444C"/>
                </a:solidFill>
                <a:latin typeface="Calibri" pitchFamily="34" charset="0"/>
                <a:ea typeface="Calibri" pitchFamily="34" charset="-122"/>
                <a:cs typeface="Calibri" pitchFamily="34" charset="-120"/>
              </a:rPr>
              <a:t>The Associated Press Twitter account was hacked.</a:t>
            </a:r>
            <a:endParaRPr lang="en-US" sz="1350" dirty="0"/>
          </a:p>
          <a:p>
            <a:pPr marL="177800" indent="-177800">
              <a:lnSpc>
                <a:spcPct val="104000"/>
              </a:lnSpc>
              <a:spcAft>
                <a:spcPts val="900"/>
              </a:spcAft>
              <a:buSzPct val="100000"/>
              <a:buChar char="•"/>
            </a:pPr>
            <a:r>
              <a:rPr lang="en-US" sz="1350" dirty="0">
                <a:solidFill>
                  <a:srgbClr val="3C444C"/>
                </a:solidFill>
                <a:latin typeface="Calibri" pitchFamily="34" charset="0"/>
                <a:ea typeface="Calibri" pitchFamily="34" charset="-122"/>
                <a:cs typeface="Calibri" pitchFamily="34" charset="-120"/>
              </a:rPr>
              <a:t>It posted that there had been explosions at the White House and that the president was injured.</a:t>
            </a:r>
            <a:endParaRPr lang="en-US" sz="1350" dirty="0"/>
          </a:p>
          <a:p>
            <a:pPr marL="177800" indent="-177800">
              <a:lnSpc>
                <a:spcPct val="104000"/>
              </a:lnSpc>
              <a:spcAft>
                <a:spcPts val="900"/>
              </a:spcAft>
              <a:buSzPct val="100000"/>
              <a:buChar char="•"/>
            </a:pPr>
            <a:r>
              <a:rPr lang="en-US" sz="1350" dirty="0">
                <a:solidFill>
                  <a:srgbClr val="3C444C"/>
                </a:solidFill>
                <a:latin typeface="Calibri" pitchFamily="34" charset="0"/>
                <a:ea typeface="Calibri" pitchFamily="34" charset="-122"/>
                <a:cs typeface="Calibri" pitchFamily="34" charset="-120"/>
              </a:rPr>
              <a:t>The stock market dropped sharply within seconds.</a:t>
            </a:r>
            <a:endParaRPr lang="en-US" sz="1350" dirty="0"/>
          </a:p>
          <a:p>
            <a:pPr marL="177800" indent="-177800">
              <a:lnSpc>
                <a:spcPct val="104000"/>
              </a:lnSpc>
              <a:spcAft>
                <a:spcPts val="900"/>
              </a:spcAft>
              <a:buSzPct val="100000"/>
              <a:buChar char="•"/>
            </a:pPr>
            <a:r>
              <a:rPr lang="en-US" sz="1350" dirty="0">
                <a:solidFill>
                  <a:srgbClr val="3C444C"/>
                </a:solidFill>
                <a:latin typeface="Calibri" pitchFamily="34" charset="0"/>
                <a:ea typeface="Calibri" pitchFamily="34" charset="-122"/>
                <a:cs typeface="Calibri" pitchFamily="34" charset="-120"/>
              </a:rPr>
              <a:t>It recovered within minutes, once the agency said it was false.</a:t>
            </a:r>
            <a:endParaRPr lang="en-US" sz="1350" dirty="0"/>
          </a:p>
        </p:txBody>
      </p:sp>
      <p:sp>
        <p:nvSpPr>
          <p:cNvPr id="6" name="Shape 4"/>
          <p:cNvSpPr/>
          <p:nvPr/>
        </p:nvSpPr>
        <p:spPr>
          <a:xfrm>
            <a:off x="5577840" y="1572768"/>
            <a:ext cx="3017520" cy="2148840"/>
          </a:xfrm>
          <a:prstGeom prst="roundRect">
            <a:avLst>
              <a:gd name="adj" fmla="val 2553"/>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7" name="Text 5"/>
          <p:cNvSpPr/>
          <p:nvPr/>
        </p:nvSpPr>
        <p:spPr>
          <a:xfrm>
            <a:off x="5852160" y="1810512"/>
            <a:ext cx="2468880" cy="457200"/>
          </a:xfrm>
          <a:prstGeom prst="rect">
            <a:avLst/>
          </a:prstGeom>
          <a:noFill/>
          <a:ln/>
        </p:spPr>
        <p:txBody>
          <a:bodyPr wrap="square" lIns="0" tIns="0" rIns="0" bIns="0" rtlCol="0" anchor="t"/>
          <a:lstStyle/>
          <a:p>
            <a:pPr algn="l" indent="0" marL="0">
              <a:lnSpc>
                <a:spcPct val="106000"/>
              </a:lnSpc>
              <a:buNone/>
            </a:pPr>
            <a:r>
              <a:rPr lang="en-US" sz="3000" b="1" dirty="0">
                <a:solidFill>
                  <a:srgbClr val="8A1A1A"/>
                </a:solidFill>
                <a:latin typeface="Cambria" pitchFamily="34" charset="0"/>
                <a:ea typeface="Cambria" pitchFamily="34" charset="-122"/>
                <a:cs typeface="Cambria" pitchFamily="34" charset="-120"/>
              </a:rPr>
              <a:t>SECONDS</a:t>
            </a:r>
            <a:endParaRPr lang="en-US" sz="3000" dirty="0"/>
          </a:p>
        </p:txBody>
      </p:sp>
      <p:sp>
        <p:nvSpPr>
          <p:cNvPr id="8" name="Text 6"/>
          <p:cNvSpPr/>
          <p:nvPr/>
        </p:nvSpPr>
        <p:spPr>
          <a:xfrm>
            <a:off x="5852160" y="2249424"/>
            <a:ext cx="2468880" cy="237744"/>
          </a:xfrm>
          <a:prstGeom prst="rect">
            <a:avLst/>
          </a:prstGeom>
          <a:noFill/>
          <a:ln/>
        </p:spPr>
        <p:txBody>
          <a:bodyPr wrap="square" lIns="0" tIns="0" rIns="0" bIns="0" rtlCol="0" anchor="t"/>
          <a:lstStyle/>
          <a:p>
            <a:pPr algn="l" indent="0" marL="0">
              <a:lnSpc>
                <a:spcPct val="106000"/>
              </a:lnSpc>
              <a:buNone/>
            </a:pPr>
            <a:r>
              <a:rPr lang="en-US" sz="1000" dirty="0">
                <a:solidFill>
                  <a:srgbClr val="3C444C"/>
                </a:solidFill>
                <a:latin typeface="Courier New" pitchFamily="34" charset="0"/>
                <a:ea typeface="Courier New" pitchFamily="34" charset="-122"/>
                <a:cs typeface="Courier New" pitchFamily="34" charset="-120"/>
              </a:rPr>
              <a:t>to fall</a:t>
            </a:r>
            <a:endParaRPr lang="en-US" sz="1000" dirty="0"/>
          </a:p>
        </p:txBody>
      </p:sp>
      <p:sp>
        <p:nvSpPr>
          <p:cNvPr id="9" name="Text 7"/>
          <p:cNvSpPr/>
          <p:nvPr/>
        </p:nvSpPr>
        <p:spPr>
          <a:xfrm>
            <a:off x="5852160" y="2651760"/>
            <a:ext cx="2468880" cy="457200"/>
          </a:xfrm>
          <a:prstGeom prst="rect">
            <a:avLst/>
          </a:prstGeom>
          <a:noFill/>
          <a:ln/>
        </p:spPr>
        <p:txBody>
          <a:bodyPr wrap="square" lIns="0" tIns="0" rIns="0" bIns="0" rtlCol="0" anchor="t"/>
          <a:lstStyle/>
          <a:p>
            <a:pPr algn="l" indent="0" marL="0">
              <a:lnSpc>
                <a:spcPct val="106000"/>
              </a:lnSpc>
              <a:buNone/>
            </a:pPr>
            <a:r>
              <a:rPr lang="en-US" sz="3000" b="1" dirty="0">
                <a:solidFill>
                  <a:srgbClr val="8A1A1A"/>
                </a:solidFill>
                <a:latin typeface="Cambria" pitchFamily="34" charset="0"/>
                <a:ea typeface="Cambria" pitchFamily="34" charset="-122"/>
                <a:cs typeface="Cambria" pitchFamily="34" charset="-120"/>
              </a:rPr>
              <a:t>MINUTES</a:t>
            </a:r>
            <a:endParaRPr lang="en-US" sz="3000" dirty="0"/>
          </a:p>
        </p:txBody>
      </p:sp>
      <p:sp>
        <p:nvSpPr>
          <p:cNvPr id="10" name="Text 8"/>
          <p:cNvSpPr/>
          <p:nvPr/>
        </p:nvSpPr>
        <p:spPr>
          <a:xfrm>
            <a:off x="5852160" y="3090672"/>
            <a:ext cx="2468880" cy="237744"/>
          </a:xfrm>
          <a:prstGeom prst="rect">
            <a:avLst/>
          </a:prstGeom>
          <a:noFill/>
          <a:ln/>
        </p:spPr>
        <p:txBody>
          <a:bodyPr wrap="square" lIns="0" tIns="0" rIns="0" bIns="0" rtlCol="0" anchor="t"/>
          <a:lstStyle/>
          <a:p>
            <a:pPr algn="l" indent="0" marL="0">
              <a:lnSpc>
                <a:spcPct val="106000"/>
              </a:lnSpc>
              <a:buNone/>
            </a:pPr>
            <a:r>
              <a:rPr lang="en-US" sz="1000" dirty="0">
                <a:solidFill>
                  <a:srgbClr val="3C444C"/>
                </a:solidFill>
                <a:latin typeface="Courier New" pitchFamily="34" charset="0"/>
                <a:ea typeface="Courier New" pitchFamily="34" charset="-122"/>
                <a:cs typeface="Courier New" pitchFamily="34" charset="-120"/>
              </a:rPr>
              <a:t>to recover</a:t>
            </a:r>
            <a:endParaRPr lang="en-US" sz="1000" dirty="0"/>
          </a:p>
        </p:txBody>
      </p:sp>
      <p:sp>
        <p:nvSpPr>
          <p:cNvPr id="11" name="Text 9"/>
          <p:cNvSpPr/>
          <p:nvPr/>
        </p:nvSpPr>
        <p:spPr>
          <a:xfrm>
            <a:off x="548640" y="3931920"/>
            <a:ext cx="8046720" cy="457200"/>
          </a:xfrm>
          <a:prstGeom prst="rect">
            <a:avLst/>
          </a:prstGeom>
          <a:noFill/>
          <a:ln/>
        </p:spPr>
        <p:txBody>
          <a:bodyPr wrap="square" lIns="0" tIns="0" rIns="0" bIns="0" rtlCol="0" anchor="t"/>
          <a:lstStyle/>
          <a:p>
            <a:pPr algn="l" indent="0" marL="0">
              <a:lnSpc>
                <a:spcPct val="112000"/>
              </a:lnSpc>
              <a:buNone/>
            </a:pPr>
            <a:r>
              <a:rPr lang="en-US" sz="1350" i="1" dirty="0">
                <a:solidFill>
                  <a:srgbClr val="3C444C"/>
                </a:solidFill>
                <a:latin typeface="Calibri" pitchFamily="34" charset="0"/>
                <a:ea typeface="Calibri" pitchFamily="34" charset="-122"/>
                <a:cs typeface="Calibri" pitchFamily="34" charset="-120"/>
              </a:rPr>
              <a:t>A friend forwarding something they believe and an account built to deceive are different problems, even when the words are the same.</a:t>
            </a:r>
            <a:endParaRPr lang="en-US" sz="1350" dirty="0"/>
          </a:p>
        </p:txBody>
      </p:sp>
      <p:sp>
        <p:nvSpPr>
          <p:cNvPr id="13" name="Text 10"/>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PART TWO</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The four tactics</a:t>
            </a:r>
            <a:endParaRPr lang="en-US" sz="3000" dirty="0"/>
          </a:p>
        </p:txBody>
      </p:sp>
      <p:sp>
        <p:nvSpPr>
          <p:cNvPr id="4" name="Shape 2"/>
          <p:cNvSpPr/>
          <p:nvPr/>
        </p:nvSpPr>
        <p:spPr>
          <a:xfrm>
            <a:off x="548640" y="1481328"/>
            <a:ext cx="3840480" cy="1243584"/>
          </a:xfrm>
          <a:prstGeom prst="roundRect">
            <a:avLst>
              <a:gd name="adj" fmla="val 441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5" name="Shape 3"/>
          <p:cNvSpPr/>
          <p:nvPr/>
        </p:nvSpPr>
        <p:spPr>
          <a:xfrm>
            <a:off x="786384" y="1682496"/>
            <a:ext cx="329184" cy="329184"/>
          </a:xfrm>
          <a:prstGeom prst="ellipse">
            <a:avLst/>
          </a:prstGeom>
          <a:solidFill>
            <a:srgbClr val="2B3238"/>
          </a:solidFill>
          <a:ln w="12700">
            <a:solidFill>
              <a:srgbClr val="2B3238"/>
            </a:solidFill>
            <a:prstDash val="solid"/>
          </a:ln>
        </p:spPr>
      </p:sp>
      <p:sp>
        <p:nvSpPr>
          <p:cNvPr id="6" name="Text 4"/>
          <p:cNvSpPr/>
          <p:nvPr/>
        </p:nvSpPr>
        <p:spPr>
          <a:xfrm>
            <a:off x="786384" y="1682496"/>
            <a:ext cx="329184" cy="329184"/>
          </a:xfrm>
          <a:prstGeom prst="rect">
            <a:avLst/>
          </a:prstGeom>
          <a:noFill/>
          <a:ln/>
        </p:spPr>
        <p:txBody>
          <a:bodyPr wrap="square" lIns="0" tIns="0" rIns="0" bIns="0" rtlCol="0" anchor="ctr"/>
          <a:lstStyle/>
          <a:p>
            <a:pPr algn="ctr" indent="0" marL="0">
              <a:buNone/>
            </a:pPr>
            <a:r>
              <a:rPr lang="en-US" sz="1000" b="1" dirty="0">
                <a:solidFill>
                  <a:srgbClr val="FFFEFB"/>
                </a:solidFill>
                <a:latin typeface="Courier New" pitchFamily="34" charset="0"/>
                <a:ea typeface="Courier New" pitchFamily="34" charset="-122"/>
                <a:cs typeface="Courier New" pitchFamily="34" charset="-120"/>
              </a:rPr>
              <a:t>1</a:t>
            </a:r>
            <a:endParaRPr lang="en-US" sz="1000" dirty="0"/>
          </a:p>
        </p:txBody>
      </p:sp>
      <p:sp>
        <p:nvSpPr>
          <p:cNvPr id="7" name="Text 5"/>
          <p:cNvSpPr/>
          <p:nvPr/>
        </p:nvSpPr>
        <p:spPr>
          <a:xfrm>
            <a:off x="1225296" y="1700784"/>
            <a:ext cx="2926080" cy="274320"/>
          </a:xfrm>
          <a:prstGeom prst="rect">
            <a:avLst/>
          </a:prstGeom>
          <a:noFill/>
          <a:ln/>
        </p:spPr>
        <p:txBody>
          <a:bodyPr wrap="square" lIns="0" tIns="0" rIns="0" bIns="0" rtlCol="0" anchor="t"/>
          <a:lstStyle/>
          <a:p>
            <a:pPr algn="l" indent="0" marL="0">
              <a:lnSpc>
                <a:spcPct val="106000"/>
              </a:lnSpc>
              <a:buNone/>
            </a:pPr>
            <a:r>
              <a:rPr lang="en-US" sz="1500" b="1" dirty="0">
                <a:solidFill>
                  <a:srgbClr val="14171A"/>
                </a:solidFill>
                <a:latin typeface="Cambria" pitchFamily="34" charset="0"/>
                <a:ea typeface="Cambria" pitchFamily="34" charset="-122"/>
                <a:cs typeface="Cambria" pitchFamily="34" charset="-120"/>
              </a:rPr>
              <a:t>Clickbait</a:t>
            </a:r>
            <a:endParaRPr lang="en-US" sz="1500" dirty="0"/>
          </a:p>
        </p:txBody>
      </p:sp>
      <p:sp>
        <p:nvSpPr>
          <p:cNvPr id="8" name="Text 6"/>
          <p:cNvSpPr/>
          <p:nvPr/>
        </p:nvSpPr>
        <p:spPr>
          <a:xfrm>
            <a:off x="786384" y="2066544"/>
            <a:ext cx="3364992" cy="548640"/>
          </a:xfrm>
          <a:prstGeom prst="rect">
            <a:avLst/>
          </a:prstGeom>
          <a:noFill/>
          <a:ln/>
        </p:spPr>
        <p:txBody>
          <a:bodyPr wrap="square" lIns="0" tIns="0" rIns="0" bIns="0" rtlCol="0" anchor="t"/>
          <a:lstStyle/>
          <a:p>
            <a:pPr algn="l" indent="0" marL="0">
              <a:lnSpc>
                <a:spcPct val="108000"/>
              </a:lnSpc>
              <a:buNone/>
            </a:pPr>
            <a:r>
              <a:rPr lang="en-US" sz="1250" dirty="0">
                <a:solidFill>
                  <a:srgbClr val="3C444C"/>
                </a:solidFill>
                <a:latin typeface="Calibri" pitchFamily="34" charset="0"/>
                <a:ea typeface="Calibri" pitchFamily="34" charset="-122"/>
                <a:cs typeface="Calibri" pitchFamily="34" charset="-120"/>
              </a:rPr>
              <a:t>A headline written to get the click rather than to tell you what happened. Nobody has to intend to mislead.</a:t>
            </a:r>
            <a:endParaRPr lang="en-US" sz="1250" dirty="0"/>
          </a:p>
        </p:txBody>
      </p:sp>
      <p:sp>
        <p:nvSpPr>
          <p:cNvPr id="9" name="Shape 7"/>
          <p:cNvSpPr/>
          <p:nvPr/>
        </p:nvSpPr>
        <p:spPr>
          <a:xfrm>
            <a:off x="4754880" y="1481328"/>
            <a:ext cx="3840480" cy="1243584"/>
          </a:xfrm>
          <a:prstGeom prst="roundRect">
            <a:avLst>
              <a:gd name="adj" fmla="val 441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0" name="Shape 8"/>
          <p:cNvSpPr/>
          <p:nvPr/>
        </p:nvSpPr>
        <p:spPr>
          <a:xfrm>
            <a:off x="4992624" y="1682496"/>
            <a:ext cx="329184" cy="329184"/>
          </a:xfrm>
          <a:prstGeom prst="ellipse">
            <a:avLst/>
          </a:prstGeom>
          <a:solidFill>
            <a:srgbClr val="2B3238"/>
          </a:solidFill>
          <a:ln w="12700">
            <a:solidFill>
              <a:srgbClr val="2B3238"/>
            </a:solidFill>
            <a:prstDash val="solid"/>
          </a:ln>
        </p:spPr>
      </p:sp>
      <p:sp>
        <p:nvSpPr>
          <p:cNvPr id="11" name="Text 9"/>
          <p:cNvSpPr/>
          <p:nvPr/>
        </p:nvSpPr>
        <p:spPr>
          <a:xfrm>
            <a:off x="4992624" y="1682496"/>
            <a:ext cx="329184" cy="329184"/>
          </a:xfrm>
          <a:prstGeom prst="rect">
            <a:avLst/>
          </a:prstGeom>
          <a:noFill/>
          <a:ln/>
        </p:spPr>
        <p:txBody>
          <a:bodyPr wrap="square" lIns="0" tIns="0" rIns="0" bIns="0" rtlCol="0" anchor="ctr"/>
          <a:lstStyle/>
          <a:p>
            <a:pPr algn="ctr" indent="0" marL="0">
              <a:buNone/>
            </a:pPr>
            <a:r>
              <a:rPr lang="en-US" sz="1000" b="1" dirty="0">
                <a:solidFill>
                  <a:srgbClr val="FFFEFB"/>
                </a:solidFill>
                <a:latin typeface="Courier New" pitchFamily="34" charset="0"/>
                <a:ea typeface="Courier New" pitchFamily="34" charset="-122"/>
                <a:cs typeface="Courier New" pitchFamily="34" charset="-120"/>
              </a:rPr>
              <a:t>2</a:t>
            </a:r>
            <a:endParaRPr lang="en-US" sz="1000" dirty="0"/>
          </a:p>
        </p:txBody>
      </p:sp>
      <p:sp>
        <p:nvSpPr>
          <p:cNvPr id="12" name="Text 10"/>
          <p:cNvSpPr/>
          <p:nvPr/>
        </p:nvSpPr>
        <p:spPr>
          <a:xfrm>
            <a:off x="5431536" y="1700784"/>
            <a:ext cx="2926080" cy="274320"/>
          </a:xfrm>
          <a:prstGeom prst="rect">
            <a:avLst/>
          </a:prstGeom>
          <a:noFill/>
          <a:ln/>
        </p:spPr>
        <p:txBody>
          <a:bodyPr wrap="square" lIns="0" tIns="0" rIns="0" bIns="0" rtlCol="0" anchor="t"/>
          <a:lstStyle/>
          <a:p>
            <a:pPr algn="l" indent="0" marL="0">
              <a:lnSpc>
                <a:spcPct val="106000"/>
              </a:lnSpc>
              <a:buNone/>
            </a:pPr>
            <a:r>
              <a:rPr lang="en-US" sz="1500" b="1" dirty="0">
                <a:solidFill>
                  <a:srgbClr val="14171A"/>
                </a:solidFill>
                <a:latin typeface="Cambria" pitchFamily="34" charset="0"/>
                <a:ea typeface="Cambria" pitchFamily="34" charset="-122"/>
                <a:cs typeface="Cambria" pitchFamily="34" charset="-120"/>
              </a:rPr>
              <a:t>Deepfake</a:t>
            </a:r>
            <a:endParaRPr lang="en-US" sz="1500" dirty="0"/>
          </a:p>
        </p:txBody>
      </p:sp>
      <p:sp>
        <p:nvSpPr>
          <p:cNvPr id="13" name="Text 11"/>
          <p:cNvSpPr/>
          <p:nvPr/>
        </p:nvSpPr>
        <p:spPr>
          <a:xfrm>
            <a:off x="4992624" y="2066544"/>
            <a:ext cx="3364992" cy="548640"/>
          </a:xfrm>
          <a:prstGeom prst="rect">
            <a:avLst/>
          </a:prstGeom>
          <a:noFill/>
          <a:ln/>
        </p:spPr>
        <p:txBody>
          <a:bodyPr wrap="square" lIns="0" tIns="0" rIns="0" bIns="0" rtlCol="0" anchor="t"/>
          <a:lstStyle/>
          <a:p>
            <a:pPr algn="l" indent="0" marL="0">
              <a:lnSpc>
                <a:spcPct val="108000"/>
              </a:lnSpc>
              <a:buNone/>
            </a:pPr>
            <a:r>
              <a:rPr lang="en-US" sz="1250" dirty="0">
                <a:solidFill>
                  <a:srgbClr val="3C444C"/>
                </a:solidFill>
                <a:latin typeface="Calibri" pitchFamily="34" charset="0"/>
                <a:ea typeface="Calibri" pitchFamily="34" charset="-122"/>
                <a:cs typeface="Calibri" pitchFamily="34" charset="-120"/>
              </a:rPr>
              <a:t>Video or audio of a real person, made by software, saying what they never said. Peele and BuzzFeed, 2018.</a:t>
            </a:r>
            <a:endParaRPr lang="en-US" sz="1250" dirty="0"/>
          </a:p>
        </p:txBody>
      </p:sp>
      <p:sp>
        <p:nvSpPr>
          <p:cNvPr id="14" name="Shape 12"/>
          <p:cNvSpPr/>
          <p:nvPr/>
        </p:nvSpPr>
        <p:spPr>
          <a:xfrm>
            <a:off x="548640" y="2852928"/>
            <a:ext cx="3840480" cy="1243584"/>
          </a:xfrm>
          <a:prstGeom prst="roundRect">
            <a:avLst>
              <a:gd name="adj" fmla="val 441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5" name="Shape 13"/>
          <p:cNvSpPr/>
          <p:nvPr/>
        </p:nvSpPr>
        <p:spPr>
          <a:xfrm>
            <a:off x="786384" y="3054096"/>
            <a:ext cx="329184" cy="329184"/>
          </a:xfrm>
          <a:prstGeom prst="ellipse">
            <a:avLst/>
          </a:prstGeom>
          <a:solidFill>
            <a:srgbClr val="2B3238"/>
          </a:solidFill>
          <a:ln w="12700">
            <a:solidFill>
              <a:srgbClr val="2B3238"/>
            </a:solidFill>
            <a:prstDash val="solid"/>
          </a:ln>
        </p:spPr>
      </p:sp>
      <p:sp>
        <p:nvSpPr>
          <p:cNvPr id="16" name="Text 14"/>
          <p:cNvSpPr/>
          <p:nvPr/>
        </p:nvSpPr>
        <p:spPr>
          <a:xfrm>
            <a:off x="786384" y="3054096"/>
            <a:ext cx="329184" cy="329184"/>
          </a:xfrm>
          <a:prstGeom prst="rect">
            <a:avLst/>
          </a:prstGeom>
          <a:noFill/>
          <a:ln/>
        </p:spPr>
        <p:txBody>
          <a:bodyPr wrap="square" lIns="0" tIns="0" rIns="0" bIns="0" rtlCol="0" anchor="ctr"/>
          <a:lstStyle/>
          <a:p>
            <a:pPr algn="ctr" indent="0" marL="0">
              <a:buNone/>
            </a:pPr>
            <a:r>
              <a:rPr lang="en-US" sz="1000" b="1" dirty="0">
                <a:solidFill>
                  <a:srgbClr val="FFFEFB"/>
                </a:solidFill>
                <a:latin typeface="Courier New" pitchFamily="34" charset="0"/>
                <a:ea typeface="Courier New" pitchFamily="34" charset="-122"/>
                <a:cs typeface="Courier New" pitchFamily="34" charset="-120"/>
              </a:rPr>
              <a:t>3</a:t>
            </a:r>
            <a:endParaRPr lang="en-US" sz="1000" dirty="0"/>
          </a:p>
        </p:txBody>
      </p:sp>
      <p:sp>
        <p:nvSpPr>
          <p:cNvPr id="17" name="Text 15"/>
          <p:cNvSpPr/>
          <p:nvPr/>
        </p:nvSpPr>
        <p:spPr>
          <a:xfrm>
            <a:off x="1225296" y="3072384"/>
            <a:ext cx="2926080" cy="274320"/>
          </a:xfrm>
          <a:prstGeom prst="rect">
            <a:avLst/>
          </a:prstGeom>
          <a:noFill/>
          <a:ln/>
        </p:spPr>
        <p:txBody>
          <a:bodyPr wrap="square" lIns="0" tIns="0" rIns="0" bIns="0" rtlCol="0" anchor="t"/>
          <a:lstStyle/>
          <a:p>
            <a:pPr algn="l" indent="0" marL="0">
              <a:lnSpc>
                <a:spcPct val="106000"/>
              </a:lnSpc>
              <a:buNone/>
            </a:pPr>
            <a:r>
              <a:rPr lang="en-US" sz="1500" b="1" dirty="0">
                <a:solidFill>
                  <a:srgbClr val="14171A"/>
                </a:solidFill>
                <a:latin typeface="Cambria" pitchFamily="34" charset="0"/>
                <a:ea typeface="Cambria" pitchFamily="34" charset="-122"/>
                <a:cs typeface="Cambria" pitchFamily="34" charset="-120"/>
              </a:rPr>
              <a:t>Bots</a:t>
            </a:r>
            <a:endParaRPr lang="en-US" sz="1500" dirty="0"/>
          </a:p>
        </p:txBody>
      </p:sp>
      <p:sp>
        <p:nvSpPr>
          <p:cNvPr id="18" name="Text 16"/>
          <p:cNvSpPr/>
          <p:nvPr/>
        </p:nvSpPr>
        <p:spPr>
          <a:xfrm>
            <a:off x="786384" y="3438144"/>
            <a:ext cx="3364992" cy="548640"/>
          </a:xfrm>
          <a:prstGeom prst="rect">
            <a:avLst/>
          </a:prstGeom>
          <a:noFill/>
          <a:ln/>
        </p:spPr>
        <p:txBody>
          <a:bodyPr wrap="square" lIns="0" tIns="0" rIns="0" bIns="0" rtlCol="0" anchor="t"/>
          <a:lstStyle/>
          <a:p>
            <a:pPr algn="l" indent="0" marL="0">
              <a:lnSpc>
                <a:spcPct val="108000"/>
              </a:lnSpc>
              <a:buNone/>
            </a:pPr>
            <a:r>
              <a:rPr lang="en-US" sz="1250" dirty="0">
                <a:solidFill>
                  <a:srgbClr val="3C444C"/>
                </a:solidFill>
                <a:latin typeface="Calibri" pitchFamily="34" charset="0"/>
                <a:ea typeface="Calibri" pitchFamily="34" charset="-122"/>
                <a:cs typeface="Calibri" pitchFamily="34" charset="-120"/>
              </a:rPr>
              <a:t>Automated accounts. Not there to persuade you, there to make a claim look popular.</a:t>
            </a:r>
            <a:endParaRPr lang="en-US" sz="1250" dirty="0"/>
          </a:p>
        </p:txBody>
      </p:sp>
      <p:sp>
        <p:nvSpPr>
          <p:cNvPr id="19" name="Shape 17"/>
          <p:cNvSpPr/>
          <p:nvPr/>
        </p:nvSpPr>
        <p:spPr>
          <a:xfrm>
            <a:off x="4754880" y="2852928"/>
            <a:ext cx="3840480" cy="1243584"/>
          </a:xfrm>
          <a:prstGeom prst="roundRect">
            <a:avLst>
              <a:gd name="adj" fmla="val 441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20" name="Shape 18"/>
          <p:cNvSpPr/>
          <p:nvPr/>
        </p:nvSpPr>
        <p:spPr>
          <a:xfrm>
            <a:off x="4992624" y="3054096"/>
            <a:ext cx="329184" cy="329184"/>
          </a:xfrm>
          <a:prstGeom prst="ellipse">
            <a:avLst/>
          </a:prstGeom>
          <a:solidFill>
            <a:srgbClr val="B22222"/>
          </a:solidFill>
          <a:ln w="12700">
            <a:solidFill>
              <a:srgbClr val="B22222"/>
            </a:solidFill>
            <a:prstDash val="solid"/>
          </a:ln>
        </p:spPr>
      </p:sp>
      <p:sp>
        <p:nvSpPr>
          <p:cNvPr id="21" name="Text 19"/>
          <p:cNvSpPr/>
          <p:nvPr/>
        </p:nvSpPr>
        <p:spPr>
          <a:xfrm>
            <a:off x="4992624" y="3054096"/>
            <a:ext cx="329184" cy="329184"/>
          </a:xfrm>
          <a:prstGeom prst="rect">
            <a:avLst/>
          </a:prstGeom>
          <a:noFill/>
          <a:ln/>
        </p:spPr>
        <p:txBody>
          <a:bodyPr wrap="square" lIns="0" tIns="0" rIns="0" bIns="0" rtlCol="0" anchor="ctr"/>
          <a:lstStyle/>
          <a:p>
            <a:pPr algn="ctr" indent="0" marL="0">
              <a:buNone/>
            </a:pPr>
            <a:r>
              <a:rPr lang="en-US" sz="1000" b="1" dirty="0">
                <a:solidFill>
                  <a:srgbClr val="FFFEFB"/>
                </a:solidFill>
                <a:latin typeface="Courier New" pitchFamily="34" charset="0"/>
                <a:ea typeface="Courier New" pitchFamily="34" charset="-122"/>
                <a:cs typeface="Courier New" pitchFamily="34" charset="-120"/>
              </a:rPr>
              <a:t>4</a:t>
            </a:r>
            <a:endParaRPr lang="en-US" sz="1000" dirty="0"/>
          </a:p>
        </p:txBody>
      </p:sp>
      <p:sp>
        <p:nvSpPr>
          <p:cNvPr id="22" name="Text 20"/>
          <p:cNvSpPr/>
          <p:nvPr/>
        </p:nvSpPr>
        <p:spPr>
          <a:xfrm>
            <a:off x="5431536" y="3072384"/>
            <a:ext cx="2926080" cy="274320"/>
          </a:xfrm>
          <a:prstGeom prst="rect">
            <a:avLst/>
          </a:prstGeom>
          <a:noFill/>
          <a:ln/>
        </p:spPr>
        <p:txBody>
          <a:bodyPr wrap="square" lIns="0" tIns="0" rIns="0" bIns="0" rtlCol="0" anchor="t"/>
          <a:lstStyle/>
          <a:p>
            <a:pPr algn="l" indent="0" marL="0">
              <a:lnSpc>
                <a:spcPct val="106000"/>
              </a:lnSpc>
              <a:buNone/>
            </a:pPr>
            <a:r>
              <a:rPr lang="en-US" sz="1500" b="1" dirty="0">
                <a:solidFill>
                  <a:srgbClr val="14171A"/>
                </a:solidFill>
                <a:latin typeface="Cambria" pitchFamily="34" charset="0"/>
                <a:ea typeface="Cambria" pitchFamily="34" charset="-122"/>
                <a:cs typeface="Cambria" pitchFamily="34" charset="-120"/>
              </a:rPr>
              <a:t>Emotion</a:t>
            </a:r>
            <a:endParaRPr lang="en-US" sz="1500" dirty="0"/>
          </a:p>
        </p:txBody>
      </p:sp>
      <p:sp>
        <p:nvSpPr>
          <p:cNvPr id="23" name="Text 21"/>
          <p:cNvSpPr/>
          <p:nvPr/>
        </p:nvSpPr>
        <p:spPr>
          <a:xfrm>
            <a:off x="4992624" y="3438144"/>
            <a:ext cx="3364992" cy="548640"/>
          </a:xfrm>
          <a:prstGeom prst="rect">
            <a:avLst/>
          </a:prstGeom>
          <a:noFill/>
          <a:ln/>
        </p:spPr>
        <p:txBody>
          <a:bodyPr wrap="square" lIns="0" tIns="0" rIns="0" bIns="0" rtlCol="0" anchor="t"/>
          <a:lstStyle/>
          <a:p>
            <a:pPr algn="l" indent="0" marL="0">
              <a:lnSpc>
                <a:spcPct val="108000"/>
              </a:lnSpc>
              <a:buNone/>
            </a:pPr>
            <a:r>
              <a:rPr lang="en-US" sz="1250" dirty="0">
                <a:solidFill>
                  <a:srgbClr val="3C444C"/>
                </a:solidFill>
                <a:latin typeface="Calibri" pitchFamily="34" charset="0"/>
                <a:ea typeface="Calibri" pitchFamily="34" charset="-122"/>
                <a:cs typeface="Calibri" pitchFamily="34" charset="-120"/>
              </a:rPr>
              <a:t>Anger, fear and outrage get shared far more than anything that makes you think. This one carries the other three.</a:t>
            </a:r>
            <a:endParaRPr lang="en-US" sz="1250" dirty="0"/>
          </a:p>
        </p:txBody>
      </p:sp>
      <p:sp>
        <p:nvSpPr>
          <p:cNvPr id="24" name="Text 22"/>
          <p:cNvSpPr/>
          <p:nvPr/>
        </p:nvSpPr>
        <p:spPr>
          <a:xfrm>
            <a:off x="548640" y="4224528"/>
            <a:ext cx="8046720" cy="310896"/>
          </a:xfrm>
          <a:prstGeom prst="rect">
            <a:avLst/>
          </a:prstGeom>
          <a:noFill/>
          <a:ln/>
        </p:spPr>
        <p:txBody>
          <a:bodyPr wrap="square" lIns="0" tIns="0" rIns="0" bIns="0" rtlCol="0" anchor="t"/>
          <a:lstStyle/>
          <a:p>
            <a:pPr algn="l" indent="0" marL="0">
              <a:lnSpc>
                <a:spcPct val="106000"/>
              </a:lnSpc>
              <a:buNone/>
            </a:pPr>
            <a:r>
              <a:rPr lang="en-US" sz="1600" b="1" dirty="0">
                <a:solidFill>
                  <a:srgbClr val="14171A"/>
                </a:solidFill>
                <a:latin typeface="Cambria" pitchFamily="34" charset="0"/>
                <a:ea typeface="Cambria" pitchFamily="34" charset="-122"/>
                <a:cs typeface="Cambria" pitchFamily="34" charset="-120"/>
              </a:rPr>
              <a:t>Every one of the four is aimed at a feeling rather than at your reasoning.</a:t>
            </a:r>
            <a:endParaRPr lang="en-US" sz="1600" dirty="0"/>
          </a:p>
        </p:txBody>
      </p:sp>
      <p:sp>
        <p:nvSpPr>
          <p:cNvPr id="26" name="Text 23"/>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PART TWO · PUT IT NEXT TO TOPIC 3</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Nobody has to decide to promote a lie</a:t>
            </a:r>
            <a:endParaRPr lang="en-US" sz="3000" dirty="0"/>
          </a:p>
        </p:txBody>
      </p:sp>
      <p:sp>
        <p:nvSpPr>
          <p:cNvPr id="4" name="Shape 2"/>
          <p:cNvSpPr/>
          <p:nvPr/>
        </p:nvSpPr>
        <p:spPr>
          <a:xfrm>
            <a:off x="548640" y="1609344"/>
            <a:ext cx="2560320" cy="932688"/>
          </a:xfrm>
          <a:prstGeom prst="roundRect">
            <a:avLst>
              <a:gd name="adj" fmla="val 588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749808" y="1609344"/>
            <a:ext cx="2157984" cy="932688"/>
          </a:xfrm>
          <a:prstGeom prst="rect">
            <a:avLst/>
          </a:prstGeom>
          <a:noFill/>
          <a:ln/>
        </p:spPr>
        <p:txBody>
          <a:bodyPr wrap="square" lIns="0" tIns="0" rIns="0" bIns="0" rtlCol="0" anchor="ctr"/>
          <a:lstStyle/>
          <a:p>
            <a:pPr algn="l" indent="0" marL="0">
              <a:lnSpc>
                <a:spcPct val="112000"/>
              </a:lnSpc>
              <a:buNone/>
            </a:pPr>
            <a:r>
              <a:rPr lang="en-US" sz="1350" dirty="0">
                <a:solidFill>
                  <a:srgbClr val="14171A"/>
                </a:solidFill>
                <a:latin typeface="Calibri" pitchFamily="34" charset="0"/>
                <a:ea typeface="Calibri" pitchFamily="34" charset="-122"/>
                <a:cs typeface="Calibri" pitchFamily="34" charset="-120"/>
              </a:rPr>
              <a:t>The system rewards reaction.</a:t>
            </a:r>
            <a:endParaRPr lang="en-US" sz="1350" dirty="0"/>
          </a:p>
        </p:txBody>
      </p:sp>
      <p:sp>
        <p:nvSpPr>
          <p:cNvPr id="6" name="Text 4"/>
          <p:cNvSpPr/>
          <p:nvPr/>
        </p:nvSpPr>
        <p:spPr>
          <a:xfrm>
            <a:off x="3108960" y="1609344"/>
            <a:ext cx="182880" cy="932688"/>
          </a:xfrm>
          <a:prstGeom prst="rect">
            <a:avLst/>
          </a:prstGeom>
          <a:noFill/>
          <a:ln/>
        </p:spPr>
        <p:txBody>
          <a:bodyPr wrap="square" lIns="0" tIns="0" rIns="0" bIns="0" rtlCol="0" anchor="ctr"/>
          <a:lstStyle/>
          <a:p>
            <a:pPr algn="ctr" indent="0" marL="0">
              <a:lnSpc>
                <a:spcPct val="106000"/>
              </a:lnSpc>
              <a:buNone/>
            </a:pPr>
            <a:r>
              <a:rPr lang="en-US" sz="1600" b="1" dirty="0">
                <a:solidFill>
                  <a:srgbClr val="B22222"/>
                </a:solidFill>
                <a:latin typeface="Courier New" pitchFamily="34" charset="0"/>
                <a:ea typeface="Courier New" pitchFamily="34" charset="-122"/>
                <a:cs typeface="Courier New" pitchFamily="34" charset="-120"/>
              </a:rPr>
              <a:t>&gt;</a:t>
            </a:r>
            <a:endParaRPr lang="en-US" sz="1600" dirty="0"/>
          </a:p>
        </p:txBody>
      </p:sp>
      <p:sp>
        <p:nvSpPr>
          <p:cNvPr id="7" name="Shape 5"/>
          <p:cNvSpPr/>
          <p:nvPr/>
        </p:nvSpPr>
        <p:spPr>
          <a:xfrm>
            <a:off x="3291840" y="1609344"/>
            <a:ext cx="2560320" cy="932688"/>
          </a:xfrm>
          <a:prstGeom prst="roundRect">
            <a:avLst>
              <a:gd name="adj" fmla="val 588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8" name="Text 6"/>
          <p:cNvSpPr/>
          <p:nvPr/>
        </p:nvSpPr>
        <p:spPr>
          <a:xfrm>
            <a:off x="3493008" y="1609344"/>
            <a:ext cx="2157984" cy="932688"/>
          </a:xfrm>
          <a:prstGeom prst="rect">
            <a:avLst/>
          </a:prstGeom>
          <a:noFill/>
          <a:ln/>
        </p:spPr>
        <p:txBody>
          <a:bodyPr wrap="square" lIns="0" tIns="0" rIns="0" bIns="0" rtlCol="0" anchor="ctr"/>
          <a:lstStyle/>
          <a:p>
            <a:pPr algn="l" indent="0" marL="0">
              <a:lnSpc>
                <a:spcPct val="112000"/>
              </a:lnSpc>
              <a:buNone/>
            </a:pPr>
            <a:r>
              <a:rPr lang="en-US" sz="1350" dirty="0">
                <a:solidFill>
                  <a:srgbClr val="14171A"/>
                </a:solidFill>
                <a:latin typeface="Calibri" pitchFamily="34" charset="0"/>
                <a:ea typeface="Calibri" pitchFamily="34" charset="-122"/>
                <a:cs typeface="Calibri" pitchFamily="34" charset="-120"/>
              </a:rPr>
              <a:t>Sensational content produces reaction.</a:t>
            </a:r>
            <a:endParaRPr lang="en-US" sz="1350" dirty="0"/>
          </a:p>
        </p:txBody>
      </p:sp>
      <p:sp>
        <p:nvSpPr>
          <p:cNvPr id="9" name="Text 7"/>
          <p:cNvSpPr/>
          <p:nvPr/>
        </p:nvSpPr>
        <p:spPr>
          <a:xfrm>
            <a:off x="5852160" y="1609344"/>
            <a:ext cx="182880" cy="932688"/>
          </a:xfrm>
          <a:prstGeom prst="rect">
            <a:avLst/>
          </a:prstGeom>
          <a:noFill/>
          <a:ln/>
        </p:spPr>
        <p:txBody>
          <a:bodyPr wrap="square" lIns="0" tIns="0" rIns="0" bIns="0" rtlCol="0" anchor="ctr"/>
          <a:lstStyle/>
          <a:p>
            <a:pPr algn="ctr" indent="0" marL="0">
              <a:lnSpc>
                <a:spcPct val="106000"/>
              </a:lnSpc>
              <a:buNone/>
            </a:pPr>
            <a:r>
              <a:rPr lang="en-US" sz="1600" b="1" dirty="0">
                <a:solidFill>
                  <a:srgbClr val="B22222"/>
                </a:solidFill>
                <a:latin typeface="Courier New" pitchFamily="34" charset="0"/>
                <a:ea typeface="Courier New" pitchFamily="34" charset="-122"/>
                <a:cs typeface="Courier New" pitchFamily="34" charset="-120"/>
              </a:rPr>
              <a:t>&gt;</a:t>
            </a:r>
            <a:endParaRPr lang="en-US" sz="1600" dirty="0"/>
          </a:p>
        </p:txBody>
      </p:sp>
      <p:sp>
        <p:nvSpPr>
          <p:cNvPr id="10" name="Shape 8"/>
          <p:cNvSpPr/>
          <p:nvPr/>
        </p:nvSpPr>
        <p:spPr>
          <a:xfrm>
            <a:off x="6035040" y="1609344"/>
            <a:ext cx="2560320" cy="932688"/>
          </a:xfrm>
          <a:prstGeom prst="roundRect">
            <a:avLst>
              <a:gd name="adj" fmla="val 588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1" name="Text 9"/>
          <p:cNvSpPr/>
          <p:nvPr/>
        </p:nvSpPr>
        <p:spPr>
          <a:xfrm>
            <a:off x="6236208" y="1609344"/>
            <a:ext cx="2157984" cy="932688"/>
          </a:xfrm>
          <a:prstGeom prst="rect">
            <a:avLst/>
          </a:prstGeom>
          <a:noFill/>
          <a:ln/>
        </p:spPr>
        <p:txBody>
          <a:bodyPr wrap="square" lIns="0" tIns="0" rIns="0" bIns="0" rtlCol="0" anchor="ctr"/>
          <a:lstStyle/>
          <a:p>
            <a:pPr algn="l" indent="0" marL="0">
              <a:lnSpc>
                <a:spcPct val="112000"/>
              </a:lnSpc>
              <a:buNone/>
            </a:pPr>
            <a:r>
              <a:rPr lang="en-US" sz="1350" dirty="0">
                <a:solidFill>
                  <a:srgbClr val="14171A"/>
                </a:solidFill>
                <a:latin typeface="Calibri" pitchFamily="34" charset="0"/>
                <a:ea typeface="Calibri" pitchFamily="34" charset="-122"/>
                <a:cs typeface="Calibri" pitchFamily="34" charset="-120"/>
              </a:rPr>
              <a:t>Sensational content gets promoted.</a:t>
            </a:r>
            <a:endParaRPr lang="en-US" sz="1350" dirty="0"/>
          </a:p>
        </p:txBody>
      </p:sp>
      <p:sp>
        <p:nvSpPr>
          <p:cNvPr id="12" name="Shape 10"/>
          <p:cNvSpPr/>
          <p:nvPr/>
        </p:nvSpPr>
        <p:spPr>
          <a:xfrm>
            <a:off x="548640" y="2852928"/>
            <a:ext cx="8046720" cy="841248"/>
          </a:xfrm>
          <a:prstGeom prst="roundRect">
            <a:avLst>
              <a:gd name="adj" fmla="val 6522"/>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13" name="Text 11"/>
          <p:cNvSpPr/>
          <p:nvPr/>
        </p:nvSpPr>
        <p:spPr>
          <a:xfrm>
            <a:off x="822960" y="2852928"/>
            <a:ext cx="7498080" cy="841248"/>
          </a:xfrm>
          <a:prstGeom prst="rect">
            <a:avLst/>
          </a:prstGeom>
          <a:noFill/>
          <a:ln/>
        </p:spPr>
        <p:txBody>
          <a:bodyPr wrap="square" lIns="0" tIns="0" rIns="0" bIns="0" rtlCol="0" anchor="ctr"/>
          <a:lstStyle/>
          <a:p>
            <a:pPr algn="l" indent="0" marL="0">
              <a:lnSpc>
                <a:spcPct val="114000"/>
              </a:lnSpc>
              <a:buNone/>
            </a:pPr>
            <a:r>
              <a:rPr lang="en-US" sz="1650" i="1" dirty="0">
                <a:solidFill>
                  <a:srgbClr val="14171A"/>
                </a:solidFill>
                <a:latin typeface="Cambria" pitchFamily="34" charset="0"/>
                <a:ea typeface="Cambria" pitchFamily="34" charset="-122"/>
                <a:cs typeface="Cambria" pitchFamily="34" charset="-120"/>
              </a:rPr>
              <a:t>A system built to maximize reaction will amplify whatever produces the most reaction, and truth is not what that number measures.</a:t>
            </a:r>
            <a:endParaRPr lang="en-US" sz="1650" dirty="0"/>
          </a:p>
        </p:txBody>
      </p:sp>
      <p:sp>
        <p:nvSpPr>
          <p:cNvPr id="14" name="Text 12"/>
          <p:cNvSpPr/>
          <p:nvPr/>
        </p:nvSpPr>
        <p:spPr>
          <a:xfrm>
            <a:off x="548640" y="3931920"/>
            <a:ext cx="8046720" cy="457200"/>
          </a:xfrm>
          <a:prstGeom prst="rect">
            <a:avLst/>
          </a:prstGeom>
          <a:noFill/>
          <a:ln/>
        </p:spPr>
        <p:txBody>
          <a:bodyPr wrap="square" lIns="0" tIns="0" rIns="0" bIns="0" rtlCol="0" anchor="t"/>
          <a:lstStyle/>
          <a:p>
            <a:pPr algn="l" indent="0" marL="0">
              <a:lnSpc>
                <a:spcPct val="112000"/>
              </a:lnSpc>
              <a:buNone/>
            </a:pPr>
            <a:r>
              <a:rPr lang="en-US" sz="1350" dirty="0">
                <a:solidFill>
                  <a:srgbClr val="3C444C"/>
                </a:solidFill>
                <a:latin typeface="Calibri" pitchFamily="34" charset="0"/>
                <a:ea typeface="Calibri" pitchFamily="34" charset="-122"/>
                <a:cs typeface="Calibri" pitchFamily="34" charset="-120"/>
              </a:rPr>
              <a:t>Naming the feeling is the counter. "This is built to make me angry" is a complete defense, and it takes four seconds.</a:t>
            </a:r>
            <a:endParaRPr lang="en-US" sz="1350" dirty="0"/>
          </a:p>
        </p:txBody>
      </p:sp>
      <p:sp>
        <p:nvSpPr>
          <p:cNvPr id="16" name="Text 13"/>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PART THREE</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It is not the bots. It is us.</a:t>
            </a:r>
            <a:endParaRPr lang="en-US" sz="3000" dirty="0"/>
          </a:p>
        </p:txBody>
      </p:sp>
      <p:sp>
        <p:nvSpPr>
          <p:cNvPr id="4" name="Shape 2"/>
          <p:cNvSpPr/>
          <p:nvPr/>
        </p:nvSpPr>
        <p:spPr>
          <a:xfrm>
            <a:off x="548640" y="1517904"/>
            <a:ext cx="4572000" cy="2194560"/>
          </a:xfrm>
          <a:prstGeom prst="roundRect">
            <a:avLst>
              <a:gd name="adj" fmla="val 25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804672" y="1755648"/>
            <a:ext cx="4059936" cy="1737360"/>
          </a:xfrm>
          <a:prstGeom prst="rect">
            <a:avLst/>
          </a:prstGeom>
          <a:noFill/>
          <a:ln/>
        </p:spPr>
        <p:txBody>
          <a:bodyPr wrap="square" lIns="0" tIns="0" rIns="0" bIns="0" rtlCol="0" anchor="t"/>
          <a:lstStyle/>
          <a:p>
            <a:pPr marL="177800" indent="-177800">
              <a:lnSpc>
                <a:spcPct val="104000"/>
              </a:lnSpc>
              <a:spcAft>
                <a:spcPts val="900"/>
              </a:spcAft>
              <a:buSzPct val="100000"/>
              <a:buChar char="•"/>
            </a:pPr>
            <a:r>
              <a:rPr lang="en-US" sz="1300" dirty="0">
                <a:solidFill>
                  <a:srgbClr val="3C444C"/>
                </a:solidFill>
                <a:latin typeface="Calibri" pitchFamily="34" charset="0"/>
                <a:ea typeface="Calibri" pitchFamily="34" charset="-122"/>
                <a:cs typeface="Calibri" pitchFamily="34" charset="-120"/>
              </a:rPr>
              <a:t>In 2018, Vosoughi, Roy and Aral at MIT published a study in Science following roughly 126,000 rumor cascades on Twitter over eleven years.</a:t>
            </a:r>
            <a:endParaRPr lang="en-US" sz="1300" dirty="0"/>
          </a:p>
          <a:p>
            <a:pPr marL="177800" indent="-177800">
              <a:lnSpc>
                <a:spcPct val="104000"/>
              </a:lnSpc>
              <a:spcAft>
                <a:spcPts val="900"/>
              </a:spcAft>
              <a:buSzPct val="100000"/>
              <a:buChar char="•"/>
            </a:pPr>
            <a:r>
              <a:rPr lang="en-US" sz="1300" dirty="0">
                <a:solidFill>
                  <a:srgbClr val="3C444C"/>
                </a:solidFill>
                <a:latin typeface="Calibri" pitchFamily="34" charset="0"/>
                <a:ea typeface="Calibri" pitchFamily="34" charset="-122"/>
                <a:cs typeface="Calibri" pitchFamily="34" charset="-120"/>
              </a:rPr>
              <a:t>False stories spread farther, faster, and to more people than true ones. It was not close.</a:t>
            </a:r>
            <a:endParaRPr lang="en-US" sz="1300" dirty="0"/>
          </a:p>
          <a:p>
            <a:pPr marL="177800" indent="-177800">
              <a:lnSpc>
                <a:spcPct val="104000"/>
              </a:lnSpc>
              <a:spcAft>
                <a:spcPts val="900"/>
              </a:spcAft>
              <a:buSzPct val="100000"/>
              <a:buChar char="•"/>
            </a:pPr>
            <a:r>
              <a:rPr lang="en-US" sz="1300" dirty="0">
                <a:solidFill>
                  <a:srgbClr val="3C444C"/>
                </a:solidFill>
                <a:latin typeface="Calibri" pitchFamily="34" charset="0"/>
                <a:ea typeface="Calibri" pitchFamily="34" charset="-122"/>
                <a:cs typeface="Calibri" pitchFamily="34" charset="-120"/>
              </a:rPr>
              <a:t>Then they removed all the bot activity and ran it again. The finding held.</a:t>
            </a:r>
            <a:endParaRPr lang="en-US" sz="1300" dirty="0"/>
          </a:p>
        </p:txBody>
      </p:sp>
      <p:sp>
        <p:nvSpPr>
          <p:cNvPr id="6" name="Shape 4"/>
          <p:cNvSpPr/>
          <p:nvPr/>
        </p:nvSpPr>
        <p:spPr>
          <a:xfrm>
            <a:off x="5394960" y="1517904"/>
            <a:ext cx="3200400" cy="2194560"/>
          </a:xfrm>
          <a:prstGeom prst="roundRect">
            <a:avLst>
              <a:gd name="adj" fmla="val 2500"/>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7" name="Text 5"/>
          <p:cNvSpPr/>
          <p:nvPr/>
        </p:nvSpPr>
        <p:spPr>
          <a:xfrm>
            <a:off x="5650992" y="1773936"/>
            <a:ext cx="2688336" cy="512064"/>
          </a:xfrm>
          <a:prstGeom prst="rect">
            <a:avLst/>
          </a:prstGeom>
          <a:noFill/>
          <a:ln/>
        </p:spPr>
        <p:txBody>
          <a:bodyPr wrap="square" lIns="0" tIns="0" rIns="0" bIns="0" rtlCol="0" anchor="t"/>
          <a:lstStyle/>
          <a:p>
            <a:pPr algn="l" indent="0" marL="0">
              <a:lnSpc>
                <a:spcPct val="106000"/>
              </a:lnSpc>
              <a:buNone/>
            </a:pPr>
            <a:r>
              <a:rPr lang="en-US" sz="3200" b="1" dirty="0">
                <a:solidFill>
                  <a:srgbClr val="8A1A1A"/>
                </a:solidFill>
                <a:latin typeface="Cambria" pitchFamily="34" charset="0"/>
                <a:ea typeface="Cambria" pitchFamily="34" charset="-122"/>
                <a:cs typeface="Cambria" pitchFamily="34" charset="-120"/>
              </a:rPr>
              <a:t>126,000</a:t>
            </a:r>
            <a:endParaRPr lang="en-US" sz="3200" dirty="0"/>
          </a:p>
        </p:txBody>
      </p:sp>
      <p:sp>
        <p:nvSpPr>
          <p:cNvPr id="8" name="Text 6"/>
          <p:cNvSpPr/>
          <p:nvPr/>
        </p:nvSpPr>
        <p:spPr>
          <a:xfrm>
            <a:off x="5650992" y="2286000"/>
            <a:ext cx="2688336" cy="237744"/>
          </a:xfrm>
          <a:prstGeom prst="rect">
            <a:avLst/>
          </a:prstGeom>
          <a:noFill/>
          <a:ln/>
        </p:spPr>
        <p:txBody>
          <a:bodyPr wrap="square" lIns="0" tIns="0" rIns="0" bIns="0" rtlCol="0" anchor="t"/>
          <a:lstStyle/>
          <a:p>
            <a:pPr algn="l" indent="0" marL="0">
              <a:lnSpc>
                <a:spcPct val="106000"/>
              </a:lnSpc>
              <a:buNone/>
            </a:pPr>
            <a:r>
              <a:rPr lang="en-US" sz="900" dirty="0">
                <a:solidFill>
                  <a:srgbClr val="3C444C"/>
                </a:solidFill>
                <a:latin typeface="Courier New" pitchFamily="34" charset="0"/>
                <a:ea typeface="Courier New" pitchFamily="34" charset="-122"/>
                <a:cs typeface="Courier New" pitchFamily="34" charset="-120"/>
              </a:rPr>
              <a:t>RUMOR CASCADES  ·  11 YEARS</a:t>
            </a:r>
            <a:endParaRPr lang="en-US" sz="900" dirty="0"/>
          </a:p>
        </p:txBody>
      </p:sp>
      <p:sp>
        <p:nvSpPr>
          <p:cNvPr id="9" name="Text 7"/>
          <p:cNvSpPr/>
          <p:nvPr/>
        </p:nvSpPr>
        <p:spPr>
          <a:xfrm>
            <a:off x="5650992" y="2743200"/>
            <a:ext cx="2688336" cy="548640"/>
          </a:xfrm>
          <a:prstGeom prst="rect">
            <a:avLst/>
          </a:prstGeom>
          <a:noFill/>
          <a:ln/>
        </p:spPr>
        <p:txBody>
          <a:bodyPr wrap="square" lIns="0" tIns="0" rIns="0" bIns="0" rtlCol="0" anchor="t"/>
          <a:lstStyle/>
          <a:p>
            <a:pPr algn="l" indent="0" marL="0">
              <a:lnSpc>
                <a:spcPct val="110000"/>
              </a:lnSpc>
              <a:buNone/>
            </a:pPr>
            <a:r>
              <a:rPr lang="en-US" sz="1700" b="1" dirty="0">
                <a:solidFill>
                  <a:srgbClr val="14171A"/>
                </a:solidFill>
                <a:latin typeface="Cambria" pitchFamily="34" charset="0"/>
                <a:ea typeface="Cambria" pitchFamily="34" charset="-122"/>
                <a:cs typeface="Cambria" pitchFamily="34" charset="-120"/>
              </a:rPr>
              <a:t>Humans did the spreading.</a:t>
            </a:r>
            <a:endParaRPr lang="en-US" sz="1700" dirty="0"/>
          </a:p>
        </p:txBody>
      </p:sp>
      <p:sp>
        <p:nvSpPr>
          <p:cNvPr id="10" name="Text 8"/>
          <p:cNvSpPr/>
          <p:nvPr/>
        </p:nvSpPr>
        <p:spPr>
          <a:xfrm>
            <a:off x="548640" y="3840480"/>
            <a:ext cx="8046720" cy="457200"/>
          </a:xfrm>
          <a:prstGeom prst="rect">
            <a:avLst/>
          </a:prstGeom>
          <a:noFill/>
          <a:ln/>
        </p:spPr>
        <p:txBody>
          <a:bodyPr wrap="square" lIns="0" tIns="0" rIns="0" bIns="0" rtlCol="0" anchor="t"/>
          <a:lstStyle/>
          <a:p>
            <a:pPr algn="l" indent="0" marL="0">
              <a:lnSpc>
                <a:spcPct val="110000"/>
              </a:lnSpc>
              <a:buNone/>
            </a:pPr>
            <a:r>
              <a:rPr lang="en-US" sz="1300" dirty="0">
                <a:solidFill>
                  <a:srgbClr val="3C444C"/>
                </a:solidFill>
                <a:latin typeface="Calibri" pitchFamily="34" charset="0"/>
                <a:ea typeface="Calibri" pitchFamily="34" charset="-122"/>
                <a:cs typeface="Calibri" pitchFamily="34" charset="-120"/>
              </a:rPr>
              <a:t>Their explanation was novelty and emotional response. False stories are newer, because they are not constrained by having happened, and novelty is what people forward.</a:t>
            </a:r>
            <a:endParaRPr lang="en-US" sz="1300" dirty="0"/>
          </a:p>
        </p:txBody>
      </p:sp>
      <p:sp>
        <p:nvSpPr>
          <p:cNvPr id="11" name="Text 9"/>
          <p:cNvSpPr/>
          <p:nvPr/>
        </p:nvSpPr>
        <p:spPr>
          <a:xfrm>
            <a:off x="548640" y="4279392"/>
            <a:ext cx="8046720" cy="274320"/>
          </a:xfrm>
          <a:prstGeom prst="rect">
            <a:avLst/>
          </a:prstGeom>
          <a:noFill/>
          <a:ln/>
        </p:spPr>
        <p:txBody>
          <a:bodyPr wrap="square" lIns="0" tIns="0" rIns="0" bIns="0" rtlCol="0" anchor="t"/>
          <a:lstStyle/>
          <a:p>
            <a:pPr algn="l" indent="0" marL="0">
              <a:lnSpc>
                <a:spcPct val="106000"/>
              </a:lnSpc>
              <a:buNone/>
            </a:pPr>
            <a:r>
              <a:rPr lang="en-US" sz="1400" b="1" dirty="0">
                <a:solidFill>
                  <a:srgbClr val="14171A"/>
                </a:solidFill>
                <a:latin typeface="Calibri" pitchFamily="34" charset="0"/>
                <a:ea typeface="Calibri" pitchFamily="34" charset="-122"/>
                <a:cs typeface="Calibri" pitchFamily="34" charset="-120"/>
              </a:rPr>
              <a:t>So the fix is mostly not technical. It is the two seconds before you repost.</a:t>
            </a:r>
            <a:endParaRPr lang="en-US" sz="1400" dirty="0"/>
          </a:p>
        </p:txBody>
      </p:sp>
      <p:sp>
        <p:nvSpPr>
          <p:cNvPr id="13" name="Text 10"/>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PART THREE · THE MOTIVE</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Often money rather than politics</a:t>
            </a:r>
            <a:endParaRPr lang="en-US" sz="3000" dirty="0"/>
          </a:p>
        </p:txBody>
      </p:sp>
      <p:sp>
        <p:nvSpPr>
          <p:cNvPr id="4" name="Shape 2"/>
          <p:cNvSpPr/>
          <p:nvPr/>
        </p:nvSpPr>
        <p:spPr>
          <a:xfrm>
            <a:off x="548640" y="1517904"/>
            <a:ext cx="3840480" cy="2286000"/>
          </a:xfrm>
          <a:prstGeom prst="roundRect">
            <a:avLst>
              <a:gd name="adj" fmla="val 24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786384" y="1737360"/>
            <a:ext cx="3364992" cy="237744"/>
          </a:xfrm>
          <a:prstGeom prst="rect">
            <a:avLst/>
          </a:prstGeom>
          <a:noFill/>
          <a:ln/>
        </p:spPr>
        <p:txBody>
          <a:bodyPr wrap="square" lIns="0" tIns="0" rIns="0" bIns="0" rtlCol="0" anchor="t"/>
          <a:lstStyle/>
          <a:p>
            <a:pPr algn="l" indent="0" marL="0">
              <a:lnSpc>
                <a:spcPct val="106000"/>
              </a:lnSpc>
              <a:buNone/>
            </a:pPr>
            <a:r>
              <a:rPr lang="en-US" sz="900" b="1" dirty="0">
                <a:solidFill>
                  <a:srgbClr val="8A1A1A"/>
                </a:solidFill>
                <a:latin typeface="Courier New" pitchFamily="34" charset="0"/>
                <a:ea typeface="Courier New" pitchFamily="34" charset="-122"/>
                <a:cs typeface="Courier New" pitchFamily="34" charset="-120"/>
              </a:rPr>
              <a:t>VELES, NORTH MACEDONIA · 2016</a:t>
            </a:r>
            <a:endParaRPr lang="en-US" sz="900" dirty="0"/>
          </a:p>
        </p:txBody>
      </p:sp>
      <p:sp>
        <p:nvSpPr>
          <p:cNvPr id="6" name="Text 4"/>
          <p:cNvSpPr/>
          <p:nvPr/>
        </p:nvSpPr>
        <p:spPr>
          <a:xfrm>
            <a:off x="786384" y="2048256"/>
            <a:ext cx="3364992" cy="1664208"/>
          </a:xfrm>
          <a:prstGeom prst="rect">
            <a:avLst/>
          </a:prstGeom>
          <a:noFill/>
          <a:ln/>
        </p:spPr>
        <p:txBody>
          <a:bodyPr wrap="square" lIns="0" tIns="0" rIns="0" bIns="0" rtlCol="0" anchor="t"/>
          <a:lstStyle/>
          <a:p>
            <a:pPr algn="l" indent="0" marL="0">
              <a:lnSpc>
                <a:spcPct val="110000"/>
              </a:lnSpc>
              <a:buNone/>
            </a:pPr>
            <a:r>
              <a:rPr lang="en-US" sz="1250" dirty="0">
                <a:solidFill>
                  <a:srgbClr val="3C444C"/>
                </a:solidFill>
                <a:latin typeface="Calibri" pitchFamily="34" charset="0"/>
                <a:ea typeface="Calibri" pitchFamily="34" charset="-122"/>
                <a:cs typeface="Calibri" pitchFamily="34" charset="-120"/>
              </a:rPr>
              <a:t>BuzzFeed News traced a cluster of American political hoax sites to one town, run largely by young people who had found that sensational American politics paid well in advertising.</a:t>
            </a:r>
            <a:endParaRPr lang="en-US" sz="1250" dirty="0"/>
          </a:p>
          <a:p>
            <a:pPr algn="l" indent="0" marL="0">
              <a:lnSpc>
                <a:spcPct val="110000"/>
              </a:lnSpc>
              <a:buNone/>
            </a:pPr>
            <a:endParaRPr lang="en-US" sz="1250" dirty="0"/>
          </a:p>
          <a:p>
            <a:pPr algn="l" indent="0" marL="0">
              <a:lnSpc>
                <a:spcPct val="110000"/>
              </a:lnSpc>
              <a:buNone/>
            </a:pPr>
            <a:r>
              <a:rPr lang="en-US" sz="1250" dirty="0">
                <a:solidFill>
                  <a:srgbClr val="3C444C"/>
                </a:solidFill>
                <a:latin typeface="Calibri" pitchFamily="34" charset="0"/>
                <a:ea typeface="Calibri" pitchFamily="34" charset="-122"/>
                <a:cs typeface="Calibri" pitchFamily="34" charset="-120"/>
              </a:rPr>
              <a:t>In the last three months of that campaign, the top false election stories drew more Facebook engagement than the top real ones.</a:t>
            </a:r>
            <a:endParaRPr lang="en-US" sz="1250" dirty="0"/>
          </a:p>
        </p:txBody>
      </p:sp>
      <p:sp>
        <p:nvSpPr>
          <p:cNvPr id="7" name="Shape 5"/>
          <p:cNvSpPr/>
          <p:nvPr/>
        </p:nvSpPr>
        <p:spPr>
          <a:xfrm>
            <a:off x="4754880" y="1517904"/>
            <a:ext cx="3840480" cy="2286000"/>
          </a:xfrm>
          <a:prstGeom prst="roundRect">
            <a:avLst>
              <a:gd name="adj" fmla="val 24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8" name="Text 6"/>
          <p:cNvSpPr/>
          <p:nvPr/>
        </p:nvSpPr>
        <p:spPr>
          <a:xfrm>
            <a:off x="4992624" y="1737360"/>
            <a:ext cx="3364992" cy="237744"/>
          </a:xfrm>
          <a:prstGeom prst="rect">
            <a:avLst/>
          </a:prstGeom>
          <a:noFill/>
          <a:ln/>
        </p:spPr>
        <p:txBody>
          <a:bodyPr wrap="square" lIns="0" tIns="0" rIns="0" bIns="0" rtlCol="0" anchor="t"/>
          <a:lstStyle/>
          <a:p>
            <a:pPr algn="l" indent="0" marL="0">
              <a:lnSpc>
                <a:spcPct val="106000"/>
              </a:lnSpc>
              <a:buNone/>
            </a:pPr>
            <a:r>
              <a:rPr lang="en-US" sz="900" b="1" dirty="0">
                <a:solidFill>
                  <a:srgbClr val="8A1A1A"/>
                </a:solidFill>
                <a:latin typeface="Courier New" pitchFamily="34" charset="0"/>
                <a:ea typeface="Courier New" pitchFamily="34" charset="-122"/>
                <a:cs typeface="Courier New" pitchFamily="34" charset="-120"/>
              </a:rPr>
              <a:t>PIZZAGATE · 2016</a:t>
            </a:r>
            <a:endParaRPr lang="en-US" sz="900" dirty="0"/>
          </a:p>
        </p:txBody>
      </p:sp>
      <p:sp>
        <p:nvSpPr>
          <p:cNvPr id="9" name="Text 7"/>
          <p:cNvSpPr/>
          <p:nvPr/>
        </p:nvSpPr>
        <p:spPr>
          <a:xfrm>
            <a:off x="4992624" y="2048256"/>
            <a:ext cx="3364992" cy="1664208"/>
          </a:xfrm>
          <a:prstGeom prst="rect">
            <a:avLst/>
          </a:prstGeom>
          <a:noFill/>
          <a:ln/>
        </p:spPr>
        <p:txBody>
          <a:bodyPr wrap="square" lIns="0" tIns="0" rIns="0" bIns="0" rtlCol="0" anchor="t"/>
          <a:lstStyle/>
          <a:p>
            <a:pPr algn="l" indent="0" marL="0">
              <a:lnSpc>
                <a:spcPct val="110000"/>
              </a:lnSpc>
              <a:buNone/>
            </a:pPr>
            <a:r>
              <a:rPr lang="en-US" sz="1250" dirty="0">
                <a:solidFill>
                  <a:srgbClr val="3C444C"/>
                </a:solidFill>
                <a:latin typeface="Calibri" pitchFamily="34" charset="0"/>
                <a:ea typeface="Calibri" pitchFamily="34" charset="-122"/>
                <a:cs typeface="Calibri" pitchFamily="34" charset="-120"/>
              </a:rPr>
              <a:t>A claim that a child trafficking operation was run out of a Washington DC restaurant. There was nothing to it at all.</a:t>
            </a:r>
            <a:endParaRPr lang="en-US" sz="1250" dirty="0"/>
          </a:p>
          <a:p>
            <a:pPr algn="l" indent="0" marL="0">
              <a:lnSpc>
                <a:spcPct val="110000"/>
              </a:lnSpc>
              <a:buNone/>
            </a:pPr>
            <a:endParaRPr lang="en-US" sz="1250" dirty="0"/>
          </a:p>
          <a:p>
            <a:pPr algn="l" indent="0" marL="0">
              <a:lnSpc>
                <a:spcPct val="110000"/>
              </a:lnSpc>
              <a:buNone/>
            </a:pPr>
            <a:r>
              <a:rPr lang="en-US" sz="1250" dirty="0">
                <a:solidFill>
                  <a:srgbClr val="3C444C"/>
                </a:solidFill>
                <a:latin typeface="Calibri" pitchFamily="34" charset="0"/>
                <a:ea typeface="Calibri" pitchFamily="34" charset="-122"/>
                <a:cs typeface="Calibri" pitchFamily="34" charset="-120"/>
              </a:rPr>
              <a:t>In December 2016 a man drove there from another state and fired a rifle inside the building. Nobody was hurt, which was luck.</a:t>
            </a:r>
            <a:endParaRPr lang="en-US" sz="1250" dirty="0"/>
          </a:p>
        </p:txBody>
      </p:sp>
      <p:sp>
        <p:nvSpPr>
          <p:cNvPr id="10" name="Shape 8"/>
          <p:cNvSpPr/>
          <p:nvPr/>
        </p:nvSpPr>
        <p:spPr>
          <a:xfrm>
            <a:off x="548640" y="3950208"/>
            <a:ext cx="8046720" cy="603504"/>
          </a:xfrm>
          <a:prstGeom prst="roundRect">
            <a:avLst>
              <a:gd name="adj" fmla="val 9091"/>
            </a:avLst>
          </a:prstGeom>
          <a:solidFill>
            <a:srgbClr val="E3EAEE"/>
          </a:solidFill>
          <a:ln w="9525">
            <a:solidFill>
              <a:srgbClr val="E3EAEE"/>
            </a:solidFill>
            <a:prstDash val="solid"/>
          </a:ln>
          <a:effectLst>
            <a:outerShdw sx="100000" sy="100000" kx="0" ky="0" algn="bl" rotWithShape="0" blurRad="88900" dist="12700" dir="5400000">
              <a:srgbClr val="9A968A">
                <a:alpha val="20000"/>
              </a:srgbClr>
            </a:outerShdw>
          </a:effectLst>
        </p:spPr>
      </p:sp>
      <p:sp>
        <p:nvSpPr>
          <p:cNvPr id="11" name="Text 9"/>
          <p:cNvSpPr/>
          <p:nvPr/>
        </p:nvSpPr>
        <p:spPr>
          <a:xfrm>
            <a:off x="786384" y="4059936"/>
            <a:ext cx="1097280" cy="201168"/>
          </a:xfrm>
          <a:prstGeom prst="rect">
            <a:avLst/>
          </a:prstGeom>
          <a:noFill/>
          <a:ln/>
        </p:spPr>
        <p:txBody>
          <a:bodyPr wrap="square" lIns="0" tIns="0" rIns="0" bIns="0" rtlCol="0" anchor="t"/>
          <a:lstStyle/>
          <a:p>
            <a:pPr algn="l" indent="0" marL="0">
              <a:lnSpc>
                <a:spcPct val="106000"/>
              </a:lnSpc>
              <a:buNone/>
            </a:pPr>
            <a:r>
              <a:rPr lang="en-US" sz="850" b="1" dirty="0">
                <a:solidFill>
                  <a:srgbClr val="1F5673"/>
                </a:solidFill>
                <a:latin typeface="Courier New" pitchFamily="34" charset="0"/>
                <a:ea typeface="Courier New" pitchFamily="34" charset="-122"/>
                <a:cs typeface="Courier New" pitchFamily="34" charset="-120"/>
              </a:rPr>
              <a:t>WATCH FOR</a:t>
            </a:r>
            <a:endParaRPr lang="en-US" sz="850" dirty="0"/>
          </a:p>
        </p:txBody>
      </p:sp>
      <p:sp>
        <p:nvSpPr>
          <p:cNvPr id="12" name="Text 10"/>
          <p:cNvSpPr/>
          <p:nvPr/>
        </p:nvSpPr>
        <p:spPr>
          <a:xfrm>
            <a:off x="1920240" y="4041648"/>
            <a:ext cx="6400800" cy="420624"/>
          </a:xfrm>
          <a:prstGeom prst="rect">
            <a:avLst/>
          </a:prstGeom>
          <a:noFill/>
          <a:ln/>
        </p:spPr>
        <p:txBody>
          <a:bodyPr wrap="square" lIns="0" tIns="0" rIns="0" bIns="0" rtlCol="0" anchor="t"/>
          <a:lstStyle/>
          <a:p>
            <a:pPr algn="l" indent="0" marL="0">
              <a:lnSpc>
                <a:spcPct val="108000"/>
              </a:lnSpc>
              <a:buNone/>
            </a:pPr>
            <a:r>
              <a:rPr lang="en-US" sz="1250" dirty="0">
                <a:solidFill>
                  <a:srgbClr val="14171A"/>
                </a:solidFill>
                <a:latin typeface="Calibri" pitchFamily="34" charset="0"/>
                <a:ea typeface="Calibri" pitchFamily="34" charset="-122"/>
                <a:cs typeface="Calibri" pitchFamily="34" charset="-120"/>
              </a:rPr>
              <a:t>"It was bots" and "it was foreign interference" are both real and both comfortable: they put the problem outside the room.</a:t>
            </a:r>
            <a:endParaRPr lang="en-US" sz="1250" dirty="0"/>
          </a:p>
        </p:txBody>
      </p:sp>
      <p:sp>
        <p:nvSpPr>
          <p:cNvPr id="14" name="Text 11"/>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PART FOUR</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Lateral reading, about ninety seconds</a:t>
            </a:r>
            <a:endParaRPr lang="en-US" sz="3000" dirty="0"/>
          </a:p>
        </p:txBody>
      </p:sp>
      <p:sp>
        <p:nvSpPr>
          <p:cNvPr id="4" name="Shape 2"/>
          <p:cNvSpPr/>
          <p:nvPr/>
        </p:nvSpPr>
        <p:spPr>
          <a:xfrm>
            <a:off x="548640" y="1517904"/>
            <a:ext cx="3657600" cy="2286000"/>
          </a:xfrm>
          <a:prstGeom prst="roundRect">
            <a:avLst>
              <a:gd name="adj" fmla="val 24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786384" y="1737360"/>
            <a:ext cx="3182112" cy="914400"/>
          </a:xfrm>
          <a:prstGeom prst="rect">
            <a:avLst/>
          </a:prstGeom>
          <a:noFill/>
          <a:ln/>
        </p:spPr>
        <p:txBody>
          <a:bodyPr wrap="square" lIns="0" tIns="0" rIns="0" bIns="0" rtlCol="0" anchor="t"/>
          <a:lstStyle/>
          <a:p>
            <a:pPr algn="l" indent="0" marL="0">
              <a:lnSpc>
                <a:spcPct val="114000"/>
              </a:lnSpc>
              <a:buNone/>
            </a:pPr>
            <a:r>
              <a:rPr lang="en-US" sz="1300" dirty="0">
                <a:solidFill>
                  <a:srgbClr val="14171A"/>
                </a:solidFill>
                <a:latin typeface="Calibri" pitchFamily="34" charset="0"/>
                <a:ea typeface="Calibri" pitchFamily="34" charset="-122"/>
                <a:cs typeface="Calibri" pitchFamily="34" charset="-120"/>
              </a:rPr>
              <a:t>Instead of studying the page you landed on, harder and harder, you leave it. Open new tabs and find out what other sources say about whoever published it.</a:t>
            </a:r>
            <a:endParaRPr lang="en-US" sz="1300" dirty="0"/>
          </a:p>
        </p:txBody>
      </p:sp>
      <p:sp>
        <p:nvSpPr>
          <p:cNvPr id="6" name="Text 4"/>
          <p:cNvSpPr/>
          <p:nvPr/>
        </p:nvSpPr>
        <p:spPr>
          <a:xfrm>
            <a:off x="786384" y="2724912"/>
            <a:ext cx="3182112" cy="219456"/>
          </a:xfrm>
          <a:prstGeom prst="rect">
            <a:avLst/>
          </a:prstGeom>
          <a:noFill/>
          <a:ln/>
        </p:spPr>
        <p:txBody>
          <a:bodyPr wrap="square" lIns="0" tIns="0" rIns="0" bIns="0" rtlCol="0" anchor="t"/>
          <a:lstStyle/>
          <a:p>
            <a:pPr algn="l" indent="0" marL="0">
              <a:lnSpc>
                <a:spcPct val="106000"/>
              </a:lnSpc>
              <a:buNone/>
            </a:pPr>
            <a:r>
              <a:rPr lang="en-US" sz="900" b="1" dirty="0">
                <a:solidFill>
                  <a:srgbClr val="1F5673"/>
                </a:solidFill>
                <a:latin typeface="Courier New" pitchFamily="34" charset="0"/>
                <a:ea typeface="Courier New" pitchFamily="34" charset="-122"/>
                <a:cs typeface="Courier New" pitchFamily="34" charset="-120"/>
              </a:rPr>
              <a:t>STANFORD</a:t>
            </a:r>
            <a:endParaRPr lang="en-US" sz="900" dirty="0"/>
          </a:p>
        </p:txBody>
      </p:sp>
      <p:sp>
        <p:nvSpPr>
          <p:cNvPr id="7" name="Text 5"/>
          <p:cNvSpPr/>
          <p:nvPr/>
        </p:nvSpPr>
        <p:spPr>
          <a:xfrm>
            <a:off x="786384" y="2980944"/>
            <a:ext cx="3182112" cy="713232"/>
          </a:xfrm>
          <a:prstGeom prst="rect">
            <a:avLst/>
          </a:prstGeom>
          <a:noFill/>
          <a:ln/>
        </p:spPr>
        <p:txBody>
          <a:bodyPr wrap="square" lIns="0" tIns="0" rIns="0" bIns="0" rtlCol="0" anchor="t"/>
          <a:lstStyle/>
          <a:p>
            <a:pPr algn="l" indent="0" marL="0">
              <a:lnSpc>
                <a:spcPct val="106000"/>
              </a:lnSpc>
              <a:buNone/>
            </a:pPr>
            <a:r>
              <a:rPr lang="en-US" sz="1200" dirty="0">
                <a:solidFill>
                  <a:srgbClr val="3C444C"/>
                </a:solidFill>
                <a:latin typeface="Calibri" pitchFamily="34" charset="0"/>
                <a:ea typeface="Calibri" pitchFamily="34" charset="-122"/>
                <a:cs typeface="Calibri" pitchFamily="34" charset="-120"/>
              </a:rPr>
              <a:t>The professional fact checkers left the page almost immediately. The students stayed on it, examining its design, its logo and its About section, all of which the page controls.</a:t>
            </a:r>
            <a:endParaRPr lang="en-US" sz="1200" dirty="0"/>
          </a:p>
        </p:txBody>
      </p:sp>
      <p:sp>
        <p:nvSpPr>
          <p:cNvPr id="8" name="Shape 6"/>
          <p:cNvSpPr/>
          <p:nvPr/>
        </p:nvSpPr>
        <p:spPr>
          <a:xfrm>
            <a:off x="4480560" y="1554480"/>
            <a:ext cx="310896" cy="310896"/>
          </a:xfrm>
          <a:prstGeom prst="ellipse">
            <a:avLst/>
          </a:prstGeom>
          <a:solidFill>
            <a:srgbClr val="2B3238"/>
          </a:solidFill>
          <a:ln w="12700">
            <a:solidFill>
              <a:srgbClr val="2B3238"/>
            </a:solidFill>
            <a:prstDash val="solid"/>
          </a:ln>
        </p:spPr>
      </p:sp>
      <p:sp>
        <p:nvSpPr>
          <p:cNvPr id="9" name="Text 7"/>
          <p:cNvSpPr/>
          <p:nvPr/>
        </p:nvSpPr>
        <p:spPr>
          <a:xfrm>
            <a:off x="4480560" y="1554480"/>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1</a:t>
            </a:r>
            <a:endParaRPr lang="en-US" sz="950" dirty="0"/>
          </a:p>
        </p:txBody>
      </p:sp>
      <p:sp>
        <p:nvSpPr>
          <p:cNvPr id="10" name="Text 8"/>
          <p:cNvSpPr/>
          <p:nvPr/>
        </p:nvSpPr>
        <p:spPr>
          <a:xfrm>
            <a:off x="4919472" y="1536192"/>
            <a:ext cx="3657600" cy="402336"/>
          </a:xfrm>
          <a:prstGeom prst="rect">
            <a:avLst/>
          </a:prstGeom>
          <a:noFill/>
          <a:ln/>
        </p:spPr>
        <p:txBody>
          <a:bodyPr wrap="square" lIns="0" tIns="0" rIns="0" bIns="0" rtlCol="0" anchor="t"/>
          <a:lstStyle/>
          <a:p>
            <a:pPr algn="l" indent="0" marL="0">
              <a:lnSpc>
                <a:spcPct val="104000"/>
              </a:lnSpc>
              <a:buNone/>
            </a:pPr>
            <a:r>
              <a:rPr lang="en-US" sz="1250" dirty="0">
                <a:solidFill>
                  <a:srgbClr val="14171A"/>
                </a:solidFill>
                <a:latin typeface="Calibri" pitchFamily="34" charset="0"/>
                <a:ea typeface="Calibri" pitchFamily="34" charset="-122"/>
                <a:cs typeface="Calibri" pitchFamily="34" charset="-120"/>
              </a:rPr>
              <a:t>Who published this?</a:t>
            </a:r>
            <a:endParaRPr lang="en-US" sz="1250" dirty="0"/>
          </a:p>
        </p:txBody>
      </p:sp>
      <p:sp>
        <p:nvSpPr>
          <p:cNvPr id="11" name="Shape 9"/>
          <p:cNvSpPr/>
          <p:nvPr/>
        </p:nvSpPr>
        <p:spPr>
          <a:xfrm>
            <a:off x="4480560" y="2011680"/>
            <a:ext cx="310896" cy="310896"/>
          </a:xfrm>
          <a:prstGeom prst="ellipse">
            <a:avLst/>
          </a:prstGeom>
          <a:solidFill>
            <a:srgbClr val="2B3238"/>
          </a:solidFill>
          <a:ln w="12700">
            <a:solidFill>
              <a:srgbClr val="2B3238"/>
            </a:solidFill>
            <a:prstDash val="solid"/>
          </a:ln>
        </p:spPr>
      </p:sp>
      <p:sp>
        <p:nvSpPr>
          <p:cNvPr id="12" name="Text 10"/>
          <p:cNvSpPr/>
          <p:nvPr/>
        </p:nvSpPr>
        <p:spPr>
          <a:xfrm>
            <a:off x="4480560" y="2011680"/>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2</a:t>
            </a:r>
            <a:endParaRPr lang="en-US" sz="950" dirty="0"/>
          </a:p>
        </p:txBody>
      </p:sp>
      <p:sp>
        <p:nvSpPr>
          <p:cNvPr id="13" name="Text 11"/>
          <p:cNvSpPr/>
          <p:nvPr/>
        </p:nvSpPr>
        <p:spPr>
          <a:xfrm>
            <a:off x="4919472" y="1993392"/>
            <a:ext cx="3657600" cy="402336"/>
          </a:xfrm>
          <a:prstGeom prst="rect">
            <a:avLst/>
          </a:prstGeom>
          <a:noFill/>
          <a:ln/>
        </p:spPr>
        <p:txBody>
          <a:bodyPr wrap="square" lIns="0" tIns="0" rIns="0" bIns="0" rtlCol="0" anchor="t"/>
          <a:lstStyle/>
          <a:p>
            <a:pPr algn="l" indent="0" marL="0">
              <a:lnSpc>
                <a:spcPct val="104000"/>
              </a:lnSpc>
              <a:buNone/>
            </a:pPr>
            <a:r>
              <a:rPr lang="en-US" sz="1250" dirty="0">
                <a:solidFill>
                  <a:srgbClr val="14171A"/>
                </a:solidFill>
                <a:latin typeface="Calibri" pitchFamily="34" charset="0"/>
                <a:ea typeface="Calibri" pitchFamily="34" charset="-122"/>
                <a:cs typeface="Calibri" pitchFamily="34" charset="-120"/>
              </a:rPr>
              <a:t>When? Old stories recirculate as new ones constantly.</a:t>
            </a:r>
            <a:endParaRPr lang="en-US" sz="1250" dirty="0"/>
          </a:p>
        </p:txBody>
      </p:sp>
      <p:sp>
        <p:nvSpPr>
          <p:cNvPr id="14" name="Shape 12"/>
          <p:cNvSpPr/>
          <p:nvPr/>
        </p:nvSpPr>
        <p:spPr>
          <a:xfrm>
            <a:off x="4480560" y="2468880"/>
            <a:ext cx="310896" cy="310896"/>
          </a:xfrm>
          <a:prstGeom prst="ellipse">
            <a:avLst/>
          </a:prstGeom>
          <a:solidFill>
            <a:srgbClr val="2B3238"/>
          </a:solidFill>
          <a:ln w="12700">
            <a:solidFill>
              <a:srgbClr val="2B3238"/>
            </a:solidFill>
            <a:prstDash val="solid"/>
          </a:ln>
        </p:spPr>
      </p:sp>
      <p:sp>
        <p:nvSpPr>
          <p:cNvPr id="15" name="Text 13"/>
          <p:cNvSpPr/>
          <p:nvPr/>
        </p:nvSpPr>
        <p:spPr>
          <a:xfrm>
            <a:off x="4480560" y="2468880"/>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3</a:t>
            </a:r>
            <a:endParaRPr lang="en-US" sz="950" dirty="0"/>
          </a:p>
        </p:txBody>
      </p:sp>
      <p:sp>
        <p:nvSpPr>
          <p:cNvPr id="16" name="Text 14"/>
          <p:cNvSpPr/>
          <p:nvPr/>
        </p:nvSpPr>
        <p:spPr>
          <a:xfrm>
            <a:off x="4919472" y="2450592"/>
            <a:ext cx="3657600" cy="402336"/>
          </a:xfrm>
          <a:prstGeom prst="rect">
            <a:avLst/>
          </a:prstGeom>
          <a:noFill/>
          <a:ln/>
        </p:spPr>
        <p:txBody>
          <a:bodyPr wrap="square" lIns="0" tIns="0" rIns="0" bIns="0" rtlCol="0" anchor="t"/>
          <a:lstStyle/>
          <a:p>
            <a:pPr algn="l" indent="0" marL="0">
              <a:lnSpc>
                <a:spcPct val="104000"/>
              </a:lnSpc>
              <a:buNone/>
            </a:pPr>
            <a:r>
              <a:rPr lang="en-US" sz="1250" dirty="0">
                <a:solidFill>
                  <a:srgbClr val="14171A"/>
                </a:solidFill>
                <a:latin typeface="Calibri" pitchFamily="34" charset="0"/>
                <a:ea typeface="Calibri" pitchFamily="34" charset="-122"/>
                <a:cs typeface="Calibri" pitchFamily="34" charset="-120"/>
              </a:rPr>
              <a:t>Does anybody else report it? If only one outlet has it, why?</a:t>
            </a:r>
            <a:endParaRPr lang="en-US" sz="1250" dirty="0"/>
          </a:p>
        </p:txBody>
      </p:sp>
      <p:sp>
        <p:nvSpPr>
          <p:cNvPr id="17" name="Shape 15"/>
          <p:cNvSpPr/>
          <p:nvPr/>
        </p:nvSpPr>
        <p:spPr>
          <a:xfrm>
            <a:off x="4480560" y="2926080"/>
            <a:ext cx="310896" cy="310896"/>
          </a:xfrm>
          <a:prstGeom prst="ellipse">
            <a:avLst/>
          </a:prstGeom>
          <a:solidFill>
            <a:srgbClr val="2B3238"/>
          </a:solidFill>
          <a:ln w="12700">
            <a:solidFill>
              <a:srgbClr val="2B3238"/>
            </a:solidFill>
            <a:prstDash val="solid"/>
          </a:ln>
        </p:spPr>
      </p:sp>
      <p:sp>
        <p:nvSpPr>
          <p:cNvPr id="18" name="Text 16"/>
          <p:cNvSpPr/>
          <p:nvPr/>
        </p:nvSpPr>
        <p:spPr>
          <a:xfrm>
            <a:off x="4480560" y="2926080"/>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4</a:t>
            </a:r>
            <a:endParaRPr lang="en-US" sz="950" dirty="0"/>
          </a:p>
        </p:txBody>
      </p:sp>
      <p:sp>
        <p:nvSpPr>
          <p:cNvPr id="19" name="Text 17"/>
          <p:cNvSpPr/>
          <p:nvPr/>
        </p:nvSpPr>
        <p:spPr>
          <a:xfrm>
            <a:off x="4919472" y="2907792"/>
            <a:ext cx="3657600" cy="402336"/>
          </a:xfrm>
          <a:prstGeom prst="rect">
            <a:avLst/>
          </a:prstGeom>
          <a:noFill/>
          <a:ln/>
        </p:spPr>
        <p:txBody>
          <a:bodyPr wrap="square" lIns="0" tIns="0" rIns="0" bIns="0" rtlCol="0" anchor="t"/>
          <a:lstStyle/>
          <a:p>
            <a:pPr algn="l" indent="0" marL="0">
              <a:lnSpc>
                <a:spcPct val="104000"/>
              </a:lnSpc>
              <a:buNone/>
            </a:pPr>
            <a:r>
              <a:rPr lang="en-US" sz="1250" dirty="0">
                <a:solidFill>
                  <a:srgbClr val="14171A"/>
                </a:solidFill>
                <a:latin typeface="Calibri" pitchFamily="34" charset="0"/>
                <a:ea typeface="Calibri" pitchFamily="34" charset="-122"/>
                <a:cs typeface="Calibri" pitchFamily="34" charset="-120"/>
              </a:rPr>
              <a:t>What is the earliest version? The one you saw is several hands down the chain.</a:t>
            </a:r>
            <a:endParaRPr lang="en-US" sz="1250" dirty="0"/>
          </a:p>
        </p:txBody>
      </p:sp>
      <p:sp>
        <p:nvSpPr>
          <p:cNvPr id="20" name="Shape 18"/>
          <p:cNvSpPr/>
          <p:nvPr/>
        </p:nvSpPr>
        <p:spPr>
          <a:xfrm>
            <a:off x="4480560" y="3383280"/>
            <a:ext cx="310896" cy="310896"/>
          </a:xfrm>
          <a:prstGeom prst="ellipse">
            <a:avLst/>
          </a:prstGeom>
          <a:solidFill>
            <a:srgbClr val="2B3238"/>
          </a:solidFill>
          <a:ln w="12700">
            <a:solidFill>
              <a:srgbClr val="2B3238"/>
            </a:solidFill>
            <a:prstDash val="solid"/>
          </a:ln>
        </p:spPr>
      </p:sp>
      <p:sp>
        <p:nvSpPr>
          <p:cNvPr id="21" name="Text 19"/>
          <p:cNvSpPr/>
          <p:nvPr/>
        </p:nvSpPr>
        <p:spPr>
          <a:xfrm>
            <a:off x="4480560" y="3383280"/>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5</a:t>
            </a:r>
            <a:endParaRPr lang="en-US" sz="950" dirty="0"/>
          </a:p>
        </p:txBody>
      </p:sp>
      <p:sp>
        <p:nvSpPr>
          <p:cNvPr id="22" name="Text 20"/>
          <p:cNvSpPr/>
          <p:nvPr/>
        </p:nvSpPr>
        <p:spPr>
          <a:xfrm>
            <a:off x="4919472" y="3364992"/>
            <a:ext cx="3657600" cy="402336"/>
          </a:xfrm>
          <a:prstGeom prst="rect">
            <a:avLst/>
          </a:prstGeom>
          <a:noFill/>
          <a:ln/>
        </p:spPr>
        <p:txBody>
          <a:bodyPr wrap="square" lIns="0" tIns="0" rIns="0" bIns="0" rtlCol="0" anchor="t"/>
          <a:lstStyle/>
          <a:p>
            <a:pPr algn="l" indent="0" marL="0">
              <a:lnSpc>
                <a:spcPct val="104000"/>
              </a:lnSpc>
              <a:buNone/>
            </a:pPr>
            <a:r>
              <a:rPr lang="en-US" sz="1250" dirty="0">
                <a:solidFill>
                  <a:srgbClr val="14171A"/>
                </a:solidFill>
                <a:latin typeface="Calibri" pitchFamily="34" charset="0"/>
                <a:ea typeface="Calibri" pitchFamily="34" charset="-122"/>
                <a:cs typeface="Calibri" pitchFamily="34" charset="-120"/>
              </a:rPr>
              <a:t>For a photograph, a reverse image search.</a:t>
            </a:r>
            <a:endParaRPr lang="en-US" sz="1250" dirty="0"/>
          </a:p>
        </p:txBody>
      </p:sp>
      <p:sp>
        <p:nvSpPr>
          <p:cNvPr id="23" name="Shape 21"/>
          <p:cNvSpPr/>
          <p:nvPr/>
        </p:nvSpPr>
        <p:spPr>
          <a:xfrm>
            <a:off x="548640" y="3931920"/>
            <a:ext cx="8046720" cy="548640"/>
          </a:xfrm>
          <a:prstGeom prst="roundRect">
            <a:avLst>
              <a:gd name="adj" fmla="val 10000"/>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24" name="Text 22"/>
          <p:cNvSpPr/>
          <p:nvPr/>
        </p:nvSpPr>
        <p:spPr>
          <a:xfrm>
            <a:off x="786384" y="3931920"/>
            <a:ext cx="7571232" cy="548640"/>
          </a:xfrm>
          <a:prstGeom prst="rect">
            <a:avLst/>
          </a:prstGeom>
          <a:noFill/>
          <a:ln/>
        </p:spPr>
        <p:txBody>
          <a:bodyPr wrap="square" lIns="0" tIns="0" rIns="0" bIns="0" rtlCol="0" anchor="ctr"/>
          <a:lstStyle/>
          <a:p>
            <a:pPr algn="l" indent="0" marL="0">
              <a:lnSpc>
                <a:spcPct val="106000"/>
              </a:lnSpc>
              <a:buNone/>
            </a:pPr>
            <a:r>
              <a:rPr lang="en-US" sz="1300" dirty="0">
                <a:solidFill>
                  <a:srgbClr val="14171A"/>
                </a:solidFill>
                <a:latin typeface="Calibri" pitchFamily="34" charset="0"/>
                <a:ea typeface="Calibri" pitchFamily="34" charset="-122"/>
                <a:cs typeface="Calibri" pitchFamily="34" charset="-120"/>
              </a:rPr>
              <a:t>"I do not believe it" is not a check. A check names what you looked at, and it can end in uncertainty and still be finished work.</a:t>
            </a:r>
            <a:endParaRPr lang="en-US" sz="1300" dirty="0"/>
          </a:p>
        </p:txBody>
      </p:sp>
      <p:sp>
        <p:nvSpPr>
          <p:cNvPr id="26" name="Text 23"/>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PART FOUR · THE FAILURE MODE</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Doubting everything is not media literacy</a:t>
            </a:r>
            <a:endParaRPr lang="en-US" sz="3000" dirty="0"/>
          </a:p>
        </p:txBody>
      </p:sp>
      <p:sp>
        <p:nvSpPr>
          <p:cNvPr id="4" name="Shape 2"/>
          <p:cNvSpPr/>
          <p:nvPr/>
        </p:nvSpPr>
        <p:spPr>
          <a:xfrm>
            <a:off x="548640" y="1554480"/>
            <a:ext cx="3840480" cy="1463040"/>
          </a:xfrm>
          <a:prstGeom prst="roundRect">
            <a:avLst>
              <a:gd name="adj" fmla="val 3750"/>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804672" y="1773936"/>
            <a:ext cx="3328416" cy="219456"/>
          </a:xfrm>
          <a:prstGeom prst="rect">
            <a:avLst/>
          </a:prstGeom>
          <a:noFill/>
          <a:ln/>
        </p:spPr>
        <p:txBody>
          <a:bodyPr wrap="square" lIns="0" tIns="0" rIns="0" bIns="0" rtlCol="0" anchor="t"/>
          <a:lstStyle/>
          <a:p>
            <a:pPr algn="l" indent="0" marL="0">
              <a:lnSpc>
                <a:spcPct val="106000"/>
              </a:lnSpc>
              <a:buNone/>
            </a:pPr>
            <a:r>
              <a:rPr lang="en-US" sz="900" b="1" dirty="0">
                <a:solidFill>
                  <a:srgbClr val="8A1A1A"/>
                </a:solidFill>
                <a:latin typeface="Courier New" pitchFamily="34" charset="0"/>
                <a:ea typeface="Courier New" pitchFamily="34" charset="-122"/>
                <a:cs typeface="Courier New" pitchFamily="34" charset="-120"/>
              </a:rPr>
              <a:t>THE TRAP</a:t>
            </a:r>
            <a:endParaRPr lang="en-US" sz="900" dirty="0"/>
          </a:p>
        </p:txBody>
      </p:sp>
      <p:sp>
        <p:nvSpPr>
          <p:cNvPr id="6" name="Text 4"/>
          <p:cNvSpPr/>
          <p:nvPr/>
        </p:nvSpPr>
        <p:spPr>
          <a:xfrm>
            <a:off x="804672" y="2066544"/>
            <a:ext cx="3328416" cy="822960"/>
          </a:xfrm>
          <a:prstGeom prst="rect">
            <a:avLst/>
          </a:prstGeom>
          <a:noFill/>
          <a:ln/>
        </p:spPr>
        <p:txBody>
          <a:bodyPr wrap="square" lIns="0" tIns="0" rIns="0" bIns="0" rtlCol="0" anchor="t"/>
          <a:lstStyle/>
          <a:p>
            <a:pPr algn="l" indent="0" marL="0">
              <a:lnSpc>
                <a:spcPct val="114000"/>
              </a:lnSpc>
              <a:buNone/>
            </a:pPr>
            <a:r>
              <a:rPr lang="en-US" sz="1300" dirty="0">
                <a:solidFill>
                  <a:srgbClr val="14171A"/>
                </a:solidFill>
                <a:latin typeface="Calibri" pitchFamily="34" charset="0"/>
                <a:ea typeface="Calibri" pitchFamily="34" charset="-122"/>
                <a:cs typeface="Calibri" pitchFamily="34" charset="-120"/>
              </a:rPr>
              <a:t>It is paralysis. And it is genuinely useful to anyone running a disinformation campaign: if nothing can be established, nothing they say can be disproved.</a:t>
            </a:r>
            <a:endParaRPr lang="en-US" sz="1300" dirty="0"/>
          </a:p>
        </p:txBody>
      </p:sp>
      <p:sp>
        <p:nvSpPr>
          <p:cNvPr id="7" name="Shape 5"/>
          <p:cNvSpPr/>
          <p:nvPr/>
        </p:nvSpPr>
        <p:spPr>
          <a:xfrm>
            <a:off x="4754880" y="1554480"/>
            <a:ext cx="3840480" cy="1463040"/>
          </a:xfrm>
          <a:prstGeom prst="roundRect">
            <a:avLst>
              <a:gd name="adj" fmla="val 3750"/>
            </a:avLst>
          </a:prstGeom>
          <a:solidFill>
            <a:srgbClr val="E3EAEE"/>
          </a:solidFill>
          <a:ln w="9525">
            <a:solidFill>
              <a:srgbClr val="E3EAEE"/>
            </a:solidFill>
            <a:prstDash val="solid"/>
          </a:ln>
          <a:effectLst>
            <a:outerShdw sx="100000" sy="100000" kx="0" ky="0" algn="bl" rotWithShape="0" blurRad="88900" dist="12700" dir="5400000">
              <a:srgbClr val="9A968A">
                <a:alpha val="20000"/>
              </a:srgbClr>
            </a:outerShdw>
          </a:effectLst>
        </p:spPr>
      </p:sp>
      <p:sp>
        <p:nvSpPr>
          <p:cNvPr id="8" name="Text 6"/>
          <p:cNvSpPr/>
          <p:nvPr/>
        </p:nvSpPr>
        <p:spPr>
          <a:xfrm>
            <a:off x="5010912" y="1773936"/>
            <a:ext cx="3328416" cy="219456"/>
          </a:xfrm>
          <a:prstGeom prst="rect">
            <a:avLst/>
          </a:prstGeom>
          <a:noFill/>
          <a:ln/>
        </p:spPr>
        <p:txBody>
          <a:bodyPr wrap="square" lIns="0" tIns="0" rIns="0" bIns="0" rtlCol="0" anchor="t"/>
          <a:lstStyle/>
          <a:p>
            <a:pPr algn="l" indent="0" marL="0">
              <a:lnSpc>
                <a:spcPct val="106000"/>
              </a:lnSpc>
              <a:buNone/>
            </a:pPr>
            <a:r>
              <a:rPr lang="en-US" sz="900" b="1" dirty="0">
                <a:solidFill>
                  <a:srgbClr val="1F5673"/>
                </a:solidFill>
                <a:latin typeface="Courier New" pitchFamily="34" charset="0"/>
                <a:ea typeface="Courier New" pitchFamily="34" charset="-122"/>
                <a:cs typeface="Courier New" pitchFamily="34" charset="-120"/>
              </a:rPr>
              <a:t>THE GOAL</a:t>
            </a:r>
            <a:endParaRPr lang="en-US" sz="900" dirty="0"/>
          </a:p>
        </p:txBody>
      </p:sp>
      <p:sp>
        <p:nvSpPr>
          <p:cNvPr id="9" name="Text 7"/>
          <p:cNvSpPr/>
          <p:nvPr/>
        </p:nvSpPr>
        <p:spPr>
          <a:xfrm>
            <a:off x="5010912" y="2066544"/>
            <a:ext cx="3328416" cy="822960"/>
          </a:xfrm>
          <a:prstGeom prst="rect">
            <a:avLst/>
          </a:prstGeom>
          <a:noFill/>
          <a:ln/>
        </p:spPr>
        <p:txBody>
          <a:bodyPr wrap="square" lIns="0" tIns="0" rIns="0" bIns="0" rtlCol="0" anchor="t"/>
          <a:lstStyle/>
          <a:p>
            <a:pPr algn="l" indent="0" marL="0">
              <a:lnSpc>
                <a:spcPct val="114000"/>
              </a:lnSpc>
              <a:buNone/>
            </a:pPr>
            <a:r>
              <a:rPr lang="en-US" sz="1300" dirty="0">
                <a:solidFill>
                  <a:srgbClr val="14171A"/>
                </a:solidFill>
                <a:latin typeface="Calibri" pitchFamily="34" charset="0"/>
                <a:ea typeface="Calibri" pitchFamily="34" charset="-122"/>
                <a:cs typeface="Calibri" pitchFamily="34" charset="-120"/>
              </a:rPr>
              <a:t>Calibration. Believing things in proportion to the evidence, rather than suspicion of everything.</a:t>
            </a:r>
            <a:endParaRPr lang="en-US" sz="1300" dirty="0"/>
          </a:p>
        </p:txBody>
      </p:sp>
      <p:sp>
        <p:nvSpPr>
          <p:cNvPr id="10" name="Shape 8"/>
          <p:cNvSpPr/>
          <p:nvPr/>
        </p:nvSpPr>
        <p:spPr>
          <a:xfrm>
            <a:off x="548640" y="3236976"/>
            <a:ext cx="8046720" cy="914400"/>
          </a:xfrm>
          <a:prstGeom prst="roundRect">
            <a:avLst>
              <a:gd name="adj" fmla="val 6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1" name="Text 9"/>
          <p:cNvSpPr/>
          <p:nvPr/>
        </p:nvSpPr>
        <p:spPr>
          <a:xfrm>
            <a:off x="804672" y="3383280"/>
            <a:ext cx="7534656" cy="310896"/>
          </a:xfrm>
          <a:prstGeom prst="rect">
            <a:avLst/>
          </a:prstGeom>
          <a:noFill/>
          <a:ln/>
        </p:spPr>
        <p:txBody>
          <a:bodyPr wrap="square" lIns="0" tIns="0" rIns="0" bIns="0" rtlCol="0" anchor="t"/>
          <a:lstStyle/>
          <a:p>
            <a:pPr algn="l" indent="0" marL="0">
              <a:lnSpc>
                <a:spcPct val="106000"/>
              </a:lnSpc>
              <a:buNone/>
            </a:pPr>
            <a:r>
              <a:rPr lang="en-US" sz="1900" b="1" dirty="0">
                <a:solidFill>
                  <a:srgbClr val="14171A"/>
                </a:solidFill>
                <a:latin typeface="Cambria" pitchFamily="34" charset="0"/>
                <a:ea typeface="Cambria" pitchFamily="34" charset="-122"/>
                <a:cs typeface="Cambria" pitchFamily="34" charset="-120"/>
              </a:rPr>
              <a:t>Do not pass along something you have not checked.</a:t>
            </a:r>
            <a:endParaRPr lang="en-US" sz="1900" dirty="0"/>
          </a:p>
        </p:txBody>
      </p:sp>
      <p:sp>
        <p:nvSpPr>
          <p:cNvPr id="12" name="Text 10"/>
          <p:cNvSpPr/>
          <p:nvPr/>
        </p:nvSpPr>
        <p:spPr>
          <a:xfrm>
            <a:off x="804672" y="3712464"/>
            <a:ext cx="7534656" cy="365760"/>
          </a:xfrm>
          <a:prstGeom prst="rect">
            <a:avLst/>
          </a:prstGeom>
          <a:noFill/>
          <a:ln/>
        </p:spPr>
        <p:txBody>
          <a:bodyPr wrap="square" lIns="0" tIns="0" rIns="0" bIns="0" rtlCol="0" anchor="t"/>
          <a:lstStyle/>
          <a:p>
            <a:pPr algn="l" indent="0" marL="0">
              <a:lnSpc>
                <a:spcPct val="110000"/>
              </a:lnSpc>
              <a:buNone/>
            </a:pPr>
            <a:r>
              <a:rPr lang="en-US" sz="1300" dirty="0">
                <a:solidFill>
                  <a:srgbClr val="3C444C"/>
                </a:solidFill>
                <a:latin typeface="Calibri" pitchFamily="34" charset="0"/>
                <a:ea typeface="Calibri" pitchFamily="34" charset="-122"/>
                <a:cs typeface="Calibri" pitchFamily="34" charset="-120"/>
              </a:rPr>
              <a:t>That is not offered as a moral rule. Part Three is the reason: you are part of the distribution system, measurably, and it is the largest part.</a:t>
            </a:r>
            <a:endParaRPr lang="en-US" sz="1300" dirty="0"/>
          </a:p>
        </p:txBody>
      </p:sp>
      <p:sp>
        <p:nvSpPr>
          <p:cNvPr id="14" name="Text 11"/>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PART FIVE</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In an election, all of it runs at once</a:t>
            </a:r>
            <a:endParaRPr lang="en-US" sz="3000" dirty="0"/>
          </a:p>
        </p:txBody>
      </p:sp>
      <p:sp>
        <p:nvSpPr>
          <p:cNvPr id="4" name="Shape 2"/>
          <p:cNvSpPr/>
          <p:nvPr/>
        </p:nvSpPr>
        <p:spPr>
          <a:xfrm>
            <a:off x="548640" y="1481328"/>
            <a:ext cx="2560320" cy="1152144"/>
          </a:xfrm>
          <a:prstGeom prst="roundRect">
            <a:avLst>
              <a:gd name="adj" fmla="val 476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749808" y="1627632"/>
            <a:ext cx="2157984" cy="237744"/>
          </a:xfrm>
          <a:prstGeom prst="rect">
            <a:avLst/>
          </a:prstGeom>
          <a:noFill/>
          <a:ln/>
        </p:spPr>
        <p:txBody>
          <a:bodyPr wrap="square" lIns="0" tIns="0" rIns="0" bIns="0" rtlCol="0" anchor="t"/>
          <a:lstStyle/>
          <a:p>
            <a:pPr algn="l" indent="0" marL="0">
              <a:lnSpc>
                <a:spcPct val="106000"/>
              </a:lnSpc>
              <a:buNone/>
            </a:pPr>
            <a:r>
              <a:rPr lang="en-US" sz="1350" b="1" dirty="0">
                <a:solidFill>
                  <a:srgbClr val="14171A"/>
                </a:solidFill>
                <a:latin typeface="Cambria" pitchFamily="34" charset="0"/>
                <a:ea typeface="Cambria" pitchFamily="34" charset="-122"/>
                <a:cs typeface="Cambria" pitchFamily="34" charset="-120"/>
              </a:rPr>
              <a:t>Voting procedure</a:t>
            </a:r>
            <a:endParaRPr lang="en-US" sz="1350" dirty="0"/>
          </a:p>
        </p:txBody>
      </p:sp>
      <p:sp>
        <p:nvSpPr>
          <p:cNvPr id="6" name="Text 4"/>
          <p:cNvSpPr/>
          <p:nvPr/>
        </p:nvSpPr>
        <p:spPr>
          <a:xfrm>
            <a:off x="749808" y="1920240"/>
            <a:ext cx="2157984" cy="621792"/>
          </a:xfrm>
          <a:prstGeom prst="rect">
            <a:avLst/>
          </a:prstGeom>
          <a:noFill/>
          <a:ln/>
        </p:spPr>
        <p:txBody>
          <a:bodyPr wrap="square" lIns="0" tIns="0" rIns="0" bIns="0" rtlCol="0" anchor="t"/>
          <a:lstStyle/>
          <a:p>
            <a:pPr algn="l" indent="0" marL="0">
              <a:lnSpc>
                <a:spcPct val="104000"/>
              </a:lnSpc>
              <a:buNone/>
            </a:pPr>
            <a:r>
              <a:rPr lang="en-US" sz="1150" dirty="0">
                <a:solidFill>
                  <a:srgbClr val="3C444C"/>
                </a:solidFill>
                <a:latin typeface="Calibri" pitchFamily="34" charset="0"/>
                <a:ea typeface="Calibri" pitchFamily="34" charset="-122"/>
                <a:cs typeface="Calibri" pitchFamily="34" charset="-120"/>
              </a:rPr>
              <a:t>Wrong date, invented ID rules, a moved polling place. It changes whether you show up.</a:t>
            </a:r>
            <a:endParaRPr lang="en-US" sz="1150" dirty="0"/>
          </a:p>
        </p:txBody>
      </p:sp>
      <p:sp>
        <p:nvSpPr>
          <p:cNvPr id="7" name="Shape 5"/>
          <p:cNvSpPr/>
          <p:nvPr/>
        </p:nvSpPr>
        <p:spPr>
          <a:xfrm>
            <a:off x="3291840" y="1481328"/>
            <a:ext cx="2560320" cy="1152144"/>
          </a:xfrm>
          <a:prstGeom prst="roundRect">
            <a:avLst>
              <a:gd name="adj" fmla="val 476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8" name="Text 6"/>
          <p:cNvSpPr/>
          <p:nvPr/>
        </p:nvSpPr>
        <p:spPr>
          <a:xfrm>
            <a:off x="3493008" y="1627632"/>
            <a:ext cx="2157984" cy="237744"/>
          </a:xfrm>
          <a:prstGeom prst="rect">
            <a:avLst/>
          </a:prstGeom>
          <a:noFill/>
          <a:ln/>
        </p:spPr>
        <p:txBody>
          <a:bodyPr wrap="square" lIns="0" tIns="0" rIns="0" bIns="0" rtlCol="0" anchor="t"/>
          <a:lstStyle/>
          <a:p>
            <a:pPr algn="l" indent="0" marL="0">
              <a:lnSpc>
                <a:spcPct val="106000"/>
              </a:lnSpc>
              <a:buNone/>
            </a:pPr>
            <a:r>
              <a:rPr lang="en-US" sz="1350" b="1" dirty="0">
                <a:solidFill>
                  <a:srgbClr val="14171A"/>
                </a:solidFill>
                <a:latin typeface="Cambria" pitchFamily="34" charset="0"/>
                <a:ea typeface="Cambria" pitchFamily="34" charset="-122"/>
                <a:cs typeface="Cambria" pitchFamily="34" charset="-120"/>
              </a:rPr>
              <a:t>Foreign interference</a:t>
            </a:r>
            <a:endParaRPr lang="en-US" sz="1350" dirty="0"/>
          </a:p>
        </p:txBody>
      </p:sp>
      <p:sp>
        <p:nvSpPr>
          <p:cNvPr id="9" name="Text 7"/>
          <p:cNvSpPr/>
          <p:nvPr/>
        </p:nvSpPr>
        <p:spPr>
          <a:xfrm>
            <a:off x="3493008" y="1920240"/>
            <a:ext cx="2157984" cy="621792"/>
          </a:xfrm>
          <a:prstGeom prst="rect">
            <a:avLst/>
          </a:prstGeom>
          <a:noFill/>
          <a:ln/>
        </p:spPr>
        <p:txBody>
          <a:bodyPr wrap="square" lIns="0" tIns="0" rIns="0" bIns="0" rtlCol="0" anchor="t"/>
          <a:lstStyle/>
          <a:p>
            <a:pPr algn="l" indent="0" marL="0">
              <a:lnSpc>
                <a:spcPct val="104000"/>
              </a:lnSpc>
              <a:buNone/>
            </a:pPr>
            <a:r>
              <a:rPr lang="en-US" sz="1150" dirty="0">
                <a:solidFill>
                  <a:srgbClr val="3C444C"/>
                </a:solidFill>
                <a:latin typeface="Calibri" pitchFamily="34" charset="0"/>
                <a:ea typeface="Calibri" pitchFamily="34" charset="-122"/>
                <a:cs typeface="Calibri" pitchFamily="34" charset="-120"/>
              </a:rPr>
              <a:t>2018: thirteen Russian nationals and the IRA indicted. The described aim was widening divisions.</a:t>
            </a:r>
            <a:endParaRPr lang="en-US" sz="1150" dirty="0"/>
          </a:p>
        </p:txBody>
      </p:sp>
      <p:sp>
        <p:nvSpPr>
          <p:cNvPr id="10" name="Shape 8"/>
          <p:cNvSpPr/>
          <p:nvPr/>
        </p:nvSpPr>
        <p:spPr>
          <a:xfrm>
            <a:off x="6035040" y="1481328"/>
            <a:ext cx="2560320" cy="1152144"/>
          </a:xfrm>
          <a:prstGeom prst="roundRect">
            <a:avLst>
              <a:gd name="adj" fmla="val 476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1" name="Text 9"/>
          <p:cNvSpPr/>
          <p:nvPr/>
        </p:nvSpPr>
        <p:spPr>
          <a:xfrm>
            <a:off x="6236208" y="1627632"/>
            <a:ext cx="2157984" cy="237744"/>
          </a:xfrm>
          <a:prstGeom prst="rect">
            <a:avLst/>
          </a:prstGeom>
          <a:noFill/>
          <a:ln/>
        </p:spPr>
        <p:txBody>
          <a:bodyPr wrap="square" lIns="0" tIns="0" rIns="0" bIns="0" rtlCol="0" anchor="t"/>
          <a:lstStyle/>
          <a:p>
            <a:pPr algn="l" indent="0" marL="0">
              <a:lnSpc>
                <a:spcPct val="106000"/>
              </a:lnSpc>
              <a:buNone/>
            </a:pPr>
            <a:r>
              <a:rPr lang="en-US" sz="1350" b="1" dirty="0">
                <a:solidFill>
                  <a:srgbClr val="14171A"/>
                </a:solidFill>
                <a:latin typeface="Cambria" pitchFamily="34" charset="0"/>
                <a:ea typeface="Cambria" pitchFamily="34" charset="-122"/>
                <a:cs typeface="Cambria" pitchFamily="34" charset="-120"/>
              </a:rPr>
              <a:t>Microtargeting</a:t>
            </a:r>
            <a:endParaRPr lang="en-US" sz="1350" dirty="0"/>
          </a:p>
        </p:txBody>
      </p:sp>
      <p:sp>
        <p:nvSpPr>
          <p:cNvPr id="12" name="Text 10"/>
          <p:cNvSpPr/>
          <p:nvPr/>
        </p:nvSpPr>
        <p:spPr>
          <a:xfrm>
            <a:off x="6236208" y="1920240"/>
            <a:ext cx="2157984" cy="621792"/>
          </a:xfrm>
          <a:prstGeom prst="rect">
            <a:avLst/>
          </a:prstGeom>
          <a:noFill/>
          <a:ln/>
        </p:spPr>
        <p:txBody>
          <a:bodyPr wrap="square" lIns="0" tIns="0" rIns="0" bIns="0" rtlCol="0" anchor="t"/>
          <a:lstStyle/>
          <a:p>
            <a:pPr algn="l" indent="0" marL="0">
              <a:lnSpc>
                <a:spcPct val="104000"/>
              </a:lnSpc>
              <a:buNone/>
            </a:pPr>
            <a:r>
              <a:rPr lang="en-US" sz="1150" dirty="0">
                <a:solidFill>
                  <a:srgbClr val="3C444C"/>
                </a:solidFill>
                <a:latin typeface="Calibri" pitchFamily="34" charset="0"/>
                <a:ea typeface="Calibri" pitchFamily="34" charset="-122"/>
                <a:cs typeface="Calibri" pitchFamily="34" charset="-120"/>
              </a:rPr>
              <a:t>Two voters get different promises from one campaign, and neither sees the other's.</a:t>
            </a:r>
            <a:endParaRPr lang="en-US" sz="1150" dirty="0"/>
          </a:p>
        </p:txBody>
      </p:sp>
      <p:sp>
        <p:nvSpPr>
          <p:cNvPr id="13" name="Shape 11"/>
          <p:cNvSpPr/>
          <p:nvPr/>
        </p:nvSpPr>
        <p:spPr>
          <a:xfrm>
            <a:off x="548640" y="2761488"/>
            <a:ext cx="2560320" cy="1152144"/>
          </a:xfrm>
          <a:prstGeom prst="roundRect">
            <a:avLst>
              <a:gd name="adj" fmla="val 476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4" name="Text 12"/>
          <p:cNvSpPr/>
          <p:nvPr/>
        </p:nvSpPr>
        <p:spPr>
          <a:xfrm>
            <a:off x="749808" y="2907792"/>
            <a:ext cx="2157984" cy="237744"/>
          </a:xfrm>
          <a:prstGeom prst="rect">
            <a:avLst/>
          </a:prstGeom>
          <a:noFill/>
          <a:ln/>
        </p:spPr>
        <p:txBody>
          <a:bodyPr wrap="square" lIns="0" tIns="0" rIns="0" bIns="0" rtlCol="0" anchor="t"/>
          <a:lstStyle/>
          <a:p>
            <a:pPr algn="l" indent="0" marL="0">
              <a:lnSpc>
                <a:spcPct val="106000"/>
              </a:lnSpc>
              <a:buNone/>
            </a:pPr>
            <a:r>
              <a:rPr lang="en-US" sz="1350" b="1" dirty="0">
                <a:solidFill>
                  <a:srgbClr val="14171A"/>
                </a:solidFill>
                <a:latin typeface="Cambria" pitchFamily="34" charset="0"/>
                <a:ea typeface="Cambria" pitchFamily="34" charset="-122"/>
                <a:cs typeface="Cambria" pitchFamily="34" charset="-120"/>
              </a:rPr>
              <a:t>Echo chambers</a:t>
            </a:r>
            <a:endParaRPr lang="en-US" sz="1350" dirty="0"/>
          </a:p>
        </p:txBody>
      </p:sp>
      <p:sp>
        <p:nvSpPr>
          <p:cNvPr id="15" name="Text 13"/>
          <p:cNvSpPr/>
          <p:nvPr/>
        </p:nvSpPr>
        <p:spPr>
          <a:xfrm>
            <a:off x="749808" y="3200400"/>
            <a:ext cx="2157984" cy="621792"/>
          </a:xfrm>
          <a:prstGeom prst="rect">
            <a:avLst/>
          </a:prstGeom>
          <a:noFill/>
          <a:ln/>
        </p:spPr>
        <p:txBody>
          <a:bodyPr wrap="square" lIns="0" tIns="0" rIns="0" bIns="0" rtlCol="0" anchor="t"/>
          <a:lstStyle/>
          <a:p>
            <a:pPr algn="l" indent="0" marL="0">
              <a:lnSpc>
                <a:spcPct val="104000"/>
              </a:lnSpc>
              <a:buNone/>
            </a:pPr>
            <a:r>
              <a:rPr lang="en-US" sz="1150" dirty="0">
                <a:solidFill>
                  <a:srgbClr val="3C444C"/>
                </a:solidFill>
                <a:latin typeface="Calibri" pitchFamily="34" charset="0"/>
                <a:ea typeface="Calibri" pitchFamily="34" charset="-122"/>
                <a:cs typeface="Calibri" pitchFamily="34" charset="-120"/>
              </a:rPr>
              <a:t>Ranking narrows what you see. Hold it loosely: the research is least settled here.</a:t>
            </a:r>
            <a:endParaRPr lang="en-US" sz="1150" dirty="0"/>
          </a:p>
        </p:txBody>
      </p:sp>
      <p:sp>
        <p:nvSpPr>
          <p:cNvPr id="16" name="Shape 14"/>
          <p:cNvSpPr/>
          <p:nvPr/>
        </p:nvSpPr>
        <p:spPr>
          <a:xfrm>
            <a:off x="3291840" y="2761488"/>
            <a:ext cx="2560320" cy="1152144"/>
          </a:xfrm>
          <a:prstGeom prst="roundRect">
            <a:avLst>
              <a:gd name="adj" fmla="val 476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7" name="Text 15"/>
          <p:cNvSpPr/>
          <p:nvPr/>
        </p:nvSpPr>
        <p:spPr>
          <a:xfrm>
            <a:off x="3493008" y="2907792"/>
            <a:ext cx="2157984" cy="237744"/>
          </a:xfrm>
          <a:prstGeom prst="rect">
            <a:avLst/>
          </a:prstGeom>
          <a:noFill/>
          <a:ln/>
        </p:spPr>
        <p:txBody>
          <a:bodyPr wrap="square" lIns="0" tIns="0" rIns="0" bIns="0" rtlCol="0" anchor="t"/>
          <a:lstStyle/>
          <a:p>
            <a:pPr algn="l" indent="0" marL="0">
              <a:lnSpc>
                <a:spcPct val="106000"/>
              </a:lnSpc>
              <a:buNone/>
            </a:pPr>
            <a:r>
              <a:rPr lang="en-US" sz="1350" b="1" dirty="0">
                <a:solidFill>
                  <a:srgbClr val="14171A"/>
                </a:solidFill>
                <a:latin typeface="Cambria" pitchFamily="34" charset="0"/>
                <a:ea typeface="Cambria" pitchFamily="34" charset="-122"/>
                <a:cs typeface="Cambria" pitchFamily="34" charset="-120"/>
              </a:rPr>
              <a:t>Polarization</a:t>
            </a:r>
            <a:endParaRPr lang="en-US" sz="1350" dirty="0"/>
          </a:p>
        </p:txBody>
      </p:sp>
      <p:sp>
        <p:nvSpPr>
          <p:cNvPr id="18" name="Text 16"/>
          <p:cNvSpPr/>
          <p:nvPr/>
        </p:nvSpPr>
        <p:spPr>
          <a:xfrm>
            <a:off x="3493008" y="3200400"/>
            <a:ext cx="2157984" cy="621792"/>
          </a:xfrm>
          <a:prstGeom prst="rect">
            <a:avLst/>
          </a:prstGeom>
          <a:noFill/>
          <a:ln/>
        </p:spPr>
        <p:txBody>
          <a:bodyPr wrap="square" lIns="0" tIns="0" rIns="0" bIns="0" rtlCol="0" anchor="t"/>
          <a:lstStyle/>
          <a:p>
            <a:pPr algn="l" indent="0" marL="0">
              <a:lnSpc>
                <a:spcPct val="104000"/>
              </a:lnSpc>
              <a:buNone/>
            </a:pPr>
            <a:r>
              <a:rPr lang="en-US" sz="1150" dirty="0">
                <a:solidFill>
                  <a:srgbClr val="3C444C"/>
                </a:solidFill>
                <a:latin typeface="Calibri" pitchFamily="34" charset="0"/>
                <a:ea typeface="Calibri" pitchFamily="34" charset="-122"/>
                <a:cs typeface="Calibri" pitchFamily="34" charset="-120"/>
              </a:rPr>
              <a:t>Attacking the other side outperforms explaining your own, in every direction at once.</a:t>
            </a:r>
            <a:endParaRPr lang="en-US" sz="1150" dirty="0"/>
          </a:p>
        </p:txBody>
      </p:sp>
      <p:sp>
        <p:nvSpPr>
          <p:cNvPr id="19" name="Shape 17"/>
          <p:cNvSpPr/>
          <p:nvPr/>
        </p:nvSpPr>
        <p:spPr>
          <a:xfrm>
            <a:off x="6035040" y="2761488"/>
            <a:ext cx="2560320" cy="1152144"/>
          </a:xfrm>
          <a:prstGeom prst="roundRect">
            <a:avLst>
              <a:gd name="adj" fmla="val 476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20" name="Text 18"/>
          <p:cNvSpPr/>
          <p:nvPr/>
        </p:nvSpPr>
        <p:spPr>
          <a:xfrm>
            <a:off x="6236208" y="2907792"/>
            <a:ext cx="2157984" cy="237744"/>
          </a:xfrm>
          <a:prstGeom prst="rect">
            <a:avLst/>
          </a:prstGeom>
          <a:noFill/>
          <a:ln/>
        </p:spPr>
        <p:txBody>
          <a:bodyPr wrap="square" lIns="0" tIns="0" rIns="0" bIns="0" rtlCol="0" anchor="t"/>
          <a:lstStyle/>
          <a:p>
            <a:pPr algn="l" indent="0" marL="0">
              <a:lnSpc>
                <a:spcPct val="106000"/>
              </a:lnSpc>
              <a:buNone/>
            </a:pPr>
            <a:r>
              <a:rPr lang="en-US" sz="1350" b="1" dirty="0">
                <a:solidFill>
                  <a:srgbClr val="14171A"/>
                </a:solidFill>
                <a:latin typeface="Cambria" pitchFamily="34" charset="0"/>
                <a:ea typeface="Cambria" pitchFamily="34" charset="-122"/>
                <a:cs typeface="Cambria" pitchFamily="34" charset="-120"/>
              </a:rPr>
              <a:t>The regulation gap</a:t>
            </a:r>
            <a:endParaRPr lang="en-US" sz="1350" dirty="0"/>
          </a:p>
        </p:txBody>
      </p:sp>
      <p:sp>
        <p:nvSpPr>
          <p:cNvPr id="21" name="Text 19"/>
          <p:cNvSpPr/>
          <p:nvPr/>
        </p:nvSpPr>
        <p:spPr>
          <a:xfrm>
            <a:off x="6236208" y="3200400"/>
            <a:ext cx="2157984" cy="621792"/>
          </a:xfrm>
          <a:prstGeom prst="rect">
            <a:avLst/>
          </a:prstGeom>
          <a:noFill/>
          <a:ln/>
        </p:spPr>
        <p:txBody>
          <a:bodyPr wrap="square" lIns="0" tIns="0" rIns="0" bIns="0" rtlCol="0" anchor="t"/>
          <a:lstStyle/>
          <a:p>
            <a:pPr algn="l" indent="0" marL="0">
              <a:lnSpc>
                <a:spcPct val="104000"/>
              </a:lnSpc>
              <a:buNone/>
            </a:pPr>
            <a:r>
              <a:rPr lang="en-US" sz="1150" dirty="0">
                <a:solidFill>
                  <a:srgbClr val="3C444C"/>
                </a:solidFill>
                <a:latin typeface="Calibri" pitchFamily="34" charset="0"/>
                <a:ea typeface="Calibri" pitchFamily="34" charset="-122"/>
                <a:cs typeface="Calibri" pitchFamily="34" charset="-120"/>
              </a:rPr>
              <a:t>Broadcast ad rules do not cover platforms. Company policy does, and nobody voted on it.</a:t>
            </a:r>
            <a:endParaRPr lang="en-US" sz="1150" dirty="0"/>
          </a:p>
        </p:txBody>
      </p:sp>
      <p:sp>
        <p:nvSpPr>
          <p:cNvPr id="22" name="Text 20"/>
          <p:cNvSpPr/>
          <p:nvPr/>
        </p:nvSpPr>
        <p:spPr>
          <a:xfrm>
            <a:off x="548640" y="4114800"/>
            <a:ext cx="8046720" cy="457200"/>
          </a:xfrm>
          <a:prstGeom prst="rect">
            <a:avLst/>
          </a:prstGeom>
          <a:noFill/>
          <a:ln/>
        </p:spPr>
        <p:txBody>
          <a:bodyPr wrap="square" lIns="0" tIns="0" rIns="0" bIns="0" rtlCol="0" anchor="t"/>
          <a:lstStyle/>
          <a:p>
            <a:pPr algn="l" indent="0" marL="0">
              <a:lnSpc>
                <a:spcPct val="110000"/>
              </a:lnSpc>
              <a:buNone/>
            </a:pPr>
            <a:r>
              <a:rPr lang="en-US" sz="1250" i="1" dirty="0">
                <a:solidFill>
                  <a:srgbClr val="3C444C"/>
                </a:solidFill>
                <a:latin typeface="Calibri" pitchFamily="34" charset="0"/>
                <a:ea typeface="Calibri" pitchFamily="34" charset="-122"/>
                <a:cs typeface="Calibri" pitchFamily="34" charset="-120"/>
              </a:rPr>
              <a:t>"Social media decided the election" is a claim about size, and nobody has good evidence for it. Every mechanism above is documented. How much any of it moves an outcome is not.</a:t>
            </a:r>
            <a:endParaRPr lang="en-US" sz="1250" dirty="0"/>
          </a:p>
        </p:txBody>
      </p:sp>
      <p:sp>
        <p:nvSpPr>
          <p:cNvPr id="24" name="Text 21"/>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THE ROAD NOT TAKEN</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2600" b="1" dirty="0">
                <a:solidFill>
                  <a:srgbClr val="14171A"/>
                </a:solidFill>
                <a:latin typeface="Cambria" pitchFamily="34" charset="0"/>
                <a:ea typeface="Cambria" pitchFamily="34" charset="-122"/>
                <a:cs typeface="Cambria" pitchFamily="34" charset="-120"/>
              </a:rPr>
              <a:t>The echo chamber is the part that might be wrong</a:t>
            </a:r>
            <a:endParaRPr lang="en-US" sz="2600" dirty="0"/>
          </a:p>
        </p:txBody>
      </p:sp>
      <p:sp>
        <p:nvSpPr>
          <p:cNvPr id="4" name="Text 2"/>
          <p:cNvSpPr/>
          <p:nvPr/>
        </p:nvSpPr>
        <p:spPr>
          <a:xfrm>
            <a:off x="548640" y="1572768"/>
            <a:ext cx="4572000" cy="2286000"/>
          </a:xfrm>
          <a:prstGeom prst="rect">
            <a:avLst/>
          </a:prstGeom>
          <a:noFill/>
          <a:ln/>
        </p:spPr>
        <p:txBody>
          <a:bodyPr wrap="square" lIns="0" tIns="0" rIns="0" bIns="0" rtlCol="0" anchor="t"/>
          <a:lstStyle/>
          <a:p>
            <a:pPr marL="177800" indent="-177800">
              <a:lnSpc>
                <a:spcPct val="104000"/>
              </a:lnSpc>
              <a:spcAft>
                <a:spcPts val="1000"/>
              </a:spcAft>
              <a:buSzPct val="100000"/>
              <a:buChar char="•"/>
            </a:pPr>
            <a:r>
              <a:rPr lang="en-US" sz="1250" dirty="0">
                <a:solidFill>
                  <a:srgbClr val="3C444C"/>
                </a:solidFill>
                <a:latin typeface="Calibri" pitchFamily="34" charset="0"/>
                <a:ea typeface="Calibri" pitchFamily="34" charset="-122"/>
                <a:cs typeface="Calibri" pitchFamily="34" charset="-120"/>
              </a:rPr>
              <a:t>Eli Pariser named the filter bubble in 2011. It is repeated so often that it sounds like a finding. It is a theory, and it has taken real damage.</a:t>
            </a:r>
            <a:endParaRPr lang="en-US" sz="1250" dirty="0"/>
          </a:p>
          <a:p>
            <a:pPr marL="177800" indent="-177800">
              <a:lnSpc>
                <a:spcPct val="104000"/>
              </a:lnSpc>
              <a:spcAft>
                <a:spcPts val="1000"/>
              </a:spcAft>
              <a:buSzPct val="100000"/>
              <a:buChar char="•"/>
            </a:pPr>
            <a:r>
              <a:rPr lang="en-US" sz="1250" dirty="0">
                <a:solidFill>
                  <a:srgbClr val="3C444C"/>
                </a:solidFill>
                <a:latin typeface="Calibri" pitchFamily="34" charset="0"/>
                <a:ea typeface="Calibri" pitchFamily="34" charset="-122"/>
                <a:cs typeface="Calibri" pitchFamily="34" charset="-120"/>
              </a:rPr>
              <a:t>Measured news diets keep coming out more varied than the theory predicts, and the sealed-in partisans turn out to be a small share of users.</a:t>
            </a:r>
            <a:endParaRPr lang="en-US" sz="1250" dirty="0"/>
          </a:p>
          <a:p>
            <a:pPr marL="177800" indent="-177800">
              <a:lnSpc>
                <a:spcPct val="104000"/>
              </a:lnSpc>
              <a:spcAft>
                <a:spcPts val="1000"/>
              </a:spcAft>
              <a:buSzPct val="100000"/>
              <a:buChar char="•"/>
            </a:pPr>
            <a:r>
              <a:rPr lang="en-US" sz="1250" dirty="0">
                <a:solidFill>
                  <a:srgbClr val="3C444C"/>
                </a:solidFill>
                <a:latin typeface="Calibri" pitchFamily="34" charset="0"/>
                <a:ea typeface="Calibri" pitchFamily="34" charset="-122"/>
                <a:cs typeface="Calibri" pitchFamily="34" charset="-120"/>
              </a:rPr>
              <a:t>A 2015 Science study by Bakshy, Messing and Adamic found that on Facebook individual clicks mattered more than the ranking did. The authors worked for Facebook: read it carefully, do not throw it out. Noticing that difference is the skill.</a:t>
            </a:r>
            <a:endParaRPr lang="en-US" sz="1250" dirty="0"/>
          </a:p>
        </p:txBody>
      </p:sp>
      <p:sp>
        <p:nvSpPr>
          <p:cNvPr id="5" name="Shape 3"/>
          <p:cNvSpPr/>
          <p:nvPr/>
        </p:nvSpPr>
        <p:spPr>
          <a:xfrm>
            <a:off x="5394960" y="1517904"/>
            <a:ext cx="3200400" cy="2377440"/>
          </a:xfrm>
          <a:prstGeom prst="roundRect">
            <a:avLst>
              <a:gd name="adj" fmla="val 2308"/>
            </a:avLst>
          </a:prstGeom>
          <a:solidFill>
            <a:srgbClr val="E3EAEE"/>
          </a:solidFill>
          <a:ln w="9525">
            <a:solidFill>
              <a:srgbClr val="E3EAEE"/>
            </a:solidFill>
            <a:prstDash val="solid"/>
          </a:ln>
          <a:effectLst>
            <a:outerShdw sx="100000" sy="100000" kx="0" ky="0" algn="bl" rotWithShape="0" blurRad="88900" dist="12700" dir="5400000">
              <a:srgbClr val="9A968A">
                <a:alpha val="20000"/>
              </a:srgbClr>
            </a:outerShdw>
          </a:effectLst>
        </p:spPr>
      </p:sp>
      <p:sp>
        <p:nvSpPr>
          <p:cNvPr id="6" name="Text 4"/>
          <p:cNvSpPr/>
          <p:nvPr/>
        </p:nvSpPr>
        <p:spPr>
          <a:xfrm>
            <a:off x="5650992" y="1755648"/>
            <a:ext cx="2688336" cy="219456"/>
          </a:xfrm>
          <a:prstGeom prst="rect">
            <a:avLst/>
          </a:prstGeom>
          <a:noFill/>
          <a:ln/>
        </p:spPr>
        <p:txBody>
          <a:bodyPr wrap="square" lIns="0" tIns="0" rIns="0" bIns="0" rtlCol="0" anchor="t"/>
          <a:lstStyle/>
          <a:p>
            <a:pPr algn="l" indent="0" marL="0">
              <a:lnSpc>
                <a:spcPct val="106000"/>
              </a:lnSpc>
              <a:buNone/>
            </a:pPr>
            <a:r>
              <a:rPr lang="en-US" sz="900" b="1" dirty="0">
                <a:solidFill>
                  <a:srgbClr val="1F5673"/>
                </a:solidFill>
                <a:latin typeface="Courier New" pitchFamily="34" charset="0"/>
                <a:ea typeface="Courier New" pitchFamily="34" charset="-122"/>
                <a:cs typeface="Courier New" pitchFamily="34" charset="-120"/>
              </a:rPr>
              <a:t>WHY IT MATTERS</a:t>
            </a:r>
            <a:endParaRPr lang="en-US" sz="900" dirty="0"/>
          </a:p>
        </p:txBody>
      </p:sp>
      <p:sp>
        <p:nvSpPr>
          <p:cNvPr id="7" name="Text 5"/>
          <p:cNvSpPr/>
          <p:nvPr/>
        </p:nvSpPr>
        <p:spPr>
          <a:xfrm>
            <a:off x="5650992" y="2048256"/>
            <a:ext cx="2688336" cy="1097280"/>
          </a:xfrm>
          <a:prstGeom prst="rect">
            <a:avLst/>
          </a:prstGeom>
          <a:noFill/>
          <a:ln/>
        </p:spPr>
        <p:txBody>
          <a:bodyPr wrap="square" lIns="0" tIns="0" rIns="0" bIns="0" rtlCol="0" anchor="t"/>
          <a:lstStyle/>
          <a:p>
            <a:pPr algn="l" indent="0" marL="0">
              <a:lnSpc>
                <a:spcPct val="112000"/>
              </a:lnSpc>
              <a:buNone/>
            </a:pPr>
            <a:r>
              <a:rPr lang="en-US" sz="1250" dirty="0">
                <a:solidFill>
                  <a:srgbClr val="14171A"/>
                </a:solidFill>
                <a:latin typeface="Calibri" pitchFamily="34" charset="0"/>
                <a:ea typeface="Calibri" pitchFamily="34" charset="-122"/>
                <a:cs typeface="Calibri" pitchFamily="34" charset="-120"/>
              </a:rPr>
              <a:t>The two stories point at different fixes. If ranking causes the bubble, changing the ranking helps. If people choose it, changing the ranking does very little.</a:t>
            </a:r>
            <a:endParaRPr lang="en-US" sz="1250" dirty="0"/>
          </a:p>
        </p:txBody>
      </p:sp>
      <p:sp>
        <p:nvSpPr>
          <p:cNvPr id="8" name="Text 6"/>
          <p:cNvSpPr/>
          <p:nvPr/>
        </p:nvSpPr>
        <p:spPr>
          <a:xfrm>
            <a:off x="5650992" y="3255264"/>
            <a:ext cx="2688336" cy="457200"/>
          </a:xfrm>
          <a:prstGeom prst="rect">
            <a:avLst/>
          </a:prstGeom>
          <a:noFill/>
          <a:ln/>
        </p:spPr>
        <p:txBody>
          <a:bodyPr wrap="square" lIns="0" tIns="0" rIns="0" bIns="0" rtlCol="0" anchor="t"/>
          <a:lstStyle/>
          <a:p>
            <a:pPr algn="l" indent="0" marL="0">
              <a:lnSpc>
                <a:spcPct val="110000"/>
              </a:lnSpc>
              <a:buNone/>
            </a:pPr>
            <a:r>
              <a:rPr lang="en-US" sz="1300" b="1" dirty="0">
                <a:solidFill>
                  <a:srgbClr val="14171A"/>
                </a:solidFill>
                <a:latin typeface="Calibri" pitchFamily="34" charset="0"/>
                <a:ea typeface="Calibri" pitchFamily="34" charset="-122"/>
                <a:cs typeface="Calibri" pitchFamily="34" charset="-120"/>
              </a:rPr>
              <a:t>Keep that in your pocket for Topic 6.</a:t>
            </a:r>
            <a:endParaRPr lang="en-US" sz="1300" dirty="0"/>
          </a:p>
        </p:txBody>
      </p:sp>
      <p:sp>
        <p:nvSpPr>
          <p:cNvPr id="9" name="Text 7"/>
          <p:cNvSpPr/>
          <p:nvPr/>
        </p:nvSpPr>
        <p:spPr>
          <a:xfrm>
            <a:off x="548640" y="4041648"/>
            <a:ext cx="8046720" cy="457200"/>
          </a:xfrm>
          <a:prstGeom prst="rect">
            <a:avLst/>
          </a:prstGeom>
          <a:noFill/>
          <a:ln/>
        </p:spPr>
        <p:txBody>
          <a:bodyPr wrap="square" lIns="0" tIns="0" rIns="0" bIns="0" rtlCol="0" anchor="t"/>
          <a:lstStyle/>
          <a:p>
            <a:pPr algn="l" indent="0" marL="0">
              <a:lnSpc>
                <a:spcPct val="110000"/>
              </a:lnSpc>
              <a:buNone/>
            </a:pPr>
            <a:r>
              <a:rPr lang="en-US" sz="1250" i="1" dirty="0">
                <a:solidFill>
                  <a:srgbClr val="3C444C"/>
                </a:solidFill>
                <a:latin typeface="Calibri" pitchFamily="34" charset="0"/>
                <a:ea typeface="Calibri" pitchFamily="34" charset="-122"/>
                <a:cs typeface="Calibri" pitchFamily="34" charset="-120"/>
              </a:rPr>
              <a:t>The rival explanation is that the bubble is mostly offline: who you live near, who you are related to, and who you talk to in person, none of which an algorithm chose.</a:t>
            </a:r>
            <a:endParaRPr lang="en-US" sz="1250" dirty="0"/>
          </a:p>
        </p:txBody>
      </p:sp>
      <p:sp>
        <p:nvSpPr>
          <p:cNvPr id="11" name="Text 8"/>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5</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71B1F"/>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E8A0A0"/>
                </a:solidFill>
                <a:latin typeface="Courier New" pitchFamily="34" charset="0"/>
                <a:ea typeface="Courier New" pitchFamily="34" charset="-122"/>
                <a:cs typeface="Courier New" pitchFamily="34" charset="-120"/>
              </a:rPr>
              <a:t>BEREADY · 10-SECOND TAKEAWAY</a:t>
            </a:r>
            <a:endParaRPr lang="en-US" sz="1000" dirty="0"/>
          </a:p>
        </p:txBody>
      </p:sp>
      <p:sp>
        <p:nvSpPr>
          <p:cNvPr id="3" name="Text 1"/>
          <p:cNvSpPr/>
          <p:nvPr/>
        </p:nvSpPr>
        <p:spPr>
          <a:xfrm>
            <a:off x="548640" y="694944"/>
            <a:ext cx="7863840" cy="694944"/>
          </a:xfrm>
          <a:prstGeom prst="rect">
            <a:avLst/>
          </a:prstGeom>
          <a:noFill/>
          <a:ln/>
        </p:spPr>
        <p:txBody>
          <a:bodyPr wrap="square" lIns="0" tIns="0" rIns="0" bIns="0" rtlCol="0" anchor="t"/>
          <a:lstStyle/>
          <a:p>
            <a:pPr algn="l" indent="0" marL="0">
              <a:lnSpc>
                <a:spcPct val="110000"/>
              </a:lnSpc>
              <a:buNone/>
            </a:pPr>
            <a:r>
              <a:rPr lang="en-US" sz="1850" b="1" dirty="0">
                <a:solidFill>
                  <a:srgbClr val="FFFEFB"/>
                </a:solidFill>
                <a:latin typeface="Cambria" pitchFamily="34" charset="0"/>
                <a:ea typeface="Cambria" pitchFamily="34" charset="-122"/>
                <a:cs typeface="Cambria" pitchFamily="34" charset="-120"/>
              </a:rPr>
              <a:t>False things travel because they are new and they make you feel something. People rather than bots do most of the carrying.</a:t>
            </a:r>
            <a:endParaRPr lang="en-US" sz="1850" dirty="0"/>
          </a:p>
        </p:txBody>
      </p:sp>
      <p:sp>
        <p:nvSpPr>
          <p:cNvPr id="4" name="Shape 2"/>
          <p:cNvSpPr/>
          <p:nvPr/>
        </p:nvSpPr>
        <p:spPr>
          <a:xfrm>
            <a:off x="548640" y="1627632"/>
            <a:ext cx="8046720" cy="2304288"/>
          </a:xfrm>
          <a:prstGeom prst="roundRect">
            <a:avLst>
              <a:gd name="adj" fmla="val 2381"/>
            </a:avLst>
          </a:prstGeom>
          <a:solidFill>
            <a:srgbClr val="2B3238"/>
          </a:solidFill>
          <a:ln w="9525">
            <a:solidFill>
              <a:srgbClr val="2B3238"/>
            </a:solidFill>
            <a:prstDash val="solid"/>
          </a:ln>
        </p:spPr>
      </p:sp>
      <p:sp>
        <p:nvSpPr>
          <p:cNvPr id="5" name="Text 3"/>
          <p:cNvSpPr/>
          <p:nvPr/>
        </p:nvSpPr>
        <p:spPr>
          <a:xfrm>
            <a:off x="804672" y="1810512"/>
            <a:ext cx="7498080" cy="219456"/>
          </a:xfrm>
          <a:prstGeom prst="rect">
            <a:avLst/>
          </a:prstGeom>
          <a:noFill/>
          <a:ln/>
        </p:spPr>
        <p:txBody>
          <a:bodyPr wrap="square" lIns="0" tIns="0" rIns="0" bIns="0" rtlCol="0" anchor="t"/>
          <a:lstStyle/>
          <a:p>
            <a:pPr algn="l" indent="0" marL="0">
              <a:lnSpc>
                <a:spcPct val="106000"/>
              </a:lnSpc>
              <a:buNone/>
            </a:pPr>
            <a:r>
              <a:rPr lang="en-US" sz="900" b="1" dirty="0">
                <a:solidFill>
                  <a:srgbClr val="E8A0A0"/>
                </a:solidFill>
                <a:latin typeface="Courier New" pitchFamily="34" charset="0"/>
                <a:ea typeface="Courier New" pitchFamily="34" charset="-122"/>
                <a:cs typeface="Courier New" pitchFamily="34" charset="-120"/>
              </a:rPr>
              <a:t>CHECK YOUR UNDERSTANDING</a:t>
            </a:r>
            <a:endParaRPr lang="en-US" sz="900" dirty="0"/>
          </a:p>
        </p:txBody>
      </p:sp>
      <p:sp>
        <p:nvSpPr>
          <p:cNvPr id="6" name="Shape 4"/>
          <p:cNvSpPr/>
          <p:nvPr/>
        </p:nvSpPr>
        <p:spPr>
          <a:xfrm>
            <a:off x="804672" y="2176272"/>
            <a:ext cx="310896" cy="310896"/>
          </a:xfrm>
          <a:prstGeom prst="ellipse">
            <a:avLst/>
          </a:prstGeom>
          <a:solidFill>
            <a:srgbClr val="B22222"/>
          </a:solidFill>
          <a:ln w="12700">
            <a:solidFill>
              <a:srgbClr val="B22222"/>
            </a:solidFill>
            <a:prstDash val="solid"/>
          </a:ln>
        </p:spPr>
      </p:sp>
      <p:sp>
        <p:nvSpPr>
          <p:cNvPr id="7" name="Text 5"/>
          <p:cNvSpPr/>
          <p:nvPr/>
        </p:nvSpPr>
        <p:spPr>
          <a:xfrm>
            <a:off x="804672" y="2176272"/>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1</a:t>
            </a:r>
            <a:endParaRPr lang="en-US" sz="950" dirty="0"/>
          </a:p>
        </p:txBody>
      </p:sp>
      <p:sp>
        <p:nvSpPr>
          <p:cNvPr id="8" name="Text 6"/>
          <p:cNvSpPr/>
          <p:nvPr/>
        </p:nvSpPr>
        <p:spPr>
          <a:xfrm>
            <a:off x="1243584" y="2157984"/>
            <a:ext cx="7040880" cy="201168"/>
          </a:xfrm>
          <a:prstGeom prst="rect">
            <a:avLst/>
          </a:prstGeom>
          <a:noFill/>
          <a:ln/>
        </p:spPr>
        <p:txBody>
          <a:bodyPr wrap="square" lIns="0" tIns="0" rIns="0" bIns="0" rtlCol="0" anchor="t"/>
          <a:lstStyle/>
          <a:p>
            <a:pPr algn="l" indent="0" marL="0">
              <a:lnSpc>
                <a:spcPct val="106000"/>
              </a:lnSpc>
              <a:buNone/>
            </a:pPr>
            <a:r>
              <a:rPr lang="en-US" sz="800" b="1" dirty="0">
                <a:solidFill>
                  <a:srgbClr val="E8A0A0"/>
                </a:solidFill>
                <a:latin typeface="Courier New" pitchFamily="34" charset="0"/>
                <a:ea typeface="Courier New" pitchFamily="34" charset="-122"/>
                <a:cs typeface="Courier New" pitchFamily="34" charset="-120"/>
              </a:rPr>
              <a:t>FALLACIES AND PROPAGANDA</a:t>
            </a:r>
            <a:endParaRPr lang="en-US" sz="800" dirty="0"/>
          </a:p>
        </p:txBody>
      </p:sp>
      <p:sp>
        <p:nvSpPr>
          <p:cNvPr id="9" name="Text 7"/>
          <p:cNvSpPr/>
          <p:nvPr/>
        </p:nvSpPr>
        <p:spPr>
          <a:xfrm>
            <a:off x="1243584" y="2359152"/>
            <a:ext cx="7040880" cy="402336"/>
          </a:xfrm>
          <a:prstGeom prst="rect">
            <a:avLst/>
          </a:prstGeom>
          <a:noFill/>
          <a:ln/>
        </p:spPr>
        <p:txBody>
          <a:bodyPr wrap="square" lIns="0" tIns="0" rIns="0" bIns="0" rtlCol="0" anchor="t"/>
          <a:lstStyle/>
          <a:p>
            <a:pPr algn="l" indent="0" marL="0">
              <a:lnSpc>
                <a:spcPct val="104000"/>
              </a:lnSpc>
              <a:buNone/>
            </a:pPr>
            <a:r>
              <a:rPr lang="en-US" sz="1200" dirty="0">
                <a:solidFill>
                  <a:srgbClr val="FFFEFB"/>
                </a:solidFill>
                <a:latin typeface="Calibri" pitchFamily="34" charset="0"/>
                <a:ea typeface="Calibri" pitchFamily="34" charset="-122"/>
                <a:cs typeface="Calibri" pitchFamily="34" charset="-120"/>
              </a:rPr>
              <a:t>Pick something you saw this week that made you feel something strongly. Name the feeling, and explain how that feeling helped the thing travel.</a:t>
            </a:r>
            <a:endParaRPr lang="en-US" sz="1200" dirty="0"/>
          </a:p>
        </p:txBody>
      </p:sp>
      <p:sp>
        <p:nvSpPr>
          <p:cNvPr id="10" name="Shape 8"/>
          <p:cNvSpPr/>
          <p:nvPr/>
        </p:nvSpPr>
        <p:spPr>
          <a:xfrm>
            <a:off x="804672" y="2779776"/>
            <a:ext cx="310896" cy="310896"/>
          </a:xfrm>
          <a:prstGeom prst="ellipse">
            <a:avLst/>
          </a:prstGeom>
          <a:solidFill>
            <a:srgbClr val="B22222"/>
          </a:solidFill>
          <a:ln w="12700">
            <a:solidFill>
              <a:srgbClr val="B22222"/>
            </a:solidFill>
            <a:prstDash val="solid"/>
          </a:ln>
        </p:spPr>
      </p:sp>
      <p:sp>
        <p:nvSpPr>
          <p:cNvPr id="11" name="Text 9"/>
          <p:cNvSpPr/>
          <p:nvPr/>
        </p:nvSpPr>
        <p:spPr>
          <a:xfrm>
            <a:off x="804672" y="2779776"/>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2</a:t>
            </a:r>
            <a:endParaRPr lang="en-US" sz="950" dirty="0"/>
          </a:p>
        </p:txBody>
      </p:sp>
      <p:sp>
        <p:nvSpPr>
          <p:cNvPr id="12" name="Text 10"/>
          <p:cNvSpPr/>
          <p:nvPr/>
        </p:nvSpPr>
        <p:spPr>
          <a:xfrm>
            <a:off x="1243584" y="2761488"/>
            <a:ext cx="7040880" cy="201168"/>
          </a:xfrm>
          <a:prstGeom prst="rect">
            <a:avLst/>
          </a:prstGeom>
          <a:noFill/>
          <a:ln/>
        </p:spPr>
        <p:txBody>
          <a:bodyPr wrap="square" lIns="0" tIns="0" rIns="0" bIns="0" rtlCol="0" anchor="t"/>
          <a:lstStyle/>
          <a:p>
            <a:pPr algn="l" indent="0" marL="0">
              <a:lnSpc>
                <a:spcPct val="106000"/>
              </a:lnSpc>
              <a:buNone/>
            </a:pPr>
            <a:r>
              <a:rPr lang="en-US" sz="800" b="1" dirty="0">
                <a:solidFill>
                  <a:srgbClr val="E8A0A0"/>
                </a:solidFill>
                <a:latin typeface="Courier New" pitchFamily="34" charset="0"/>
                <a:ea typeface="Courier New" pitchFamily="34" charset="-122"/>
                <a:cs typeface="Courier New" pitchFamily="34" charset="-120"/>
              </a:rPr>
              <a:t>SOURCING</a:t>
            </a:r>
            <a:endParaRPr lang="en-US" sz="800" dirty="0"/>
          </a:p>
        </p:txBody>
      </p:sp>
      <p:sp>
        <p:nvSpPr>
          <p:cNvPr id="13" name="Text 11"/>
          <p:cNvSpPr/>
          <p:nvPr/>
        </p:nvSpPr>
        <p:spPr>
          <a:xfrm>
            <a:off x="1243584" y="2962656"/>
            <a:ext cx="7040880" cy="402336"/>
          </a:xfrm>
          <a:prstGeom prst="rect">
            <a:avLst/>
          </a:prstGeom>
          <a:noFill/>
          <a:ln/>
        </p:spPr>
        <p:txBody>
          <a:bodyPr wrap="square" lIns="0" tIns="0" rIns="0" bIns="0" rtlCol="0" anchor="t"/>
          <a:lstStyle/>
          <a:p>
            <a:pPr algn="l" indent="0" marL="0">
              <a:lnSpc>
                <a:spcPct val="104000"/>
              </a:lnSpc>
              <a:buNone/>
            </a:pPr>
            <a:r>
              <a:rPr lang="en-US" sz="1200" dirty="0">
                <a:solidFill>
                  <a:srgbClr val="FFFEFB"/>
                </a:solidFill>
                <a:latin typeface="Calibri" pitchFamily="34" charset="0"/>
                <a:ea typeface="Calibri" pitchFamily="34" charset="-122"/>
                <a:cs typeface="Calibri" pitchFamily="34" charset="-120"/>
              </a:rPr>
              <a:t>Take one claim you are not sure about and check it laterally. Write down what you did: who published it, when, and who else reports it.</a:t>
            </a:r>
            <a:endParaRPr lang="en-US" sz="1200" dirty="0"/>
          </a:p>
        </p:txBody>
      </p:sp>
      <p:sp>
        <p:nvSpPr>
          <p:cNvPr id="14" name="Shape 12"/>
          <p:cNvSpPr/>
          <p:nvPr/>
        </p:nvSpPr>
        <p:spPr>
          <a:xfrm>
            <a:off x="804672" y="3383280"/>
            <a:ext cx="310896" cy="310896"/>
          </a:xfrm>
          <a:prstGeom prst="ellipse">
            <a:avLst/>
          </a:prstGeom>
          <a:solidFill>
            <a:srgbClr val="B22222"/>
          </a:solidFill>
          <a:ln w="12700">
            <a:solidFill>
              <a:srgbClr val="B22222"/>
            </a:solidFill>
            <a:prstDash val="solid"/>
          </a:ln>
        </p:spPr>
      </p:sp>
      <p:sp>
        <p:nvSpPr>
          <p:cNvPr id="15" name="Text 13"/>
          <p:cNvSpPr/>
          <p:nvPr/>
        </p:nvSpPr>
        <p:spPr>
          <a:xfrm>
            <a:off x="804672" y="3383280"/>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3</a:t>
            </a:r>
            <a:endParaRPr lang="en-US" sz="950" dirty="0"/>
          </a:p>
        </p:txBody>
      </p:sp>
      <p:sp>
        <p:nvSpPr>
          <p:cNvPr id="16" name="Text 14"/>
          <p:cNvSpPr/>
          <p:nvPr/>
        </p:nvSpPr>
        <p:spPr>
          <a:xfrm>
            <a:off x="1243584" y="3364992"/>
            <a:ext cx="7040880" cy="201168"/>
          </a:xfrm>
          <a:prstGeom prst="rect">
            <a:avLst/>
          </a:prstGeom>
          <a:noFill/>
          <a:ln/>
        </p:spPr>
        <p:txBody>
          <a:bodyPr wrap="square" lIns="0" tIns="0" rIns="0" bIns="0" rtlCol="0" anchor="t"/>
          <a:lstStyle/>
          <a:p>
            <a:pPr algn="l" indent="0" marL="0">
              <a:lnSpc>
                <a:spcPct val="106000"/>
              </a:lnSpc>
              <a:buNone/>
            </a:pPr>
            <a:r>
              <a:rPr lang="en-US" sz="800" b="1" dirty="0">
                <a:solidFill>
                  <a:srgbClr val="E8A0A0"/>
                </a:solidFill>
                <a:latin typeface="Courier New" pitchFamily="34" charset="0"/>
                <a:ea typeface="Courier New" pitchFamily="34" charset="-122"/>
                <a:cs typeface="Courier New" pitchFamily="34" charset="-120"/>
              </a:rPr>
              <a:t>GENERALIZING FROM EVIDENCE</a:t>
            </a:r>
            <a:endParaRPr lang="en-US" sz="800" dirty="0"/>
          </a:p>
        </p:txBody>
      </p:sp>
      <p:sp>
        <p:nvSpPr>
          <p:cNvPr id="17" name="Text 15"/>
          <p:cNvSpPr/>
          <p:nvPr/>
        </p:nvSpPr>
        <p:spPr>
          <a:xfrm>
            <a:off x="1243584" y="3566160"/>
            <a:ext cx="7040880" cy="402336"/>
          </a:xfrm>
          <a:prstGeom prst="rect">
            <a:avLst/>
          </a:prstGeom>
          <a:noFill/>
          <a:ln/>
        </p:spPr>
        <p:txBody>
          <a:bodyPr wrap="square" lIns="0" tIns="0" rIns="0" bIns="0" rtlCol="0" anchor="t"/>
          <a:lstStyle/>
          <a:p>
            <a:pPr algn="l" indent="0" marL="0">
              <a:lnSpc>
                <a:spcPct val="104000"/>
              </a:lnSpc>
              <a:buNone/>
            </a:pPr>
            <a:r>
              <a:rPr lang="en-US" sz="1200" dirty="0">
                <a:solidFill>
                  <a:srgbClr val="FFFEFB"/>
                </a:solidFill>
                <a:latin typeface="Calibri" pitchFamily="34" charset="0"/>
                <a:ea typeface="Calibri" pitchFamily="34" charset="-122"/>
                <a:cs typeface="Calibri" pitchFamily="34" charset="-120"/>
              </a:rPr>
              <a:t>Pick one item from Part Five and explain the mechanism, step by step: how would it actually change an election?</a:t>
            </a:r>
            <a:endParaRPr lang="en-US" sz="1200" dirty="0"/>
          </a:p>
        </p:txBody>
      </p:sp>
      <p:sp>
        <p:nvSpPr>
          <p:cNvPr id="18" name="Text 16"/>
          <p:cNvSpPr/>
          <p:nvPr/>
        </p:nvSpPr>
        <p:spPr>
          <a:xfrm>
            <a:off x="548640" y="4096512"/>
            <a:ext cx="7863840" cy="402336"/>
          </a:xfrm>
          <a:prstGeom prst="rect">
            <a:avLst/>
          </a:prstGeom>
          <a:noFill/>
          <a:ln/>
        </p:spPr>
        <p:txBody>
          <a:bodyPr wrap="square" lIns="0" tIns="0" rIns="0" bIns="0" rtlCol="0" anchor="t"/>
          <a:lstStyle/>
          <a:p>
            <a:pPr algn="l" indent="0" marL="0">
              <a:lnSpc>
                <a:spcPct val="110000"/>
              </a:lnSpc>
              <a:buNone/>
            </a:pPr>
            <a:r>
              <a:rPr lang="en-US" sz="1250" i="1" dirty="0">
                <a:solidFill>
                  <a:srgbClr val="A8B2BA"/>
                </a:solidFill>
                <a:latin typeface="Calibri" pitchFamily="34" charset="0"/>
                <a:ea typeface="Calibri" pitchFamily="34" charset="-122"/>
                <a:cs typeface="Calibri" pitchFamily="34" charset="-120"/>
              </a:rPr>
              <a:t>Both cards under every question are real answers. Rate your confidence honestly: a Shaky tells your teacher more than a dishonest Could teach it.</a:t>
            </a:r>
            <a:endParaRPr lang="en-US" sz="1250" dirty="0"/>
          </a:p>
        </p:txBody>
      </p:sp>
      <p:sp>
        <p:nvSpPr>
          <p:cNvPr id="20" name="Text 17"/>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A8B2BA"/>
                </a:solidFill>
                <a:latin typeface="Courier New" pitchFamily="34" charset="0"/>
                <a:ea typeface="Courier New" pitchFamily="34" charset="-122"/>
                <a:cs typeface="Courier New" pitchFamily="34" charset="-120"/>
              </a:rPr>
              <a:t>BECURRENT  ·  SOCIAL MEDIA  ·  TOPIC 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BeCurrent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a Lie Travels, Social Media Topic 5</dc:title>
  <dc:subject>BeCurrent, Current Events</dc:subject>
  <dc:creator>BeCurrent</dc:creator>
  <cp:lastModifiedBy>BeCurrent</cp:lastModifiedBy>
  <cp:revision>1</cp:revision>
  <dcterms:created xsi:type="dcterms:W3CDTF">2026-08-20T13:11:37Z</dcterms:created>
  <dcterms:modified xsi:type="dcterms:W3CDTF">2026-08-20T13:11:37Z</dcterms:modified>
</cp:coreProperties>
</file>