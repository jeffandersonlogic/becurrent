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keeping the promise you made on day one. Read the question off the slide and then stop talking. Do not let anybody answer it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and the point is that today is earned. Five topics of machinery so that this can be an argument instead of a room of opinions. Read the goal at the bottom out loud: they are graded on the side they did not choose.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three answers up and take a straw poll by hands, with no discussion. Write the split on the board and leave it there. You will come back to it at the end and ask who 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decides whether the argument is any good. Say it plainly: every one of these positions is held by serious, thoughtful people. If a position feels obviously wrong, they are probably picturing a weak version of it, and beating a weak version teaches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tradeoff, then hold everybody to it for the rest of the block. An answer with no cost in it is not finished, and that is the standard you will grade against, so say so now rather than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 strongest case first, and have a student who disagrees with it state it. Then the hardest problem, and do not resolve it. Thousands of engineers against one person's willpower is the honest shape of the problem, not a trick.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self-regulation card is the one students underrate, so give it real weight: bad publicity does move companies. Then the tradeoff, which is the clearest conflict of interest in the unit. Let the silence sit for 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ordinary examples, because seatbelts and cigarette advertising are what make this position normal rather than extreme. Then the hardest problem. Read it slowly: the same authority protects and controls. The Watch For belongs in the argument without settling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a column, as a memory aid before they write. If a student cannot state the cost of their own position, they are not ready to write about it, and this is where you find that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historical move. Four arguments, four media, and they have heard of none of them. Ask what the four have in common before you turn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halves matter. Every one ended in self-regulation under threat rather than in a law, which predicts something. And several of the strongest claims did not hold up, which predicts something else. Sincere and wrong is the pair worth sitting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break the precedent on purpose. A comic book did not know who was holding it. Any argument from 1954 has to survive these three differences, and naming what is different is half of using a precedent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230 is the fact that changes how the argument feels. The current arrangement is one sentence that survived a court case, not the natural state of things. If students think the rules are permanent, they will argue as though nothing can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straw poll from the start and ask who moved and why. Then set the writing. Say out loud that Start Here and Push Further are both real answers, and that confidence is not graded. Read the last line, because it is the whole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B1F"/>
        </a:solidFill>
      </p:bgPr>
    </p:bg>
    <p:spTree>
      <p:nvGrpSpPr>
        <p:cNvPr id="1" name=""/>
        <p:cNvGrpSpPr/>
        <p:nvPr/>
      </p:nvGrpSpPr>
      <p:grpSpPr>
        <a:xfrm>
          <a:off x="0" y="0"/>
          <a:ext cx="0" cy="0"/>
          <a:chOff x="0" y="0"/>
          <a:chExt cx="0" cy="0"/>
        </a:xfrm>
      </p:grpSpPr>
      <p:sp>
        <p:nvSpPr>
          <p:cNvPr id="2" name="Shape 0"/>
          <p:cNvSpPr/>
          <p:nvPr/>
        </p:nvSpPr>
        <p:spPr>
          <a:xfrm>
            <a:off x="548640" y="548640"/>
            <a:ext cx="512064" cy="512064"/>
          </a:xfrm>
          <a:prstGeom prst="ellipse">
            <a:avLst/>
          </a:prstGeom>
          <a:solidFill>
            <a:srgbClr val="B22222"/>
          </a:solidFill>
          <a:ln w="12700">
            <a:solidFill>
              <a:srgbClr val="B22222"/>
            </a:solidFill>
            <a:prstDash val="solid"/>
          </a:ln>
        </p:spPr>
      </p:sp>
      <p:sp>
        <p:nvSpPr>
          <p:cNvPr id="3" name="Text 1"/>
          <p:cNvSpPr/>
          <p:nvPr/>
        </p:nvSpPr>
        <p:spPr>
          <a:xfrm>
            <a:off x="548640" y="548640"/>
            <a:ext cx="512064" cy="512064"/>
          </a:xfrm>
          <a:prstGeom prst="rect">
            <a:avLst/>
          </a:prstGeom>
          <a:noFill/>
          <a:ln/>
        </p:spPr>
        <p:txBody>
          <a:bodyPr wrap="square" lIns="0" tIns="0" rIns="0" bIns="0" rtlCol="0" anchor="ctr"/>
          <a:lstStyle/>
          <a:p>
            <a:pPr algn="ctr" indent="0" marL="0">
              <a:buNone/>
            </a:pPr>
            <a:r>
              <a:rPr lang="en-US" sz="1400" b="1" dirty="0">
                <a:solidFill>
                  <a:srgbClr val="FFFEFB"/>
                </a:solidFill>
                <a:latin typeface="Courier New" pitchFamily="34" charset="0"/>
                <a:ea typeface="Courier New" pitchFamily="34" charset="-122"/>
                <a:cs typeface="Courier New" pitchFamily="34" charset="-120"/>
              </a:rPr>
              <a:t>06</a:t>
            </a:r>
            <a:endParaRPr lang="en-US" sz="1400" dirty="0"/>
          </a:p>
        </p:txBody>
      </p:sp>
      <p:sp>
        <p:nvSpPr>
          <p:cNvPr id="4" name="Text 2"/>
          <p:cNvSpPr/>
          <p:nvPr/>
        </p:nvSpPr>
        <p:spPr>
          <a:xfrm>
            <a:off x="1207008" y="685800"/>
            <a:ext cx="8046720" cy="237744"/>
          </a:xfrm>
          <a:prstGeom prst="rect">
            <a:avLst/>
          </a:prstGeom>
          <a:noFill/>
          <a:ln/>
        </p:spPr>
        <p:txBody>
          <a:bodyPr wrap="square" lIns="0" tIns="0" rIns="0" bIns="0" rtlCol="0" anchor="ctr"/>
          <a:lstStyle/>
          <a:p>
            <a:pPr indent="0" marL="0">
              <a:buNone/>
            </a:pPr>
            <a:r>
              <a:rPr lang="en-US" sz="1000" b="1" spc="140" kern="0" dirty="0">
                <a:solidFill>
                  <a:srgbClr val="E8A0A0"/>
                </a:solidFill>
                <a:latin typeface="Courier New" pitchFamily="34" charset="0"/>
                <a:ea typeface="Courier New" pitchFamily="34" charset="-122"/>
                <a:cs typeface="Courier New" pitchFamily="34" charset="-120"/>
              </a:rPr>
              <a:t>SOCIAL MEDIA · TOPIC 6</a:t>
            </a:r>
            <a:endParaRPr lang="en-US" sz="1000" dirty="0"/>
          </a:p>
        </p:txBody>
      </p:sp>
      <p:sp>
        <p:nvSpPr>
          <p:cNvPr id="5" name="Text 3"/>
          <p:cNvSpPr/>
          <p:nvPr/>
        </p:nvSpPr>
        <p:spPr>
          <a:xfrm>
            <a:off x="548640" y="1298448"/>
            <a:ext cx="8046720" cy="868680"/>
          </a:xfrm>
          <a:prstGeom prst="rect">
            <a:avLst/>
          </a:prstGeom>
          <a:noFill/>
          <a:ln/>
        </p:spPr>
        <p:txBody>
          <a:bodyPr wrap="square" lIns="0" tIns="0" rIns="0" bIns="0" rtlCol="0" anchor="t"/>
          <a:lstStyle/>
          <a:p>
            <a:pPr indent="0" marL="0">
              <a:lnSpc>
                <a:spcPct val="92000"/>
              </a:lnSpc>
              <a:buNone/>
            </a:pPr>
            <a:r>
              <a:rPr lang="en-US" sz="4200" b="1" dirty="0">
                <a:solidFill>
                  <a:srgbClr val="FFFEFB"/>
                </a:solidFill>
                <a:latin typeface="Cambria" pitchFamily="34" charset="0"/>
                <a:ea typeface="Cambria" pitchFamily="34" charset="-122"/>
                <a:cs typeface="Cambria" pitchFamily="34" charset="-120"/>
              </a:rPr>
              <a:t>Who Gets to Decide?</a:t>
            </a:r>
            <a:endParaRPr lang="en-US" sz="4200" dirty="0"/>
          </a:p>
        </p:txBody>
      </p:sp>
      <p:sp>
        <p:nvSpPr>
          <p:cNvPr id="6" name="Text 4"/>
          <p:cNvSpPr/>
          <p:nvPr/>
        </p:nvSpPr>
        <p:spPr>
          <a:xfrm>
            <a:off x="548640" y="2286000"/>
            <a:ext cx="7040880" cy="731520"/>
          </a:xfrm>
          <a:prstGeom prst="rect">
            <a:avLst/>
          </a:prstGeom>
          <a:noFill/>
          <a:ln/>
        </p:spPr>
        <p:txBody>
          <a:bodyPr wrap="square" lIns="0" tIns="0" rIns="0" bIns="0" rtlCol="0" anchor="t"/>
          <a:lstStyle/>
          <a:p>
            <a:pPr algn="l" indent="0" marL="0">
              <a:lnSpc>
                <a:spcPct val="115000"/>
              </a:lnSpc>
              <a:buNone/>
            </a:pPr>
            <a:r>
              <a:rPr lang="en-US" sz="1700" i="1" dirty="0">
                <a:solidFill>
                  <a:srgbClr val="A8B2BA"/>
                </a:solidFill>
                <a:latin typeface="Cambria" pitchFamily="34" charset="0"/>
                <a:ea typeface="Cambria" pitchFamily="34" charset="-122"/>
                <a:cs typeface="Cambria" pitchFamily="34" charset="-120"/>
              </a:rPr>
              <a:t>On the first day I said I would ask you a hard question at the end. This is it.</a:t>
            </a:r>
            <a:endParaRPr lang="en-US" sz="1700" dirty="0"/>
          </a:p>
        </p:txBody>
      </p:sp>
      <p:sp>
        <p:nvSpPr>
          <p:cNvPr id="7" name="Shape 5"/>
          <p:cNvSpPr/>
          <p:nvPr/>
        </p:nvSpPr>
        <p:spPr>
          <a:xfrm>
            <a:off x="548640" y="3200400"/>
            <a:ext cx="1828800" cy="329184"/>
          </a:xfrm>
          <a:prstGeom prst="roundRect">
            <a:avLst>
              <a:gd name="adj" fmla="val 16667"/>
            </a:avLst>
          </a:prstGeom>
          <a:solidFill>
            <a:srgbClr val="2B3238"/>
          </a:solidFill>
          <a:ln w="9525">
            <a:solidFill>
              <a:srgbClr val="2B3238"/>
            </a:solidFill>
            <a:prstDash val="solid"/>
          </a:ln>
        </p:spPr>
      </p:sp>
      <p:sp>
        <p:nvSpPr>
          <p:cNvPr id="8" name="Text 6"/>
          <p:cNvSpPr/>
          <p:nvPr/>
        </p:nvSpPr>
        <p:spPr>
          <a:xfrm>
            <a:off x="548640" y="3200400"/>
            <a:ext cx="1828800" cy="329184"/>
          </a:xfrm>
          <a:prstGeom prst="rect">
            <a:avLst/>
          </a:prstGeom>
          <a:noFill/>
          <a:ln/>
        </p:spPr>
        <p:txBody>
          <a:bodyPr wrap="square" lIns="0" tIns="0" rIns="0" bIns="0" rtlCol="0" anchor="ctr"/>
          <a:lstStyle/>
          <a:p>
            <a:pPr algn="ctr" indent="0" marL="0">
              <a:lnSpc>
                <a:spcPct val="106000"/>
              </a:lnSpc>
              <a:buNone/>
            </a:pPr>
            <a:r>
              <a:rPr lang="en-US" sz="900" b="1" dirty="0">
                <a:solidFill>
                  <a:srgbClr val="E8A0A0"/>
                </a:solidFill>
                <a:latin typeface="Courier New" pitchFamily="34" charset="0"/>
                <a:ea typeface="Courier New" pitchFamily="34" charset="-122"/>
                <a:cs typeface="Courier New" pitchFamily="34" charset="-120"/>
              </a:rPr>
              <a:t>SYNTHESIZING PATTERNS</a:t>
            </a:r>
            <a:endParaRPr lang="en-US" sz="900" dirty="0"/>
          </a:p>
        </p:txBody>
      </p:sp>
      <p:sp>
        <p:nvSpPr>
          <p:cNvPr id="9" name="Shape 7"/>
          <p:cNvSpPr/>
          <p:nvPr/>
        </p:nvSpPr>
        <p:spPr>
          <a:xfrm>
            <a:off x="2578608" y="3200400"/>
            <a:ext cx="2331720" cy="329184"/>
          </a:xfrm>
          <a:prstGeom prst="roundRect">
            <a:avLst>
              <a:gd name="adj" fmla="val 16667"/>
            </a:avLst>
          </a:prstGeom>
          <a:solidFill>
            <a:srgbClr val="2B3238"/>
          </a:solidFill>
          <a:ln w="9525">
            <a:solidFill>
              <a:srgbClr val="2B3238"/>
            </a:solidFill>
            <a:prstDash val="solid"/>
          </a:ln>
        </p:spPr>
      </p:sp>
      <p:sp>
        <p:nvSpPr>
          <p:cNvPr id="10" name="Text 8"/>
          <p:cNvSpPr/>
          <p:nvPr/>
        </p:nvSpPr>
        <p:spPr>
          <a:xfrm>
            <a:off x="2578608" y="3200400"/>
            <a:ext cx="2331720" cy="329184"/>
          </a:xfrm>
          <a:prstGeom prst="rect">
            <a:avLst/>
          </a:prstGeom>
          <a:noFill/>
          <a:ln/>
        </p:spPr>
        <p:txBody>
          <a:bodyPr wrap="square" lIns="0" tIns="0" rIns="0" bIns="0" rtlCol="0" anchor="ctr"/>
          <a:lstStyle/>
          <a:p>
            <a:pPr algn="ctr" indent="0" marL="0">
              <a:lnSpc>
                <a:spcPct val="106000"/>
              </a:lnSpc>
              <a:buNone/>
            </a:pPr>
            <a:r>
              <a:rPr lang="en-US" sz="900" b="1" dirty="0">
                <a:solidFill>
                  <a:srgbClr val="E8A0A0"/>
                </a:solidFill>
                <a:latin typeface="Courier New" pitchFamily="34" charset="0"/>
                <a:ea typeface="Courier New" pitchFamily="34" charset="-122"/>
                <a:cs typeface="Courier New" pitchFamily="34" charset="-120"/>
              </a:rPr>
              <a:t>GENERALIZING FROM EVIDENCE</a:t>
            </a:r>
            <a:endParaRPr lang="en-US" sz="900" dirty="0"/>
          </a:p>
        </p:txBody>
      </p:sp>
      <p:sp>
        <p:nvSpPr>
          <p:cNvPr id="12" name="Text 9"/>
          <p:cNvSpPr/>
          <p:nvPr/>
        </p:nvSpPr>
        <p:spPr>
          <a:xfrm>
            <a:off x="548640" y="4668012"/>
            <a:ext cx="8046720" cy="256032"/>
          </a:xfrm>
          <a:prstGeom prst="rect">
            <a:avLst/>
          </a:prstGeom>
          <a:noFill/>
          <a:ln/>
        </p:spPr>
        <p:txBody>
          <a:bodyPr wrap="square" lIns="0" tIns="0" rIns="0" bIns="0" rtlCol="0" anchor="ctr"/>
          <a:lstStyle/>
          <a:p>
            <a:pPr indent="0" marL="0">
              <a:buNone/>
            </a:pPr>
            <a:r>
              <a:rPr lang="en-US" sz="800" spc="100" kern="0" dirty="0">
                <a:solidFill>
                  <a:srgbClr val="A8B2BA"/>
                </a:solidFill>
                <a:latin typeface="Courier New" pitchFamily="34" charset="0"/>
                <a:ea typeface="Courier New" pitchFamily="34" charset="-122"/>
                <a:cs typeface="Courier New" pitchFamily="34" charset="-120"/>
              </a:rPr>
              <a:t>BECURRENT  ·  SOCIAL MEDIA  ·  TOPIC 6</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2ED"/>
        </a:solidFill>
      </p:bgPr>
    </p:bg>
    <p:spTree>
      <p:nvGrpSpPr>
        <p:cNvPr id="1" name=""/>
        <p:cNvGrpSpPr/>
        <p:nvPr/>
      </p:nvGrpSpPr>
      <p:grpSpPr>
        <a:xfrm>
          <a:off x="0" y="0"/>
          <a:ext cx="0" cy="0"/>
          <a:chOff x="0" y="0"/>
          <a:chExt cx="0" cy="0"/>
        </a:xfrm>
      </p:grpSpPr>
      <p:sp>
        <p:nvSpPr>
          <p:cNvPr id="2" name="Text 0"/>
          <p:cNvSpPr/>
          <p:nvPr/>
        </p:nvSpPr>
        <p:spPr>
          <a:xfrm>
            <a:off x="548640" y="365760"/>
            <a:ext cx="8046720" cy="237744"/>
          </a:xfrm>
          <a:prstGeom prst="rect">
            <a:avLst/>
          </a:prstGeom>
          <a:noFill/>
          <a:ln/>
        </p:spPr>
        <p:txBody>
          <a:bodyPr wrap="square" lIns="0" tIns="0" rIns="0" bIns="0" rtlCol="0" anchor="ctr"/>
          <a:lstStyle/>
          <a:p>
            <a:pPr indent="0" marL="0">
              <a:buNone/>
            </a:pPr>
            <a:r>
              <a:rPr lang="en-US" sz="1000" b="1" spc="140" kern="0" dirty="0">
                <a:solidFill>
                  <a:srgbClr val="B22222"/>
                </a:solidFill>
                <a:latin typeface="Courier New" pitchFamily="34" charset="0"/>
                <a:ea typeface="Courier New" pitchFamily="34" charset="-122"/>
                <a:cs typeface="Courier New" pitchFamily="34" charset="-120"/>
              </a:rPr>
              <a:t>BEFORE YOU READ</a:t>
            </a:r>
            <a:endParaRPr lang="en-US" sz="1000" dirty="0"/>
          </a:p>
        </p:txBody>
      </p:sp>
      <p:sp>
        <p:nvSpPr>
          <p:cNvPr id="3" name="Text 1"/>
          <p:cNvSpPr/>
          <p:nvPr/>
        </p:nvSpPr>
        <p:spPr>
          <a:xfrm>
            <a:off x="548640" y="713232"/>
            <a:ext cx="8046720" cy="731520"/>
          </a:xfrm>
          <a:prstGeom prst="rect">
            <a:avLst/>
          </a:prstGeom>
          <a:noFill/>
          <a:ln/>
        </p:spPr>
        <p:txBody>
          <a:bodyPr wrap="square" lIns="0" tIns="0" rIns="0" bIns="0" rtlCol="0" anchor="t"/>
          <a:lstStyle/>
          <a:p>
            <a:pPr indent="0" marL="0">
              <a:lnSpc>
                <a:spcPct val="92000"/>
              </a:lnSpc>
              <a:buNone/>
            </a:pPr>
            <a:r>
              <a:rPr lang="en-US" sz="3000" b="1" dirty="0">
                <a:solidFill>
                  <a:srgbClr val="14171A"/>
                </a:solidFill>
                <a:latin typeface="Cambria" pitchFamily="34" charset="0"/>
                <a:ea typeface="Cambria" pitchFamily="34" charset="-122"/>
                <a:cs typeface="Cambria" pitchFamily="34" charset="-120"/>
              </a:rPr>
              <a:t>What today builds on</a:t>
            </a:r>
            <a:endParaRPr lang="en-US" sz="3000" dirty="0"/>
          </a:p>
        </p:txBody>
      </p:sp>
      <p:sp>
        <p:nvSpPr>
          <p:cNvPr id="4" name="Shape 2"/>
          <p:cNvSpPr/>
          <p:nvPr/>
        </p:nvSpPr>
        <p:spPr>
          <a:xfrm>
            <a:off x="548640" y="1481328"/>
            <a:ext cx="310896" cy="310896"/>
          </a:xfrm>
          <a:prstGeom prst="ellipse">
            <a:avLst/>
          </a:prstGeom>
          <a:solidFill>
            <a:srgbClr val="2B3238"/>
          </a:solidFill>
          <a:ln w="12700">
            <a:solidFill>
              <a:srgbClr val="2B3238"/>
            </a:solidFill>
            <a:prstDash val="solid"/>
          </a:ln>
        </p:spPr>
      </p:sp>
      <p:sp>
        <p:nvSpPr>
          <p:cNvPr id="5" name="Text 3"/>
          <p:cNvSpPr/>
          <p:nvPr/>
        </p:nvSpPr>
        <p:spPr>
          <a:xfrm>
            <a:off x="548640" y="1481328"/>
            <a:ext cx="310896" cy="310896"/>
          </a:xfrm>
          <a:prstGeom prst="rect">
            <a:avLst/>
          </a:prstGeom>
          <a:noFill/>
          <a:ln/>
        </p:spPr>
        <p:txBody>
          <a:bodyPr wrap="square" lIns="0" tIns="0" rIns="0" bIns="0" rtlCol="0" anchor="ctr"/>
          <a:lstStyle/>
          <a:p>
            <a:pPr algn="ctr" indent="0" marL="0">
              <a:buNone/>
            </a:pPr>
            <a:r>
              <a:rPr lang="en-US" sz="950" b="1" dirty="0">
                <a:solidFill>
                  <a:srgbClr val="FFFEFB"/>
                </a:solidFill>
                <a:latin typeface="Courier New" pitchFamily="34" charset="0"/>
                <a:ea typeface="Courier New" pitchFamily="34" charset="-122"/>
                <a:cs typeface="Courier New" pitchFamily="34" charset="-120"/>
              </a:rPr>
              <a:t>1</a:t>
            </a:r>
            <a:endParaRPr lang="en-US" sz="950" dirty="0"/>
          </a:p>
        </p:txBody>
      </p:sp>
      <p:sp>
        <p:nvSpPr>
          <p:cNvPr id="6" name="Text 4"/>
          <p:cNvSpPr/>
          <p:nvPr/>
        </p:nvSpPr>
        <p:spPr>
          <a:xfrm>
            <a:off x="987552" y="1463040"/>
            <a:ext cx="2651760" cy="274320"/>
          </a:xfrm>
          <a:prstGeom prst="rect">
            <a:avLst/>
          </a:prstGeom>
          <a:noFill/>
          <a:ln/>
        </p:spPr>
        <p:txBody>
          <a:bodyPr wrap="square" lIns="0" tIns="0" rIns="0" bIns="0" rtlCol="0" anchor="ctr"/>
          <a:lstStyle/>
          <a:p>
            <a:pPr algn="l" indent="0" marL="0">
              <a:lnSpc>
                <a:spcPct val="106000"/>
              </a:lnSpc>
              <a:buNone/>
            </a:pPr>
            <a:r>
              <a:rPr lang="en-US" sz="1200" b="1" dirty="0">
                <a:solidFill>
                  <a:srgbClr val="14171A"/>
                </a:solidFill>
                <a:latin typeface="Calibri" pitchFamily="34" charset="0"/>
                <a:ea typeface="Calibri" pitchFamily="34" charset="-122"/>
                <a:cs typeface="Calibri" pitchFamily="34" charset="-120"/>
              </a:rPr>
              <a:t>Where the Money Comes From</a:t>
            </a:r>
            <a:endParaRPr lang="en-US" sz="1200" dirty="0"/>
          </a:p>
        </p:txBody>
      </p:sp>
      <p:sp>
        <p:nvSpPr>
          <p:cNvPr id="7" name="Text 5"/>
          <p:cNvSpPr/>
          <p:nvPr/>
        </p:nvSpPr>
        <p:spPr>
          <a:xfrm>
            <a:off x="3730752" y="1463040"/>
            <a:ext cx="4846320" cy="274320"/>
          </a:xfrm>
          <a:prstGeom prst="rect">
            <a:avLst/>
          </a:prstGeom>
          <a:noFill/>
          <a:ln/>
        </p:spPr>
        <p:txBody>
          <a:bodyPr wrap="square" lIns="0" tIns="0" rIns="0" bIns="0" rtlCol="0" anchor="ctr"/>
          <a:lstStyle/>
          <a:p>
            <a:pPr algn="l" indent="0" marL="0">
              <a:lnSpc>
                <a:spcPct val="106000"/>
              </a:lnSpc>
              <a:buNone/>
            </a:pPr>
            <a:r>
              <a:rPr lang="en-US" sz="1250" dirty="0">
                <a:solidFill>
                  <a:srgbClr val="3C444C"/>
                </a:solidFill>
                <a:latin typeface="Calibri" pitchFamily="34" charset="0"/>
                <a:ea typeface="Calibri" pitchFamily="34" charset="-122"/>
                <a:cs typeface="Calibri" pitchFamily="34" charset="-120"/>
              </a:rPr>
              <a:t>You built the chain from opening an app to a company getting paid.</a:t>
            </a:r>
            <a:endParaRPr lang="en-US" sz="1250" dirty="0"/>
          </a:p>
        </p:txBody>
      </p:sp>
      <p:sp>
        <p:nvSpPr>
          <p:cNvPr id="8" name="Shape 6"/>
          <p:cNvSpPr/>
          <p:nvPr/>
        </p:nvSpPr>
        <p:spPr>
          <a:xfrm>
            <a:off x="548640" y="1975104"/>
            <a:ext cx="310896" cy="310896"/>
          </a:xfrm>
          <a:prstGeom prst="ellipse">
            <a:avLst/>
          </a:prstGeom>
          <a:solidFill>
            <a:srgbClr val="2B3238"/>
          </a:solidFill>
          <a:ln w="12700">
            <a:solidFill>
              <a:srgbClr val="2B3238"/>
            </a:solidFill>
            <a:prstDash val="solid"/>
          </a:ln>
        </p:spPr>
      </p:sp>
      <p:sp>
        <p:nvSpPr>
          <p:cNvPr id="9" name="Text 7"/>
          <p:cNvSpPr/>
          <p:nvPr/>
        </p:nvSpPr>
        <p:spPr>
          <a:xfrm>
            <a:off x="548640" y="1975104"/>
            <a:ext cx="310896" cy="310896"/>
          </a:xfrm>
          <a:prstGeom prst="rect">
            <a:avLst/>
          </a:prstGeom>
          <a:noFill/>
          <a:ln/>
        </p:spPr>
        <p:txBody>
          <a:bodyPr wrap="square" lIns="0" tIns="0" rIns="0" bIns="0" rtlCol="0" anchor="ctr"/>
          <a:lstStyle/>
          <a:p>
            <a:pPr algn="ctr" indent="0" marL="0">
              <a:buNone/>
            </a:pPr>
            <a:r>
              <a:rPr lang="en-US" sz="950" b="1" dirty="0">
                <a:solidFill>
                  <a:srgbClr val="FFFEFB"/>
                </a:solidFill>
                <a:latin typeface="Courier New" pitchFamily="34" charset="0"/>
                <a:ea typeface="Courier New" pitchFamily="34" charset="-122"/>
                <a:cs typeface="Courier New" pitchFamily="34" charset="-120"/>
              </a:rPr>
              <a:t>2</a:t>
            </a:r>
            <a:endParaRPr lang="en-US" sz="950" dirty="0"/>
          </a:p>
        </p:txBody>
      </p:sp>
      <p:sp>
        <p:nvSpPr>
          <p:cNvPr id="10" name="Text 8"/>
          <p:cNvSpPr/>
          <p:nvPr/>
        </p:nvSpPr>
        <p:spPr>
          <a:xfrm>
            <a:off x="987552" y="1956816"/>
            <a:ext cx="2651760" cy="274320"/>
          </a:xfrm>
          <a:prstGeom prst="rect">
            <a:avLst/>
          </a:prstGeom>
          <a:noFill/>
          <a:ln/>
        </p:spPr>
        <p:txBody>
          <a:bodyPr wrap="square" lIns="0" tIns="0" rIns="0" bIns="0" rtlCol="0" anchor="ctr"/>
          <a:lstStyle/>
          <a:p>
            <a:pPr algn="l" indent="0" marL="0">
              <a:lnSpc>
                <a:spcPct val="106000"/>
              </a:lnSpc>
              <a:buNone/>
            </a:pPr>
            <a:r>
              <a:rPr lang="en-US" sz="1200" b="1" dirty="0">
                <a:solidFill>
                  <a:srgbClr val="14171A"/>
                </a:solidFill>
                <a:latin typeface="Calibri" pitchFamily="34" charset="0"/>
                <a:ea typeface="Calibri" pitchFamily="34" charset="-122"/>
                <a:cs typeface="Calibri" pitchFamily="34" charset="-120"/>
              </a:rPr>
              <a:t>Somebody Made a Film About This</a:t>
            </a:r>
            <a:endParaRPr lang="en-US" sz="1200" dirty="0"/>
          </a:p>
        </p:txBody>
      </p:sp>
      <p:sp>
        <p:nvSpPr>
          <p:cNvPr id="11" name="Text 9"/>
          <p:cNvSpPr/>
          <p:nvPr/>
        </p:nvSpPr>
        <p:spPr>
          <a:xfrm>
            <a:off x="3730752" y="1956816"/>
            <a:ext cx="4846320" cy="274320"/>
          </a:xfrm>
          <a:prstGeom prst="rect">
            <a:avLst/>
          </a:prstGeom>
          <a:noFill/>
          <a:ln/>
        </p:spPr>
        <p:txBody>
          <a:bodyPr wrap="square" lIns="0" tIns="0" rIns="0" bIns="0" rtlCol="0" anchor="ctr"/>
          <a:lstStyle/>
          <a:p>
            <a:pPr algn="l" indent="0" marL="0">
              <a:lnSpc>
                <a:spcPct val="106000"/>
              </a:lnSpc>
              <a:buNone/>
            </a:pPr>
            <a:r>
              <a:rPr lang="en-US" sz="1250" dirty="0">
                <a:solidFill>
                  <a:srgbClr val="3C444C"/>
                </a:solidFill>
                <a:latin typeface="Calibri" pitchFamily="34" charset="0"/>
                <a:ea typeface="Calibri" pitchFamily="34" charset="-122"/>
                <a:cs typeface="Calibri" pitchFamily="34" charset="-120"/>
              </a:rPr>
              <a:t>You took a film apart the same way you took your app apart.</a:t>
            </a:r>
            <a:endParaRPr lang="en-US" sz="1250" dirty="0"/>
          </a:p>
        </p:txBody>
      </p:sp>
      <p:sp>
        <p:nvSpPr>
          <p:cNvPr id="12" name="Shape 10"/>
          <p:cNvSpPr/>
          <p:nvPr/>
        </p:nvSpPr>
        <p:spPr>
          <a:xfrm>
            <a:off x="548640" y="2468880"/>
            <a:ext cx="310896" cy="310896"/>
          </a:xfrm>
          <a:prstGeom prst="ellipse">
            <a:avLst/>
          </a:prstGeom>
          <a:solidFill>
            <a:srgbClr val="2B3238"/>
          </a:solidFill>
          <a:ln w="12700">
            <a:solidFill>
              <a:srgbClr val="2B3238"/>
            </a:solidFill>
            <a:prstDash val="solid"/>
          </a:ln>
        </p:spPr>
      </p:sp>
      <p:sp>
        <p:nvSpPr>
          <p:cNvPr id="13" name="Text 11"/>
          <p:cNvSpPr/>
          <p:nvPr/>
        </p:nvSpPr>
        <p:spPr>
          <a:xfrm>
            <a:off x="548640" y="2468880"/>
            <a:ext cx="310896" cy="310896"/>
          </a:xfrm>
          <a:prstGeom prst="rect">
            <a:avLst/>
          </a:prstGeom>
          <a:noFill/>
          <a:ln/>
        </p:spPr>
        <p:txBody>
          <a:bodyPr wrap="square" lIns="0" tIns="0" rIns="0" bIns="0" rtlCol="0" anchor="ctr"/>
          <a:lstStyle/>
          <a:p>
            <a:pPr algn="ctr" indent="0" marL="0">
              <a:buNone/>
            </a:pPr>
            <a:r>
              <a:rPr lang="en-US" sz="950" b="1" dirty="0">
                <a:solidFill>
                  <a:srgbClr val="FFFEFB"/>
                </a:solidFill>
                <a:latin typeface="Courier New" pitchFamily="34" charset="0"/>
                <a:ea typeface="Courier New" pitchFamily="34" charset="-122"/>
                <a:cs typeface="Courier New" pitchFamily="34" charset="-120"/>
              </a:rPr>
              <a:t>3</a:t>
            </a:r>
            <a:endParaRPr lang="en-US" sz="950" dirty="0"/>
          </a:p>
        </p:txBody>
      </p:sp>
      <p:sp>
        <p:nvSpPr>
          <p:cNvPr id="14" name="Text 12"/>
          <p:cNvSpPr/>
          <p:nvPr/>
        </p:nvSpPr>
        <p:spPr>
          <a:xfrm>
            <a:off x="987552" y="2450592"/>
            <a:ext cx="2651760" cy="274320"/>
          </a:xfrm>
          <a:prstGeom prst="rect">
            <a:avLst/>
          </a:prstGeom>
          <a:noFill/>
          <a:ln/>
        </p:spPr>
        <p:txBody>
          <a:bodyPr wrap="square" lIns="0" tIns="0" rIns="0" bIns="0" rtlCol="0" anchor="ctr"/>
          <a:lstStyle/>
          <a:p>
            <a:pPr algn="l" indent="0" marL="0">
              <a:lnSpc>
                <a:spcPct val="106000"/>
              </a:lnSpc>
              <a:buNone/>
            </a:pPr>
            <a:r>
              <a:rPr lang="en-US" sz="1200" b="1" dirty="0">
                <a:solidFill>
                  <a:srgbClr val="14171A"/>
                </a:solidFill>
                <a:latin typeface="Calibri" pitchFamily="34" charset="0"/>
                <a:ea typeface="Calibri" pitchFamily="34" charset="-122"/>
                <a:cs typeface="Calibri" pitchFamily="34" charset="-120"/>
              </a:rPr>
              <a:t>Inside the Algorithm Box</a:t>
            </a:r>
            <a:endParaRPr lang="en-US" sz="1200" dirty="0"/>
          </a:p>
        </p:txBody>
      </p:sp>
      <p:sp>
        <p:nvSpPr>
          <p:cNvPr id="15" name="Text 13"/>
          <p:cNvSpPr/>
          <p:nvPr/>
        </p:nvSpPr>
        <p:spPr>
          <a:xfrm>
            <a:off x="3730752" y="2450592"/>
            <a:ext cx="4846320" cy="274320"/>
          </a:xfrm>
          <a:prstGeom prst="rect">
            <a:avLst/>
          </a:prstGeom>
          <a:noFill/>
          <a:ln/>
        </p:spPr>
        <p:txBody>
          <a:bodyPr wrap="square" lIns="0" tIns="0" rIns="0" bIns="0" rtlCol="0" anchor="ctr"/>
          <a:lstStyle/>
          <a:p>
            <a:pPr algn="l" indent="0" marL="0">
              <a:lnSpc>
                <a:spcPct val="106000"/>
              </a:lnSpc>
              <a:buNone/>
            </a:pPr>
            <a:r>
              <a:rPr lang="en-US" sz="1250" dirty="0">
                <a:solidFill>
                  <a:srgbClr val="3C444C"/>
                </a:solidFill>
                <a:latin typeface="Calibri" pitchFamily="34" charset="0"/>
                <a:ea typeface="Calibri" pitchFamily="34" charset="-122"/>
                <a:cs typeface="Calibri" pitchFamily="34" charset="-120"/>
              </a:rPr>
              <a:t>You opened the box that almost every chain had in the middle.</a:t>
            </a:r>
            <a:endParaRPr lang="en-US" sz="1250" dirty="0"/>
          </a:p>
        </p:txBody>
      </p:sp>
      <p:sp>
        <p:nvSpPr>
          <p:cNvPr id="16" name="Shape 14"/>
          <p:cNvSpPr/>
          <p:nvPr/>
        </p:nvSpPr>
        <p:spPr>
          <a:xfrm>
            <a:off x="548640" y="2962656"/>
            <a:ext cx="310896" cy="310896"/>
          </a:xfrm>
          <a:prstGeom prst="ellipse">
            <a:avLst/>
          </a:prstGeom>
          <a:solidFill>
            <a:srgbClr val="2B3238"/>
          </a:solidFill>
          <a:ln w="12700">
            <a:solidFill>
              <a:srgbClr val="2B3238"/>
            </a:solidFill>
            <a:prstDash val="solid"/>
          </a:ln>
        </p:spPr>
      </p:sp>
      <p:sp>
        <p:nvSpPr>
          <p:cNvPr id="17" name="Text 15"/>
          <p:cNvSpPr/>
          <p:nvPr/>
        </p:nvSpPr>
        <p:spPr>
          <a:xfrm>
            <a:off x="548640" y="2962656"/>
            <a:ext cx="310896" cy="310896"/>
          </a:xfrm>
          <a:prstGeom prst="rect">
            <a:avLst/>
          </a:prstGeom>
          <a:noFill/>
          <a:ln/>
        </p:spPr>
        <p:txBody>
          <a:bodyPr wrap="square" lIns="0" tIns="0" rIns="0" bIns="0" rtlCol="0" anchor="ctr"/>
          <a:lstStyle/>
          <a:p>
            <a:pPr algn="ctr" indent="0" marL="0">
              <a:buNone/>
            </a:pPr>
            <a:r>
              <a:rPr lang="en-US" sz="950" b="1" dirty="0">
                <a:solidFill>
                  <a:srgbClr val="FFFEFB"/>
                </a:solidFill>
                <a:latin typeface="Courier New" pitchFamily="34" charset="0"/>
                <a:ea typeface="Courier New" pitchFamily="34" charset="-122"/>
                <a:cs typeface="Courier New" pitchFamily="34" charset="-120"/>
              </a:rPr>
              <a:t>4</a:t>
            </a:r>
            <a:endParaRPr lang="en-US" sz="950" dirty="0"/>
          </a:p>
        </p:txBody>
      </p:sp>
      <p:sp>
        <p:nvSpPr>
          <p:cNvPr id="18" name="Text 16"/>
          <p:cNvSpPr/>
          <p:nvPr/>
        </p:nvSpPr>
        <p:spPr>
          <a:xfrm>
            <a:off x="987552" y="2944368"/>
            <a:ext cx="2651760" cy="274320"/>
          </a:xfrm>
          <a:prstGeom prst="rect">
            <a:avLst/>
          </a:prstGeom>
          <a:noFill/>
          <a:ln/>
        </p:spPr>
        <p:txBody>
          <a:bodyPr wrap="square" lIns="0" tIns="0" rIns="0" bIns="0" rtlCol="0" anchor="ctr"/>
          <a:lstStyle/>
          <a:p>
            <a:pPr algn="l" indent="0" marL="0">
              <a:lnSpc>
                <a:spcPct val="106000"/>
              </a:lnSpc>
              <a:buNone/>
            </a:pPr>
            <a:r>
              <a:rPr lang="en-US" sz="1200" b="1" dirty="0">
                <a:solidFill>
                  <a:srgbClr val="14171A"/>
                </a:solidFill>
                <a:latin typeface="Calibri" pitchFamily="34" charset="0"/>
                <a:ea typeface="Calibri" pitchFamily="34" charset="-122"/>
                <a:cs typeface="Calibri" pitchFamily="34" charset="-120"/>
              </a:rPr>
              <a:t>The Impact and the Digital Footprint</a:t>
            </a:r>
            <a:endParaRPr lang="en-US" sz="1200" dirty="0"/>
          </a:p>
        </p:txBody>
      </p:sp>
      <p:sp>
        <p:nvSpPr>
          <p:cNvPr id="19" name="Text 17"/>
          <p:cNvSpPr/>
          <p:nvPr/>
        </p:nvSpPr>
        <p:spPr>
          <a:xfrm>
            <a:off x="3730752" y="2944368"/>
            <a:ext cx="4846320" cy="274320"/>
          </a:xfrm>
          <a:prstGeom prst="rect">
            <a:avLst/>
          </a:prstGeom>
          <a:noFill/>
          <a:ln/>
        </p:spPr>
        <p:txBody>
          <a:bodyPr wrap="square" lIns="0" tIns="0" rIns="0" bIns="0" rtlCol="0" anchor="ctr"/>
          <a:lstStyle/>
          <a:p>
            <a:pPr algn="l" indent="0" marL="0">
              <a:lnSpc>
                <a:spcPct val="106000"/>
              </a:lnSpc>
              <a:buNone/>
            </a:pPr>
            <a:r>
              <a:rPr lang="en-US" sz="1250" dirty="0">
                <a:solidFill>
                  <a:srgbClr val="3C444C"/>
                </a:solidFill>
                <a:latin typeface="Calibri" pitchFamily="34" charset="0"/>
                <a:ea typeface="Calibri" pitchFamily="34" charset="-122"/>
                <a:cs typeface="Calibri" pitchFamily="34" charset="-120"/>
              </a:rPr>
              <a:t>You read the evidence about effects, and looked up your own record.</a:t>
            </a:r>
            <a:endParaRPr lang="en-US" sz="1250" dirty="0"/>
          </a:p>
        </p:txBody>
      </p:sp>
      <p:sp>
        <p:nvSpPr>
          <p:cNvPr id="20" name="Shape 18"/>
          <p:cNvSpPr/>
          <p:nvPr/>
        </p:nvSpPr>
        <p:spPr>
          <a:xfrm>
            <a:off x="548640" y="3456432"/>
            <a:ext cx="310896" cy="310896"/>
          </a:xfrm>
          <a:prstGeom prst="ellipse">
            <a:avLst/>
          </a:prstGeom>
          <a:solidFill>
            <a:srgbClr val="2B3238"/>
          </a:solidFill>
          <a:ln w="12700">
            <a:solidFill>
              <a:srgbClr val="2B3238"/>
            </a:solidFill>
            <a:prstDash val="solid"/>
          </a:ln>
        </p:spPr>
      </p:sp>
      <p:sp>
        <p:nvSpPr>
          <p:cNvPr id="21" name="Text 19"/>
          <p:cNvSpPr/>
          <p:nvPr/>
        </p:nvSpPr>
        <p:spPr>
          <a:xfrm>
            <a:off x="548640" y="3456432"/>
            <a:ext cx="310896" cy="310896"/>
          </a:xfrm>
          <a:prstGeom prst="rect">
            <a:avLst/>
          </a:prstGeom>
          <a:noFill/>
          <a:ln/>
        </p:spPr>
        <p:txBody>
          <a:bodyPr wrap="square" lIns="0" tIns="0" rIns="0" bIns="0" rtlCol="0" anchor="ctr"/>
          <a:lstStyle/>
          <a:p>
            <a:pPr algn="ctr" indent="0" marL="0">
              <a:buNone/>
            </a:pPr>
            <a:r>
              <a:rPr lang="en-US" sz="950" b="1" dirty="0">
                <a:solidFill>
                  <a:srgbClr val="FFFEFB"/>
                </a:solidFill>
                <a:latin typeface="Courier New" pitchFamily="34" charset="0"/>
                <a:ea typeface="Courier New" pitchFamily="34" charset="-122"/>
                <a:cs typeface="Courier New" pitchFamily="34" charset="-120"/>
              </a:rPr>
              <a:t>5</a:t>
            </a:r>
            <a:endParaRPr lang="en-US" sz="950" dirty="0"/>
          </a:p>
        </p:txBody>
      </p:sp>
      <p:sp>
        <p:nvSpPr>
          <p:cNvPr id="22" name="Text 20"/>
          <p:cNvSpPr/>
          <p:nvPr/>
        </p:nvSpPr>
        <p:spPr>
          <a:xfrm>
            <a:off x="987552" y="3438144"/>
            <a:ext cx="2651760" cy="274320"/>
          </a:xfrm>
          <a:prstGeom prst="rect">
            <a:avLst/>
          </a:prstGeom>
          <a:noFill/>
          <a:ln/>
        </p:spPr>
        <p:txBody>
          <a:bodyPr wrap="square" lIns="0" tIns="0" rIns="0" bIns="0" rtlCol="0" anchor="ctr"/>
          <a:lstStyle/>
          <a:p>
            <a:pPr algn="l" indent="0" marL="0">
              <a:lnSpc>
                <a:spcPct val="106000"/>
              </a:lnSpc>
              <a:buNone/>
            </a:pPr>
            <a:r>
              <a:rPr lang="en-US" sz="1200" b="1" dirty="0">
                <a:solidFill>
                  <a:srgbClr val="14171A"/>
                </a:solidFill>
                <a:latin typeface="Calibri" pitchFamily="34" charset="0"/>
                <a:ea typeface="Calibri" pitchFamily="34" charset="-122"/>
                <a:cs typeface="Calibri" pitchFamily="34" charset="-120"/>
              </a:rPr>
              <a:t>How a Lie Travels</a:t>
            </a:r>
            <a:endParaRPr lang="en-US" sz="1200" dirty="0"/>
          </a:p>
        </p:txBody>
      </p:sp>
      <p:sp>
        <p:nvSpPr>
          <p:cNvPr id="23" name="Text 21"/>
          <p:cNvSpPr/>
          <p:nvPr/>
        </p:nvSpPr>
        <p:spPr>
          <a:xfrm>
            <a:off x="3730752" y="3438144"/>
            <a:ext cx="4846320" cy="274320"/>
          </a:xfrm>
          <a:prstGeom prst="rect">
            <a:avLst/>
          </a:prstGeom>
          <a:noFill/>
          <a:ln/>
        </p:spPr>
        <p:txBody>
          <a:bodyPr wrap="square" lIns="0" tIns="0" rIns="0" bIns="0" rtlCol="0" anchor="ctr"/>
          <a:lstStyle/>
          <a:p>
            <a:pPr algn="l" indent="0" marL="0">
              <a:lnSpc>
                <a:spcPct val="106000"/>
              </a:lnSpc>
              <a:buNone/>
            </a:pPr>
            <a:r>
              <a:rPr lang="en-US" sz="1250" dirty="0">
                <a:solidFill>
                  <a:srgbClr val="3C444C"/>
                </a:solidFill>
                <a:latin typeface="Calibri" pitchFamily="34" charset="0"/>
                <a:ea typeface="Calibri" pitchFamily="34" charset="-122"/>
                <a:cs typeface="Calibri" pitchFamily="34" charset="-120"/>
              </a:rPr>
              <a:t>You followed a false story through the system.</a:t>
            </a:r>
            <a:endParaRPr lang="en-US" sz="1250" dirty="0"/>
          </a:p>
        </p:txBody>
      </p:sp>
      <p:sp>
        <p:nvSpPr>
          <p:cNvPr id="24" name="Shape 22"/>
          <p:cNvSpPr/>
          <p:nvPr/>
        </p:nvSpPr>
        <p:spPr>
          <a:xfrm>
            <a:off x="548640" y="3931920"/>
            <a:ext cx="8046720" cy="585216"/>
          </a:xfrm>
          <a:prstGeom prst="roundRect">
            <a:avLst>
              <a:gd name="adj" fmla="val 9375"/>
            </a:avLst>
          </a:prstGeom>
          <a:solidFill>
            <a:srgbClr val="E3EAEE"/>
          </a:solidFill>
          <a:ln w="9525">
            <a:solidFill>
              <a:srgbClr val="E3EAEE"/>
            </a:solidFill>
            <a:prstDash val="solid"/>
          </a:ln>
          <a:effectLst>
            <a:outerShdw sx="100000" sy="100000" kx="0" ky="0" algn="bl" rotWithShape="0" blurRad="88900" dist="12700" dir="5400000">
              <a:srgbClr val="9A968A">
                <a:alpha val="20000"/>
              </a:srgbClr>
            </a:outerShdw>
          </a:effectLst>
        </p:spPr>
      </p:sp>
      <p:sp>
        <p:nvSpPr>
          <p:cNvPr id="25" name="Text 23"/>
          <p:cNvSpPr/>
          <p:nvPr/>
        </p:nvSpPr>
        <p:spPr>
          <a:xfrm>
            <a:off x="786384" y="3931920"/>
            <a:ext cx="640080" cy="585216"/>
          </a:xfrm>
          <a:prstGeom prst="rect">
            <a:avLst/>
          </a:prstGeom>
          <a:noFill/>
          <a:ln/>
        </p:spPr>
        <p:txBody>
          <a:bodyPr wrap="square" lIns="0" tIns="0" rIns="0" bIns="0" rtlCol="0" anchor="ctr"/>
          <a:lstStyle/>
          <a:p>
            <a:pPr algn="l" indent="0" marL="0">
              <a:lnSpc>
                <a:spcPct val="106000"/>
              </a:lnSpc>
              <a:buNone/>
            </a:pPr>
            <a:r>
              <a:rPr lang="en-US" sz="850" b="1" dirty="0">
                <a:solidFill>
                  <a:srgbClr val="1F5673"/>
                </a:solidFill>
                <a:latin typeface="Courier New" pitchFamily="34" charset="0"/>
                <a:ea typeface="Courier New" pitchFamily="34" charset="-122"/>
                <a:cs typeface="Courier New" pitchFamily="34" charset="-120"/>
              </a:rPr>
              <a:t>TODAY</a:t>
            </a:r>
            <a:endParaRPr lang="en-US" sz="850" dirty="0"/>
          </a:p>
        </p:txBody>
      </p:sp>
      <p:sp>
        <p:nvSpPr>
          <p:cNvPr id="26" name="Text 24"/>
          <p:cNvSpPr/>
          <p:nvPr/>
        </p:nvSpPr>
        <p:spPr>
          <a:xfrm>
            <a:off x="1481328" y="3931920"/>
            <a:ext cx="6858000" cy="585216"/>
          </a:xfrm>
          <a:prstGeom prst="rect">
            <a:avLst/>
          </a:prstGeom>
          <a:noFill/>
          <a:ln/>
        </p:spPr>
        <p:txBody>
          <a:bodyPr wrap="square" lIns="0" tIns="0" rIns="0" bIns="0" rtlCol="0" anchor="ctr"/>
          <a:lstStyle/>
          <a:p>
            <a:pPr algn="l" indent="0" marL="0">
              <a:lnSpc>
                <a:spcPct val="104000"/>
              </a:lnSpc>
              <a:buNone/>
            </a:pPr>
            <a:r>
              <a:rPr lang="en-US" sz="1200" dirty="0">
                <a:solidFill>
                  <a:srgbClr val="14171A"/>
                </a:solidFill>
                <a:latin typeface="Calibri" pitchFamily="34" charset="0"/>
                <a:ea typeface="Calibri" pitchFamily="34" charset="-122"/>
                <a:cs typeface="Calibri" pitchFamily="34" charset="-120"/>
              </a:rPr>
              <a:t>By the end you should be able to state the strongest version of a position you do not hold, well enough that somebody who holds it would say you got it right.</a:t>
            </a:r>
            <a:endParaRPr lang="en-US" sz="1200" dirty="0"/>
          </a:p>
        </p:txBody>
      </p:sp>
      <p:sp>
        <p:nvSpPr>
          <p:cNvPr id="28" name="Text 25"/>
          <p:cNvSpPr/>
          <p:nvPr/>
        </p:nvSpPr>
        <p:spPr>
          <a:xfrm>
            <a:off x="548640" y="4668012"/>
            <a:ext cx="8046720" cy="256032"/>
          </a:xfrm>
          <a:prstGeom prst="rect">
            <a:avLst/>
          </a:prstGeom>
          <a:noFill/>
          <a:ln/>
        </p:spPr>
        <p:txBody>
          <a:bodyPr wrap="square" lIns="0" tIns="0" rIns="0" bIns="0" rtlCol="0" anchor="ctr"/>
          <a:lstStyle/>
          <a:p>
            <a:pPr indent="0" marL="0">
              <a:buNone/>
            </a:pPr>
            <a:r>
              <a:rPr lang="en-US" sz="800" spc="100" kern="0" dirty="0">
                <a:solidFill>
                  <a:srgbClr val="5C6873"/>
                </a:solidFill>
                <a:latin typeface="Courier New" pitchFamily="34" charset="0"/>
                <a:ea typeface="Courier New" pitchFamily="34" charset="-122"/>
                <a:cs typeface="Courier New" pitchFamily="34" charset="-120"/>
              </a:rPr>
              <a:t>BECURRENT  ·  SOCIAL MEDIA  ·  TOPIC 6</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2ED"/>
        </a:solidFill>
      </p:bgPr>
    </p:bg>
    <p:spTree>
      <p:nvGrpSpPr>
        <p:cNvPr id="1" name=""/>
        <p:cNvGrpSpPr/>
        <p:nvPr/>
      </p:nvGrpSpPr>
      <p:grpSpPr>
        <a:xfrm>
          <a:off x="0" y="0"/>
          <a:ext cx="0" cy="0"/>
          <a:chOff x="0" y="0"/>
          <a:chExt cx="0" cy="0"/>
        </a:xfrm>
      </p:grpSpPr>
      <p:sp>
        <p:nvSpPr>
          <p:cNvPr id="2" name="Text 0"/>
          <p:cNvSpPr/>
          <p:nvPr/>
        </p:nvSpPr>
        <p:spPr>
          <a:xfrm>
            <a:off x="548640" y="365760"/>
            <a:ext cx="8046720" cy="237744"/>
          </a:xfrm>
          <a:prstGeom prst="rect">
            <a:avLst/>
          </a:prstGeom>
          <a:noFill/>
          <a:ln/>
        </p:spPr>
        <p:txBody>
          <a:bodyPr wrap="square" lIns="0" tIns="0" rIns="0" bIns="0" rtlCol="0" anchor="ctr"/>
          <a:lstStyle/>
          <a:p>
            <a:pPr indent="0" marL="0">
              <a:buNone/>
            </a:pPr>
            <a:r>
              <a:rPr lang="en-US" sz="1000" b="1" spc="140" kern="0" dirty="0">
                <a:solidFill>
                  <a:srgbClr val="B22222"/>
                </a:solidFill>
                <a:latin typeface="Courier New" pitchFamily="34" charset="0"/>
                <a:ea typeface="Courier New" pitchFamily="34" charset="-122"/>
                <a:cs typeface="Courier New" pitchFamily="34" charset="-120"/>
              </a:rPr>
              <a:t>THE QUESTION</a:t>
            </a:r>
            <a:endParaRPr lang="en-US" sz="1000" dirty="0"/>
          </a:p>
        </p:txBody>
      </p:sp>
      <p:sp>
        <p:nvSpPr>
          <p:cNvPr id="3" name="Text 1"/>
          <p:cNvSpPr/>
          <p:nvPr/>
        </p:nvSpPr>
        <p:spPr>
          <a:xfrm>
            <a:off x="548640" y="694944"/>
            <a:ext cx="7863840" cy="1234440"/>
          </a:xfrm>
          <a:prstGeom prst="rect">
            <a:avLst/>
          </a:prstGeom>
          <a:noFill/>
          <a:ln/>
        </p:spPr>
        <p:txBody>
          <a:bodyPr wrap="square" lIns="0" tIns="0" rIns="0" bIns="0" rtlCol="0" anchor="t"/>
          <a:lstStyle/>
          <a:p>
            <a:pPr algn="l" indent="0" marL="0">
              <a:lnSpc>
                <a:spcPct val="106000"/>
              </a:lnSpc>
              <a:buNone/>
            </a:pPr>
            <a:r>
              <a:rPr lang="en-US" sz="2500" b="1" dirty="0">
                <a:solidFill>
                  <a:srgbClr val="14171A"/>
                </a:solidFill>
                <a:latin typeface="Cambria" pitchFamily="34" charset="0"/>
                <a:ea typeface="Cambria" pitchFamily="34" charset="-122"/>
                <a:cs typeface="Cambria" pitchFamily="34" charset="-120"/>
              </a:rPr>
              <a:t>Who should get to decide what a platform is allowed to do to your attention: you, the company, or the government?</a:t>
            </a:r>
            <a:endParaRPr lang="en-US" sz="2500" dirty="0"/>
          </a:p>
        </p:txBody>
      </p:sp>
      <p:sp>
        <p:nvSpPr>
          <p:cNvPr id="4" name="Shape 2"/>
          <p:cNvSpPr/>
          <p:nvPr/>
        </p:nvSpPr>
        <p:spPr>
          <a:xfrm>
            <a:off x="548640" y="2194560"/>
            <a:ext cx="2560320" cy="1371600"/>
          </a:xfrm>
          <a:prstGeom prst="roundRect">
            <a:avLst>
              <a:gd name="adj" fmla="val 4000"/>
            </a:avLst>
          </a:prstGeom>
          <a:solidFill>
            <a:srgbClr val="FFFEFB"/>
          </a:solidFill>
          <a:ln w="9525">
            <a:solidFill>
              <a:srgbClr val="D9D6CF"/>
            </a:solidFill>
            <a:prstDash val="solid"/>
          </a:ln>
          <a:effectLst>
            <a:outerShdw sx="100000" sy="100000" kx="0" ky="0" algn="bl" rotWithShape="0" blurRad="88900" dist="12700" dir="5400000">
              <a:srgbClr val="9A968A">
                <a:alpha val="20000"/>
              </a:srgbClr>
            </a:outerShdw>
          </a:effectLst>
        </p:spPr>
      </p:sp>
      <p:sp>
        <p:nvSpPr>
          <p:cNvPr id="5" name="Shape 3"/>
          <p:cNvSpPr/>
          <p:nvPr/>
        </p:nvSpPr>
        <p:spPr>
          <a:xfrm>
            <a:off x="768096" y="2377440"/>
            <a:ext cx="347472" cy="347472"/>
          </a:xfrm>
          <a:prstGeom prst="ellipse">
            <a:avLst/>
          </a:prstGeom>
          <a:solidFill>
            <a:srgbClr val="B22222"/>
          </a:solidFill>
          <a:ln w="12700">
            <a:solidFill>
              <a:srgbClr val="B22222"/>
            </a:solidFill>
            <a:prstDash val="solid"/>
          </a:ln>
        </p:spPr>
      </p:sp>
      <p:sp>
        <p:nvSpPr>
          <p:cNvPr id="6" name="Text 4"/>
          <p:cNvSpPr/>
          <p:nvPr/>
        </p:nvSpPr>
        <p:spPr>
          <a:xfrm>
            <a:off x="768096" y="2377440"/>
            <a:ext cx="347472" cy="347472"/>
          </a:xfrm>
          <a:prstGeom prst="rect">
            <a:avLst/>
          </a:prstGeom>
          <a:noFill/>
          <a:ln/>
        </p:spPr>
        <p:txBody>
          <a:bodyPr wrap="square" lIns="0" tIns="0" rIns="0" bIns="0" rtlCol="0" anchor="ctr"/>
          <a:lstStyle/>
          <a:p>
            <a:pPr algn="ctr" indent="0" marL="0">
              <a:buNone/>
            </a:pPr>
            <a:r>
              <a:rPr lang="en-US" sz="1050" b="1" dirty="0">
                <a:solidFill>
                  <a:srgbClr val="FFFEFB"/>
                </a:solidFill>
                <a:latin typeface="Courier New" pitchFamily="34" charset="0"/>
                <a:ea typeface="Courier New" pitchFamily="34" charset="-122"/>
                <a:cs typeface="Courier New" pitchFamily="34" charset="-120"/>
              </a:rPr>
              <a:t>1</a:t>
            </a:r>
            <a:endParaRPr lang="en-US" sz="1050" dirty="0"/>
          </a:p>
        </p:txBody>
      </p:sp>
      <p:sp>
        <p:nvSpPr>
          <p:cNvPr id="7" name="Text 5"/>
          <p:cNvSpPr/>
          <p:nvPr/>
        </p:nvSpPr>
        <p:spPr>
          <a:xfrm>
            <a:off x="768096" y="2798064"/>
            <a:ext cx="2121408" cy="274320"/>
          </a:xfrm>
          <a:prstGeom prst="rect">
            <a:avLst/>
          </a:prstGeom>
          <a:noFill/>
          <a:ln/>
        </p:spPr>
        <p:txBody>
          <a:bodyPr wrap="square" lIns="0" tIns="0" rIns="0" bIns="0" rtlCol="0" anchor="t"/>
          <a:lstStyle/>
          <a:p>
            <a:pPr algn="l" indent="0" marL="0">
              <a:lnSpc>
                <a:spcPct val="106000"/>
              </a:lnSpc>
              <a:buNone/>
            </a:pPr>
            <a:r>
              <a:rPr lang="en-US" sz="1450" b="1" dirty="0">
                <a:solidFill>
                  <a:srgbClr val="14171A"/>
                </a:solidFill>
                <a:latin typeface="Cambria" pitchFamily="34" charset="0"/>
                <a:ea typeface="Cambria" pitchFamily="34" charset="-122"/>
                <a:cs typeface="Cambria" pitchFamily="34" charset="-120"/>
              </a:rPr>
              <a:t>You decide</a:t>
            </a:r>
            <a:endParaRPr lang="en-US" sz="1450" dirty="0"/>
          </a:p>
        </p:txBody>
      </p:sp>
      <p:sp>
        <p:nvSpPr>
          <p:cNvPr id="8" name="Text 6"/>
          <p:cNvSpPr/>
          <p:nvPr/>
        </p:nvSpPr>
        <p:spPr>
          <a:xfrm>
            <a:off x="768096" y="3108960"/>
            <a:ext cx="2121408" cy="402336"/>
          </a:xfrm>
          <a:prstGeom prst="rect">
            <a:avLst/>
          </a:prstGeom>
          <a:noFill/>
          <a:ln/>
        </p:spPr>
        <p:txBody>
          <a:bodyPr wrap="square" lIns="0" tIns="0" rIns="0" bIns="0" rtlCol="0" anchor="t"/>
          <a:lstStyle/>
          <a:p>
            <a:pPr algn="l" indent="0" marL="0">
              <a:lnSpc>
                <a:spcPct val="106000"/>
              </a:lnSpc>
              <a:buNone/>
            </a:pPr>
            <a:r>
              <a:rPr lang="en-US" sz="1200" dirty="0">
                <a:solidFill>
                  <a:srgbClr val="3C444C"/>
                </a:solidFill>
                <a:latin typeface="Calibri" pitchFamily="34" charset="0"/>
                <a:ea typeface="Calibri" pitchFamily="34" charset="-122"/>
                <a:cs typeface="Calibri" pitchFamily="34" charset="-120"/>
              </a:rPr>
              <a:t>It is your attention and your phone.</a:t>
            </a:r>
            <a:endParaRPr lang="en-US" sz="1200" dirty="0"/>
          </a:p>
        </p:txBody>
      </p:sp>
      <p:sp>
        <p:nvSpPr>
          <p:cNvPr id="9" name="Shape 7"/>
          <p:cNvSpPr/>
          <p:nvPr/>
        </p:nvSpPr>
        <p:spPr>
          <a:xfrm>
            <a:off x="3291840" y="2194560"/>
            <a:ext cx="2560320" cy="1371600"/>
          </a:xfrm>
          <a:prstGeom prst="roundRect">
            <a:avLst>
              <a:gd name="adj" fmla="val 4000"/>
            </a:avLst>
          </a:prstGeom>
          <a:solidFill>
            <a:srgbClr val="FFFEFB"/>
          </a:solidFill>
          <a:ln w="9525">
            <a:solidFill>
              <a:srgbClr val="D9D6CF"/>
            </a:solidFill>
            <a:prstDash val="solid"/>
          </a:ln>
          <a:effectLst>
            <a:outerShdw sx="100000" sy="100000" kx="0" ky="0" algn="bl" rotWithShape="0" blurRad="88900" dist="12700" dir="5400000">
              <a:srgbClr val="9A968A">
                <a:alpha val="20000"/>
              </a:srgbClr>
            </a:outerShdw>
          </a:effectLst>
        </p:spPr>
      </p:sp>
      <p:sp>
        <p:nvSpPr>
          <p:cNvPr id="10" name="Shape 8"/>
          <p:cNvSpPr/>
          <p:nvPr/>
        </p:nvSpPr>
        <p:spPr>
          <a:xfrm>
            <a:off x="3511296" y="2377440"/>
            <a:ext cx="347472" cy="347472"/>
          </a:xfrm>
          <a:prstGeom prst="ellipse">
            <a:avLst/>
          </a:prstGeom>
          <a:solidFill>
            <a:srgbClr val="B22222"/>
          </a:solidFill>
          <a:ln w="12700">
            <a:solidFill>
              <a:srgbClr val="B22222"/>
            </a:solidFill>
            <a:prstDash val="solid"/>
          </a:ln>
        </p:spPr>
      </p:sp>
      <p:sp>
        <p:nvSpPr>
          <p:cNvPr id="11" name="Text 9"/>
          <p:cNvSpPr/>
          <p:nvPr/>
        </p:nvSpPr>
        <p:spPr>
          <a:xfrm>
            <a:off x="3511296" y="2377440"/>
            <a:ext cx="347472" cy="347472"/>
          </a:xfrm>
          <a:prstGeom prst="rect">
            <a:avLst/>
          </a:prstGeom>
          <a:noFill/>
          <a:ln/>
        </p:spPr>
        <p:txBody>
          <a:bodyPr wrap="square" lIns="0" tIns="0" rIns="0" bIns="0" rtlCol="0" anchor="ctr"/>
          <a:lstStyle/>
          <a:p>
            <a:pPr algn="ctr" indent="0" marL="0">
              <a:buNone/>
            </a:pPr>
            <a:r>
              <a:rPr lang="en-US" sz="1050" b="1" dirty="0">
                <a:solidFill>
                  <a:srgbClr val="FFFEFB"/>
                </a:solidFill>
                <a:latin typeface="Courier New" pitchFamily="34" charset="0"/>
                <a:ea typeface="Courier New" pitchFamily="34" charset="-122"/>
                <a:cs typeface="Courier New" pitchFamily="34" charset="-120"/>
              </a:rPr>
              <a:t>2</a:t>
            </a:r>
            <a:endParaRPr lang="en-US" sz="1050" dirty="0"/>
          </a:p>
        </p:txBody>
      </p:sp>
      <p:sp>
        <p:nvSpPr>
          <p:cNvPr id="12" name="Text 10"/>
          <p:cNvSpPr/>
          <p:nvPr/>
        </p:nvSpPr>
        <p:spPr>
          <a:xfrm>
            <a:off x="3511296" y="2798064"/>
            <a:ext cx="2121408" cy="274320"/>
          </a:xfrm>
          <a:prstGeom prst="rect">
            <a:avLst/>
          </a:prstGeom>
          <a:noFill/>
          <a:ln/>
        </p:spPr>
        <p:txBody>
          <a:bodyPr wrap="square" lIns="0" tIns="0" rIns="0" bIns="0" rtlCol="0" anchor="t"/>
          <a:lstStyle/>
          <a:p>
            <a:pPr algn="l" indent="0" marL="0">
              <a:lnSpc>
                <a:spcPct val="106000"/>
              </a:lnSpc>
              <a:buNone/>
            </a:pPr>
            <a:r>
              <a:rPr lang="en-US" sz="1450" b="1" dirty="0">
                <a:solidFill>
                  <a:srgbClr val="14171A"/>
                </a:solidFill>
                <a:latin typeface="Cambria" pitchFamily="34" charset="0"/>
                <a:ea typeface="Cambria" pitchFamily="34" charset="-122"/>
                <a:cs typeface="Cambria" pitchFamily="34" charset="-120"/>
              </a:rPr>
              <a:t>The company decides</a:t>
            </a:r>
            <a:endParaRPr lang="en-US" sz="1450" dirty="0"/>
          </a:p>
        </p:txBody>
      </p:sp>
      <p:sp>
        <p:nvSpPr>
          <p:cNvPr id="13" name="Text 11"/>
          <p:cNvSpPr/>
          <p:nvPr/>
        </p:nvSpPr>
        <p:spPr>
          <a:xfrm>
            <a:off x="3511296" y="3108960"/>
            <a:ext cx="2121408" cy="402336"/>
          </a:xfrm>
          <a:prstGeom prst="rect">
            <a:avLst/>
          </a:prstGeom>
          <a:noFill/>
          <a:ln/>
        </p:spPr>
        <p:txBody>
          <a:bodyPr wrap="square" lIns="0" tIns="0" rIns="0" bIns="0" rtlCol="0" anchor="t"/>
          <a:lstStyle/>
          <a:p>
            <a:pPr algn="l" indent="0" marL="0">
              <a:lnSpc>
                <a:spcPct val="106000"/>
              </a:lnSpc>
              <a:buNone/>
            </a:pPr>
            <a:r>
              <a:rPr lang="en-US" sz="1200" dirty="0">
                <a:solidFill>
                  <a:srgbClr val="3C444C"/>
                </a:solidFill>
                <a:latin typeface="Calibri" pitchFamily="34" charset="0"/>
                <a:ea typeface="Calibri" pitchFamily="34" charset="-122"/>
                <a:cs typeface="Calibri" pitchFamily="34" charset="-120"/>
              </a:rPr>
              <a:t>They built it and they pay for it.</a:t>
            </a:r>
            <a:endParaRPr lang="en-US" sz="1200" dirty="0"/>
          </a:p>
        </p:txBody>
      </p:sp>
      <p:sp>
        <p:nvSpPr>
          <p:cNvPr id="14" name="Shape 12"/>
          <p:cNvSpPr/>
          <p:nvPr/>
        </p:nvSpPr>
        <p:spPr>
          <a:xfrm>
            <a:off x="6035040" y="2194560"/>
            <a:ext cx="2560320" cy="1371600"/>
          </a:xfrm>
          <a:prstGeom prst="roundRect">
            <a:avLst>
              <a:gd name="adj" fmla="val 4000"/>
            </a:avLst>
          </a:prstGeom>
          <a:solidFill>
            <a:srgbClr val="FFFEFB"/>
          </a:solidFill>
          <a:ln w="9525">
            <a:solidFill>
              <a:srgbClr val="D9D6CF"/>
            </a:solidFill>
            <a:prstDash val="solid"/>
          </a:ln>
          <a:effectLst>
            <a:outerShdw sx="100000" sy="100000" kx="0" ky="0" algn="bl" rotWithShape="0" blurRad="88900" dist="12700" dir="5400000">
              <a:srgbClr val="9A968A">
                <a:alpha val="20000"/>
              </a:srgbClr>
            </a:outerShdw>
          </a:effectLst>
        </p:spPr>
      </p:sp>
      <p:sp>
        <p:nvSpPr>
          <p:cNvPr id="15" name="Shape 13"/>
          <p:cNvSpPr/>
          <p:nvPr/>
        </p:nvSpPr>
        <p:spPr>
          <a:xfrm>
            <a:off x="6254496" y="2377440"/>
            <a:ext cx="347472" cy="347472"/>
          </a:xfrm>
          <a:prstGeom prst="ellipse">
            <a:avLst/>
          </a:prstGeom>
          <a:solidFill>
            <a:srgbClr val="B22222"/>
          </a:solidFill>
          <a:ln w="12700">
            <a:solidFill>
              <a:srgbClr val="B22222"/>
            </a:solidFill>
            <a:prstDash val="solid"/>
          </a:ln>
        </p:spPr>
      </p:sp>
      <p:sp>
        <p:nvSpPr>
          <p:cNvPr id="16" name="Text 14"/>
          <p:cNvSpPr/>
          <p:nvPr/>
        </p:nvSpPr>
        <p:spPr>
          <a:xfrm>
            <a:off x="6254496" y="2377440"/>
            <a:ext cx="347472" cy="347472"/>
          </a:xfrm>
          <a:prstGeom prst="rect">
            <a:avLst/>
          </a:prstGeom>
          <a:noFill/>
          <a:ln/>
        </p:spPr>
        <p:txBody>
          <a:bodyPr wrap="square" lIns="0" tIns="0" rIns="0" bIns="0" rtlCol="0" anchor="ctr"/>
          <a:lstStyle/>
          <a:p>
            <a:pPr algn="ctr" indent="0" marL="0">
              <a:buNone/>
            </a:pPr>
            <a:r>
              <a:rPr lang="en-US" sz="1050" b="1" dirty="0">
                <a:solidFill>
                  <a:srgbClr val="FFFEFB"/>
                </a:solidFill>
                <a:latin typeface="Courier New" pitchFamily="34" charset="0"/>
                <a:ea typeface="Courier New" pitchFamily="34" charset="-122"/>
                <a:cs typeface="Courier New" pitchFamily="34" charset="-120"/>
              </a:rPr>
              <a:t>3</a:t>
            </a:r>
            <a:endParaRPr lang="en-US" sz="1050" dirty="0"/>
          </a:p>
        </p:txBody>
      </p:sp>
      <p:sp>
        <p:nvSpPr>
          <p:cNvPr id="17" name="Text 15"/>
          <p:cNvSpPr/>
          <p:nvPr/>
        </p:nvSpPr>
        <p:spPr>
          <a:xfrm>
            <a:off x="6254496" y="2798064"/>
            <a:ext cx="2121408" cy="274320"/>
          </a:xfrm>
          <a:prstGeom prst="rect">
            <a:avLst/>
          </a:prstGeom>
          <a:noFill/>
          <a:ln/>
        </p:spPr>
        <p:txBody>
          <a:bodyPr wrap="square" lIns="0" tIns="0" rIns="0" bIns="0" rtlCol="0" anchor="t"/>
          <a:lstStyle/>
          <a:p>
            <a:pPr algn="l" indent="0" marL="0">
              <a:lnSpc>
                <a:spcPct val="106000"/>
              </a:lnSpc>
              <a:buNone/>
            </a:pPr>
            <a:r>
              <a:rPr lang="en-US" sz="1450" b="1" dirty="0">
                <a:solidFill>
                  <a:srgbClr val="14171A"/>
                </a:solidFill>
                <a:latin typeface="Cambria" pitchFamily="34" charset="0"/>
                <a:ea typeface="Cambria" pitchFamily="34" charset="-122"/>
                <a:cs typeface="Cambria" pitchFamily="34" charset="-120"/>
              </a:rPr>
              <a:t>The government decides</a:t>
            </a:r>
            <a:endParaRPr lang="en-US" sz="1450" dirty="0"/>
          </a:p>
        </p:txBody>
      </p:sp>
      <p:sp>
        <p:nvSpPr>
          <p:cNvPr id="18" name="Text 16"/>
          <p:cNvSpPr/>
          <p:nvPr/>
        </p:nvSpPr>
        <p:spPr>
          <a:xfrm>
            <a:off x="6254496" y="3108960"/>
            <a:ext cx="2121408" cy="402336"/>
          </a:xfrm>
          <a:prstGeom prst="rect">
            <a:avLst/>
          </a:prstGeom>
          <a:noFill/>
          <a:ln/>
        </p:spPr>
        <p:txBody>
          <a:bodyPr wrap="square" lIns="0" tIns="0" rIns="0" bIns="0" rtlCol="0" anchor="t"/>
          <a:lstStyle/>
          <a:p>
            <a:pPr algn="l" indent="0" marL="0">
              <a:lnSpc>
                <a:spcPct val="106000"/>
              </a:lnSpc>
              <a:buNone/>
            </a:pPr>
            <a:r>
              <a:rPr lang="en-US" sz="1200" dirty="0">
                <a:solidFill>
                  <a:srgbClr val="3C444C"/>
                </a:solidFill>
                <a:latin typeface="Calibri" pitchFamily="34" charset="0"/>
                <a:ea typeface="Calibri" pitchFamily="34" charset="-122"/>
                <a:cs typeface="Calibri" pitchFamily="34" charset="-120"/>
              </a:rPr>
              <a:t>We already do this in other places.</a:t>
            </a:r>
            <a:endParaRPr lang="en-US" sz="1200" dirty="0"/>
          </a:p>
        </p:txBody>
      </p:sp>
      <p:sp>
        <p:nvSpPr>
          <p:cNvPr id="19" name="Text 17"/>
          <p:cNvSpPr/>
          <p:nvPr/>
        </p:nvSpPr>
        <p:spPr>
          <a:xfrm>
            <a:off x="548640" y="3785616"/>
            <a:ext cx="8046720" cy="310896"/>
          </a:xfrm>
          <a:prstGeom prst="rect">
            <a:avLst/>
          </a:prstGeom>
          <a:noFill/>
          <a:ln/>
        </p:spPr>
        <p:txBody>
          <a:bodyPr wrap="square" lIns="0" tIns="0" rIns="0" bIns="0" rtlCol="0" anchor="t"/>
          <a:lstStyle/>
          <a:p>
            <a:pPr algn="l" indent="0" marL="0">
              <a:lnSpc>
                <a:spcPct val="106000"/>
              </a:lnSpc>
              <a:buNone/>
            </a:pPr>
            <a:r>
              <a:rPr lang="en-US" sz="1800" b="1" dirty="0">
                <a:solidFill>
                  <a:srgbClr val="14171A"/>
                </a:solidFill>
                <a:latin typeface="Cambria" pitchFamily="34" charset="0"/>
                <a:ea typeface="Cambria" pitchFamily="34" charset="-122"/>
                <a:cs typeface="Cambria" pitchFamily="34" charset="-120"/>
              </a:rPr>
              <a:t>You will not be graded on which position you choose.</a:t>
            </a:r>
            <a:endParaRPr lang="en-US" sz="1800" dirty="0"/>
          </a:p>
        </p:txBody>
      </p:sp>
      <p:sp>
        <p:nvSpPr>
          <p:cNvPr id="20" name="Text 18"/>
          <p:cNvSpPr/>
          <p:nvPr/>
        </p:nvSpPr>
        <p:spPr>
          <a:xfrm>
            <a:off x="548640" y="4151376"/>
            <a:ext cx="8046720" cy="310896"/>
          </a:xfrm>
          <a:prstGeom prst="rect">
            <a:avLst/>
          </a:prstGeom>
          <a:noFill/>
          <a:ln/>
        </p:spPr>
        <p:txBody>
          <a:bodyPr wrap="square" lIns="0" tIns="0" rIns="0" bIns="0" rtlCol="0" anchor="t"/>
          <a:lstStyle/>
          <a:p>
            <a:pPr algn="l" indent="0" marL="0">
              <a:lnSpc>
                <a:spcPct val="106000"/>
              </a:lnSpc>
              <a:buNone/>
            </a:pPr>
            <a:r>
              <a:rPr lang="en-US" sz="1350" dirty="0">
                <a:solidFill>
                  <a:srgbClr val="3C444C"/>
                </a:solidFill>
                <a:latin typeface="Calibri" pitchFamily="34" charset="0"/>
                <a:ea typeface="Calibri" pitchFamily="34" charset="-122"/>
                <a:cs typeface="Calibri" pitchFamily="34" charset="-120"/>
              </a:rPr>
              <a:t>You will be graded on how well you can state the strongest version of a position you did not choose.</a:t>
            </a:r>
            <a:endParaRPr lang="en-US" sz="1350" dirty="0"/>
          </a:p>
        </p:txBody>
      </p:sp>
      <p:sp>
        <p:nvSpPr>
          <p:cNvPr id="22" name="Text 19"/>
          <p:cNvSpPr/>
          <p:nvPr/>
        </p:nvSpPr>
        <p:spPr>
          <a:xfrm>
            <a:off x="548640" y="4668012"/>
            <a:ext cx="8046720" cy="256032"/>
          </a:xfrm>
          <a:prstGeom prst="rect">
            <a:avLst/>
          </a:prstGeom>
          <a:noFill/>
          <a:ln/>
        </p:spPr>
        <p:txBody>
          <a:bodyPr wrap="square" lIns="0" tIns="0" rIns="0" bIns="0" rtlCol="0" anchor="ctr"/>
          <a:lstStyle/>
          <a:p>
            <a:pPr indent="0" marL="0">
              <a:buNone/>
            </a:pPr>
            <a:r>
              <a:rPr lang="en-US" sz="800" spc="100" kern="0" dirty="0">
                <a:solidFill>
                  <a:srgbClr val="5C6873"/>
                </a:solidFill>
                <a:latin typeface="Courier New" pitchFamily="34" charset="0"/>
                <a:ea typeface="Courier New" pitchFamily="34" charset="-122"/>
                <a:cs typeface="Courier New" pitchFamily="34" charset="-120"/>
              </a:rPr>
              <a:t>BECURRENT  ·  SOCIAL MEDIA  ·  TOPIC 6</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2ED"/>
        </a:solidFill>
      </p:bgPr>
    </p:bg>
    <p:spTree>
      <p:nvGrpSpPr>
        <p:cNvPr id="1" name=""/>
        <p:cNvGrpSpPr/>
        <p:nvPr/>
      </p:nvGrpSpPr>
      <p:grpSpPr>
        <a:xfrm>
          <a:off x="0" y="0"/>
          <a:ext cx="0" cy="0"/>
          <a:chOff x="0" y="0"/>
          <a:chExt cx="0" cy="0"/>
        </a:xfrm>
      </p:grpSpPr>
      <p:sp>
        <p:nvSpPr>
          <p:cNvPr id="2" name="Text 0"/>
          <p:cNvSpPr/>
          <p:nvPr/>
        </p:nvSpPr>
        <p:spPr>
          <a:xfrm>
            <a:off x="548640" y="365760"/>
            <a:ext cx="8046720" cy="237744"/>
          </a:xfrm>
          <a:prstGeom prst="rect">
            <a:avLst/>
          </a:prstGeom>
          <a:noFill/>
          <a:ln/>
        </p:spPr>
        <p:txBody>
          <a:bodyPr wrap="square" lIns="0" tIns="0" rIns="0" bIns="0" rtlCol="0" anchor="ctr"/>
          <a:lstStyle/>
          <a:p>
            <a:pPr indent="0" marL="0">
              <a:buNone/>
            </a:pPr>
            <a:r>
              <a:rPr lang="en-US" sz="1000" b="1" spc="140" kern="0" dirty="0">
                <a:solidFill>
                  <a:srgbClr val="B22222"/>
                </a:solidFill>
                <a:latin typeface="Courier New" pitchFamily="34" charset="0"/>
                <a:ea typeface="Courier New" pitchFamily="34" charset="-122"/>
                <a:cs typeface="Courier New" pitchFamily="34" charset="-120"/>
              </a:rPr>
              <a:t>GROUND RULE</a:t>
            </a:r>
            <a:endParaRPr lang="en-US" sz="1000" dirty="0"/>
          </a:p>
        </p:txBody>
      </p:sp>
      <p:sp>
        <p:nvSpPr>
          <p:cNvPr id="3" name="Text 1"/>
          <p:cNvSpPr/>
          <p:nvPr/>
        </p:nvSpPr>
        <p:spPr>
          <a:xfrm>
            <a:off x="548640" y="713232"/>
            <a:ext cx="8046720" cy="731520"/>
          </a:xfrm>
          <a:prstGeom prst="rect">
            <a:avLst/>
          </a:prstGeom>
          <a:noFill/>
          <a:ln/>
        </p:spPr>
        <p:txBody>
          <a:bodyPr wrap="square" lIns="0" tIns="0" rIns="0" bIns="0" rtlCol="0" anchor="t"/>
          <a:lstStyle/>
          <a:p>
            <a:pPr indent="0" marL="0">
              <a:lnSpc>
                <a:spcPct val="92000"/>
              </a:lnSpc>
              <a:buNone/>
            </a:pPr>
            <a:r>
              <a:rPr lang="en-US" sz="3000" b="1" dirty="0">
                <a:solidFill>
                  <a:srgbClr val="14171A"/>
                </a:solidFill>
                <a:latin typeface="Cambria" pitchFamily="34" charset="0"/>
                <a:ea typeface="Cambria" pitchFamily="34" charset="-122"/>
                <a:cs typeface="Cambria" pitchFamily="34" charset="-120"/>
              </a:rPr>
              <a:t>Argue against the real version, not the weak one</a:t>
            </a:r>
            <a:endParaRPr lang="en-US" sz="3000" dirty="0"/>
          </a:p>
        </p:txBody>
      </p:sp>
      <p:sp>
        <p:nvSpPr>
          <p:cNvPr id="4" name="Text 2"/>
          <p:cNvSpPr/>
          <p:nvPr/>
        </p:nvSpPr>
        <p:spPr>
          <a:xfrm>
            <a:off x="548640" y="1627632"/>
            <a:ext cx="4023360" cy="914400"/>
          </a:xfrm>
          <a:prstGeom prst="rect">
            <a:avLst/>
          </a:prstGeom>
          <a:noFill/>
          <a:ln/>
        </p:spPr>
        <p:txBody>
          <a:bodyPr wrap="square" lIns="0" tIns="0" rIns="0" bIns="0" rtlCol="0" anchor="t"/>
          <a:lstStyle/>
          <a:p>
            <a:pPr algn="l" indent="0" marL="0">
              <a:lnSpc>
                <a:spcPct val="120000"/>
              </a:lnSpc>
              <a:buNone/>
            </a:pPr>
            <a:r>
              <a:rPr lang="en-US" sz="1500" dirty="0">
                <a:solidFill>
                  <a:srgbClr val="14171A"/>
                </a:solidFill>
                <a:latin typeface="Calibri" pitchFamily="34" charset="0"/>
                <a:ea typeface="Calibri" pitchFamily="34" charset="-122"/>
                <a:cs typeface="Calibri" pitchFamily="34" charset="-120"/>
              </a:rPr>
              <a:t>Every one of these three positions is held by serious people who have thought about it longer than we have.</a:t>
            </a:r>
            <a:endParaRPr lang="en-US" sz="1500" dirty="0"/>
          </a:p>
        </p:txBody>
      </p:sp>
      <p:sp>
        <p:nvSpPr>
          <p:cNvPr id="5" name="Shape 3"/>
          <p:cNvSpPr/>
          <p:nvPr/>
        </p:nvSpPr>
        <p:spPr>
          <a:xfrm>
            <a:off x="4846320" y="1554480"/>
            <a:ext cx="3749040" cy="1737360"/>
          </a:xfrm>
          <a:prstGeom prst="roundRect">
            <a:avLst>
              <a:gd name="adj" fmla="val 3158"/>
            </a:avLst>
          </a:prstGeom>
          <a:solidFill>
            <a:srgbClr val="F2E1E1"/>
          </a:solidFill>
          <a:ln w="9525">
            <a:solidFill>
              <a:srgbClr val="F2E1E1"/>
            </a:solidFill>
            <a:prstDash val="solid"/>
          </a:ln>
          <a:effectLst>
            <a:outerShdw sx="100000" sy="100000" kx="0" ky="0" algn="bl" rotWithShape="0" blurRad="88900" dist="12700" dir="5400000">
              <a:srgbClr val="9A968A">
                <a:alpha val="20000"/>
              </a:srgbClr>
            </a:outerShdw>
          </a:effectLst>
        </p:spPr>
      </p:sp>
      <p:sp>
        <p:nvSpPr>
          <p:cNvPr id="6" name="Text 4"/>
          <p:cNvSpPr/>
          <p:nvPr/>
        </p:nvSpPr>
        <p:spPr>
          <a:xfrm>
            <a:off x="5102352" y="1773936"/>
            <a:ext cx="3236976" cy="219456"/>
          </a:xfrm>
          <a:prstGeom prst="rect">
            <a:avLst/>
          </a:prstGeom>
          <a:noFill/>
          <a:ln/>
        </p:spPr>
        <p:txBody>
          <a:bodyPr wrap="square" lIns="0" tIns="0" rIns="0" bIns="0" rtlCol="0" anchor="t"/>
          <a:lstStyle/>
          <a:p>
            <a:pPr algn="l" indent="0" marL="0">
              <a:lnSpc>
                <a:spcPct val="106000"/>
              </a:lnSpc>
              <a:buNone/>
            </a:pPr>
            <a:r>
              <a:rPr lang="en-US" sz="900" b="1" dirty="0">
                <a:solidFill>
                  <a:srgbClr val="8A1A1A"/>
                </a:solidFill>
                <a:latin typeface="Courier New" pitchFamily="34" charset="0"/>
                <a:ea typeface="Courier New" pitchFamily="34" charset="-122"/>
                <a:cs typeface="Courier New" pitchFamily="34" charset="-120"/>
              </a:rPr>
              <a:t>THE TRAP</a:t>
            </a:r>
            <a:endParaRPr lang="en-US" sz="900" dirty="0"/>
          </a:p>
        </p:txBody>
      </p:sp>
      <p:sp>
        <p:nvSpPr>
          <p:cNvPr id="7" name="Text 5"/>
          <p:cNvSpPr/>
          <p:nvPr/>
        </p:nvSpPr>
        <p:spPr>
          <a:xfrm>
            <a:off x="5102352" y="2066544"/>
            <a:ext cx="3236976" cy="1005840"/>
          </a:xfrm>
          <a:prstGeom prst="rect">
            <a:avLst/>
          </a:prstGeom>
          <a:noFill/>
          <a:ln/>
        </p:spPr>
        <p:txBody>
          <a:bodyPr wrap="square" lIns="0" tIns="0" rIns="0" bIns="0" rtlCol="0" anchor="t"/>
          <a:lstStyle/>
          <a:p>
            <a:pPr algn="l" indent="0" marL="0">
              <a:lnSpc>
                <a:spcPct val="118000"/>
              </a:lnSpc>
              <a:buNone/>
            </a:pPr>
            <a:r>
              <a:rPr lang="en-US" sz="1400" dirty="0">
                <a:solidFill>
                  <a:srgbClr val="14171A"/>
                </a:solidFill>
                <a:latin typeface="Calibri" pitchFamily="34" charset="0"/>
                <a:ea typeface="Calibri" pitchFamily="34" charset="-122"/>
                <a:cs typeface="Calibri" pitchFamily="34" charset="-120"/>
              </a:rPr>
              <a:t>If a position seems obviously wrong to you, you are probably arguing against a weak version of it rather than the real one.</a:t>
            </a:r>
            <a:endParaRPr lang="en-US" sz="1400" dirty="0"/>
          </a:p>
        </p:txBody>
      </p:sp>
      <p:sp>
        <p:nvSpPr>
          <p:cNvPr id="8" name="Text 6"/>
          <p:cNvSpPr/>
          <p:nvPr/>
        </p:nvSpPr>
        <p:spPr>
          <a:xfrm>
            <a:off x="548640" y="3566160"/>
            <a:ext cx="8046720" cy="457200"/>
          </a:xfrm>
          <a:prstGeom prst="rect">
            <a:avLst/>
          </a:prstGeom>
          <a:noFill/>
          <a:ln/>
        </p:spPr>
        <p:txBody>
          <a:bodyPr wrap="square" lIns="0" tIns="0" rIns="0" bIns="0" rtlCol="0" anchor="t"/>
          <a:lstStyle/>
          <a:p>
            <a:pPr algn="l" indent="0" marL="0">
              <a:lnSpc>
                <a:spcPct val="114000"/>
              </a:lnSpc>
              <a:buNone/>
            </a:pPr>
            <a:r>
              <a:rPr lang="en-US" sz="1350" dirty="0">
                <a:solidFill>
                  <a:srgbClr val="3C444C"/>
                </a:solidFill>
                <a:latin typeface="Calibri" pitchFamily="34" charset="0"/>
                <a:ea typeface="Calibri" pitchFamily="34" charset="-122"/>
                <a:cs typeface="Calibri" pitchFamily="34" charset="-120"/>
              </a:rPr>
              <a:t>Beating the weak version of an argument teaches you nothing, and it is the easiest mistake in the room to make by accident.</a:t>
            </a:r>
            <a:endParaRPr lang="en-US" sz="1350" dirty="0"/>
          </a:p>
        </p:txBody>
      </p:sp>
      <p:sp>
        <p:nvSpPr>
          <p:cNvPr id="10" name="Text 7"/>
          <p:cNvSpPr/>
          <p:nvPr/>
        </p:nvSpPr>
        <p:spPr>
          <a:xfrm>
            <a:off x="548640" y="4668012"/>
            <a:ext cx="8046720" cy="256032"/>
          </a:xfrm>
          <a:prstGeom prst="rect">
            <a:avLst/>
          </a:prstGeom>
          <a:noFill/>
          <a:ln/>
        </p:spPr>
        <p:txBody>
          <a:bodyPr wrap="square" lIns="0" tIns="0" rIns="0" bIns="0" rtlCol="0" anchor="ctr"/>
          <a:lstStyle/>
          <a:p>
            <a:pPr indent="0" marL="0">
              <a:buNone/>
            </a:pPr>
            <a:r>
              <a:rPr lang="en-US" sz="800" spc="100" kern="0" dirty="0">
                <a:solidFill>
                  <a:srgbClr val="5C6873"/>
                </a:solidFill>
                <a:latin typeface="Courier New" pitchFamily="34" charset="0"/>
                <a:ea typeface="Courier New" pitchFamily="34" charset="-122"/>
                <a:cs typeface="Courier New" pitchFamily="34" charset="-120"/>
              </a:rPr>
              <a:t>BECURRENT  ·  SOCIAL MEDIA  ·  TOPIC 6</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2ED"/>
        </a:solidFill>
      </p:bgPr>
    </p:bg>
    <p:spTree>
      <p:nvGrpSpPr>
        <p:cNvPr id="1" name=""/>
        <p:cNvGrpSpPr/>
        <p:nvPr/>
      </p:nvGrpSpPr>
      <p:grpSpPr>
        <a:xfrm>
          <a:off x="0" y="0"/>
          <a:ext cx="0" cy="0"/>
          <a:chOff x="0" y="0"/>
          <a:chExt cx="0" cy="0"/>
        </a:xfrm>
      </p:grpSpPr>
      <p:sp>
        <p:nvSpPr>
          <p:cNvPr id="2" name="Text 0"/>
          <p:cNvSpPr/>
          <p:nvPr/>
        </p:nvSpPr>
        <p:spPr>
          <a:xfrm>
            <a:off x="548640" y="365760"/>
            <a:ext cx="8046720" cy="237744"/>
          </a:xfrm>
          <a:prstGeom prst="rect">
            <a:avLst/>
          </a:prstGeom>
          <a:noFill/>
          <a:ln/>
        </p:spPr>
        <p:txBody>
          <a:bodyPr wrap="square" lIns="0" tIns="0" rIns="0" bIns="0" rtlCol="0" anchor="ctr"/>
          <a:lstStyle/>
          <a:p>
            <a:pPr indent="0" marL="0">
              <a:buNone/>
            </a:pPr>
            <a:r>
              <a:rPr lang="en-US" sz="1000" b="1" spc="140" kern="0" dirty="0">
                <a:solidFill>
                  <a:srgbClr val="B22222"/>
                </a:solidFill>
                <a:latin typeface="Courier New" pitchFamily="34" charset="0"/>
                <a:ea typeface="Courier New" pitchFamily="34" charset="-122"/>
                <a:cs typeface="Courier New" pitchFamily="34" charset="-120"/>
              </a:rPr>
              <a:t>THE STANDARD</a:t>
            </a:r>
            <a:endParaRPr lang="en-US" sz="1000" dirty="0"/>
          </a:p>
        </p:txBody>
      </p:sp>
      <p:sp>
        <p:nvSpPr>
          <p:cNvPr id="3" name="Text 1"/>
          <p:cNvSpPr/>
          <p:nvPr/>
        </p:nvSpPr>
        <p:spPr>
          <a:xfrm>
            <a:off x="548640" y="713232"/>
            <a:ext cx="8046720" cy="731520"/>
          </a:xfrm>
          <a:prstGeom prst="rect">
            <a:avLst/>
          </a:prstGeom>
          <a:noFill/>
          <a:ln/>
        </p:spPr>
        <p:txBody>
          <a:bodyPr wrap="square" lIns="0" tIns="0" rIns="0" bIns="0" rtlCol="0" anchor="t"/>
          <a:lstStyle/>
          <a:p>
            <a:pPr indent="0" marL="0">
              <a:lnSpc>
                <a:spcPct val="92000"/>
              </a:lnSpc>
              <a:buNone/>
            </a:pPr>
            <a:r>
              <a:rPr lang="en-US" sz="3000" b="1" dirty="0">
                <a:solidFill>
                  <a:srgbClr val="14171A"/>
                </a:solidFill>
                <a:latin typeface="Cambria" pitchFamily="34" charset="0"/>
                <a:ea typeface="Cambria" pitchFamily="34" charset="-122"/>
                <a:cs typeface="Cambria" pitchFamily="34" charset="-120"/>
              </a:rPr>
              <a:t>Every answer costs something</a:t>
            </a:r>
            <a:endParaRPr lang="en-US" sz="3000" dirty="0"/>
          </a:p>
        </p:txBody>
      </p:sp>
      <p:sp>
        <p:nvSpPr>
          <p:cNvPr id="4" name="Shape 2"/>
          <p:cNvSpPr/>
          <p:nvPr/>
        </p:nvSpPr>
        <p:spPr>
          <a:xfrm>
            <a:off x="548640" y="1554480"/>
            <a:ext cx="8046720" cy="914400"/>
          </a:xfrm>
          <a:prstGeom prst="roundRect">
            <a:avLst>
              <a:gd name="adj" fmla="val 6000"/>
            </a:avLst>
          </a:prstGeom>
          <a:solidFill>
            <a:srgbClr val="F2E1E1"/>
          </a:solidFill>
          <a:ln w="9525">
            <a:solidFill>
              <a:srgbClr val="F2E1E1"/>
            </a:solidFill>
            <a:prstDash val="solid"/>
          </a:ln>
          <a:effectLst>
            <a:outerShdw sx="100000" sy="100000" kx="0" ky="0" algn="bl" rotWithShape="0" blurRad="88900" dist="12700" dir="5400000">
              <a:srgbClr val="9A968A">
                <a:alpha val="20000"/>
              </a:srgbClr>
            </a:outerShdw>
          </a:effectLst>
        </p:spPr>
      </p:sp>
      <p:sp>
        <p:nvSpPr>
          <p:cNvPr id="5" name="Text 3"/>
          <p:cNvSpPr/>
          <p:nvPr/>
        </p:nvSpPr>
        <p:spPr>
          <a:xfrm>
            <a:off x="822960" y="1554480"/>
            <a:ext cx="7498080" cy="914400"/>
          </a:xfrm>
          <a:prstGeom prst="rect">
            <a:avLst/>
          </a:prstGeom>
          <a:noFill/>
          <a:ln/>
        </p:spPr>
        <p:txBody>
          <a:bodyPr wrap="square" lIns="0" tIns="0" rIns="0" bIns="0" rtlCol="0" anchor="ctr"/>
          <a:lstStyle/>
          <a:p>
            <a:pPr algn="l" indent="0" marL="0">
              <a:lnSpc>
                <a:spcPct val="106000"/>
              </a:lnSpc>
              <a:buNone/>
            </a:pPr>
            <a:r>
              <a:rPr lang="en-US" sz="2200" b="1" dirty="0">
                <a:solidFill>
                  <a:srgbClr val="14171A"/>
                </a:solidFill>
                <a:latin typeface="Cambria" pitchFamily="34" charset="0"/>
                <a:ea typeface="Cambria" pitchFamily="34" charset="-122"/>
                <a:cs typeface="Cambria" pitchFamily="34" charset="-120"/>
              </a:rPr>
              <a:t>An answer with no tradeoff in it is not finished.</a:t>
            </a:r>
            <a:endParaRPr lang="en-US" sz="2200" dirty="0"/>
          </a:p>
        </p:txBody>
      </p:sp>
      <p:sp>
        <p:nvSpPr>
          <p:cNvPr id="6" name="Shape 4"/>
          <p:cNvSpPr/>
          <p:nvPr/>
        </p:nvSpPr>
        <p:spPr>
          <a:xfrm>
            <a:off x="548640" y="2688336"/>
            <a:ext cx="3840480" cy="1280160"/>
          </a:xfrm>
          <a:prstGeom prst="roundRect">
            <a:avLst>
              <a:gd name="adj" fmla="val 4286"/>
            </a:avLst>
          </a:prstGeom>
          <a:solidFill>
            <a:srgbClr val="FFFEFB"/>
          </a:solidFill>
          <a:ln w="9525">
            <a:solidFill>
              <a:srgbClr val="D9D6CF"/>
            </a:solidFill>
            <a:prstDash val="solid"/>
          </a:ln>
          <a:effectLst>
            <a:outerShdw sx="100000" sy="100000" kx="0" ky="0" algn="bl" rotWithShape="0" blurRad="88900" dist="12700" dir="5400000">
              <a:srgbClr val="9A968A">
                <a:alpha val="20000"/>
              </a:srgbClr>
            </a:outerShdw>
          </a:effectLst>
        </p:spPr>
      </p:sp>
      <p:sp>
        <p:nvSpPr>
          <p:cNvPr id="7" name="Text 5"/>
          <p:cNvSpPr/>
          <p:nvPr/>
        </p:nvSpPr>
        <p:spPr>
          <a:xfrm>
            <a:off x="786384" y="2907792"/>
            <a:ext cx="3364992" cy="219456"/>
          </a:xfrm>
          <a:prstGeom prst="rect">
            <a:avLst/>
          </a:prstGeom>
          <a:noFill/>
          <a:ln/>
        </p:spPr>
        <p:txBody>
          <a:bodyPr wrap="square" lIns="0" tIns="0" rIns="0" bIns="0" rtlCol="0" anchor="t"/>
          <a:lstStyle/>
          <a:p>
            <a:pPr algn="l" indent="0" marL="0">
              <a:lnSpc>
                <a:spcPct val="106000"/>
              </a:lnSpc>
              <a:buNone/>
            </a:pPr>
            <a:r>
              <a:rPr lang="en-US" sz="900" b="1" dirty="0">
                <a:solidFill>
                  <a:srgbClr val="1F5673"/>
                </a:solidFill>
                <a:latin typeface="Courier New" pitchFamily="34" charset="0"/>
                <a:ea typeface="Courier New" pitchFamily="34" charset="-122"/>
                <a:cs typeface="Courier New" pitchFamily="34" charset="-120"/>
              </a:rPr>
              <a:t>TRADEOFF</a:t>
            </a:r>
            <a:endParaRPr lang="en-US" sz="900" dirty="0"/>
          </a:p>
        </p:txBody>
      </p:sp>
      <p:sp>
        <p:nvSpPr>
          <p:cNvPr id="8" name="Text 6"/>
          <p:cNvSpPr/>
          <p:nvPr/>
        </p:nvSpPr>
        <p:spPr>
          <a:xfrm>
            <a:off x="786384" y="3200400"/>
            <a:ext cx="3364992" cy="694944"/>
          </a:xfrm>
          <a:prstGeom prst="rect">
            <a:avLst/>
          </a:prstGeom>
          <a:noFill/>
          <a:ln/>
        </p:spPr>
        <p:txBody>
          <a:bodyPr wrap="square" lIns="0" tIns="0" rIns="0" bIns="0" rtlCol="0" anchor="t"/>
          <a:lstStyle/>
          <a:p>
            <a:pPr algn="l" indent="0" marL="0">
              <a:lnSpc>
                <a:spcPct val="114000"/>
              </a:lnSpc>
              <a:buNone/>
            </a:pPr>
            <a:r>
              <a:rPr lang="en-US" sz="1350" dirty="0">
                <a:solidFill>
                  <a:srgbClr val="14171A"/>
                </a:solidFill>
                <a:latin typeface="Calibri" pitchFamily="34" charset="0"/>
                <a:ea typeface="Calibri" pitchFamily="34" charset="-122"/>
                <a:cs typeface="Calibri" pitchFamily="34" charset="-120"/>
              </a:rPr>
              <a:t>What you give up in order to get something else. Every answer here has one.</a:t>
            </a:r>
            <a:endParaRPr lang="en-US" sz="1350" dirty="0"/>
          </a:p>
        </p:txBody>
      </p:sp>
      <p:sp>
        <p:nvSpPr>
          <p:cNvPr id="9" name="Shape 7"/>
          <p:cNvSpPr/>
          <p:nvPr/>
        </p:nvSpPr>
        <p:spPr>
          <a:xfrm>
            <a:off x="4754880" y="2688336"/>
            <a:ext cx="3840480" cy="1280160"/>
          </a:xfrm>
          <a:prstGeom prst="roundRect">
            <a:avLst>
              <a:gd name="adj" fmla="val 4286"/>
            </a:avLst>
          </a:prstGeom>
          <a:solidFill>
            <a:srgbClr val="FFFEFB"/>
          </a:solidFill>
          <a:ln w="9525">
            <a:solidFill>
              <a:srgbClr val="D9D6CF"/>
            </a:solidFill>
            <a:prstDash val="solid"/>
          </a:ln>
          <a:effectLst>
            <a:outerShdw sx="100000" sy="100000" kx="0" ky="0" algn="bl" rotWithShape="0" blurRad="88900" dist="12700" dir="5400000">
              <a:srgbClr val="9A968A">
                <a:alpha val="20000"/>
              </a:srgbClr>
            </a:outerShdw>
          </a:effectLst>
        </p:spPr>
      </p:sp>
      <p:sp>
        <p:nvSpPr>
          <p:cNvPr id="10" name="Text 8"/>
          <p:cNvSpPr/>
          <p:nvPr/>
        </p:nvSpPr>
        <p:spPr>
          <a:xfrm>
            <a:off x="4992624" y="2907792"/>
            <a:ext cx="3364992" cy="219456"/>
          </a:xfrm>
          <a:prstGeom prst="rect">
            <a:avLst/>
          </a:prstGeom>
          <a:noFill/>
          <a:ln/>
        </p:spPr>
        <p:txBody>
          <a:bodyPr wrap="square" lIns="0" tIns="0" rIns="0" bIns="0" rtlCol="0" anchor="t"/>
          <a:lstStyle/>
          <a:p>
            <a:pPr algn="l" indent="0" marL="0">
              <a:lnSpc>
                <a:spcPct val="106000"/>
              </a:lnSpc>
              <a:buNone/>
            </a:pPr>
            <a:r>
              <a:rPr lang="en-US" sz="900" b="1" dirty="0">
                <a:solidFill>
                  <a:srgbClr val="8A1A1A"/>
                </a:solidFill>
                <a:latin typeface="Courier New" pitchFamily="34" charset="0"/>
                <a:ea typeface="Courier New" pitchFamily="34" charset="-122"/>
                <a:cs typeface="Courier New" pitchFamily="34" charset="-120"/>
              </a:rPr>
              <a:t>SO, TODAY</a:t>
            </a:r>
            <a:endParaRPr lang="en-US" sz="900" dirty="0"/>
          </a:p>
        </p:txBody>
      </p:sp>
      <p:sp>
        <p:nvSpPr>
          <p:cNvPr id="11" name="Text 9"/>
          <p:cNvSpPr/>
          <p:nvPr/>
        </p:nvSpPr>
        <p:spPr>
          <a:xfrm>
            <a:off x="4992624" y="3200400"/>
            <a:ext cx="3364992" cy="694944"/>
          </a:xfrm>
          <a:prstGeom prst="rect">
            <a:avLst/>
          </a:prstGeom>
          <a:noFill/>
          <a:ln/>
        </p:spPr>
        <p:txBody>
          <a:bodyPr wrap="square" lIns="0" tIns="0" rIns="0" bIns="0" rtlCol="0" anchor="t"/>
          <a:lstStyle/>
          <a:p>
            <a:pPr algn="l" indent="0" marL="0">
              <a:lnSpc>
                <a:spcPct val="114000"/>
              </a:lnSpc>
              <a:buNone/>
            </a:pPr>
            <a:r>
              <a:rPr lang="en-US" sz="1350" dirty="0">
                <a:solidFill>
                  <a:srgbClr val="14171A"/>
                </a:solidFill>
                <a:latin typeface="Calibri" pitchFamily="34" charset="0"/>
                <a:ea typeface="Calibri" pitchFamily="34" charset="-122"/>
                <a:cs typeface="Calibri" pitchFamily="34" charset="-120"/>
              </a:rPr>
              <a:t>Name your position, then name what it costs. If you cannot name the cost, you are not finished.</a:t>
            </a:r>
            <a:endParaRPr lang="en-US" sz="1350" dirty="0"/>
          </a:p>
        </p:txBody>
      </p:sp>
      <p:sp>
        <p:nvSpPr>
          <p:cNvPr id="13" name="Text 10"/>
          <p:cNvSpPr/>
          <p:nvPr/>
        </p:nvSpPr>
        <p:spPr>
          <a:xfrm>
            <a:off x="548640" y="4668012"/>
            <a:ext cx="8046720" cy="256032"/>
          </a:xfrm>
          <a:prstGeom prst="rect">
            <a:avLst/>
          </a:prstGeom>
          <a:noFill/>
          <a:ln/>
        </p:spPr>
        <p:txBody>
          <a:bodyPr wrap="square" lIns="0" tIns="0" rIns="0" bIns="0" rtlCol="0" anchor="ctr"/>
          <a:lstStyle/>
          <a:p>
            <a:pPr indent="0" marL="0">
              <a:buNone/>
            </a:pPr>
            <a:r>
              <a:rPr lang="en-US" sz="800" spc="100" kern="0" dirty="0">
                <a:solidFill>
                  <a:srgbClr val="5C6873"/>
                </a:solidFill>
                <a:latin typeface="Courier New" pitchFamily="34" charset="0"/>
                <a:ea typeface="Courier New" pitchFamily="34" charset="-122"/>
                <a:cs typeface="Courier New" pitchFamily="34" charset="-120"/>
              </a:rPr>
              <a:t>BECURRENT  ·  SOCIAL MEDIA  ·  TOPIC 6</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2ED"/>
        </a:solidFill>
      </p:bgPr>
    </p:bg>
    <p:spTree>
      <p:nvGrpSpPr>
        <p:cNvPr id="1" name=""/>
        <p:cNvGrpSpPr/>
        <p:nvPr/>
      </p:nvGrpSpPr>
      <p:grpSpPr>
        <a:xfrm>
          <a:off x="0" y="0"/>
          <a:ext cx="0" cy="0"/>
          <a:chOff x="0" y="0"/>
          <a:chExt cx="0" cy="0"/>
        </a:xfrm>
      </p:grpSpPr>
      <p:sp>
        <p:nvSpPr>
          <p:cNvPr id="2" name="Shape 0"/>
          <p:cNvSpPr/>
          <p:nvPr/>
        </p:nvSpPr>
        <p:spPr>
          <a:xfrm>
            <a:off x="548640" y="310896"/>
            <a:ext cx="347472" cy="347472"/>
          </a:xfrm>
          <a:prstGeom prst="ellipse">
            <a:avLst/>
          </a:prstGeom>
          <a:solidFill>
            <a:srgbClr val="B22222"/>
          </a:solidFill>
          <a:ln w="12700">
            <a:solidFill>
              <a:srgbClr val="B22222"/>
            </a:solidFill>
            <a:prstDash val="solid"/>
          </a:ln>
        </p:spPr>
      </p:sp>
      <p:sp>
        <p:nvSpPr>
          <p:cNvPr id="3" name="Text 1"/>
          <p:cNvSpPr/>
          <p:nvPr/>
        </p:nvSpPr>
        <p:spPr>
          <a:xfrm>
            <a:off x="548640" y="310896"/>
            <a:ext cx="347472" cy="347472"/>
          </a:xfrm>
          <a:prstGeom prst="rect">
            <a:avLst/>
          </a:prstGeom>
          <a:noFill/>
          <a:ln/>
        </p:spPr>
        <p:txBody>
          <a:bodyPr wrap="square" lIns="0" tIns="0" rIns="0" bIns="0" rtlCol="0" anchor="ctr"/>
          <a:lstStyle/>
          <a:p>
            <a:pPr algn="ctr" indent="0" marL="0">
              <a:buNone/>
            </a:pPr>
            <a:r>
              <a:rPr lang="en-US" sz="1050" b="1" dirty="0">
                <a:solidFill>
                  <a:srgbClr val="FFFEFB"/>
                </a:solidFill>
                <a:latin typeface="Courier New" pitchFamily="34" charset="0"/>
                <a:ea typeface="Courier New" pitchFamily="34" charset="-122"/>
                <a:cs typeface="Courier New" pitchFamily="34" charset="-120"/>
              </a:rPr>
              <a:t>1</a:t>
            </a:r>
            <a:endParaRPr lang="en-US" sz="1050" dirty="0"/>
          </a:p>
        </p:txBody>
      </p:sp>
      <p:sp>
        <p:nvSpPr>
          <p:cNvPr id="4" name="Text 2"/>
          <p:cNvSpPr/>
          <p:nvPr/>
        </p:nvSpPr>
        <p:spPr>
          <a:xfrm>
            <a:off x="1005840" y="365760"/>
            <a:ext cx="8046720" cy="237744"/>
          </a:xfrm>
          <a:prstGeom prst="rect">
            <a:avLst/>
          </a:prstGeom>
          <a:noFill/>
          <a:ln/>
        </p:spPr>
        <p:txBody>
          <a:bodyPr wrap="square" lIns="0" tIns="0" rIns="0" bIns="0" rtlCol="0" anchor="ctr"/>
          <a:lstStyle/>
          <a:p>
            <a:pPr indent="0" marL="0">
              <a:buNone/>
            </a:pPr>
            <a:r>
              <a:rPr lang="en-US" sz="1000" b="1" spc="140" kern="0" dirty="0">
                <a:solidFill>
                  <a:srgbClr val="B22222"/>
                </a:solidFill>
                <a:latin typeface="Courier New" pitchFamily="34" charset="0"/>
                <a:ea typeface="Courier New" pitchFamily="34" charset="-122"/>
                <a:cs typeface="Courier New" pitchFamily="34" charset="-120"/>
              </a:rPr>
              <a:t>POSITION ONE</a:t>
            </a:r>
            <a:endParaRPr lang="en-US" sz="1000" dirty="0"/>
          </a:p>
        </p:txBody>
      </p:sp>
      <p:sp>
        <p:nvSpPr>
          <p:cNvPr id="5" name="Text 3"/>
          <p:cNvSpPr/>
          <p:nvPr/>
        </p:nvSpPr>
        <p:spPr>
          <a:xfrm>
            <a:off x="548640" y="822960"/>
            <a:ext cx="8046720" cy="731520"/>
          </a:xfrm>
          <a:prstGeom prst="rect">
            <a:avLst/>
          </a:prstGeom>
          <a:noFill/>
          <a:ln/>
        </p:spPr>
        <p:txBody>
          <a:bodyPr wrap="square" lIns="0" tIns="0" rIns="0" bIns="0" rtlCol="0" anchor="t"/>
          <a:lstStyle/>
          <a:p>
            <a:pPr indent="0" marL="0">
              <a:lnSpc>
                <a:spcPct val="92000"/>
              </a:lnSpc>
              <a:buNone/>
            </a:pPr>
            <a:r>
              <a:rPr lang="en-US" sz="3200" b="1" dirty="0">
                <a:solidFill>
                  <a:srgbClr val="14171A"/>
                </a:solidFill>
                <a:latin typeface="Cambria" pitchFamily="34" charset="0"/>
                <a:ea typeface="Cambria" pitchFamily="34" charset="-122"/>
                <a:cs typeface="Cambria" pitchFamily="34" charset="-120"/>
              </a:rPr>
              <a:t>You decide</a:t>
            </a:r>
            <a:endParaRPr lang="en-US" sz="3200" dirty="0"/>
          </a:p>
        </p:txBody>
      </p:sp>
      <p:sp>
        <p:nvSpPr>
          <p:cNvPr id="6" name="Shape 4"/>
          <p:cNvSpPr/>
          <p:nvPr/>
        </p:nvSpPr>
        <p:spPr>
          <a:xfrm>
            <a:off x="548640" y="1627632"/>
            <a:ext cx="3840480" cy="2514600"/>
          </a:xfrm>
          <a:prstGeom prst="roundRect">
            <a:avLst>
              <a:gd name="adj" fmla="val 2182"/>
            </a:avLst>
          </a:prstGeom>
          <a:solidFill>
            <a:srgbClr val="FFFEFB"/>
          </a:solidFill>
          <a:ln w="9525">
            <a:solidFill>
              <a:srgbClr val="D9D6CF"/>
            </a:solidFill>
            <a:prstDash val="solid"/>
          </a:ln>
          <a:effectLst>
            <a:outerShdw sx="100000" sy="100000" kx="0" ky="0" algn="bl" rotWithShape="0" blurRad="88900" dist="12700" dir="5400000">
              <a:srgbClr val="9A968A">
                <a:alpha val="20000"/>
              </a:srgbClr>
            </a:outerShdw>
          </a:effectLst>
        </p:spPr>
      </p:sp>
      <p:sp>
        <p:nvSpPr>
          <p:cNvPr id="7" name="Text 5"/>
          <p:cNvSpPr/>
          <p:nvPr/>
        </p:nvSpPr>
        <p:spPr>
          <a:xfrm>
            <a:off x="786384" y="1828800"/>
            <a:ext cx="3364992" cy="219456"/>
          </a:xfrm>
          <a:prstGeom prst="rect">
            <a:avLst/>
          </a:prstGeom>
          <a:noFill/>
          <a:ln/>
        </p:spPr>
        <p:txBody>
          <a:bodyPr wrap="square" lIns="0" tIns="0" rIns="0" bIns="0" rtlCol="0" anchor="t"/>
          <a:lstStyle/>
          <a:p>
            <a:pPr algn="l" indent="0" marL="0">
              <a:lnSpc>
                <a:spcPct val="106000"/>
              </a:lnSpc>
              <a:buNone/>
            </a:pPr>
            <a:r>
              <a:rPr lang="en-US" sz="850" b="1" dirty="0">
                <a:solidFill>
                  <a:srgbClr val="1F5673"/>
                </a:solidFill>
                <a:latin typeface="Courier New" pitchFamily="34" charset="0"/>
                <a:ea typeface="Courier New" pitchFamily="34" charset="-122"/>
                <a:cs typeface="Courier New" pitchFamily="34" charset="-120"/>
              </a:rPr>
              <a:t>THE CASE</a:t>
            </a:r>
            <a:endParaRPr lang="en-US" sz="850" dirty="0"/>
          </a:p>
        </p:txBody>
      </p:sp>
      <p:sp>
        <p:nvSpPr>
          <p:cNvPr id="8" name="Text 6"/>
          <p:cNvSpPr/>
          <p:nvPr/>
        </p:nvSpPr>
        <p:spPr>
          <a:xfrm>
            <a:off x="786384" y="2121408"/>
            <a:ext cx="3364992" cy="1856232"/>
          </a:xfrm>
          <a:prstGeom prst="rect">
            <a:avLst/>
          </a:prstGeom>
          <a:noFill/>
          <a:ln/>
        </p:spPr>
        <p:txBody>
          <a:bodyPr wrap="square" lIns="0" tIns="0" rIns="0" bIns="0" rtlCol="0" anchor="t"/>
          <a:lstStyle/>
          <a:p>
            <a:pPr marL="177800" indent="-177800">
              <a:lnSpc>
                <a:spcPct val="104000"/>
              </a:lnSpc>
              <a:spcAft>
                <a:spcPts val="800"/>
              </a:spcAft>
              <a:buSzPct val="100000"/>
              <a:buChar char="•"/>
            </a:pPr>
            <a:r>
              <a:rPr lang="en-US" sz="1250" dirty="0">
                <a:solidFill>
                  <a:srgbClr val="3C444C"/>
                </a:solidFill>
                <a:latin typeface="Calibri" pitchFamily="34" charset="0"/>
                <a:ea typeface="Calibri" pitchFamily="34" charset="-122"/>
                <a:cs typeface="Calibri" pitchFamily="34" charset="-120"/>
              </a:rPr>
              <a:t>It is your attention and your phone, so you should be the one who controls it.</a:t>
            </a:r>
            <a:endParaRPr lang="en-US" sz="1250" dirty="0"/>
          </a:p>
          <a:p>
            <a:pPr marL="177800" indent="-177800">
              <a:lnSpc>
                <a:spcPct val="104000"/>
              </a:lnSpc>
              <a:spcAft>
                <a:spcPts val="800"/>
              </a:spcAft>
              <a:buSzPct val="100000"/>
              <a:buChar char="•"/>
            </a:pPr>
            <a:r>
              <a:rPr lang="en-US" sz="1250" dirty="0">
                <a:solidFill>
                  <a:srgbClr val="3C444C"/>
                </a:solidFill>
                <a:latin typeface="Calibri" pitchFamily="34" charset="0"/>
                <a:ea typeface="Calibri" pitchFamily="34" charset="-122"/>
                <a:cs typeface="Calibri" pitchFamily="34" charset="-120"/>
              </a:rPr>
              <a:t>Real tools already exist: delete the app, turn off notifications, switch to a time-ordered feed, set a timer.</a:t>
            </a:r>
            <a:endParaRPr lang="en-US" sz="1250" dirty="0"/>
          </a:p>
          <a:p>
            <a:pPr marL="177800" indent="-177800">
              <a:lnSpc>
                <a:spcPct val="104000"/>
              </a:lnSpc>
              <a:spcAft>
                <a:spcPts val="800"/>
              </a:spcAft>
              <a:buSzPct val="100000"/>
              <a:buChar char="•"/>
            </a:pPr>
            <a:r>
              <a:rPr lang="en-US" sz="1250" dirty="0">
                <a:solidFill>
                  <a:srgbClr val="3C444C"/>
                </a:solidFill>
                <a:latin typeface="Calibri" pitchFamily="34" charset="0"/>
                <a:ea typeface="Calibri" pitchFamily="34" charset="-122"/>
                <a:cs typeface="Calibri" pitchFamily="34" charset="-120"/>
              </a:rPr>
              <a:t>Adults get to make their own choices about their time, even bad ones.</a:t>
            </a:r>
            <a:endParaRPr lang="en-US" sz="1250" dirty="0"/>
          </a:p>
        </p:txBody>
      </p:sp>
      <p:sp>
        <p:nvSpPr>
          <p:cNvPr id="9" name="Shape 7"/>
          <p:cNvSpPr/>
          <p:nvPr/>
        </p:nvSpPr>
        <p:spPr>
          <a:xfrm>
            <a:off x="4754880" y="1627632"/>
            <a:ext cx="3840480" cy="2514600"/>
          </a:xfrm>
          <a:prstGeom prst="roundRect">
            <a:avLst>
              <a:gd name="adj" fmla="val 2182"/>
            </a:avLst>
          </a:prstGeom>
          <a:solidFill>
            <a:srgbClr val="F2E1E1"/>
          </a:solidFill>
          <a:ln w="9525">
            <a:solidFill>
              <a:srgbClr val="F2E1E1"/>
            </a:solidFill>
            <a:prstDash val="solid"/>
          </a:ln>
          <a:effectLst>
            <a:outerShdw sx="100000" sy="100000" kx="0" ky="0" algn="bl" rotWithShape="0" blurRad="88900" dist="12700" dir="5400000">
              <a:srgbClr val="9A968A">
                <a:alpha val="20000"/>
              </a:srgbClr>
            </a:outerShdw>
          </a:effectLst>
        </p:spPr>
      </p:sp>
      <p:sp>
        <p:nvSpPr>
          <p:cNvPr id="10" name="Text 8"/>
          <p:cNvSpPr/>
          <p:nvPr/>
        </p:nvSpPr>
        <p:spPr>
          <a:xfrm>
            <a:off x="4992624" y="1828800"/>
            <a:ext cx="3364992" cy="219456"/>
          </a:xfrm>
          <a:prstGeom prst="rect">
            <a:avLst/>
          </a:prstGeom>
          <a:noFill/>
          <a:ln/>
        </p:spPr>
        <p:txBody>
          <a:bodyPr wrap="square" lIns="0" tIns="0" rIns="0" bIns="0" rtlCol="0" anchor="t"/>
          <a:lstStyle/>
          <a:p>
            <a:pPr algn="l" indent="0" marL="0">
              <a:lnSpc>
                <a:spcPct val="106000"/>
              </a:lnSpc>
              <a:buNone/>
            </a:pPr>
            <a:r>
              <a:rPr lang="en-US" sz="850" b="1" dirty="0">
                <a:solidFill>
                  <a:srgbClr val="8A1A1A"/>
                </a:solidFill>
                <a:latin typeface="Courier New" pitchFamily="34" charset="0"/>
                <a:ea typeface="Courier New" pitchFamily="34" charset="-122"/>
                <a:cs typeface="Courier New" pitchFamily="34" charset="-120"/>
              </a:rPr>
              <a:t>THE TRADEOFF</a:t>
            </a:r>
            <a:endParaRPr lang="en-US" sz="850" dirty="0"/>
          </a:p>
        </p:txBody>
      </p:sp>
      <p:sp>
        <p:nvSpPr>
          <p:cNvPr id="11" name="Text 9"/>
          <p:cNvSpPr/>
          <p:nvPr/>
        </p:nvSpPr>
        <p:spPr>
          <a:xfrm>
            <a:off x="4992624" y="2121408"/>
            <a:ext cx="3364992" cy="1856232"/>
          </a:xfrm>
          <a:prstGeom prst="rect">
            <a:avLst/>
          </a:prstGeom>
          <a:noFill/>
          <a:ln/>
        </p:spPr>
        <p:txBody>
          <a:bodyPr wrap="square" lIns="0" tIns="0" rIns="0" bIns="0" rtlCol="0" anchor="t"/>
          <a:lstStyle/>
          <a:p>
            <a:pPr algn="l" indent="0" marL="0">
              <a:lnSpc>
                <a:spcPct val="116000"/>
              </a:lnSpc>
              <a:buNone/>
            </a:pPr>
            <a:r>
              <a:rPr lang="en-US" sz="1250" dirty="0">
                <a:solidFill>
                  <a:srgbClr val="14171A"/>
                </a:solidFill>
                <a:latin typeface="Calibri" pitchFamily="34" charset="0"/>
                <a:ea typeface="Calibri" pitchFamily="34" charset="-122"/>
                <a:cs typeface="Calibri" pitchFamily="34" charset="-120"/>
              </a:rPr>
              <a:t>The two sides are not evenly matched. The app was built by engineers whose job is to make it hard to stop scrolling, and they have had years to get good at that job. On one side is a large, well-funded team. On the other side is your willpower, by itself.</a:t>
            </a:r>
            <a:endParaRPr lang="en-US" sz="1250" dirty="0"/>
          </a:p>
        </p:txBody>
      </p:sp>
      <p:sp>
        <p:nvSpPr>
          <p:cNvPr id="13" name="Text 10"/>
          <p:cNvSpPr/>
          <p:nvPr/>
        </p:nvSpPr>
        <p:spPr>
          <a:xfrm>
            <a:off x="548640" y="4668012"/>
            <a:ext cx="8046720" cy="256032"/>
          </a:xfrm>
          <a:prstGeom prst="rect">
            <a:avLst/>
          </a:prstGeom>
          <a:noFill/>
          <a:ln/>
        </p:spPr>
        <p:txBody>
          <a:bodyPr wrap="square" lIns="0" tIns="0" rIns="0" bIns="0" rtlCol="0" anchor="ctr"/>
          <a:lstStyle/>
          <a:p>
            <a:pPr indent="0" marL="0">
              <a:buNone/>
            </a:pPr>
            <a:r>
              <a:rPr lang="en-US" sz="800" spc="100" kern="0" dirty="0">
                <a:solidFill>
                  <a:srgbClr val="5C6873"/>
                </a:solidFill>
                <a:latin typeface="Courier New" pitchFamily="34" charset="0"/>
                <a:ea typeface="Courier New" pitchFamily="34" charset="-122"/>
                <a:cs typeface="Courier New" pitchFamily="34" charset="-120"/>
              </a:rPr>
              <a:t>BECURRENT  ·  SOCIAL MEDIA  ·  TOPIC 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2ED"/>
        </a:solidFill>
      </p:bgPr>
    </p:bg>
    <p:spTree>
      <p:nvGrpSpPr>
        <p:cNvPr id="1" name=""/>
        <p:cNvGrpSpPr/>
        <p:nvPr/>
      </p:nvGrpSpPr>
      <p:grpSpPr>
        <a:xfrm>
          <a:off x="0" y="0"/>
          <a:ext cx="0" cy="0"/>
          <a:chOff x="0" y="0"/>
          <a:chExt cx="0" cy="0"/>
        </a:xfrm>
      </p:grpSpPr>
      <p:sp>
        <p:nvSpPr>
          <p:cNvPr id="2" name="Shape 0"/>
          <p:cNvSpPr/>
          <p:nvPr/>
        </p:nvSpPr>
        <p:spPr>
          <a:xfrm>
            <a:off x="548640" y="310896"/>
            <a:ext cx="347472" cy="347472"/>
          </a:xfrm>
          <a:prstGeom prst="ellipse">
            <a:avLst/>
          </a:prstGeom>
          <a:solidFill>
            <a:srgbClr val="B22222"/>
          </a:solidFill>
          <a:ln w="12700">
            <a:solidFill>
              <a:srgbClr val="B22222"/>
            </a:solidFill>
            <a:prstDash val="solid"/>
          </a:ln>
        </p:spPr>
      </p:sp>
      <p:sp>
        <p:nvSpPr>
          <p:cNvPr id="3" name="Text 1"/>
          <p:cNvSpPr/>
          <p:nvPr/>
        </p:nvSpPr>
        <p:spPr>
          <a:xfrm>
            <a:off x="548640" y="310896"/>
            <a:ext cx="347472" cy="347472"/>
          </a:xfrm>
          <a:prstGeom prst="rect">
            <a:avLst/>
          </a:prstGeom>
          <a:noFill/>
          <a:ln/>
        </p:spPr>
        <p:txBody>
          <a:bodyPr wrap="square" lIns="0" tIns="0" rIns="0" bIns="0" rtlCol="0" anchor="ctr"/>
          <a:lstStyle/>
          <a:p>
            <a:pPr algn="ctr" indent="0" marL="0">
              <a:buNone/>
            </a:pPr>
            <a:r>
              <a:rPr lang="en-US" sz="1050" b="1" dirty="0">
                <a:solidFill>
                  <a:srgbClr val="FFFEFB"/>
                </a:solidFill>
                <a:latin typeface="Courier New" pitchFamily="34" charset="0"/>
                <a:ea typeface="Courier New" pitchFamily="34" charset="-122"/>
                <a:cs typeface="Courier New" pitchFamily="34" charset="-120"/>
              </a:rPr>
              <a:t>2</a:t>
            </a:r>
            <a:endParaRPr lang="en-US" sz="1050" dirty="0"/>
          </a:p>
        </p:txBody>
      </p:sp>
      <p:sp>
        <p:nvSpPr>
          <p:cNvPr id="4" name="Text 2"/>
          <p:cNvSpPr/>
          <p:nvPr/>
        </p:nvSpPr>
        <p:spPr>
          <a:xfrm>
            <a:off x="1005840" y="365760"/>
            <a:ext cx="8046720" cy="237744"/>
          </a:xfrm>
          <a:prstGeom prst="rect">
            <a:avLst/>
          </a:prstGeom>
          <a:noFill/>
          <a:ln/>
        </p:spPr>
        <p:txBody>
          <a:bodyPr wrap="square" lIns="0" tIns="0" rIns="0" bIns="0" rtlCol="0" anchor="ctr"/>
          <a:lstStyle/>
          <a:p>
            <a:pPr indent="0" marL="0">
              <a:buNone/>
            </a:pPr>
            <a:r>
              <a:rPr lang="en-US" sz="1000" b="1" spc="140" kern="0" dirty="0">
                <a:solidFill>
                  <a:srgbClr val="B22222"/>
                </a:solidFill>
                <a:latin typeface="Courier New" pitchFamily="34" charset="0"/>
                <a:ea typeface="Courier New" pitchFamily="34" charset="-122"/>
                <a:cs typeface="Courier New" pitchFamily="34" charset="-120"/>
              </a:rPr>
              <a:t>POSITION TWO</a:t>
            </a:r>
            <a:endParaRPr lang="en-US" sz="1000" dirty="0"/>
          </a:p>
        </p:txBody>
      </p:sp>
      <p:sp>
        <p:nvSpPr>
          <p:cNvPr id="5" name="Text 3"/>
          <p:cNvSpPr/>
          <p:nvPr/>
        </p:nvSpPr>
        <p:spPr>
          <a:xfrm>
            <a:off x="548640" y="822960"/>
            <a:ext cx="8046720" cy="731520"/>
          </a:xfrm>
          <a:prstGeom prst="rect">
            <a:avLst/>
          </a:prstGeom>
          <a:noFill/>
          <a:ln/>
        </p:spPr>
        <p:txBody>
          <a:bodyPr wrap="square" lIns="0" tIns="0" rIns="0" bIns="0" rtlCol="0" anchor="t"/>
          <a:lstStyle/>
          <a:p>
            <a:pPr indent="0" marL="0">
              <a:lnSpc>
                <a:spcPct val="92000"/>
              </a:lnSpc>
              <a:buNone/>
            </a:pPr>
            <a:r>
              <a:rPr lang="en-US" sz="3200" b="1" dirty="0">
                <a:solidFill>
                  <a:srgbClr val="14171A"/>
                </a:solidFill>
                <a:latin typeface="Cambria" pitchFamily="34" charset="0"/>
                <a:ea typeface="Cambria" pitchFamily="34" charset="-122"/>
                <a:cs typeface="Cambria" pitchFamily="34" charset="-120"/>
              </a:rPr>
              <a:t>The company decides</a:t>
            </a:r>
            <a:endParaRPr lang="en-US" sz="3200" dirty="0"/>
          </a:p>
        </p:txBody>
      </p:sp>
      <p:sp>
        <p:nvSpPr>
          <p:cNvPr id="6" name="Shape 4"/>
          <p:cNvSpPr/>
          <p:nvPr/>
        </p:nvSpPr>
        <p:spPr>
          <a:xfrm>
            <a:off x="548640" y="1627632"/>
            <a:ext cx="3840480" cy="2514600"/>
          </a:xfrm>
          <a:prstGeom prst="roundRect">
            <a:avLst>
              <a:gd name="adj" fmla="val 2182"/>
            </a:avLst>
          </a:prstGeom>
          <a:solidFill>
            <a:srgbClr val="FFFEFB"/>
          </a:solidFill>
          <a:ln w="9525">
            <a:solidFill>
              <a:srgbClr val="D9D6CF"/>
            </a:solidFill>
            <a:prstDash val="solid"/>
          </a:ln>
          <a:effectLst>
            <a:outerShdw sx="100000" sy="100000" kx="0" ky="0" algn="bl" rotWithShape="0" blurRad="88900" dist="12700" dir="5400000">
              <a:srgbClr val="9A968A">
                <a:alpha val="20000"/>
              </a:srgbClr>
            </a:outerShdw>
          </a:effectLst>
        </p:spPr>
      </p:sp>
      <p:sp>
        <p:nvSpPr>
          <p:cNvPr id="7" name="Text 5"/>
          <p:cNvSpPr/>
          <p:nvPr/>
        </p:nvSpPr>
        <p:spPr>
          <a:xfrm>
            <a:off x="786384" y="1828800"/>
            <a:ext cx="3364992" cy="219456"/>
          </a:xfrm>
          <a:prstGeom prst="rect">
            <a:avLst/>
          </a:prstGeom>
          <a:noFill/>
          <a:ln/>
        </p:spPr>
        <p:txBody>
          <a:bodyPr wrap="square" lIns="0" tIns="0" rIns="0" bIns="0" rtlCol="0" anchor="t"/>
          <a:lstStyle/>
          <a:p>
            <a:pPr algn="l" indent="0" marL="0">
              <a:lnSpc>
                <a:spcPct val="106000"/>
              </a:lnSpc>
              <a:buNone/>
            </a:pPr>
            <a:r>
              <a:rPr lang="en-US" sz="850" b="1" dirty="0">
                <a:solidFill>
                  <a:srgbClr val="1F5673"/>
                </a:solidFill>
                <a:latin typeface="Courier New" pitchFamily="34" charset="0"/>
                <a:ea typeface="Courier New" pitchFamily="34" charset="-122"/>
                <a:cs typeface="Courier New" pitchFamily="34" charset="-120"/>
              </a:rPr>
              <a:t>THE CASE</a:t>
            </a:r>
            <a:endParaRPr lang="en-US" sz="850" dirty="0"/>
          </a:p>
        </p:txBody>
      </p:sp>
      <p:sp>
        <p:nvSpPr>
          <p:cNvPr id="8" name="Text 6"/>
          <p:cNvSpPr/>
          <p:nvPr/>
        </p:nvSpPr>
        <p:spPr>
          <a:xfrm>
            <a:off x="786384" y="2121408"/>
            <a:ext cx="3364992" cy="1856232"/>
          </a:xfrm>
          <a:prstGeom prst="rect">
            <a:avLst/>
          </a:prstGeom>
          <a:noFill/>
          <a:ln/>
        </p:spPr>
        <p:txBody>
          <a:bodyPr wrap="square" lIns="0" tIns="0" rIns="0" bIns="0" rtlCol="0" anchor="t"/>
          <a:lstStyle/>
          <a:p>
            <a:pPr marL="177800" indent="-177800">
              <a:lnSpc>
                <a:spcPct val="104000"/>
              </a:lnSpc>
              <a:spcAft>
                <a:spcPts val="800"/>
              </a:spcAft>
              <a:buSzPct val="100000"/>
              <a:buChar char="•"/>
            </a:pPr>
            <a:r>
              <a:rPr lang="en-US" sz="1250" dirty="0">
                <a:solidFill>
                  <a:srgbClr val="3C444C"/>
                </a:solidFill>
                <a:latin typeface="Calibri" pitchFamily="34" charset="0"/>
                <a:ea typeface="Calibri" pitchFamily="34" charset="-122"/>
                <a:cs typeface="Calibri" pitchFamily="34" charset="-120"/>
              </a:rPr>
              <a:t>The company built the product, pays to run it, and does not force anyone to use it.</a:t>
            </a:r>
            <a:endParaRPr lang="en-US" sz="1250" dirty="0"/>
          </a:p>
          <a:p>
            <a:pPr marL="177800" indent="-177800">
              <a:lnSpc>
                <a:spcPct val="104000"/>
              </a:lnSpc>
              <a:spcAft>
                <a:spcPts val="800"/>
              </a:spcAft>
              <a:buSzPct val="100000"/>
              <a:buChar char="•"/>
            </a:pPr>
            <a:r>
              <a:rPr lang="en-US" sz="1250" dirty="0">
                <a:solidFill>
                  <a:srgbClr val="3C444C"/>
                </a:solidFill>
                <a:latin typeface="Calibri" pitchFamily="34" charset="0"/>
                <a:ea typeface="Calibri" pitchFamily="34" charset="-122"/>
                <a:cs typeface="Calibri" pitchFamily="34" charset="-120"/>
              </a:rPr>
              <a:t>Self-regulation is a real force: companies do change their products when users complain or bad press costs them money.</a:t>
            </a:r>
            <a:endParaRPr lang="en-US" sz="1250" dirty="0"/>
          </a:p>
          <a:p>
            <a:pPr marL="177800" indent="-177800">
              <a:lnSpc>
                <a:spcPct val="104000"/>
              </a:lnSpc>
              <a:spcAft>
                <a:spcPts val="800"/>
              </a:spcAft>
              <a:buSzPct val="100000"/>
              <a:buChar char="•"/>
            </a:pPr>
            <a:r>
              <a:rPr lang="en-US" sz="1250" dirty="0">
                <a:solidFill>
                  <a:srgbClr val="3C444C"/>
                </a:solidFill>
                <a:latin typeface="Calibri" pitchFamily="34" charset="0"/>
                <a:ea typeface="Calibri" pitchFamily="34" charset="-122"/>
                <a:cs typeface="Calibri" pitchFamily="34" charset="-120"/>
              </a:rPr>
              <a:t>The company also understands its own product better than an outside regulator would.</a:t>
            </a:r>
            <a:endParaRPr lang="en-US" sz="1250" dirty="0"/>
          </a:p>
        </p:txBody>
      </p:sp>
      <p:sp>
        <p:nvSpPr>
          <p:cNvPr id="9" name="Shape 7"/>
          <p:cNvSpPr/>
          <p:nvPr/>
        </p:nvSpPr>
        <p:spPr>
          <a:xfrm>
            <a:off x="4754880" y="1627632"/>
            <a:ext cx="3840480" cy="2514600"/>
          </a:xfrm>
          <a:prstGeom prst="roundRect">
            <a:avLst>
              <a:gd name="adj" fmla="val 2182"/>
            </a:avLst>
          </a:prstGeom>
          <a:solidFill>
            <a:srgbClr val="F2E1E1"/>
          </a:solidFill>
          <a:ln w="9525">
            <a:solidFill>
              <a:srgbClr val="F2E1E1"/>
            </a:solidFill>
            <a:prstDash val="solid"/>
          </a:ln>
          <a:effectLst>
            <a:outerShdw sx="100000" sy="100000" kx="0" ky="0" algn="bl" rotWithShape="0" blurRad="88900" dist="12700" dir="5400000">
              <a:srgbClr val="9A968A">
                <a:alpha val="20000"/>
              </a:srgbClr>
            </a:outerShdw>
          </a:effectLst>
        </p:spPr>
      </p:sp>
      <p:sp>
        <p:nvSpPr>
          <p:cNvPr id="10" name="Text 8"/>
          <p:cNvSpPr/>
          <p:nvPr/>
        </p:nvSpPr>
        <p:spPr>
          <a:xfrm>
            <a:off x="4992624" y="1828800"/>
            <a:ext cx="3364992" cy="219456"/>
          </a:xfrm>
          <a:prstGeom prst="rect">
            <a:avLst/>
          </a:prstGeom>
          <a:noFill/>
          <a:ln/>
        </p:spPr>
        <p:txBody>
          <a:bodyPr wrap="square" lIns="0" tIns="0" rIns="0" bIns="0" rtlCol="0" anchor="t"/>
          <a:lstStyle/>
          <a:p>
            <a:pPr algn="l" indent="0" marL="0">
              <a:lnSpc>
                <a:spcPct val="106000"/>
              </a:lnSpc>
              <a:buNone/>
            </a:pPr>
            <a:r>
              <a:rPr lang="en-US" sz="850" b="1" dirty="0">
                <a:solidFill>
                  <a:srgbClr val="8A1A1A"/>
                </a:solidFill>
                <a:latin typeface="Courier New" pitchFamily="34" charset="0"/>
                <a:ea typeface="Courier New" pitchFamily="34" charset="-122"/>
                <a:cs typeface="Courier New" pitchFamily="34" charset="-120"/>
              </a:rPr>
              <a:t>THE TRADEOFF</a:t>
            </a:r>
            <a:endParaRPr lang="en-US" sz="850" dirty="0"/>
          </a:p>
        </p:txBody>
      </p:sp>
      <p:sp>
        <p:nvSpPr>
          <p:cNvPr id="11" name="Text 9"/>
          <p:cNvSpPr/>
          <p:nvPr/>
        </p:nvSpPr>
        <p:spPr>
          <a:xfrm>
            <a:off x="4992624" y="2121408"/>
            <a:ext cx="3364992" cy="1856232"/>
          </a:xfrm>
          <a:prstGeom prst="rect">
            <a:avLst/>
          </a:prstGeom>
          <a:noFill/>
          <a:ln/>
        </p:spPr>
        <p:txBody>
          <a:bodyPr wrap="square" lIns="0" tIns="0" rIns="0" bIns="0" rtlCol="0" anchor="t"/>
          <a:lstStyle/>
          <a:p>
            <a:pPr algn="l" indent="0" marL="0">
              <a:lnSpc>
                <a:spcPct val="116000"/>
              </a:lnSpc>
              <a:buNone/>
            </a:pPr>
            <a:r>
              <a:rPr lang="en-US" sz="1250" dirty="0">
                <a:solidFill>
                  <a:srgbClr val="14171A"/>
                </a:solidFill>
                <a:latin typeface="Calibri" pitchFamily="34" charset="0"/>
                <a:ea typeface="Calibri" pitchFamily="34" charset="-122"/>
                <a:cs typeface="Calibri" pitchFamily="34" charset="-120"/>
              </a:rPr>
              <a:t>The company earns its money from your attention. Fixing the problem would mean reducing the exact thing that makes the company money. That is a hard thing to ask a company to do to itself.</a:t>
            </a:r>
            <a:endParaRPr lang="en-US" sz="1250" dirty="0"/>
          </a:p>
        </p:txBody>
      </p:sp>
      <p:sp>
        <p:nvSpPr>
          <p:cNvPr id="13" name="Text 10"/>
          <p:cNvSpPr/>
          <p:nvPr/>
        </p:nvSpPr>
        <p:spPr>
          <a:xfrm>
            <a:off x="548640" y="4668012"/>
            <a:ext cx="8046720" cy="256032"/>
          </a:xfrm>
          <a:prstGeom prst="rect">
            <a:avLst/>
          </a:prstGeom>
          <a:noFill/>
          <a:ln/>
        </p:spPr>
        <p:txBody>
          <a:bodyPr wrap="square" lIns="0" tIns="0" rIns="0" bIns="0" rtlCol="0" anchor="ctr"/>
          <a:lstStyle/>
          <a:p>
            <a:pPr indent="0" marL="0">
              <a:buNone/>
            </a:pPr>
            <a:r>
              <a:rPr lang="en-US" sz="800" spc="100" kern="0" dirty="0">
                <a:solidFill>
                  <a:srgbClr val="5C6873"/>
                </a:solidFill>
                <a:latin typeface="Courier New" pitchFamily="34" charset="0"/>
                <a:ea typeface="Courier New" pitchFamily="34" charset="-122"/>
                <a:cs typeface="Courier New" pitchFamily="34" charset="-120"/>
              </a:rPr>
              <a:t>BECURRENT  ·  SOCIAL MEDIA  ·  TOPIC 6</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2ED"/>
        </a:solidFill>
      </p:bgPr>
    </p:bg>
    <p:spTree>
      <p:nvGrpSpPr>
        <p:cNvPr id="1" name=""/>
        <p:cNvGrpSpPr/>
        <p:nvPr/>
      </p:nvGrpSpPr>
      <p:grpSpPr>
        <a:xfrm>
          <a:off x="0" y="0"/>
          <a:ext cx="0" cy="0"/>
          <a:chOff x="0" y="0"/>
          <a:chExt cx="0" cy="0"/>
        </a:xfrm>
      </p:grpSpPr>
      <p:sp>
        <p:nvSpPr>
          <p:cNvPr id="2" name="Shape 0"/>
          <p:cNvSpPr/>
          <p:nvPr/>
        </p:nvSpPr>
        <p:spPr>
          <a:xfrm>
            <a:off x="548640" y="310896"/>
            <a:ext cx="347472" cy="347472"/>
          </a:xfrm>
          <a:prstGeom prst="ellipse">
            <a:avLst/>
          </a:prstGeom>
          <a:solidFill>
            <a:srgbClr val="B22222"/>
          </a:solidFill>
          <a:ln w="12700">
            <a:solidFill>
              <a:srgbClr val="B22222"/>
            </a:solidFill>
            <a:prstDash val="solid"/>
          </a:ln>
        </p:spPr>
      </p:sp>
      <p:sp>
        <p:nvSpPr>
          <p:cNvPr id="3" name="Text 1"/>
          <p:cNvSpPr/>
          <p:nvPr/>
        </p:nvSpPr>
        <p:spPr>
          <a:xfrm>
            <a:off x="548640" y="310896"/>
            <a:ext cx="347472" cy="347472"/>
          </a:xfrm>
          <a:prstGeom prst="rect">
            <a:avLst/>
          </a:prstGeom>
          <a:noFill/>
          <a:ln/>
        </p:spPr>
        <p:txBody>
          <a:bodyPr wrap="square" lIns="0" tIns="0" rIns="0" bIns="0" rtlCol="0" anchor="ctr"/>
          <a:lstStyle/>
          <a:p>
            <a:pPr algn="ctr" indent="0" marL="0">
              <a:buNone/>
            </a:pPr>
            <a:r>
              <a:rPr lang="en-US" sz="1050" b="1" dirty="0">
                <a:solidFill>
                  <a:srgbClr val="FFFEFB"/>
                </a:solidFill>
                <a:latin typeface="Courier New" pitchFamily="34" charset="0"/>
                <a:ea typeface="Courier New" pitchFamily="34" charset="-122"/>
                <a:cs typeface="Courier New" pitchFamily="34" charset="-120"/>
              </a:rPr>
              <a:t>3</a:t>
            </a:r>
            <a:endParaRPr lang="en-US" sz="1050" dirty="0"/>
          </a:p>
        </p:txBody>
      </p:sp>
      <p:sp>
        <p:nvSpPr>
          <p:cNvPr id="4" name="Text 2"/>
          <p:cNvSpPr/>
          <p:nvPr/>
        </p:nvSpPr>
        <p:spPr>
          <a:xfrm>
            <a:off x="1005840" y="365760"/>
            <a:ext cx="8046720" cy="237744"/>
          </a:xfrm>
          <a:prstGeom prst="rect">
            <a:avLst/>
          </a:prstGeom>
          <a:noFill/>
          <a:ln/>
        </p:spPr>
        <p:txBody>
          <a:bodyPr wrap="square" lIns="0" tIns="0" rIns="0" bIns="0" rtlCol="0" anchor="ctr"/>
          <a:lstStyle/>
          <a:p>
            <a:pPr indent="0" marL="0">
              <a:buNone/>
            </a:pPr>
            <a:r>
              <a:rPr lang="en-US" sz="1000" b="1" spc="140" kern="0" dirty="0">
                <a:solidFill>
                  <a:srgbClr val="B22222"/>
                </a:solidFill>
                <a:latin typeface="Courier New" pitchFamily="34" charset="0"/>
                <a:ea typeface="Courier New" pitchFamily="34" charset="-122"/>
                <a:cs typeface="Courier New" pitchFamily="34" charset="-120"/>
              </a:rPr>
              <a:t>POSITION THREE</a:t>
            </a:r>
            <a:endParaRPr lang="en-US" sz="1000" dirty="0"/>
          </a:p>
        </p:txBody>
      </p:sp>
      <p:sp>
        <p:nvSpPr>
          <p:cNvPr id="5" name="Text 3"/>
          <p:cNvSpPr/>
          <p:nvPr/>
        </p:nvSpPr>
        <p:spPr>
          <a:xfrm>
            <a:off x="548640" y="822960"/>
            <a:ext cx="8046720" cy="731520"/>
          </a:xfrm>
          <a:prstGeom prst="rect">
            <a:avLst/>
          </a:prstGeom>
          <a:noFill/>
          <a:ln/>
        </p:spPr>
        <p:txBody>
          <a:bodyPr wrap="square" lIns="0" tIns="0" rIns="0" bIns="0" rtlCol="0" anchor="t"/>
          <a:lstStyle/>
          <a:p>
            <a:pPr indent="0" marL="0">
              <a:lnSpc>
                <a:spcPct val="92000"/>
              </a:lnSpc>
              <a:buNone/>
            </a:pPr>
            <a:r>
              <a:rPr lang="en-US" sz="3200" b="1" dirty="0">
                <a:solidFill>
                  <a:srgbClr val="14171A"/>
                </a:solidFill>
                <a:latin typeface="Cambria" pitchFamily="34" charset="0"/>
                <a:ea typeface="Cambria" pitchFamily="34" charset="-122"/>
                <a:cs typeface="Cambria" pitchFamily="34" charset="-120"/>
              </a:rPr>
              <a:t>The government decides</a:t>
            </a:r>
            <a:endParaRPr lang="en-US" sz="3200" dirty="0"/>
          </a:p>
        </p:txBody>
      </p:sp>
      <p:sp>
        <p:nvSpPr>
          <p:cNvPr id="6" name="Shape 4"/>
          <p:cNvSpPr/>
          <p:nvPr/>
        </p:nvSpPr>
        <p:spPr>
          <a:xfrm>
            <a:off x="548640" y="1627632"/>
            <a:ext cx="3840480" cy="2057400"/>
          </a:xfrm>
          <a:prstGeom prst="roundRect">
            <a:avLst>
              <a:gd name="adj" fmla="val 2667"/>
            </a:avLst>
          </a:prstGeom>
          <a:solidFill>
            <a:srgbClr val="FFFEFB"/>
          </a:solidFill>
          <a:ln w="9525">
            <a:solidFill>
              <a:srgbClr val="D9D6CF"/>
            </a:solidFill>
            <a:prstDash val="solid"/>
          </a:ln>
          <a:effectLst>
            <a:outerShdw sx="100000" sy="100000" kx="0" ky="0" algn="bl" rotWithShape="0" blurRad="88900" dist="12700" dir="5400000">
              <a:srgbClr val="9A968A">
                <a:alpha val="20000"/>
              </a:srgbClr>
            </a:outerShdw>
          </a:effectLst>
        </p:spPr>
      </p:sp>
      <p:sp>
        <p:nvSpPr>
          <p:cNvPr id="7" name="Text 5"/>
          <p:cNvSpPr/>
          <p:nvPr/>
        </p:nvSpPr>
        <p:spPr>
          <a:xfrm>
            <a:off x="786384" y="1828800"/>
            <a:ext cx="3364992" cy="219456"/>
          </a:xfrm>
          <a:prstGeom prst="rect">
            <a:avLst/>
          </a:prstGeom>
          <a:noFill/>
          <a:ln/>
        </p:spPr>
        <p:txBody>
          <a:bodyPr wrap="square" lIns="0" tIns="0" rIns="0" bIns="0" rtlCol="0" anchor="t"/>
          <a:lstStyle/>
          <a:p>
            <a:pPr algn="l" indent="0" marL="0">
              <a:lnSpc>
                <a:spcPct val="106000"/>
              </a:lnSpc>
              <a:buNone/>
            </a:pPr>
            <a:r>
              <a:rPr lang="en-US" sz="850" b="1" dirty="0">
                <a:solidFill>
                  <a:srgbClr val="1F5673"/>
                </a:solidFill>
                <a:latin typeface="Courier New" pitchFamily="34" charset="0"/>
                <a:ea typeface="Courier New" pitchFamily="34" charset="-122"/>
                <a:cs typeface="Courier New" pitchFamily="34" charset="-120"/>
              </a:rPr>
              <a:t>THE CASE</a:t>
            </a:r>
            <a:endParaRPr lang="en-US" sz="850" dirty="0"/>
          </a:p>
        </p:txBody>
      </p:sp>
      <p:sp>
        <p:nvSpPr>
          <p:cNvPr id="8" name="Text 6"/>
          <p:cNvSpPr/>
          <p:nvPr/>
        </p:nvSpPr>
        <p:spPr>
          <a:xfrm>
            <a:off x="786384" y="2121408"/>
            <a:ext cx="3364992" cy="1399032"/>
          </a:xfrm>
          <a:prstGeom prst="rect">
            <a:avLst/>
          </a:prstGeom>
          <a:noFill/>
          <a:ln/>
        </p:spPr>
        <p:txBody>
          <a:bodyPr wrap="square" lIns="0" tIns="0" rIns="0" bIns="0" rtlCol="0" anchor="t"/>
          <a:lstStyle/>
          <a:p>
            <a:pPr marL="177800" indent="-177800">
              <a:lnSpc>
                <a:spcPct val="104000"/>
              </a:lnSpc>
              <a:spcAft>
                <a:spcPts val="800"/>
              </a:spcAft>
              <a:buSzPct val="100000"/>
              <a:buChar char="•"/>
            </a:pPr>
            <a:r>
              <a:rPr lang="en-US" sz="1250" dirty="0">
                <a:solidFill>
                  <a:srgbClr val="3C444C"/>
                </a:solidFill>
                <a:latin typeface="Calibri" pitchFamily="34" charset="0"/>
                <a:ea typeface="Calibri" pitchFamily="34" charset="-122"/>
                <a:cs typeface="Calibri" pitchFamily="34" charset="-120"/>
              </a:rPr>
              <a:t>Regulation means the government requires a company to follow certain rules.</a:t>
            </a:r>
            <a:endParaRPr lang="en-US" sz="1250" dirty="0"/>
          </a:p>
          <a:p>
            <a:pPr marL="177800" indent="-177800">
              <a:lnSpc>
                <a:spcPct val="104000"/>
              </a:lnSpc>
              <a:spcAft>
                <a:spcPts val="800"/>
              </a:spcAft>
              <a:buSzPct val="100000"/>
              <a:buChar char="•"/>
            </a:pPr>
            <a:r>
              <a:rPr lang="en-US" sz="1250" dirty="0">
                <a:solidFill>
                  <a:srgbClr val="3C444C"/>
                </a:solidFill>
                <a:latin typeface="Calibri" pitchFamily="34" charset="0"/>
                <a:ea typeface="Calibri" pitchFamily="34" charset="-122"/>
                <a:cs typeface="Calibri" pitchFamily="34" charset="-120"/>
              </a:rPr>
              <a:t>We already do this constantly: seatbelts, no cigarette ads on TV, no full-time child labor.</a:t>
            </a:r>
            <a:endParaRPr lang="en-US" sz="1250" dirty="0"/>
          </a:p>
          <a:p>
            <a:pPr marL="177800" indent="-177800">
              <a:lnSpc>
                <a:spcPct val="104000"/>
              </a:lnSpc>
              <a:spcAft>
                <a:spcPts val="800"/>
              </a:spcAft>
              <a:buSzPct val="100000"/>
              <a:buChar char="•"/>
            </a:pPr>
            <a:r>
              <a:rPr lang="en-US" sz="1250" dirty="0">
                <a:solidFill>
                  <a:srgbClr val="3C444C"/>
                </a:solidFill>
                <a:latin typeface="Calibri" pitchFamily="34" charset="0"/>
                <a:ea typeface="Calibri" pitchFamily="34" charset="-122"/>
                <a:cs typeface="Calibri" pitchFamily="34" charset="-120"/>
              </a:rPr>
              <a:t>People used to say those choices should be personal. Almost nobody says that now.</a:t>
            </a:r>
            <a:endParaRPr lang="en-US" sz="1250" dirty="0"/>
          </a:p>
        </p:txBody>
      </p:sp>
      <p:sp>
        <p:nvSpPr>
          <p:cNvPr id="9" name="Shape 7"/>
          <p:cNvSpPr/>
          <p:nvPr/>
        </p:nvSpPr>
        <p:spPr>
          <a:xfrm>
            <a:off x="4754880" y="1627632"/>
            <a:ext cx="3840480" cy="2057400"/>
          </a:xfrm>
          <a:prstGeom prst="roundRect">
            <a:avLst>
              <a:gd name="adj" fmla="val 2667"/>
            </a:avLst>
          </a:prstGeom>
          <a:solidFill>
            <a:srgbClr val="F2E1E1"/>
          </a:solidFill>
          <a:ln w="9525">
            <a:solidFill>
              <a:srgbClr val="F2E1E1"/>
            </a:solidFill>
            <a:prstDash val="solid"/>
          </a:ln>
          <a:effectLst>
            <a:outerShdw sx="100000" sy="100000" kx="0" ky="0" algn="bl" rotWithShape="0" blurRad="88900" dist="12700" dir="5400000">
              <a:srgbClr val="9A968A">
                <a:alpha val="20000"/>
              </a:srgbClr>
            </a:outerShdw>
          </a:effectLst>
        </p:spPr>
      </p:sp>
      <p:sp>
        <p:nvSpPr>
          <p:cNvPr id="10" name="Text 8"/>
          <p:cNvSpPr/>
          <p:nvPr/>
        </p:nvSpPr>
        <p:spPr>
          <a:xfrm>
            <a:off x="4992624" y="1828800"/>
            <a:ext cx="3364992" cy="219456"/>
          </a:xfrm>
          <a:prstGeom prst="rect">
            <a:avLst/>
          </a:prstGeom>
          <a:noFill/>
          <a:ln/>
        </p:spPr>
        <p:txBody>
          <a:bodyPr wrap="square" lIns="0" tIns="0" rIns="0" bIns="0" rtlCol="0" anchor="t"/>
          <a:lstStyle/>
          <a:p>
            <a:pPr algn="l" indent="0" marL="0">
              <a:lnSpc>
                <a:spcPct val="106000"/>
              </a:lnSpc>
              <a:buNone/>
            </a:pPr>
            <a:r>
              <a:rPr lang="en-US" sz="850" b="1" dirty="0">
                <a:solidFill>
                  <a:srgbClr val="8A1A1A"/>
                </a:solidFill>
                <a:latin typeface="Courier New" pitchFamily="34" charset="0"/>
                <a:ea typeface="Courier New" pitchFamily="34" charset="-122"/>
                <a:cs typeface="Courier New" pitchFamily="34" charset="-120"/>
              </a:rPr>
              <a:t>THE TRADEOFF</a:t>
            </a:r>
            <a:endParaRPr lang="en-US" sz="850" dirty="0"/>
          </a:p>
        </p:txBody>
      </p:sp>
      <p:sp>
        <p:nvSpPr>
          <p:cNvPr id="11" name="Text 9"/>
          <p:cNvSpPr/>
          <p:nvPr/>
        </p:nvSpPr>
        <p:spPr>
          <a:xfrm>
            <a:off x="4992624" y="2121408"/>
            <a:ext cx="3364992" cy="1399032"/>
          </a:xfrm>
          <a:prstGeom prst="rect">
            <a:avLst/>
          </a:prstGeom>
          <a:noFill/>
          <a:ln/>
        </p:spPr>
        <p:txBody>
          <a:bodyPr wrap="square" lIns="0" tIns="0" rIns="0" bIns="0" rtlCol="0" anchor="t"/>
          <a:lstStyle/>
          <a:p>
            <a:pPr algn="l" indent="0" marL="0">
              <a:lnSpc>
                <a:spcPct val="116000"/>
              </a:lnSpc>
              <a:buNone/>
            </a:pPr>
            <a:r>
              <a:rPr lang="en-US" sz="1250" dirty="0">
                <a:solidFill>
                  <a:srgbClr val="14171A"/>
                </a:solidFill>
                <a:latin typeface="Calibri" pitchFamily="34" charset="0"/>
                <a:ea typeface="Calibri" pitchFamily="34" charset="-122"/>
                <a:cs typeface="Calibri" pitchFamily="34" charset="-120"/>
              </a:rPr>
              <a:t>The same power can be used two different ways. A government allowed to make a platform protect people is also a government allowed to make a platform control what people see. Right now we would be trusting it to use that power only the first way.</a:t>
            </a:r>
            <a:endParaRPr lang="en-US" sz="1250" dirty="0"/>
          </a:p>
        </p:txBody>
      </p:sp>
      <p:sp>
        <p:nvSpPr>
          <p:cNvPr id="12" name="Shape 10"/>
          <p:cNvSpPr/>
          <p:nvPr/>
        </p:nvSpPr>
        <p:spPr>
          <a:xfrm>
            <a:off x="548640" y="3858768"/>
            <a:ext cx="8046720" cy="640080"/>
          </a:xfrm>
          <a:prstGeom prst="roundRect">
            <a:avLst>
              <a:gd name="adj" fmla="val 8571"/>
            </a:avLst>
          </a:prstGeom>
          <a:solidFill>
            <a:srgbClr val="E3EAEE"/>
          </a:solidFill>
          <a:ln w="9525">
            <a:solidFill>
              <a:srgbClr val="E3EAEE"/>
            </a:solidFill>
            <a:prstDash val="solid"/>
          </a:ln>
          <a:effectLst>
            <a:outerShdw sx="100000" sy="100000" kx="0" ky="0" algn="bl" rotWithShape="0" blurRad="88900" dist="12700" dir="5400000">
              <a:srgbClr val="9A968A">
                <a:alpha val="20000"/>
              </a:srgbClr>
            </a:outerShdw>
          </a:effectLst>
        </p:spPr>
      </p:sp>
      <p:sp>
        <p:nvSpPr>
          <p:cNvPr id="13" name="Text 11"/>
          <p:cNvSpPr/>
          <p:nvPr/>
        </p:nvSpPr>
        <p:spPr>
          <a:xfrm>
            <a:off x="786384" y="3986784"/>
            <a:ext cx="1188720" cy="201168"/>
          </a:xfrm>
          <a:prstGeom prst="rect">
            <a:avLst/>
          </a:prstGeom>
          <a:noFill/>
          <a:ln/>
        </p:spPr>
        <p:txBody>
          <a:bodyPr wrap="square" lIns="0" tIns="0" rIns="0" bIns="0" rtlCol="0" anchor="t"/>
          <a:lstStyle/>
          <a:p>
            <a:pPr algn="l" indent="0" marL="0">
              <a:lnSpc>
                <a:spcPct val="106000"/>
              </a:lnSpc>
              <a:buNone/>
            </a:pPr>
            <a:r>
              <a:rPr lang="en-US" sz="850" b="1" dirty="0">
                <a:solidFill>
                  <a:srgbClr val="1F5673"/>
                </a:solidFill>
                <a:latin typeface="Courier New" pitchFamily="34" charset="0"/>
                <a:ea typeface="Courier New" pitchFamily="34" charset="-122"/>
                <a:cs typeface="Courier New" pitchFamily="34" charset="-120"/>
              </a:rPr>
              <a:t>WATCH FOR</a:t>
            </a:r>
            <a:endParaRPr lang="en-US" sz="850" dirty="0"/>
          </a:p>
        </p:txBody>
      </p:sp>
      <p:sp>
        <p:nvSpPr>
          <p:cNvPr id="14" name="Text 12"/>
          <p:cNvSpPr/>
          <p:nvPr/>
        </p:nvSpPr>
        <p:spPr>
          <a:xfrm>
            <a:off x="2011680" y="3931920"/>
            <a:ext cx="6309360" cy="493776"/>
          </a:xfrm>
          <a:prstGeom prst="rect">
            <a:avLst/>
          </a:prstGeom>
          <a:noFill/>
          <a:ln/>
        </p:spPr>
        <p:txBody>
          <a:bodyPr wrap="square" lIns="0" tIns="0" rIns="0" bIns="0" rtlCol="0" anchor="t"/>
          <a:lstStyle/>
          <a:p>
            <a:pPr algn="l" indent="0" marL="0">
              <a:lnSpc>
                <a:spcPct val="106000"/>
              </a:lnSpc>
              <a:buNone/>
            </a:pPr>
            <a:r>
              <a:rPr lang="en-US" sz="1200" dirty="0">
                <a:solidFill>
                  <a:srgbClr val="14171A"/>
                </a:solidFill>
                <a:latin typeface="Calibri" pitchFamily="34" charset="0"/>
                <a:ea typeface="Calibri" pitchFamily="34" charset="-122"/>
                <a:cs typeface="Calibri" pitchFamily="34" charset="-120"/>
              </a:rPr>
              <a:t>Rules written for large platforms often hurt small ones the most, because small companies cannot afford the lawyers new rules require.</a:t>
            </a:r>
            <a:endParaRPr lang="en-US" sz="1200" dirty="0"/>
          </a:p>
        </p:txBody>
      </p:sp>
      <p:sp>
        <p:nvSpPr>
          <p:cNvPr id="16" name="Text 13"/>
          <p:cNvSpPr/>
          <p:nvPr/>
        </p:nvSpPr>
        <p:spPr>
          <a:xfrm>
            <a:off x="548640" y="4668012"/>
            <a:ext cx="8046720" cy="256032"/>
          </a:xfrm>
          <a:prstGeom prst="rect">
            <a:avLst/>
          </a:prstGeom>
          <a:noFill/>
          <a:ln/>
        </p:spPr>
        <p:txBody>
          <a:bodyPr wrap="square" lIns="0" tIns="0" rIns="0" bIns="0" rtlCol="0" anchor="ctr"/>
          <a:lstStyle/>
          <a:p>
            <a:pPr indent="0" marL="0">
              <a:buNone/>
            </a:pPr>
            <a:r>
              <a:rPr lang="en-US" sz="800" spc="100" kern="0" dirty="0">
                <a:solidFill>
                  <a:srgbClr val="5C6873"/>
                </a:solidFill>
                <a:latin typeface="Courier New" pitchFamily="34" charset="0"/>
                <a:ea typeface="Courier New" pitchFamily="34" charset="-122"/>
                <a:cs typeface="Courier New" pitchFamily="34" charset="-120"/>
              </a:rPr>
              <a:t>BECURRENT  ·  SOCIAL MEDIA  ·  TOPIC 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2ED"/>
        </a:solidFill>
      </p:bgPr>
    </p:bg>
    <p:spTree>
      <p:nvGrpSpPr>
        <p:cNvPr id="1" name=""/>
        <p:cNvGrpSpPr/>
        <p:nvPr/>
      </p:nvGrpSpPr>
      <p:grpSpPr>
        <a:xfrm>
          <a:off x="0" y="0"/>
          <a:ext cx="0" cy="0"/>
          <a:chOff x="0" y="0"/>
          <a:chExt cx="0" cy="0"/>
        </a:xfrm>
      </p:grpSpPr>
      <p:sp>
        <p:nvSpPr>
          <p:cNvPr id="2" name="Text 0"/>
          <p:cNvSpPr/>
          <p:nvPr/>
        </p:nvSpPr>
        <p:spPr>
          <a:xfrm>
            <a:off x="548640" y="365760"/>
            <a:ext cx="8046720" cy="237744"/>
          </a:xfrm>
          <a:prstGeom prst="rect">
            <a:avLst/>
          </a:prstGeom>
          <a:noFill/>
          <a:ln/>
        </p:spPr>
        <p:txBody>
          <a:bodyPr wrap="square" lIns="0" tIns="0" rIns="0" bIns="0" rtlCol="0" anchor="ctr"/>
          <a:lstStyle/>
          <a:p>
            <a:pPr indent="0" marL="0">
              <a:buNone/>
            </a:pPr>
            <a:r>
              <a:rPr lang="en-US" sz="1000" b="1" spc="140" kern="0" dirty="0">
                <a:solidFill>
                  <a:srgbClr val="B22222"/>
                </a:solidFill>
                <a:latin typeface="Courier New" pitchFamily="34" charset="0"/>
                <a:ea typeface="Courier New" pitchFamily="34" charset="-122"/>
                <a:cs typeface="Courier New" pitchFamily="34" charset="-120"/>
              </a:rPr>
              <a:t>BEFORE YOU WRITE</a:t>
            </a:r>
            <a:endParaRPr lang="en-US" sz="1000" dirty="0"/>
          </a:p>
        </p:txBody>
      </p:sp>
      <p:sp>
        <p:nvSpPr>
          <p:cNvPr id="3" name="Text 1"/>
          <p:cNvSpPr/>
          <p:nvPr/>
        </p:nvSpPr>
        <p:spPr>
          <a:xfrm>
            <a:off x="548640" y="713232"/>
            <a:ext cx="8046720" cy="731520"/>
          </a:xfrm>
          <a:prstGeom prst="rect">
            <a:avLst/>
          </a:prstGeom>
          <a:noFill/>
          <a:ln/>
        </p:spPr>
        <p:txBody>
          <a:bodyPr wrap="square" lIns="0" tIns="0" rIns="0" bIns="0" rtlCol="0" anchor="t"/>
          <a:lstStyle/>
          <a:p>
            <a:pPr indent="0" marL="0">
              <a:lnSpc>
                <a:spcPct val="92000"/>
              </a:lnSpc>
              <a:buNone/>
            </a:pPr>
            <a:r>
              <a:rPr lang="en-US" sz="3000" b="1" dirty="0">
                <a:solidFill>
                  <a:srgbClr val="14171A"/>
                </a:solidFill>
                <a:latin typeface="Cambria" pitchFamily="34" charset="0"/>
                <a:ea typeface="Cambria" pitchFamily="34" charset="-122"/>
                <a:cs typeface="Cambria" pitchFamily="34" charset="-120"/>
              </a:rPr>
              <a:t>The case, and the tradeoff</a:t>
            </a:r>
            <a:endParaRPr lang="en-US" sz="3000" dirty="0"/>
          </a:p>
        </p:txBody>
      </p:sp>
      <p:sp>
        <p:nvSpPr>
          <p:cNvPr id="4" name="Shape 2"/>
          <p:cNvSpPr/>
          <p:nvPr/>
        </p:nvSpPr>
        <p:spPr>
          <a:xfrm>
            <a:off x="548640" y="1554480"/>
            <a:ext cx="2560320" cy="2468880"/>
          </a:xfrm>
          <a:prstGeom prst="roundRect">
            <a:avLst>
              <a:gd name="adj" fmla="val 2222"/>
            </a:avLst>
          </a:prstGeom>
          <a:solidFill>
            <a:srgbClr val="FFFEFB"/>
          </a:solidFill>
          <a:ln w="9525">
            <a:solidFill>
              <a:srgbClr val="D9D6CF"/>
            </a:solidFill>
            <a:prstDash val="solid"/>
          </a:ln>
          <a:effectLst>
            <a:outerShdw sx="100000" sy="100000" kx="0" ky="0" algn="bl" rotWithShape="0" blurRad="88900" dist="12700" dir="5400000">
              <a:srgbClr val="9A968A">
                <a:alpha val="20000"/>
              </a:srgbClr>
            </a:outerShdw>
          </a:effectLst>
        </p:spPr>
      </p:sp>
      <p:sp>
        <p:nvSpPr>
          <p:cNvPr id="5" name="Text 3"/>
          <p:cNvSpPr/>
          <p:nvPr/>
        </p:nvSpPr>
        <p:spPr>
          <a:xfrm>
            <a:off x="768096" y="1755648"/>
            <a:ext cx="2121408" cy="274320"/>
          </a:xfrm>
          <a:prstGeom prst="rect">
            <a:avLst/>
          </a:prstGeom>
          <a:noFill/>
          <a:ln/>
        </p:spPr>
        <p:txBody>
          <a:bodyPr wrap="square" lIns="0" tIns="0" rIns="0" bIns="0" rtlCol="0" anchor="t"/>
          <a:lstStyle/>
          <a:p>
            <a:pPr algn="l" indent="0" marL="0">
              <a:lnSpc>
                <a:spcPct val="106000"/>
              </a:lnSpc>
              <a:buNone/>
            </a:pPr>
            <a:r>
              <a:rPr lang="en-US" sz="1600" b="1" dirty="0">
                <a:solidFill>
                  <a:srgbClr val="14171A"/>
                </a:solidFill>
                <a:latin typeface="Cambria" pitchFamily="34" charset="0"/>
                <a:ea typeface="Cambria" pitchFamily="34" charset="-122"/>
                <a:cs typeface="Cambria" pitchFamily="34" charset="-120"/>
              </a:rPr>
              <a:t>You</a:t>
            </a:r>
            <a:endParaRPr lang="en-US" sz="1600" dirty="0"/>
          </a:p>
        </p:txBody>
      </p:sp>
      <p:sp>
        <p:nvSpPr>
          <p:cNvPr id="6" name="Text 4"/>
          <p:cNvSpPr/>
          <p:nvPr/>
        </p:nvSpPr>
        <p:spPr>
          <a:xfrm>
            <a:off x="768096" y="2139696"/>
            <a:ext cx="2121408" cy="201168"/>
          </a:xfrm>
          <a:prstGeom prst="rect">
            <a:avLst/>
          </a:prstGeom>
          <a:noFill/>
          <a:ln/>
        </p:spPr>
        <p:txBody>
          <a:bodyPr wrap="square" lIns="0" tIns="0" rIns="0" bIns="0" rtlCol="0" anchor="t"/>
          <a:lstStyle/>
          <a:p>
            <a:pPr algn="l" indent="0" marL="0">
              <a:lnSpc>
                <a:spcPct val="106000"/>
              </a:lnSpc>
              <a:buNone/>
            </a:pPr>
            <a:r>
              <a:rPr lang="en-US" sz="850" b="1" dirty="0">
                <a:solidFill>
                  <a:srgbClr val="1F5673"/>
                </a:solidFill>
                <a:latin typeface="Courier New" pitchFamily="34" charset="0"/>
                <a:ea typeface="Courier New" pitchFamily="34" charset="-122"/>
                <a:cs typeface="Courier New" pitchFamily="34" charset="-120"/>
              </a:rPr>
              <a:t>THE CASE</a:t>
            </a:r>
            <a:endParaRPr lang="en-US" sz="850" dirty="0"/>
          </a:p>
        </p:txBody>
      </p:sp>
      <p:sp>
        <p:nvSpPr>
          <p:cNvPr id="7" name="Text 5"/>
          <p:cNvSpPr/>
          <p:nvPr/>
        </p:nvSpPr>
        <p:spPr>
          <a:xfrm>
            <a:off x="768096" y="2377440"/>
            <a:ext cx="2121408" cy="566928"/>
          </a:xfrm>
          <a:prstGeom prst="rect">
            <a:avLst/>
          </a:prstGeom>
          <a:noFill/>
          <a:ln/>
        </p:spPr>
        <p:txBody>
          <a:bodyPr wrap="square" lIns="0" tIns="0" rIns="0" bIns="0" rtlCol="0" anchor="t"/>
          <a:lstStyle/>
          <a:p>
            <a:pPr algn="l" indent="0" marL="0">
              <a:lnSpc>
                <a:spcPct val="106000"/>
              </a:lnSpc>
              <a:buNone/>
            </a:pPr>
            <a:r>
              <a:rPr lang="en-US" sz="1200" dirty="0">
                <a:solidFill>
                  <a:srgbClr val="3C444C"/>
                </a:solidFill>
                <a:latin typeface="Calibri" pitchFamily="34" charset="0"/>
                <a:ea typeface="Calibri" pitchFamily="34" charset="-122"/>
                <a:cs typeface="Calibri" pitchFamily="34" charset="-120"/>
              </a:rPr>
              <a:t>It is your attention, and the controls already exist.</a:t>
            </a:r>
            <a:endParaRPr lang="en-US" sz="1200" dirty="0"/>
          </a:p>
        </p:txBody>
      </p:sp>
      <p:sp>
        <p:nvSpPr>
          <p:cNvPr id="8" name="Text 6"/>
          <p:cNvSpPr/>
          <p:nvPr/>
        </p:nvSpPr>
        <p:spPr>
          <a:xfrm>
            <a:off x="768096" y="3017520"/>
            <a:ext cx="2121408" cy="201168"/>
          </a:xfrm>
          <a:prstGeom prst="rect">
            <a:avLst/>
          </a:prstGeom>
          <a:noFill/>
          <a:ln/>
        </p:spPr>
        <p:txBody>
          <a:bodyPr wrap="square" lIns="0" tIns="0" rIns="0" bIns="0" rtlCol="0" anchor="t"/>
          <a:lstStyle/>
          <a:p>
            <a:pPr algn="l" indent="0" marL="0">
              <a:lnSpc>
                <a:spcPct val="106000"/>
              </a:lnSpc>
              <a:buNone/>
            </a:pPr>
            <a:r>
              <a:rPr lang="en-US" sz="850" b="1" dirty="0">
                <a:solidFill>
                  <a:srgbClr val="8A1A1A"/>
                </a:solidFill>
                <a:latin typeface="Courier New" pitchFamily="34" charset="0"/>
                <a:ea typeface="Courier New" pitchFamily="34" charset="-122"/>
                <a:cs typeface="Courier New" pitchFamily="34" charset="-120"/>
              </a:rPr>
              <a:t>THE TRADEOFF</a:t>
            </a:r>
            <a:endParaRPr lang="en-US" sz="850" dirty="0"/>
          </a:p>
        </p:txBody>
      </p:sp>
      <p:sp>
        <p:nvSpPr>
          <p:cNvPr id="9" name="Text 7"/>
          <p:cNvSpPr/>
          <p:nvPr/>
        </p:nvSpPr>
        <p:spPr>
          <a:xfrm>
            <a:off x="768096" y="3255264"/>
            <a:ext cx="2121408" cy="640080"/>
          </a:xfrm>
          <a:prstGeom prst="rect">
            <a:avLst/>
          </a:prstGeom>
          <a:noFill/>
          <a:ln/>
        </p:spPr>
        <p:txBody>
          <a:bodyPr wrap="square" lIns="0" tIns="0" rIns="0" bIns="0" rtlCol="0" anchor="t"/>
          <a:lstStyle/>
          <a:p>
            <a:pPr algn="l" indent="0" marL="0">
              <a:lnSpc>
                <a:spcPct val="106000"/>
              </a:lnSpc>
              <a:buNone/>
            </a:pPr>
            <a:r>
              <a:rPr lang="en-US" sz="1200" dirty="0">
                <a:solidFill>
                  <a:srgbClr val="3C444C"/>
                </a:solidFill>
                <a:latin typeface="Calibri" pitchFamily="34" charset="0"/>
                <a:ea typeface="Calibri" pitchFamily="34" charset="-122"/>
                <a:cs typeface="Calibri" pitchFamily="34" charset="-120"/>
              </a:rPr>
              <a:t>A large, well-funded team on one side, your willpower on the other.</a:t>
            </a:r>
            <a:endParaRPr lang="en-US" sz="1200" dirty="0"/>
          </a:p>
        </p:txBody>
      </p:sp>
      <p:sp>
        <p:nvSpPr>
          <p:cNvPr id="10" name="Shape 8"/>
          <p:cNvSpPr/>
          <p:nvPr/>
        </p:nvSpPr>
        <p:spPr>
          <a:xfrm>
            <a:off x="3291840" y="1554480"/>
            <a:ext cx="2560320" cy="2468880"/>
          </a:xfrm>
          <a:prstGeom prst="roundRect">
            <a:avLst>
              <a:gd name="adj" fmla="val 2222"/>
            </a:avLst>
          </a:prstGeom>
          <a:solidFill>
            <a:srgbClr val="FFFEFB"/>
          </a:solidFill>
          <a:ln w="9525">
            <a:solidFill>
              <a:srgbClr val="D9D6CF"/>
            </a:solidFill>
            <a:prstDash val="solid"/>
          </a:ln>
          <a:effectLst>
            <a:outerShdw sx="100000" sy="100000" kx="0" ky="0" algn="bl" rotWithShape="0" blurRad="88900" dist="12700" dir="5400000">
              <a:srgbClr val="9A968A">
                <a:alpha val="20000"/>
              </a:srgbClr>
            </a:outerShdw>
          </a:effectLst>
        </p:spPr>
      </p:sp>
      <p:sp>
        <p:nvSpPr>
          <p:cNvPr id="11" name="Text 9"/>
          <p:cNvSpPr/>
          <p:nvPr/>
        </p:nvSpPr>
        <p:spPr>
          <a:xfrm>
            <a:off x="3511296" y="1755648"/>
            <a:ext cx="2121408" cy="274320"/>
          </a:xfrm>
          <a:prstGeom prst="rect">
            <a:avLst/>
          </a:prstGeom>
          <a:noFill/>
          <a:ln/>
        </p:spPr>
        <p:txBody>
          <a:bodyPr wrap="square" lIns="0" tIns="0" rIns="0" bIns="0" rtlCol="0" anchor="t"/>
          <a:lstStyle/>
          <a:p>
            <a:pPr algn="l" indent="0" marL="0">
              <a:lnSpc>
                <a:spcPct val="106000"/>
              </a:lnSpc>
              <a:buNone/>
            </a:pPr>
            <a:r>
              <a:rPr lang="en-US" sz="1600" b="1" dirty="0">
                <a:solidFill>
                  <a:srgbClr val="14171A"/>
                </a:solidFill>
                <a:latin typeface="Cambria" pitchFamily="34" charset="0"/>
                <a:ea typeface="Cambria" pitchFamily="34" charset="-122"/>
                <a:cs typeface="Cambria" pitchFamily="34" charset="-120"/>
              </a:rPr>
              <a:t>The company</a:t>
            </a:r>
            <a:endParaRPr lang="en-US" sz="1600" dirty="0"/>
          </a:p>
        </p:txBody>
      </p:sp>
      <p:sp>
        <p:nvSpPr>
          <p:cNvPr id="12" name="Text 10"/>
          <p:cNvSpPr/>
          <p:nvPr/>
        </p:nvSpPr>
        <p:spPr>
          <a:xfrm>
            <a:off x="3511296" y="2139696"/>
            <a:ext cx="2121408" cy="201168"/>
          </a:xfrm>
          <a:prstGeom prst="rect">
            <a:avLst/>
          </a:prstGeom>
          <a:noFill/>
          <a:ln/>
        </p:spPr>
        <p:txBody>
          <a:bodyPr wrap="square" lIns="0" tIns="0" rIns="0" bIns="0" rtlCol="0" anchor="t"/>
          <a:lstStyle/>
          <a:p>
            <a:pPr algn="l" indent="0" marL="0">
              <a:lnSpc>
                <a:spcPct val="106000"/>
              </a:lnSpc>
              <a:buNone/>
            </a:pPr>
            <a:r>
              <a:rPr lang="en-US" sz="850" b="1" dirty="0">
                <a:solidFill>
                  <a:srgbClr val="1F5673"/>
                </a:solidFill>
                <a:latin typeface="Courier New" pitchFamily="34" charset="0"/>
                <a:ea typeface="Courier New" pitchFamily="34" charset="-122"/>
                <a:cs typeface="Courier New" pitchFamily="34" charset="-120"/>
              </a:rPr>
              <a:t>THE CASE</a:t>
            </a:r>
            <a:endParaRPr lang="en-US" sz="850" dirty="0"/>
          </a:p>
        </p:txBody>
      </p:sp>
      <p:sp>
        <p:nvSpPr>
          <p:cNvPr id="13" name="Text 11"/>
          <p:cNvSpPr/>
          <p:nvPr/>
        </p:nvSpPr>
        <p:spPr>
          <a:xfrm>
            <a:off x="3511296" y="2377440"/>
            <a:ext cx="2121408" cy="566928"/>
          </a:xfrm>
          <a:prstGeom prst="rect">
            <a:avLst/>
          </a:prstGeom>
          <a:noFill/>
          <a:ln/>
        </p:spPr>
        <p:txBody>
          <a:bodyPr wrap="square" lIns="0" tIns="0" rIns="0" bIns="0" rtlCol="0" anchor="t"/>
          <a:lstStyle/>
          <a:p>
            <a:pPr algn="l" indent="0" marL="0">
              <a:lnSpc>
                <a:spcPct val="106000"/>
              </a:lnSpc>
              <a:buNone/>
            </a:pPr>
            <a:r>
              <a:rPr lang="en-US" sz="1200" dirty="0">
                <a:solidFill>
                  <a:srgbClr val="3C444C"/>
                </a:solidFill>
                <a:latin typeface="Calibri" pitchFamily="34" charset="0"/>
                <a:ea typeface="Calibri" pitchFamily="34" charset="-122"/>
                <a:cs typeface="Calibri" pitchFamily="34" charset="-120"/>
              </a:rPr>
              <a:t>They built it, and bad press does move them.</a:t>
            </a:r>
            <a:endParaRPr lang="en-US" sz="1200" dirty="0"/>
          </a:p>
        </p:txBody>
      </p:sp>
      <p:sp>
        <p:nvSpPr>
          <p:cNvPr id="14" name="Text 12"/>
          <p:cNvSpPr/>
          <p:nvPr/>
        </p:nvSpPr>
        <p:spPr>
          <a:xfrm>
            <a:off x="3511296" y="3017520"/>
            <a:ext cx="2121408" cy="201168"/>
          </a:xfrm>
          <a:prstGeom prst="rect">
            <a:avLst/>
          </a:prstGeom>
          <a:noFill/>
          <a:ln/>
        </p:spPr>
        <p:txBody>
          <a:bodyPr wrap="square" lIns="0" tIns="0" rIns="0" bIns="0" rtlCol="0" anchor="t"/>
          <a:lstStyle/>
          <a:p>
            <a:pPr algn="l" indent="0" marL="0">
              <a:lnSpc>
                <a:spcPct val="106000"/>
              </a:lnSpc>
              <a:buNone/>
            </a:pPr>
            <a:r>
              <a:rPr lang="en-US" sz="850" b="1" dirty="0">
                <a:solidFill>
                  <a:srgbClr val="8A1A1A"/>
                </a:solidFill>
                <a:latin typeface="Courier New" pitchFamily="34" charset="0"/>
                <a:ea typeface="Courier New" pitchFamily="34" charset="-122"/>
                <a:cs typeface="Courier New" pitchFamily="34" charset="-120"/>
              </a:rPr>
              <a:t>THE TRADEOFF</a:t>
            </a:r>
            <a:endParaRPr lang="en-US" sz="850" dirty="0"/>
          </a:p>
        </p:txBody>
      </p:sp>
      <p:sp>
        <p:nvSpPr>
          <p:cNvPr id="15" name="Text 13"/>
          <p:cNvSpPr/>
          <p:nvPr/>
        </p:nvSpPr>
        <p:spPr>
          <a:xfrm>
            <a:off x="3511296" y="3255264"/>
            <a:ext cx="2121408" cy="640080"/>
          </a:xfrm>
          <a:prstGeom prst="rect">
            <a:avLst/>
          </a:prstGeom>
          <a:noFill/>
          <a:ln/>
        </p:spPr>
        <p:txBody>
          <a:bodyPr wrap="square" lIns="0" tIns="0" rIns="0" bIns="0" rtlCol="0" anchor="t"/>
          <a:lstStyle/>
          <a:p>
            <a:pPr algn="l" indent="0" marL="0">
              <a:lnSpc>
                <a:spcPct val="106000"/>
              </a:lnSpc>
              <a:buNone/>
            </a:pPr>
            <a:r>
              <a:rPr lang="en-US" sz="1200" dirty="0">
                <a:solidFill>
                  <a:srgbClr val="3C444C"/>
                </a:solidFill>
                <a:latin typeface="Calibri" pitchFamily="34" charset="0"/>
                <a:ea typeface="Calibri" pitchFamily="34" charset="-122"/>
                <a:cs typeface="Calibri" pitchFamily="34" charset="-120"/>
              </a:rPr>
              <a:t>Fixing the problem means giving up the thing that makes them money.</a:t>
            </a:r>
            <a:endParaRPr lang="en-US" sz="1200" dirty="0"/>
          </a:p>
        </p:txBody>
      </p:sp>
      <p:sp>
        <p:nvSpPr>
          <p:cNvPr id="16" name="Shape 14"/>
          <p:cNvSpPr/>
          <p:nvPr/>
        </p:nvSpPr>
        <p:spPr>
          <a:xfrm>
            <a:off x="6035040" y="1554480"/>
            <a:ext cx="2560320" cy="2468880"/>
          </a:xfrm>
          <a:prstGeom prst="roundRect">
            <a:avLst>
              <a:gd name="adj" fmla="val 2222"/>
            </a:avLst>
          </a:prstGeom>
          <a:solidFill>
            <a:srgbClr val="FFFEFB"/>
          </a:solidFill>
          <a:ln w="9525">
            <a:solidFill>
              <a:srgbClr val="D9D6CF"/>
            </a:solidFill>
            <a:prstDash val="solid"/>
          </a:ln>
          <a:effectLst>
            <a:outerShdw sx="100000" sy="100000" kx="0" ky="0" algn="bl" rotWithShape="0" blurRad="88900" dist="12700" dir="5400000">
              <a:srgbClr val="9A968A">
                <a:alpha val="20000"/>
              </a:srgbClr>
            </a:outerShdw>
          </a:effectLst>
        </p:spPr>
      </p:sp>
      <p:sp>
        <p:nvSpPr>
          <p:cNvPr id="17" name="Text 15"/>
          <p:cNvSpPr/>
          <p:nvPr/>
        </p:nvSpPr>
        <p:spPr>
          <a:xfrm>
            <a:off x="6254496" y="1755648"/>
            <a:ext cx="2121408" cy="274320"/>
          </a:xfrm>
          <a:prstGeom prst="rect">
            <a:avLst/>
          </a:prstGeom>
          <a:noFill/>
          <a:ln/>
        </p:spPr>
        <p:txBody>
          <a:bodyPr wrap="square" lIns="0" tIns="0" rIns="0" bIns="0" rtlCol="0" anchor="t"/>
          <a:lstStyle/>
          <a:p>
            <a:pPr algn="l" indent="0" marL="0">
              <a:lnSpc>
                <a:spcPct val="106000"/>
              </a:lnSpc>
              <a:buNone/>
            </a:pPr>
            <a:r>
              <a:rPr lang="en-US" sz="1600" b="1" dirty="0">
                <a:solidFill>
                  <a:srgbClr val="14171A"/>
                </a:solidFill>
                <a:latin typeface="Cambria" pitchFamily="34" charset="0"/>
                <a:ea typeface="Cambria" pitchFamily="34" charset="-122"/>
                <a:cs typeface="Cambria" pitchFamily="34" charset="-120"/>
              </a:rPr>
              <a:t>The government</a:t>
            </a:r>
            <a:endParaRPr lang="en-US" sz="1600" dirty="0"/>
          </a:p>
        </p:txBody>
      </p:sp>
      <p:sp>
        <p:nvSpPr>
          <p:cNvPr id="18" name="Text 16"/>
          <p:cNvSpPr/>
          <p:nvPr/>
        </p:nvSpPr>
        <p:spPr>
          <a:xfrm>
            <a:off x="6254496" y="2139696"/>
            <a:ext cx="2121408" cy="201168"/>
          </a:xfrm>
          <a:prstGeom prst="rect">
            <a:avLst/>
          </a:prstGeom>
          <a:noFill/>
          <a:ln/>
        </p:spPr>
        <p:txBody>
          <a:bodyPr wrap="square" lIns="0" tIns="0" rIns="0" bIns="0" rtlCol="0" anchor="t"/>
          <a:lstStyle/>
          <a:p>
            <a:pPr algn="l" indent="0" marL="0">
              <a:lnSpc>
                <a:spcPct val="106000"/>
              </a:lnSpc>
              <a:buNone/>
            </a:pPr>
            <a:r>
              <a:rPr lang="en-US" sz="850" b="1" dirty="0">
                <a:solidFill>
                  <a:srgbClr val="1F5673"/>
                </a:solidFill>
                <a:latin typeface="Courier New" pitchFamily="34" charset="0"/>
                <a:ea typeface="Courier New" pitchFamily="34" charset="-122"/>
                <a:cs typeface="Courier New" pitchFamily="34" charset="-120"/>
              </a:rPr>
              <a:t>THE CASE</a:t>
            </a:r>
            <a:endParaRPr lang="en-US" sz="850" dirty="0"/>
          </a:p>
        </p:txBody>
      </p:sp>
      <p:sp>
        <p:nvSpPr>
          <p:cNvPr id="19" name="Text 17"/>
          <p:cNvSpPr/>
          <p:nvPr/>
        </p:nvSpPr>
        <p:spPr>
          <a:xfrm>
            <a:off x="6254496" y="2377440"/>
            <a:ext cx="2121408" cy="566928"/>
          </a:xfrm>
          <a:prstGeom prst="rect">
            <a:avLst/>
          </a:prstGeom>
          <a:noFill/>
          <a:ln/>
        </p:spPr>
        <p:txBody>
          <a:bodyPr wrap="square" lIns="0" tIns="0" rIns="0" bIns="0" rtlCol="0" anchor="t"/>
          <a:lstStyle/>
          <a:p>
            <a:pPr algn="l" indent="0" marL="0">
              <a:lnSpc>
                <a:spcPct val="106000"/>
              </a:lnSpc>
              <a:buNone/>
            </a:pPr>
            <a:r>
              <a:rPr lang="en-US" sz="1200" dirty="0">
                <a:solidFill>
                  <a:srgbClr val="3C444C"/>
                </a:solidFill>
                <a:latin typeface="Calibri" pitchFamily="34" charset="0"/>
                <a:ea typeface="Calibri" pitchFamily="34" charset="-122"/>
                <a:cs typeface="Calibri" pitchFamily="34" charset="-120"/>
              </a:rPr>
              <a:t>Seatbelts. Cigarette advertising. Child labor.</a:t>
            </a:r>
            <a:endParaRPr lang="en-US" sz="1200" dirty="0"/>
          </a:p>
        </p:txBody>
      </p:sp>
      <p:sp>
        <p:nvSpPr>
          <p:cNvPr id="20" name="Text 18"/>
          <p:cNvSpPr/>
          <p:nvPr/>
        </p:nvSpPr>
        <p:spPr>
          <a:xfrm>
            <a:off x="6254496" y="3017520"/>
            <a:ext cx="2121408" cy="201168"/>
          </a:xfrm>
          <a:prstGeom prst="rect">
            <a:avLst/>
          </a:prstGeom>
          <a:noFill/>
          <a:ln/>
        </p:spPr>
        <p:txBody>
          <a:bodyPr wrap="square" lIns="0" tIns="0" rIns="0" bIns="0" rtlCol="0" anchor="t"/>
          <a:lstStyle/>
          <a:p>
            <a:pPr algn="l" indent="0" marL="0">
              <a:lnSpc>
                <a:spcPct val="106000"/>
              </a:lnSpc>
              <a:buNone/>
            </a:pPr>
            <a:r>
              <a:rPr lang="en-US" sz="850" b="1" dirty="0">
                <a:solidFill>
                  <a:srgbClr val="8A1A1A"/>
                </a:solidFill>
                <a:latin typeface="Courier New" pitchFamily="34" charset="0"/>
                <a:ea typeface="Courier New" pitchFamily="34" charset="-122"/>
                <a:cs typeface="Courier New" pitchFamily="34" charset="-120"/>
              </a:rPr>
              <a:t>THE TRADEOFF</a:t>
            </a:r>
            <a:endParaRPr lang="en-US" sz="850" dirty="0"/>
          </a:p>
        </p:txBody>
      </p:sp>
      <p:sp>
        <p:nvSpPr>
          <p:cNvPr id="21" name="Text 19"/>
          <p:cNvSpPr/>
          <p:nvPr/>
        </p:nvSpPr>
        <p:spPr>
          <a:xfrm>
            <a:off x="6254496" y="3255264"/>
            <a:ext cx="2121408" cy="640080"/>
          </a:xfrm>
          <a:prstGeom prst="rect">
            <a:avLst/>
          </a:prstGeom>
          <a:noFill/>
          <a:ln/>
        </p:spPr>
        <p:txBody>
          <a:bodyPr wrap="square" lIns="0" tIns="0" rIns="0" bIns="0" rtlCol="0" anchor="t"/>
          <a:lstStyle/>
          <a:p>
            <a:pPr algn="l" indent="0" marL="0">
              <a:lnSpc>
                <a:spcPct val="106000"/>
              </a:lnSpc>
              <a:buNone/>
            </a:pPr>
            <a:r>
              <a:rPr lang="en-US" sz="1200" dirty="0">
                <a:solidFill>
                  <a:srgbClr val="3C444C"/>
                </a:solidFill>
                <a:latin typeface="Calibri" pitchFamily="34" charset="0"/>
                <a:ea typeface="Calibri" pitchFamily="34" charset="-122"/>
                <a:cs typeface="Calibri" pitchFamily="34" charset="-120"/>
              </a:rPr>
              <a:t>The same power that protects people can be used to control them.</a:t>
            </a:r>
            <a:endParaRPr lang="en-US" sz="1200" dirty="0"/>
          </a:p>
        </p:txBody>
      </p:sp>
      <p:sp>
        <p:nvSpPr>
          <p:cNvPr id="22" name="Text 20"/>
          <p:cNvSpPr/>
          <p:nvPr/>
        </p:nvSpPr>
        <p:spPr>
          <a:xfrm>
            <a:off x="548640" y="4169664"/>
            <a:ext cx="8046720" cy="310896"/>
          </a:xfrm>
          <a:prstGeom prst="rect">
            <a:avLst/>
          </a:prstGeom>
          <a:noFill/>
          <a:ln/>
        </p:spPr>
        <p:txBody>
          <a:bodyPr wrap="square" lIns="0" tIns="0" rIns="0" bIns="0" rtlCol="0" anchor="t"/>
          <a:lstStyle/>
          <a:p>
            <a:pPr algn="l" indent="0" marL="0">
              <a:lnSpc>
                <a:spcPct val="106000"/>
              </a:lnSpc>
              <a:buNone/>
            </a:pPr>
            <a:r>
              <a:rPr lang="en-US" sz="1350" i="1" dirty="0">
                <a:solidFill>
                  <a:srgbClr val="3C444C"/>
                </a:solidFill>
                <a:latin typeface="Calibri" pitchFamily="34" charset="0"/>
                <a:ea typeface="Calibri" pitchFamily="34" charset="-122"/>
                <a:cs typeface="Calibri" pitchFamily="34" charset="-120"/>
              </a:rPr>
              <a:t>If you cannot name your own tradeoff, you are not ready to write about it yet.</a:t>
            </a:r>
            <a:endParaRPr lang="en-US" sz="1350" dirty="0"/>
          </a:p>
        </p:txBody>
      </p:sp>
      <p:sp>
        <p:nvSpPr>
          <p:cNvPr id="24" name="Text 21"/>
          <p:cNvSpPr/>
          <p:nvPr/>
        </p:nvSpPr>
        <p:spPr>
          <a:xfrm>
            <a:off x="548640" y="4668012"/>
            <a:ext cx="8046720" cy="256032"/>
          </a:xfrm>
          <a:prstGeom prst="rect">
            <a:avLst/>
          </a:prstGeom>
          <a:noFill/>
          <a:ln/>
        </p:spPr>
        <p:txBody>
          <a:bodyPr wrap="square" lIns="0" tIns="0" rIns="0" bIns="0" rtlCol="0" anchor="ctr"/>
          <a:lstStyle/>
          <a:p>
            <a:pPr indent="0" marL="0">
              <a:buNone/>
            </a:pPr>
            <a:r>
              <a:rPr lang="en-US" sz="800" spc="100" kern="0" dirty="0">
                <a:solidFill>
                  <a:srgbClr val="5C6873"/>
                </a:solidFill>
                <a:latin typeface="Courier New" pitchFamily="34" charset="0"/>
                <a:ea typeface="Courier New" pitchFamily="34" charset="-122"/>
                <a:cs typeface="Courier New" pitchFamily="34" charset="-120"/>
              </a:rPr>
              <a:t>BECURRENT  ·  SOCIAL MEDIA  ·  TOPIC 6</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2ED"/>
        </a:solidFill>
      </p:bgPr>
    </p:bg>
    <p:spTree>
      <p:nvGrpSpPr>
        <p:cNvPr id="1" name=""/>
        <p:cNvGrpSpPr/>
        <p:nvPr/>
      </p:nvGrpSpPr>
      <p:grpSpPr>
        <a:xfrm>
          <a:off x="0" y="0"/>
          <a:ext cx="0" cy="0"/>
          <a:chOff x="0" y="0"/>
          <a:chExt cx="0" cy="0"/>
        </a:xfrm>
      </p:grpSpPr>
      <p:sp>
        <p:nvSpPr>
          <p:cNvPr id="2" name="Text 0"/>
          <p:cNvSpPr/>
          <p:nvPr/>
        </p:nvSpPr>
        <p:spPr>
          <a:xfrm>
            <a:off x="548640" y="365760"/>
            <a:ext cx="8046720" cy="237744"/>
          </a:xfrm>
          <a:prstGeom prst="rect">
            <a:avLst/>
          </a:prstGeom>
          <a:noFill/>
          <a:ln/>
        </p:spPr>
        <p:txBody>
          <a:bodyPr wrap="square" lIns="0" tIns="0" rIns="0" bIns="0" rtlCol="0" anchor="ctr"/>
          <a:lstStyle/>
          <a:p>
            <a:pPr indent="0" marL="0">
              <a:buNone/>
            </a:pPr>
            <a:r>
              <a:rPr lang="en-US" sz="1000" b="1" spc="140" kern="0" dirty="0">
                <a:solidFill>
                  <a:srgbClr val="B22222"/>
                </a:solidFill>
                <a:latin typeface="Courier New" pitchFamily="34" charset="0"/>
                <a:ea typeface="Courier New" pitchFamily="34" charset="-122"/>
                <a:cs typeface="Courier New" pitchFamily="34" charset="-120"/>
              </a:rPr>
              <a:t>THE METHOD</a:t>
            </a:r>
            <a:endParaRPr lang="en-US" sz="1000" dirty="0"/>
          </a:p>
        </p:txBody>
      </p:sp>
      <p:sp>
        <p:nvSpPr>
          <p:cNvPr id="3" name="Text 1"/>
          <p:cNvSpPr/>
          <p:nvPr/>
        </p:nvSpPr>
        <p:spPr>
          <a:xfrm>
            <a:off x="548640" y="713232"/>
            <a:ext cx="8046720" cy="731520"/>
          </a:xfrm>
          <a:prstGeom prst="rect">
            <a:avLst/>
          </a:prstGeom>
          <a:noFill/>
          <a:ln/>
        </p:spPr>
        <p:txBody>
          <a:bodyPr wrap="square" lIns="0" tIns="0" rIns="0" bIns="0" rtlCol="0" anchor="t"/>
          <a:lstStyle/>
          <a:p>
            <a:pPr indent="0" marL="0">
              <a:lnSpc>
                <a:spcPct val="92000"/>
              </a:lnSpc>
              <a:buNone/>
            </a:pPr>
            <a:r>
              <a:rPr lang="en-US" sz="3000" b="1" dirty="0">
                <a:solidFill>
                  <a:srgbClr val="14171A"/>
                </a:solidFill>
                <a:latin typeface="Cambria" pitchFamily="34" charset="0"/>
                <a:ea typeface="Cambria" pitchFamily="34" charset="-122"/>
                <a:cs typeface="Cambria" pitchFamily="34" charset="-120"/>
              </a:rPr>
              <a:t>This argument has happened before</a:t>
            </a:r>
            <a:endParaRPr lang="en-US" sz="3000" dirty="0"/>
          </a:p>
        </p:txBody>
      </p:sp>
      <p:sp>
        <p:nvSpPr>
          <p:cNvPr id="4" name="Shape 2"/>
          <p:cNvSpPr/>
          <p:nvPr/>
        </p:nvSpPr>
        <p:spPr>
          <a:xfrm>
            <a:off x="548640" y="1645920"/>
            <a:ext cx="1874520" cy="1828800"/>
          </a:xfrm>
          <a:prstGeom prst="roundRect">
            <a:avLst>
              <a:gd name="adj" fmla="val 3000"/>
            </a:avLst>
          </a:prstGeom>
          <a:solidFill>
            <a:srgbClr val="FFFEFB"/>
          </a:solidFill>
          <a:ln w="9525">
            <a:solidFill>
              <a:srgbClr val="D9D6CF"/>
            </a:solidFill>
            <a:prstDash val="solid"/>
          </a:ln>
          <a:effectLst>
            <a:outerShdw sx="100000" sy="100000" kx="0" ky="0" algn="bl" rotWithShape="0" blurRad="88900" dist="12700" dir="5400000">
              <a:srgbClr val="9A968A">
                <a:alpha val="20000"/>
              </a:srgbClr>
            </a:outerShdw>
          </a:effectLst>
        </p:spPr>
      </p:sp>
      <p:sp>
        <p:nvSpPr>
          <p:cNvPr id="5" name="Text 3"/>
          <p:cNvSpPr/>
          <p:nvPr/>
        </p:nvSpPr>
        <p:spPr>
          <a:xfrm>
            <a:off x="749808" y="1828800"/>
            <a:ext cx="1472184" cy="329184"/>
          </a:xfrm>
          <a:prstGeom prst="rect">
            <a:avLst/>
          </a:prstGeom>
          <a:noFill/>
          <a:ln/>
        </p:spPr>
        <p:txBody>
          <a:bodyPr wrap="square" lIns="0" tIns="0" rIns="0" bIns="0" rtlCol="0" anchor="t"/>
          <a:lstStyle/>
          <a:p>
            <a:pPr algn="l" indent="0" marL="0">
              <a:lnSpc>
                <a:spcPct val="106000"/>
              </a:lnSpc>
              <a:buNone/>
            </a:pPr>
            <a:r>
              <a:rPr lang="en-US" sz="2000" b="1" dirty="0">
                <a:solidFill>
                  <a:srgbClr val="8A1A1A"/>
                </a:solidFill>
                <a:latin typeface="Cambria" pitchFamily="34" charset="0"/>
                <a:ea typeface="Cambria" pitchFamily="34" charset="-122"/>
                <a:cs typeface="Cambria" pitchFamily="34" charset="-120"/>
              </a:rPr>
              <a:t>1954</a:t>
            </a:r>
            <a:endParaRPr lang="en-US" sz="2000" dirty="0"/>
          </a:p>
        </p:txBody>
      </p:sp>
      <p:sp>
        <p:nvSpPr>
          <p:cNvPr id="6" name="Text 4"/>
          <p:cNvSpPr/>
          <p:nvPr/>
        </p:nvSpPr>
        <p:spPr>
          <a:xfrm>
            <a:off x="749808" y="2231136"/>
            <a:ext cx="1472184" cy="457200"/>
          </a:xfrm>
          <a:prstGeom prst="rect">
            <a:avLst/>
          </a:prstGeom>
          <a:noFill/>
          <a:ln/>
        </p:spPr>
        <p:txBody>
          <a:bodyPr wrap="square" lIns="0" tIns="0" rIns="0" bIns="0" rtlCol="0" anchor="t"/>
          <a:lstStyle/>
          <a:p>
            <a:pPr algn="l" indent="0" marL="0">
              <a:lnSpc>
                <a:spcPct val="104000"/>
              </a:lnSpc>
              <a:buNone/>
            </a:pPr>
            <a:r>
              <a:rPr lang="en-US" sz="1300" b="1" dirty="0">
                <a:solidFill>
                  <a:srgbClr val="14171A"/>
                </a:solidFill>
                <a:latin typeface="Calibri" pitchFamily="34" charset="0"/>
                <a:ea typeface="Calibri" pitchFamily="34" charset="-122"/>
                <a:cs typeface="Calibri" pitchFamily="34" charset="-120"/>
              </a:rPr>
              <a:t>Comic books</a:t>
            </a:r>
            <a:endParaRPr lang="en-US" sz="1300" dirty="0"/>
          </a:p>
        </p:txBody>
      </p:sp>
      <p:sp>
        <p:nvSpPr>
          <p:cNvPr id="7" name="Text 5"/>
          <p:cNvSpPr/>
          <p:nvPr/>
        </p:nvSpPr>
        <p:spPr>
          <a:xfrm>
            <a:off x="749808" y="2724912"/>
            <a:ext cx="1472184" cy="640080"/>
          </a:xfrm>
          <a:prstGeom prst="rect">
            <a:avLst/>
          </a:prstGeom>
          <a:noFill/>
          <a:ln/>
        </p:spPr>
        <p:txBody>
          <a:bodyPr wrap="square" lIns="0" tIns="0" rIns="0" bIns="0" rtlCol="0" anchor="t"/>
          <a:lstStyle/>
          <a:p>
            <a:pPr algn="l" indent="0" marL="0">
              <a:lnSpc>
                <a:spcPct val="104000"/>
              </a:lnSpc>
              <a:buNone/>
            </a:pPr>
            <a:r>
              <a:rPr lang="en-US" sz="1150" dirty="0">
                <a:solidFill>
                  <a:srgbClr val="3C444C"/>
                </a:solidFill>
                <a:latin typeface="Calibri" pitchFamily="34" charset="0"/>
                <a:ea typeface="Calibri" pitchFamily="34" charset="-122"/>
                <a:cs typeface="Calibri" pitchFamily="34" charset="-120"/>
              </a:rPr>
              <a:t>A Senate hearing and an industry code.</a:t>
            </a:r>
            <a:endParaRPr lang="en-US" sz="1150" dirty="0"/>
          </a:p>
        </p:txBody>
      </p:sp>
      <p:sp>
        <p:nvSpPr>
          <p:cNvPr id="8" name="Shape 6"/>
          <p:cNvSpPr/>
          <p:nvPr/>
        </p:nvSpPr>
        <p:spPr>
          <a:xfrm>
            <a:off x="2587752" y="1645920"/>
            <a:ext cx="1874520" cy="1828800"/>
          </a:xfrm>
          <a:prstGeom prst="roundRect">
            <a:avLst>
              <a:gd name="adj" fmla="val 3000"/>
            </a:avLst>
          </a:prstGeom>
          <a:solidFill>
            <a:srgbClr val="FFFEFB"/>
          </a:solidFill>
          <a:ln w="9525">
            <a:solidFill>
              <a:srgbClr val="D9D6CF"/>
            </a:solidFill>
            <a:prstDash val="solid"/>
          </a:ln>
          <a:effectLst>
            <a:outerShdw sx="100000" sy="100000" kx="0" ky="0" algn="bl" rotWithShape="0" blurRad="88900" dist="12700" dir="5400000">
              <a:srgbClr val="9A968A">
                <a:alpha val="20000"/>
              </a:srgbClr>
            </a:outerShdw>
          </a:effectLst>
        </p:spPr>
      </p:sp>
      <p:sp>
        <p:nvSpPr>
          <p:cNvPr id="9" name="Text 7"/>
          <p:cNvSpPr/>
          <p:nvPr/>
        </p:nvSpPr>
        <p:spPr>
          <a:xfrm>
            <a:off x="2788920" y="1828800"/>
            <a:ext cx="1472184" cy="329184"/>
          </a:xfrm>
          <a:prstGeom prst="rect">
            <a:avLst/>
          </a:prstGeom>
          <a:noFill/>
          <a:ln/>
        </p:spPr>
        <p:txBody>
          <a:bodyPr wrap="square" lIns="0" tIns="0" rIns="0" bIns="0" rtlCol="0" anchor="t"/>
          <a:lstStyle/>
          <a:p>
            <a:pPr algn="l" indent="0" marL="0">
              <a:lnSpc>
                <a:spcPct val="106000"/>
              </a:lnSpc>
              <a:buNone/>
            </a:pPr>
            <a:r>
              <a:rPr lang="en-US" sz="2000" b="1" dirty="0">
                <a:solidFill>
                  <a:srgbClr val="8A1A1A"/>
                </a:solidFill>
                <a:latin typeface="Cambria" pitchFamily="34" charset="0"/>
                <a:ea typeface="Cambria" pitchFamily="34" charset="-122"/>
                <a:cs typeface="Cambria" pitchFamily="34" charset="-120"/>
              </a:rPr>
              <a:t>1970s</a:t>
            </a:r>
            <a:endParaRPr lang="en-US" sz="2000" dirty="0"/>
          </a:p>
        </p:txBody>
      </p:sp>
      <p:sp>
        <p:nvSpPr>
          <p:cNvPr id="10" name="Text 8"/>
          <p:cNvSpPr/>
          <p:nvPr/>
        </p:nvSpPr>
        <p:spPr>
          <a:xfrm>
            <a:off x="2788920" y="2231136"/>
            <a:ext cx="1472184" cy="457200"/>
          </a:xfrm>
          <a:prstGeom prst="rect">
            <a:avLst/>
          </a:prstGeom>
          <a:noFill/>
          <a:ln/>
        </p:spPr>
        <p:txBody>
          <a:bodyPr wrap="square" lIns="0" tIns="0" rIns="0" bIns="0" rtlCol="0" anchor="t"/>
          <a:lstStyle/>
          <a:p>
            <a:pPr algn="l" indent="0" marL="0">
              <a:lnSpc>
                <a:spcPct val="104000"/>
              </a:lnSpc>
              <a:buNone/>
            </a:pPr>
            <a:r>
              <a:rPr lang="en-US" sz="1300" b="1" dirty="0">
                <a:solidFill>
                  <a:srgbClr val="14171A"/>
                </a:solidFill>
                <a:latin typeface="Calibri" pitchFamily="34" charset="0"/>
                <a:ea typeface="Calibri" pitchFamily="34" charset="-122"/>
                <a:cs typeface="Calibri" pitchFamily="34" charset="-120"/>
              </a:rPr>
              <a:t>Television violence</a:t>
            </a:r>
            <a:endParaRPr lang="en-US" sz="1300" dirty="0"/>
          </a:p>
        </p:txBody>
      </p:sp>
      <p:sp>
        <p:nvSpPr>
          <p:cNvPr id="11" name="Text 9"/>
          <p:cNvSpPr/>
          <p:nvPr/>
        </p:nvSpPr>
        <p:spPr>
          <a:xfrm>
            <a:off x="2788920" y="2724912"/>
            <a:ext cx="1472184" cy="640080"/>
          </a:xfrm>
          <a:prstGeom prst="rect">
            <a:avLst/>
          </a:prstGeom>
          <a:noFill/>
          <a:ln/>
        </p:spPr>
        <p:txBody>
          <a:bodyPr wrap="square" lIns="0" tIns="0" rIns="0" bIns="0" rtlCol="0" anchor="t"/>
          <a:lstStyle/>
          <a:p>
            <a:pPr algn="l" indent="0" marL="0">
              <a:lnSpc>
                <a:spcPct val="104000"/>
              </a:lnSpc>
              <a:buNone/>
            </a:pPr>
            <a:r>
              <a:rPr lang="en-US" sz="1150" dirty="0">
                <a:solidFill>
                  <a:srgbClr val="3C444C"/>
                </a:solidFill>
                <a:latin typeface="Calibri" pitchFamily="34" charset="0"/>
                <a:ea typeface="Calibri" pitchFamily="34" charset="-122"/>
                <a:cs typeface="Calibri" pitchFamily="34" charset="-120"/>
              </a:rPr>
              <a:t>Hearings across the decade.</a:t>
            </a:r>
            <a:endParaRPr lang="en-US" sz="1150" dirty="0"/>
          </a:p>
        </p:txBody>
      </p:sp>
      <p:sp>
        <p:nvSpPr>
          <p:cNvPr id="12" name="Shape 10"/>
          <p:cNvSpPr/>
          <p:nvPr/>
        </p:nvSpPr>
        <p:spPr>
          <a:xfrm>
            <a:off x="4626864" y="1645920"/>
            <a:ext cx="1874520" cy="1828800"/>
          </a:xfrm>
          <a:prstGeom prst="roundRect">
            <a:avLst>
              <a:gd name="adj" fmla="val 3000"/>
            </a:avLst>
          </a:prstGeom>
          <a:solidFill>
            <a:srgbClr val="FFFEFB"/>
          </a:solidFill>
          <a:ln w="9525">
            <a:solidFill>
              <a:srgbClr val="D9D6CF"/>
            </a:solidFill>
            <a:prstDash val="solid"/>
          </a:ln>
          <a:effectLst>
            <a:outerShdw sx="100000" sy="100000" kx="0" ky="0" algn="bl" rotWithShape="0" blurRad="88900" dist="12700" dir="5400000">
              <a:srgbClr val="9A968A">
                <a:alpha val="20000"/>
              </a:srgbClr>
            </a:outerShdw>
          </a:effectLst>
        </p:spPr>
      </p:sp>
      <p:sp>
        <p:nvSpPr>
          <p:cNvPr id="13" name="Text 11"/>
          <p:cNvSpPr/>
          <p:nvPr/>
        </p:nvSpPr>
        <p:spPr>
          <a:xfrm>
            <a:off x="4828032" y="1828800"/>
            <a:ext cx="1472184" cy="329184"/>
          </a:xfrm>
          <a:prstGeom prst="rect">
            <a:avLst/>
          </a:prstGeom>
          <a:noFill/>
          <a:ln/>
        </p:spPr>
        <p:txBody>
          <a:bodyPr wrap="square" lIns="0" tIns="0" rIns="0" bIns="0" rtlCol="0" anchor="t"/>
          <a:lstStyle/>
          <a:p>
            <a:pPr algn="l" indent="0" marL="0">
              <a:lnSpc>
                <a:spcPct val="106000"/>
              </a:lnSpc>
              <a:buNone/>
            </a:pPr>
            <a:r>
              <a:rPr lang="en-US" sz="2000" b="1" dirty="0">
                <a:solidFill>
                  <a:srgbClr val="8A1A1A"/>
                </a:solidFill>
                <a:latin typeface="Cambria" pitchFamily="34" charset="0"/>
                <a:ea typeface="Cambria" pitchFamily="34" charset="-122"/>
                <a:cs typeface="Cambria" pitchFamily="34" charset="-120"/>
              </a:rPr>
              <a:t>1985</a:t>
            </a:r>
            <a:endParaRPr lang="en-US" sz="2000" dirty="0"/>
          </a:p>
        </p:txBody>
      </p:sp>
      <p:sp>
        <p:nvSpPr>
          <p:cNvPr id="14" name="Text 12"/>
          <p:cNvSpPr/>
          <p:nvPr/>
        </p:nvSpPr>
        <p:spPr>
          <a:xfrm>
            <a:off x="4828032" y="2231136"/>
            <a:ext cx="1472184" cy="457200"/>
          </a:xfrm>
          <a:prstGeom prst="rect">
            <a:avLst/>
          </a:prstGeom>
          <a:noFill/>
          <a:ln/>
        </p:spPr>
        <p:txBody>
          <a:bodyPr wrap="square" lIns="0" tIns="0" rIns="0" bIns="0" rtlCol="0" anchor="t"/>
          <a:lstStyle/>
          <a:p>
            <a:pPr algn="l" indent="0" marL="0">
              <a:lnSpc>
                <a:spcPct val="104000"/>
              </a:lnSpc>
              <a:buNone/>
            </a:pPr>
            <a:r>
              <a:rPr lang="en-US" sz="1300" b="1" dirty="0">
                <a:solidFill>
                  <a:srgbClr val="14171A"/>
                </a:solidFill>
                <a:latin typeface="Calibri" pitchFamily="34" charset="0"/>
                <a:ea typeface="Calibri" pitchFamily="34" charset="-122"/>
                <a:cs typeface="Calibri" pitchFamily="34" charset="-120"/>
              </a:rPr>
              <a:t>Music lyrics</a:t>
            </a:r>
            <a:endParaRPr lang="en-US" sz="1300" dirty="0"/>
          </a:p>
        </p:txBody>
      </p:sp>
      <p:sp>
        <p:nvSpPr>
          <p:cNvPr id="15" name="Text 13"/>
          <p:cNvSpPr/>
          <p:nvPr/>
        </p:nvSpPr>
        <p:spPr>
          <a:xfrm>
            <a:off x="4828032" y="2724912"/>
            <a:ext cx="1472184" cy="640080"/>
          </a:xfrm>
          <a:prstGeom prst="rect">
            <a:avLst/>
          </a:prstGeom>
          <a:noFill/>
          <a:ln/>
        </p:spPr>
        <p:txBody>
          <a:bodyPr wrap="square" lIns="0" tIns="0" rIns="0" bIns="0" rtlCol="0" anchor="t"/>
          <a:lstStyle/>
          <a:p>
            <a:pPr algn="l" indent="0" marL="0">
              <a:lnSpc>
                <a:spcPct val="104000"/>
              </a:lnSpc>
              <a:buNone/>
            </a:pPr>
            <a:r>
              <a:rPr lang="en-US" sz="1150" dirty="0">
                <a:solidFill>
                  <a:srgbClr val="3C444C"/>
                </a:solidFill>
                <a:latin typeface="Calibri" pitchFamily="34" charset="0"/>
                <a:ea typeface="Calibri" pitchFamily="34" charset="-122"/>
                <a:cs typeface="Calibri" pitchFamily="34" charset="-120"/>
              </a:rPr>
              <a:t>Senate hearings and the parental advisory sticker.</a:t>
            </a:r>
            <a:endParaRPr lang="en-US" sz="1150" dirty="0"/>
          </a:p>
        </p:txBody>
      </p:sp>
      <p:sp>
        <p:nvSpPr>
          <p:cNvPr id="16" name="Shape 14"/>
          <p:cNvSpPr/>
          <p:nvPr/>
        </p:nvSpPr>
        <p:spPr>
          <a:xfrm>
            <a:off x="6665976" y="1645920"/>
            <a:ext cx="1874520" cy="1828800"/>
          </a:xfrm>
          <a:prstGeom prst="roundRect">
            <a:avLst>
              <a:gd name="adj" fmla="val 3000"/>
            </a:avLst>
          </a:prstGeom>
          <a:solidFill>
            <a:srgbClr val="FFFEFB"/>
          </a:solidFill>
          <a:ln w="9525">
            <a:solidFill>
              <a:srgbClr val="D9D6CF"/>
            </a:solidFill>
            <a:prstDash val="solid"/>
          </a:ln>
          <a:effectLst>
            <a:outerShdw sx="100000" sy="100000" kx="0" ky="0" algn="bl" rotWithShape="0" blurRad="88900" dist="12700" dir="5400000">
              <a:srgbClr val="9A968A">
                <a:alpha val="20000"/>
              </a:srgbClr>
            </a:outerShdw>
          </a:effectLst>
        </p:spPr>
      </p:sp>
      <p:sp>
        <p:nvSpPr>
          <p:cNvPr id="17" name="Text 15"/>
          <p:cNvSpPr/>
          <p:nvPr/>
        </p:nvSpPr>
        <p:spPr>
          <a:xfrm>
            <a:off x="6867144" y="1828800"/>
            <a:ext cx="1472184" cy="329184"/>
          </a:xfrm>
          <a:prstGeom prst="rect">
            <a:avLst/>
          </a:prstGeom>
          <a:noFill/>
          <a:ln/>
        </p:spPr>
        <p:txBody>
          <a:bodyPr wrap="square" lIns="0" tIns="0" rIns="0" bIns="0" rtlCol="0" anchor="t"/>
          <a:lstStyle/>
          <a:p>
            <a:pPr algn="l" indent="0" marL="0">
              <a:lnSpc>
                <a:spcPct val="106000"/>
              </a:lnSpc>
              <a:buNone/>
            </a:pPr>
            <a:r>
              <a:rPr lang="en-US" sz="2000" b="1" dirty="0">
                <a:solidFill>
                  <a:srgbClr val="8A1A1A"/>
                </a:solidFill>
                <a:latin typeface="Cambria" pitchFamily="34" charset="0"/>
                <a:ea typeface="Cambria" pitchFamily="34" charset="-122"/>
                <a:cs typeface="Cambria" pitchFamily="34" charset="-120"/>
              </a:rPr>
              <a:t>1993</a:t>
            </a:r>
            <a:endParaRPr lang="en-US" sz="2000" dirty="0"/>
          </a:p>
        </p:txBody>
      </p:sp>
      <p:sp>
        <p:nvSpPr>
          <p:cNvPr id="18" name="Text 16"/>
          <p:cNvSpPr/>
          <p:nvPr/>
        </p:nvSpPr>
        <p:spPr>
          <a:xfrm>
            <a:off x="6867144" y="2231136"/>
            <a:ext cx="1472184" cy="457200"/>
          </a:xfrm>
          <a:prstGeom prst="rect">
            <a:avLst/>
          </a:prstGeom>
          <a:noFill/>
          <a:ln/>
        </p:spPr>
        <p:txBody>
          <a:bodyPr wrap="square" lIns="0" tIns="0" rIns="0" bIns="0" rtlCol="0" anchor="t"/>
          <a:lstStyle/>
          <a:p>
            <a:pPr algn="l" indent="0" marL="0">
              <a:lnSpc>
                <a:spcPct val="104000"/>
              </a:lnSpc>
              <a:buNone/>
            </a:pPr>
            <a:r>
              <a:rPr lang="en-US" sz="1300" b="1" dirty="0">
                <a:solidFill>
                  <a:srgbClr val="14171A"/>
                </a:solidFill>
                <a:latin typeface="Calibri" pitchFamily="34" charset="0"/>
                <a:ea typeface="Calibri" pitchFamily="34" charset="-122"/>
                <a:cs typeface="Calibri" pitchFamily="34" charset="-120"/>
              </a:rPr>
              <a:t>Video games</a:t>
            </a:r>
            <a:endParaRPr lang="en-US" sz="1300" dirty="0"/>
          </a:p>
        </p:txBody>
      </p:sp>
      <p:sp>
        <p:nvSpPr>
          <p:cNvPr id="19" name="Text 17"/>
          <p:cNvSpPr/>
          <p:nvPr/>
        </p:nvSpPr>
        <p:spPr>
          <a:xfrm>
            <a:off x="6867144" y="2724912"/>
            <a:ext cx="1472184" cy="640080"/>
          </a:xfrm>
          <a:prstGeom prst="rect">
            <a:avLst/>
          </a:prstGeom>
          <a:noFill/>
          <a:ln/>
        </p:spPr>
        <p:txBody>
          <a:bodyPr wrap="square" lIns="0" tIns="0" rIns="0" bIns="0" rtlCol="0" anchor="t"/>
          <a:lstStyle/>
          <a:p>
            <a:pPr algn="l" indent="0" marL="0">
              <a:lnSpc>
                <a:spcPct val="104000"/>
              </a:lnSpc>
              <a:buNone/>
            </a:pPr>
            <a:r>
              <a:rPr lang="en-US" sz="1150" dirty="0">
                <a:solidFill>
                  <a:srgbClr val="3C444C"/>
                </a:solidFill>
                <a:latin typeface="Calibri" pitchFamily="34" charset="0"/>
                <a:ea typeface="Calibri" pitchFamily="34" charset="-122"/>
                <a:cs typeface="Calibri" pitchFamily="34" charset="-120"/>
              </a:rPr>
              <a:t>Hearings, and the rating on every box today.</a:t>
            </a:r>
            <a:endParaRPr lang="en-US" sz="1150" dirty="0"/>
          </a:p>
        </p:txBody>
      </p:sp>
      <p:sp>
        <p:nvSpPr>
          <p:cNvPr id="20" name="Text 18"/>
          <p:cNvSpPr/>
          <p:nvPr/>
        </p:nvSpPr>
        <p:spPr>
          <a:xfrm>
            <a:off x="548640" y="3657600"/>
            <a:ext cx="8046720" cy="457200"/>
          </a:xfrm>
          <a:prstGeom prst="rect">
            <a:avLst/>
          </a:prstGeom>
          <a:noFill/>
          <a:ln/>
        </p:spPr>
        <p:txBody>
          <a:bodyPr wrap="square" lIns="0" tIns="0" rIns="0" bIns="0" rtlCol="0" anchor="t"/>
          <a:lstStyle/>
          <a:p>
            <a:pPr algn="l" indent="0" marL="0">
              <a:lnSpc>
                <a:spcPct val="114000"/>
              </a:lnSpc>
              <a:buNone/>
            </a:pPr>
            <a:r>
              <a:rPr lang="en-US" sz="1300" dirty="0">
                <a:solidFill>
                  <a:srgbClr val="3C444C"/>
                </a:solidFill>
                <a:latin typeface="Calibri" pitchFamily="34" charset="0"/>
                <a:ea typeface="Calibri" pitchFamily="34" charset="-122"/>
                <a:cs typeface="Calibri" pitchFamily="34" charset="-120"/>
              </a:rPr>
              <a:t>A precedent is an earlier case that people point to when they decide a new one. This argument, about a new medium and what it does to young people, has happened at least four times before.</a:t>
            </a:r>
            <a:endParaRPr lang="en-US" sz="1300" dirty="0"/>
          </a:p>
        </p:txBody>
      </p:sp>
      <p:sp>
        <p:nvSpPr>
          <p:cNvPr id="21" name="Text 19"/>
          <p:cNvSpPr/>
          <p:nvPr/>
        </p:nvSpPr>
        <p:spPr>
          <a:xfrm>
            <a:off x="548640" y="4169664"/>
            <a:ext cx="8046720" cy="274320"/>
          </a:xfrm>
          <a:prstGeom prst="rect">
            <a:avLst/>
          </a:prstGeom>
          <a:noFill/>
          <a:ln/>
        </p:spPr>
        <p:txBody>
          <a:bodyPr wrap="square" lIns="0" tIns="0" rIns="0" bIns="0" rtlCol="0" anchor="t"/>
          <a:lstStyle/>
          <a:p>
            <a:pPr algn="l" indent="0" marL="0">
              <a:lnSpc>
                <a:spcPct val="106000"/>
              </a:lnSpc>
              <a:buNone/>
            </a:pPr>
            <a:r>
              <a:rPr lang="en-US" sz="1400" b="1" dirty="0">
                <a:solidFill>
                  <a:srgbClr val="14171A"/>
                </a:solidFill>
                <a:latin typeface="Calibri" pitchFamily="34" charset="0"/>
                <a:ea typeface="Calibri" pitchFamily="34" charset="-122"/>
                <a:cs typeface="Calibri" pitchFamily="34" charset="-120"/>
              </a:rPr>
              <a:t>Those four have two things in common.</a:t>
            </a:r>
            <a:endParaRPr lang="en-US" sz="1400" dirty="0"/>
          </a:p>
        </p:txBody>
      </p:sp>
      <p:sp>
        <p:nvSpPr>
          <p:cNvPr id="23" name="Text 20"/>
          <p:cNvSpPr/>
          <p:nvPr/>
        </p:nvSpPr>
        <p:spPr>
          <a:xfrm>
            <a:off x="548640" y="4668012"/>
            <a:ext cx="8046720" cy="256032"/>
          </a:xfrm>
          <a:prstGeom prst="rect">
            <a:avLst/>
          </a:prstGeom>
          <a:noFill/>
          <a:ln/>
        </p:spPr>
        <p:txBody>
          <a:bodyPr wrap="square" lIns="0" tIns="0" rIns="0" bIns="0" rtlCol="0" anchor="ctr"/>
          <a:lstStyle/>
          <a:p>
            <a:pPr indent="0" marL="0">
              <a:buNone/>
            </a:pPr>
            <a:r>
              <a:rPr lang="en-US" sz="800" spc="100" kern="0" dirty="0">
                <a:solidFill>
                  <a:srgbClr val="5C6873"/>
                </a:solidFill>
                <a:latin typeface="Courier New" pitchFamily="34" charset="0"/>
                <a:ea typeface="Courier New" pitchFamily="34" charset="-122"/>
                <a:cs typeface="Courier New" pitchFamily="34" charset="-120"/>
              </a:rPr>
              <a:t>BECURRENT  ·  SOCIAL MEDIA  ·  TOPIC 6</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2ED"/>
        </a:solidFill>
      </p:bgPr>
    </p:bg>
    <p:spTree>
      <p:nvGrpSpPr>
        <p:cNvPr id="1" name=""/>
        <p:cNvGrpSpPr/>
        <p:nvPr/>
      </p:nvGrpSpPr>
      <p:grpSpPr>
        <a:xfrm>
          <a:off x="0" y="0"/>
          <a:ext cx="0" cy="0"/>
          <a:chOff x="0" y="0"/>
          <a:chExt cx="0" cy="0"/>
        </a:xfrm>
      </p:grpSpPr>
      <p:sp>
        <p:nvSpPr>
          <p:cNvPr id="2" name="Text 0"/>
          <p:cNvSpPr/>
          <p:nvPr/>
        </p:nvSpPr>
        <p:spPr>
          <a:xfrm>
            <a:off x="548640" y="365760"/>
            <a:ext cx="8046720" cy="237744"/>
          </a:xfrm>
          <a:prstGeom prst="rect">
            <a:avLst/>
          </a:prstGeom>
          <a:noFill/>
          <a:ln/>
        </p:spPr>
        <p:txBody>
          <a:bodyPr wrap="square" lIns="0" tIns="0" rIns="0" bIns="0" rtlCol="0" anchor="ctr"/>
          <a:lstStyle/>
          <a:p>
            <a:pPr indent="0" marL="0">
              <a:buNone/>
            </a:pPr>
            <a:r>
              <a:rPr lang="en-US" sz="1000" b="1" spc="140" kern="0" dirty="0">
                <a:solidFill>
                  <a:srgbClr val="B22222"/>
                </a:solidFill>
                <a:latin typeface="Courier New" pitchFamily="34" charset="0"/>
                <a:ea typeface="Courier New" pitchFamily="34" charset="-122"/>
                <a:cs typeface="Courier New" pitchFamily="34" charset="-120"/>
              </a:rPr>
              <a:t>THE METHOD · WHAT IT TELLS YOU</a:t>
            </a:r>
            <a:endParaRPr lang="en-US" sz="1000" dirty="0"/>
          </a:p>
        </p:txBody>
      </p:sp>
      <p:sp>
        <p:nvSpPr>
          <p:cNvPr id="3" name="Text 1"/>
          <p:cNvSpPr/>
          <p:nvPr/>
        </p:nvSpPr>
        <p:spPr>
          <a:xfrm>
            <a:off x="548640" y="713232"/>
            <a:ext cx="8046720" cy="731520"/>
          </a:xfrm>
          <a:prstGeom prst="rect">
            <a:avLst/>
          </a:prstGeom>
          <a:noFill/>
          <a:ln/>
        </p:spPr>
        <p:txBody>
          <a:bodyPr wrap="square" lIns="0" tIns="0" rIns="0" bIns="0" rtlCol="0" anchor="t"/>
          <a:lstStyle/>
          <a:p>
            <a:pPr indent="0" marL="0">
              <a:lnSpc>
                <a:spcPct val="92000"/>
              </a:lnSpc>
              <a:buNone/>
            </a:pPr>
            <a:r>
              <a:rPr lang="en-US" sz="3000" b="1" dirty="0">
                <a:solidFill>
                  <a:srgbClr val="14171A"/>
                </a:solidFill>
                <a:latin typeface="Cambria" pitchFamily="34" charset="0"/>
                <a:ea typeface="Cambria" pitchFamily="34" charset="-122"/>
                <a:cs typeface="Cambria" pitchFamily="34" charset="-120"/>
              </a:rPr>
              <a:t>Four for four, and not one of them a law</a:t>
            </a:r>
            <a:endParaRPr lang="en-US" sz="3000" dirty="0"/>
          </a:p>
        </p:txBody>
      </p:sp>
      <p:sp>
        <p:nvSpPr>
          <p:cNvPr id="4" name="Shape 2"/>
          <p:cNvSpPr/>
          <p:nvPr/>
        </p:nvSpPr>
        <p:spPr>
          <a:xfrm>
            <a:off x="548640" y="1645920"/>
            <a:ext cx="3840480" cy="1920240"/>
          </a:xfrm>
          <a:prstGeom prst="roundRect">
            <a:avLst>
              <a:gd name="adj" fmla="val 2857"/>
            </a:avLst>
          </a:prstGeom>
          <a:solidFill>
            <a:srgbClr val="F2E1E1"/>
          </a:solidFill>
          <a:ln w="9525">
            <a:solidFill>
              <a:srgbClr val="F2E1E1"/>
            </a:solidFill>
            <a:prstDash val="solid"/>
          </a:ln>
          <a:effectLst>
            <a:outerShdw sx="100000" sy="100000" kx="0" ky="0" algn="bl" rotWithShape="0" blurRad="88900" dist="12700" dir="5400000">
              <a:srgbClr val="9A968A">
                <a:alpha val="20000"/>
              </a:srgbClr>
            </a:outerShdw>
          </a:effectLst>
        </p:spPr>
      </p:sp>
      <p:sp>
        <p:nvSpPr>
          <p:cNvPr id="5" name="Text 3"/>
          <p:cNvSpPr/>
          <p:nvPr/>
        </p:nvSpPr>
        <p:spPr>
          <a:xfrm>
            <a:off x="804672" y="1847088"/>
            <a:ext cx="3328416" cy="219456"/>
          </a:xfrm>
          <a:prstGeom prst="rect">
            <a:avLst/>
          </a:prstGeom>
          <a:noFill/>
          <a:ln/>
        </p:spPr>
        <p:txBody>
          <a:bodyPr wrap="square" lIns="0" tIns="0" rIns="0" bIns="0" rtlCol="0" anchor="t"/>
          <a:lstStyle/>
          <a:p>
            <a:pPr algn="l" indent="0" marL="0">
              <a:lnSpc>
                <a:spcPct val="106000"/>
              </a:lnSpc>
              <a:buNone/>
            </a:pPr>
            <a:r>
              <a:rPr lang="en-US" sz="900" b="1" dirty="0">
                <a:solidFill>
                  <a:srgbClr val="8A1A1A"/>
                </a:solidFill>
                <a:latin typeface="Courier New" pitchFamily="34" charset="0"/>
                <a:ea typeface="Courier New" pitchFamily="34" charset="-122"/>
                <a:cs typeface="Courier New" pitchFamily="34" charset="-120"/>
              </a:rPr>
              <a:t>FIRST</a:t>
            </a:r>
            <a:endParaRPr lang="en-US" sz="900" dirty="0"/>
          </a:p>
        </p:txBody>
      </p:sp>
      <p:sp>
        <p:nvSpPr>
          <p:cNvPr id="6" name="Text 4"/>
          <p:cNvSpPr/>
          <p:nvPr/>
        </p:nvSpPr>
        <p:spPr>
          <a:xfrm>
            <a:off x="804672" y="2103120"/>
            <a:ext cx="3328416" cy="512064"/>
          </a:xfrm>
          <a:prstGeom prst="rect">
            <a:avLst/>
          </a:prstGeom>
          <a:noFill/>
          <a:ln/>
        </p:spPr>
        <p:txBody>
          <a:bodyPr wrap="square" lIns="0" tIns="0" rIns="0" bIns="0" rtlCol="0" anchor="t"/>
          <a:lstStyle/>
          <a:p>
            <a:pPr algn="l" indent="0" marL="0">
              <a:lnSpc>
                <a:spcPct val="106000"/>
              </a:lnSpc>
              <a:buNone/>
            </a:pPr>
            <a:r>
              <a:rPr lang="en-US" sz="3200" b="1" dirty="0">
                <a:solidFill>
                  <a:srgbClr val="8A1A1A"/>
                </a:solidFill>
                <a:latin typeface="Cambria" pitchFamily="34" charset="0"/>
                <a:ea typeface="Cambria" pitchFamily="34" charset="-122"/>
                <a:cs typeface="Cambria" pitchFamily="34" charset="-120"/>
              </a:rPr>
              <a:t>4 of 4</a:t>
            </a:r>
            <a:endParaRPr lang="en-US" sz="3200" dirty="0"/>
          </a:p>
        </p:txBody>
      </p:sp>
      <p:sp>
        <p:nvSpPr>
          <p:cNvPr id="7" name="Text 5"/>
          <p:cNvSpPr/>
          <p:nvPr/>
        </p:nvSpPr>
        <p:spPr>
          <a:xfrm>
            <a:off x="804672" y="2688336"/>
            <a:ext cx="3328416" cy="731520"/>
          </a:xfrm>
          <a:prstGeom prst="rect">
            <a:avLst/>
          </a:prstGeom>
          <a:noFill/>
          <a:ln/>
        </p:spPr>
        <p:txBody>
          <a:bodyPr wrap="square" lIns="0" tIns="0" rIns="0" bIns="0" rtlCol="0" anchor="t"/>
          <a:lstStyle/>
          <a:p>
            <a:pPr algn="l" indent="0" marL="0">
              <a:lnSpc>
                <a:spcPct val="114000"/>
              </a:lnSpc>
              <a:buNone/>
            </a:pPr>
            <a:r>
              <a:rPr lang="en-US" sz="1300" dirty="0">
                <a:solidFill>
                  <a:srgbClr val="14171A"/>
                </a:solidFill>
                <a:latin typeface="Calibri" pitchFamily="34" charset="0"/>
                <a:ea typeface="Calibri" pitchFamily="34" charset="-122"/>
                <a:cs typeface="Calibri" pitchFamily="34" charset="-120"/>
              </a:rPr>
              <a:t>ended with the industry making its own rules, instead of a new law.</a:t>
            </a:r>
            <a:endParaRPr lang="en-US" sz="1300" dirty="0"/>
          </a:p>
        </p:txBody>
      </p:sp>
      <p:sp>
        <p:nvSpPr>
          <p:cNvPr id="8" name="Shape 6"/>
          <p:cNvSpPr/>
          <p:nvPr/>
        </p:nvSpPr>
        <p:spPr>
          <a:xfrm>
            <a:off x="4754880" y="1645920"/>
            <a:ext cx="3840480" cy="1920240"/>
          </a:xfrm>
          <a:prstGeom prst="roundRect">
            <a:avLst>
              <a:gd name="adj" fmla="val 2857"/>
            </a:avLst>
          </a:prstGeom>
          <a:solidFill>
            <a:srgbClr val="FFFEFB"/>
          </a:solidFill>
          <a:ln w="9525">
            <a:solidFill>
              <a:srgbClr val="D9D6CF"/>
            </a:solidFill>
            <a:prstDash val="solid"/>
          </a:ln>
          <a:effectLst>
            <a:outerShdw sx="100000" sy="100000" kx="0" ky="0" algn="bl" rotWithShape="0" blurRad="88900" dist="12700" dir="5400000">
              <a:srgbClr val="9A968A">
                <a:alpha val="20000"/>
              </a:srgbClr>
            </a:outerShdw>
          </a:effectLst>
        </p:spPr>
      </p:sp>
      <p:sp>
        <p:nvSpPr>
          <p:cNvPr id="9" name="Text 7"/>
          <p:cNvSpPr/>
          <p:nvPr/>
        </p:nvSpPr>
        <p:spPr>
          <a:xfrm>
            <a:off x="4992624" y="1847088"/>
            <a:ext cx="3364992" cy="219456"/>
          </a:xfrm>
          <a:prstGeom prst="rect">
            <a:avLst/>
          </a:prstGeom>
          <a:noFill/>
          <a:ln/>
        </p:spPr>
        <p:txBody>
          <a:bodyPr wrap="square" lIns="0" tIns="0" rIns="0" bIns="0" rtlCol="0" anchor="t"/>
          <a:lstStyle/>
          <a:p>
            <a:pPr algn="l" indent="0" marL="0">
              <a:lnSpc>
                <a:spcPct val="106000"/>
              </a:lnSpc>
              <a:buNone/>
            </a:pPr>
            <a:r>
              <a:rPr lang="en-US" sz="900" b="1" dirty="0">
                <a:solidFill>
                  <a:srgbClr val="1F5673"/>
                </a:solidFill>
                <a:latin typeface="Courier New" pitchFamily="34" charset="0"/>
                <a:ea typeface="Courier New" pitchFamily="34" charset="-122"/>
                <a:cs typeface="Courier New" pitchFamily="34" charset="-120"/>
              </a:rPr>
              <a:t>SECOND</a:t>
            </a:r>
            <a:endParaRPr lang="en-US" sz="900" dirty="0"/>
          </a:p>
        </p:txBody>
      </p:sp>
      <p:sp>
        <p:nvSpPr>
          <p:cNvPr id="10" name="Text 8"/>
          <p:cNvSpPr/>
          <p:nvPr/>
        </p:nvSpPr>
        <p:spPr>
          <a:xfrm>
            <a:off x="4992624" y="2139696"/>
            <a:ext cx="3364992" cy="1188720"/>
          </a:xfrm>
          <a:prstGeom prst="rect">
            <a:avLst/>
          </a:prstGeom>
          <a:noFill/>
          <a:ln/>
        </p:spPr>
        <p:txBody>
          <a:bodyPr wrap="square" lIns="0" tIns="0" rIns="0" bIns="0" rtlCol="0" anchor="t"/>
          <a:lstStyle/>
          <a:p>
            <a:pPr algn="l" indent="0" marL="0">
              <a:lnSpc>
                <a:spcPct val="116000"/>
              </a:lnSpc>
              <a:buNone/>
            </a:pPr>
            <a:r>
              <a:rPr lang="en-US" sz="1300" dirty="0">
                <a:solidFill>
                  <a:srgbClr val="3C444C"/>
                </a:solidFill>
                <a:latin typeface="Calibri" pitchFamily="34" charset="0"/>
                <a:ea typeface="Calibri" pitchFamily="34" charset="-122"/>
                <a:cs typeface="Calibri" pitchFamily="34" charset="-120"/>
              </a:rPr>
              <a:t>Some of the strongest claims made back then turned out to be wrong. The comic book research was seriously flawed. The video game research is still argued about.</a:t>
            </a:r>
            <a:endParaRPr lang="en-US" sz="1300" dirty="0"/>
          </a:p>
        </p:txBody>
      </p:sp>
      <p:sp>
        <p:nvSpPr>
          <p:cNvPr id="11" name="Text 9"/>
          <p:cNvSpPr/>
          <p:nvPr/>
        </p:nvSpPr>
        <p:spPr>
          <a:xfrm>
            <a:off x="548640" y="3749040"/>
            <a:ext cx="8046720" cy="640080"/>
          </a:xfrm>
          <a:prstGeom prst="rect">
            <a:avLst/>
          </a:prstGeom>
          <a:noFill/>
          <a:ln/>
        </p:spPr>
        <p:txBody>
          <a:bodyPr wrap="square" lIns="0" tIns="0" rIns="0" bIns="0" rtlCol="0" anchor="t"/>
          <a:lstStyle/>
          <a:p>
            <a:pPr algn="l" indent="0" marL="0">
              <a:lnSpc>
                <a:spcPct val="114000"/>
              </a:lnSpc>
              <a:buNone/>
            </a:pPr>
            <a:r>
              <a:rPr lang="en-US" sz="1300" dirty="0">
                <a:solidFill>
                  <a:srgbClr val="3C444C"/>
                </a:solidFill>
                <a:latin typeface="Calibri" pitchFamily="34" charset="0"/>
                <a:ea typeface="Calibri" pitchFamily="34" charset="-122"/>
                <a:cs typeface="Calibri" pitchFamily="34" charset="-120"/>
              </a:rPr>
              <a:t>This history does not tell you who is right today. People have said "this new thing is dangerous for kids" many times before, sometimes correctly and sometimes not, and they believed it either way.</a:t>
            </a:r>
            <a:endParaRPr lang="en-US" sz="1300" dirty="0"/>
          </a:p>
        </p:txBody>
      </p:sp>
      <p:sp>
        <p:nvSpPr>
          <p:cNvPr id="13" name="Text 10"/>
          <p:cNvSpPr/>
          <p:nvPr/>
        </p:nvSpPr>
        <p:spPr>
          <a:xfrm>
            <a:off x="548640" y="4668012"/>
            <a:ext cx="8046720" cy="256032"/>
          </a:xfrm>
          <a:prstGeom prst="rect">
            <a:avLst/>
          </a:prstGeom>
          <a:noFill/>
          <a:ln/>
        </p:spPr>
        <p:txBody>
          <a:bodyPr wrap="square" lIns="0" tIns="0" rIns="0" bIns="0" rtlCol="0" anchor="ctr"/>
          <a:lstStyle/>
          <a:p>
            <a:pPr indent="0" marL="0">
              <a:buNone/>
            </a:pPr>
            <a:r>
              <a:rPr lang="en-US" sz="800" spc="100" kern="0" dirty="0">
                <a:solidFill>
                  <a:srgbClr val="5C6873"/>
                </a:solidFill>
                <a:latin typeface="Courier New" pitchFamily="34" charset="0"/>
                <a:ea typeface="Courier New" pitchFamily="34" charset="-122"/>
                <a:cs typeface="Courier New" pitchFamily="34" charset="-120"/>
              </a:rPr>
              <a:t>BECURRENT  ·  SOCIAL MEDIA  ·  TOPIC 6</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2ED"/>
        </a:solidFill>
      </p:bgPr>
    </p:bg>
    <p:spTree>
      <p:nvGrpSpPr>
        <p:cNvPr id="1" name=""/>
        <p:cNvGrpSpPr/>
        <p:nvPr/>
      </p:nvGrpSpPr>
      <p:grpSpPr>
        <a:xfrm>
          <a:off x="0" y="0"/>
          <a:ext cx="0" cy="0"/>
          <a:chOff x="0" y="0"/>
          <a:chExt cx="0" cy="0"/>
        </a:xfrm>
      </p:grpSpPr>
      <p:sp>
        <p:nvSpPr>
          <p:cNvPr id="2" name="Text 0"/>
          <p:cNvSpPr/>
          <p:nvPr/>
        </p:nvSpPr>
        <p:spPr>
          <a:xfrm>
            <a:off x="548640" y="365760"/>
            <a:ext cx="8046720" cy="237744"/>
          </a:xfrm>
          <a:prstGeom prst="rect">
            <a:avLst/>
          </a:prstGeom>
          <a:noFill/>
          <a:ln/>
        </p:spPr>
        <p:txBody>
          <a:bodyPr wrap="square" lIns="0" tIns="0" rIns="0" bIns="0" rtlCol="0" anchor="ctr"/>
          <a:lstStyle/>
          <a:p>
            <a:pPr indent="0" marL="0">
              <a:buNone/>
            </a:pPr>
            <a:r>
              <a:rPr lang="en-US" sz="1000" b="1" spc="140" kern="0" dirty="0">
                <a:solidFill>
                  <a:srgbClr val="B22222"/>
                </a:solidFill>
                <a:latin typeface="Courier New" pitchFamily="34" charset="0"/>
                <a:ea typeface="Courier New" pitchFamily="34" charset="-122"/>
                <a:cs typeface="Courier New" pitchFamily="34" charset="-120"/>
              </a:rPr>
              <a:t>SKILL FOCUS · USING A PRECEDENT</a:t>
            </a:r>
            <a:endParaRPr lang="en-US" sz="1000" dirty="0"/>
          </a:p>
        </p:txBody>
      </p:sp>
      <p:sp>
        <p:nvSpPr>
          <p:cNvPr id="3" name="Text 1"/>
          <p:cNvSpPr/>
          <p:nvPr/>
        </p:nvSpPr>
        <p:spPr>
          <a:xfrm>
            <a:off x="548640" y="713232"/>
            <a:ext cx="8046720" cy="731520"/>
          </a:xfrm>
          <a:prstGeom prst="rect">
            <a:avLst/>
          </a:prstGeom>
          <a:noFill/>
          <a:ln/>
        </p:spPr>
        <p:txBody>
          <a:bodyPr wrap="square" lIns="0" tIns="0" rIns="0" bIns="0" rtlCol="0" anchor="t"/>
          <a:lstStyle/>
          <a:p>
            <a:pPr indent="0" marL="0">
              <a:lnSpc>
                <a:spcPct val="92000"/>
              </a:lnSpc>
              <a:buNone/>
            </a:pPr>
            <a:r>
              <a:rPr lang="en-US" sz="3000" b="1" dirty="0">
                <a:solidFill>
                  <a:srgbClr val="14171A"/>
                </a:solidFill>
                <a:latin typeface="Cambria" pitchFamily="34" charset="0"/>
                <a:ea typeface="Cambria" pitchFamily="34" charset="-122"/>
                <a:cs typeface="Cambria" pitchFamily="34" charset="-120"/>
              </a:rPr>
              <a:t>Social media is not a comic book</a:t>
            </a:r>
            <a:endParaRPr lang="en-US" sz="3000" dirty="0"/>
          </a:p>
        </p:txBody>
      </p:sp>
      <p:sp>
        <p:nvSpPr>
          <p:cNvPr id="4" name="Shape 2"/>
          <p:cNvSpPr/>
          <p:nvPr/>
        </p:nvSpPr>
        <p:spPr>
          <a:xfrm>
            <a:off x="548640" y="1645920"/>
            <a:ext cx="2560320" cy="1371600"/>
          </a:xfrm>
          <a:prstGeom prst="roundRect">
            <a:avLst>
              <a:gd name="adj" fmla="val 4000"/>
            </a:avLst>
          </a:prstGeom>
          <a:solidFill>
            <a:srgbClr val="FFFEFB"/>
          </a:solidFill>
          <a:ln w="9525">
            <a:solidFill>
              <a:srgbClr val="D9D6CF"/>
            </a:solidFill>
            <a:prstDash val="solid"/>
          </a:ln>
          <a:effectLst>
            <a:outerShdw sx="100000" sy="100000" kx="0" ky="0" algn="bl" rotWithShape="0" blurRad="88900" dist="12700" dir="5400000">
              <a:srgbClr val="9A968A">
                <a:alpha val="20000"/>
              </a:srgbClr>
            </a:outerShdw>
          </a:effectLst>
        </p:spPr>
      </p:sp>
      <p:sp>
        <p:nvSpPr>
          <p:cNvPr id="5" name="Text 3"/>
          <p:cNvSpPr/>
          <p:nvPr/>
        </p:nvSpPr>
        <p:spPr>
          <a:xfrm>
            <a:off x="768096" y="1865376"/>
            <a:ext cx="2121408" cy="274320"/>
          </a:xfrm>
          <a:prstGeom prst="rect">
            <a:avLst/>
          </a:prstGeom>
          <a:noFill/>
          <a:ln/>
        </p:spPr>
        <p:txBody>
          <a:bodyPr wrap="square" lIns="0" tIns="0" rIns="0" bIns="0" rtlCol="0" anchor="t"/>
          <a:lstStyle/>
          <a:p>
            <a:pPr algn="l" indent="0" marL="0">
              <a:lnSpc>
                <a:spcPct val="106000"/>
              </a:lnSpc>
              <a:buNone/>
            </a:pPr>
            <a:r>
              <a:rPr lang="en-US" sz="1400" b="1" dirty="0">
                <a:solidFill>
                  <a:srgbClr val="14171A"/>
                </a:solidFill>
                <a:latin typeface="Cambria" pitchFamily="34" charset="0"/>
                <a:ea typeface="Cambria" pitchFamily="34" charset="-122"/>
                <a:cs typeface="Cambria" pitchFamily="34" charset="-120"/>
              </a:rPr>
              <a:t>It is personalized</a:t>
            </a:r>
            <a:endParaRPr lang="en-US" sz="1400" dirty="0"/>
          </a:p>
        </p:txBody>
      </p:sp>
      <p:sp>
        <p:nvSpPr>
          <p:cNvPr id="6" name="Text 4"/>
          <p:cNvSpPr/>
          <p:nvPr/>
        </p:nvSpPr>
        <p:spPr>
          <a:xfrm>
            <a:off x="768096" y="2212848"/>
            <a:ext cx="2121408" cy="566928"/>
          </a:xfrm>
          <a:prstGeom prst="rect">
            <a:avLst/>
          </a:prstGeom>
          <a:noFill/>
          <a:ln/>
        </p:spPr>
        <p:txBody>
          <a:bodyPr wrap="square" lIns="0" tIns="0" rIns="0" bIns="0" rtlCol="0" anchor="t"/>
          <a:lstStyle/>
          <a:p>
            <a:pPr algn="l" indent="0" marL="0">
              <a:lnSpc>
                <a:spcPct val="108000"/>
              </a:lnSpc>
              <a:buNone/>
            </a:pPr>
            <a:r>
              <a:rPr lang="en-US" sz="1250" dirty="0">
                <a:solidFill>
                  <a:srgbClr val="3C444C"/>
                </a:solidFill>
                <a:latin typeface="Calibri" pitchFamily="34" charset="0"/>
                <a:ea typeface="Calibri" pitchFamily="34" charset="-122"/>
                <a:cs typeface="Calibri" pitchFamily="34" charset="-120"/>
              </a:rPr>
              <a:t>A comic book did not know who was holding it.</a:t>
            </a:r>
            <a:endParaRPr lang="en-US" sz="1250" dirty="0"/>
          </a:p>
        </p:txBody>
      </p:sp>
      <p:sp>
        <p:nvSpPr>
          <p:cNvPr id="7" name="Shape 5"/>
          <p:cNvSpPr/>
          <p:nvPr/>
        </p:nvSpPr>
        <p:spPr>
          <a:xfrm>
            <a:off x="3291840" y="1645920"/>
            <a:ext cx="2560320" cy="1371600"/>
          </a:xfrm>
          <a:prstGeom prst="roundRect">
            <a:avLst>
              <a:gd name="adj" fmla="val 4000"/>
            </a:avLst>
          </a:prstGeom>
          <a:solidFill>
            <a:srgbClr val="FFFEFB"/>
          </a:solidFill>
          <a:ln w="9525">
            <a:solidFill>
              <a:srgbClr val="D9D6CF"/>
            </a:solidFill>
            <a:prstDash val="solid"/>
          </a:ln>
          <a:effectLst>
            <a:outerShdw sx="100000" sy="100000" kx="0" ky="0" algn="bl" rotWithShape="0" blurRad="88900" dist="12700" dir="5400000">
              <a:srgbClr val="9A968A">
                <a:alpha val="20000"/>
              </a:srgbClr>
            </a:outerShdw>
          </a:effectLst>
        </p:spPr>
      </p:sp>
      <p:sp>
        <p:nvSpPr>
          <p:cNvPr id="8" name="Text 6"/>
          <p:cNvSpPr/>
          <p:nvPr/>
        </p:nvSpPr>
        <p:spPr>
          <a:xfrm>
            <a:off x="3511296" y="1865376"/>
            <a:ext cx="2121408" cy="274320"/>
          </a:xfrm>
          <a:prstGeom prst="rect">
            <a:avLst/>
          </a:prstGeom>
          <a:noFill/>
          <a:ln/>
        </p:spPr>
        <p:txBody>
          <a:bodyPr wrap="square" lIns="0" tIns="0" rIns="0" bIns="0" rtlCol="0" anchor="t"/>
          <a:lstStyle/>
          <a:p>
            <a:pPr algn="l" indent="0" marL="0">
              <a:lnSpc>
                <a:spcPct val="106000"/>
              </a:lnSpc>
              <a:buNone/>
            </a:pPr>
            <a:r>
              <a:rPr lang="en-US" sz="1400" b="1" dirty="0">
                <a:solidFill>
                  <a:srgbClr val="14171A"/>
                </a:solidFill>
                <a:latin typeface="Cambria" pitchFamily="34" charset="0"/>
                <a:ea typeface="Cambria" pitchFamily="34" charset="-122"/>
                <a:cs typeface="Cambria" pitchFamily="34" charset="-120"/>
              </a:rPr>
              <a:t>It is always with you</a:t>
            </a:r>
            <a:endParaRPr lang="en-US" sz="1400" dirty="0"/>
          </a:p>
        </p:txBody>
      </p:sp>
      <p:sp>
        <p:nvSpPr>
          <p:cNvPr id="9" name="Text 7"/>
          <p:cNvSpPr/>
          <p:nvPr/>
        </p:nvSpPr>
        <p:spPr>
          <a:xfrm>
            <a:off x="3511296" y="2212848"/>
            <a:ext cx="2121408" cy="566928"/>
          </a:xfrm>
          <a:prstGeom prst="rect">
            <a:avLst/>
          </a:prstGeom>
          <a:noFill/>
          <a:ln/>
        </p:spPr>
        <p:txBody>
          <a:bodyPr wrap="square" lIns="0" tIns="0" rIns="0" bIns="0" rtlCol="0" anchor="t"/>
          <a:lstStyle/>
          <a:p>
            <a:pPr algn="l" indent="0" marL="0">
              <a:lnSpc>
                <a:spcPct val="108000"/>
              </a:lnSpc>
              <a:buNone/>
            </a:pPr>
            <a:r>
              <a:rPr lang="en-US" sz="1250" dirty="0">
                <a:solidFill>
                  <a:srgbClr val="3C444C"/>
                </a:solidFill>
                <a:latin typeface="Calibri" pitchFamily="34" charset="0"/>
                <a:ea typeface="Calibri" pitchFamily="34" charset="-122"/>
                <a:cs typeface="Calibri" pitchFamily="34" charset="-120"/>
              </a:rPr>
              <a:t>It is not a thing you go to and then leave behind.</a:t>
            </a:r>
            <a:endParaRPr lang="en-US" sz="1250" dirty="0"/>
          </a:p>
        </p:txBody>
      </p:sp>
      <p:sp>
        <p:nvSpPr>
          <p:cNvPr id="10" name="Shape 8"/>
          <p:cNvSpPr/>
          <p:nvPr/>
        </p:nvSpPr>
        <p:spPr>
          <a:xfrm>
            <a:off x="6035040" y="1645920"/>
            <a:ext cx="2560320" cy="1371600"/>
          </a:xfrm>
          <a:prstGeom prst="roundRect">
            <a:avLst>
              <a:gd name="adj" fmla="val 4000"/>
            </a:avLst>
          </a:prstGeom>
          <a:solidFill>
            <a:srgbClr val="FFFEFB"/>
          </a:solidFill>
          <a:ln w="9525">
            <a:solidFill>
              <a:srgbClr val="D9D6CF"/>
            </a:solidFill>
            <a:prstDash val="solid"/>
          </a:ln>
          <a:effectLst>
            <a:outerShdw sx="100000" sy="100000" kx="0" ky="0" algn="bl" rotWithShape="0" blurRad="88900" dist="12700" dir="5400000">
              <a:srgbClr val="9A968A">
                <a:alpha val="20000"/>
              </a:srgbClr>
            </a:outerShdw>
          </a:effectLst>
        </p:spPr>
      </p:sp>
      <p:sp>
        <p:nvSpPr>
          <p:cNvPr id="11" name="Text 9"/>
          <p:cNvSpPr/>
          <p:nvPr/>
        </p:nvSpPr>
        <p:spPr>
          <a:xfrm>
            <a:off x="6254496" y="1865376"/>
            <a:ext cx="2121408" cy="274320"/>
          </a:xfrm>
          <a:prstGeom prst="rect">
            <a:avLst/>
          </a:prstGeom>
          <a:noFill/>
          <a:ln/>
        </p:spPr>
        <p:txBody>
          <a:bodyPr wrap="square" lIns="0" tIns="0" rIns="0" bIns="0" rtlCol="0" anchor="t"/>
          <a:lstStyle/>
          <a:p>
            <a:pPr algn="l" indent="0" marL="0">
              <a:lnSpc>
                <a:spcPct val="106000"/>
              </a:lnSpc>
              <a:buNone/>
            </a:pPr>
            <a:r>
              <a:rPr lang="en-US" sz="1400" b="1" dirty="0">
                <a:solidFill>
                  <a:srgbClr val="14171A"/>
                </a:solidFill>
                <a:latin typeface="Cambria" pitchFamily="34" charset="0"/>
                <a:ea typeface="Cambria" pitchFamily="34" charset="-122"/>
                <a:cs typeface="Cambria" pitchFamily="34" charset="-120"/>
              </a:rPr>
              <a:t>It responds to you</a:t>
            </a:r>
            <a:endParaRPr lang="en-US" sz="1400" dirty="0"/>
          </a:p>
        </p:txBody>
      </p:sp>
      <p:sp>
        <p:nvSpPr>
          <p:cNvPr id="12" name="Text 10"/>
          <p:cNvSpPr/>
          <p:nvPr/>
        </p:nvSpPr>
        <p:spPr>
          <a:xfrm>
            <a:off x="6254496" y="2212848"/>
            <a:ext cx="2121408" cy="566928"/>
          </a:xfrm>
          <a:prstGeom prst="rect">
            <a:avLst/>
          </a:prstGeom>
          <a:noFill/>
          <a:ln/>
        </p:spPr>
        <p:txBody>
          <a:bodyPr wrap="square" lIns="0" tIns="0" rIns="0" bIns="0" rtlCol="0" anchor="t"/>
          <a:lstStyle/>
          <a:p>
            <a:pPr algn="l" indent="0" marL="0">
              <a:lnSpc>
                <a:spcPct val="108000"/>
              </a:lnSpc>
              <a:buNone/>
            </a:pPr>
            <a:r>
              <a:rPr lang="en-US" sz="1250" dirty="0">
                <a:solidFill>
                  <a:srgbClr val="3C444C"/>
                </a:solidFill>
                <a:latin typeface="Calibri" pitchFamily="34" charset="0"/>
                <a:ea typeface="Calibri" pitchFamily="34" charset="-122"/>
                <a:cs typeface="Calibri" pitchFamily="34" charset="-120"/>
              </a:rPr>
              <a:t>What you do changes what it shows you next.</a:t>
            </a:r>
            <a:endParaRPr lang="en-US" sz="1250" dirty="0"/>
          </a:p>
        </p:txBody>
      </p:sp>
      <p:sp>
        <p:nvSpPr>
          <p:cNvPr id="13" name="Text 11"/>
          <p:cNvSpPr/>
          <p:nvPr/>
        </p:nvSpPr>
        <p:spPr>
          <a:xfrm>
            <a:off x="548640" y="3291840"/>
            <a:ext cx="8046720" cy="310896"/>
          </a:xfrm>
          <a:prstGeom prst="rect">
            <a:avLst/>
          </a:prstGeom>
          <a:noFill/>
          <a:ln/>
        </p:spPr>
        <p:txBody>
          <a:bodyPr wrap="square" lIns="0" tIns="0" rIns="0" bIns="0" rtlCol="0" anchor="t"/>
          <a:lstStyle/>
          <a:p>
            <a:pPr algn="l" indent="0" marL="0">
              <a:lnSpc>
                <a:spcPct val="106000"/>
              </a:lnSpc>
              <a:buNone/>
            </a:pPr>
            <a:r>
              <a:rPr lang="en-US" sz="1800" b="1" dirty="0">
                <a:solidFill>
                  <a:srgbClr val="14171A"/>
                </a:solidFill>
                <a:latin typeface="Cambria" pitchFamily="34" charset="0"/>
                <a:ea typeface="Cambria" pitchFamily="34" charset="-122"/>
                <a:cs typeface="Cambria" pitchFamily="34" charset="-120"/>
              </a:rPr>
              <a:t>Any argument from precedent has to survive those three differences.</a:t>
            </a:r>
            <a:endParaRPr lang="en-US" sz="1800" dirty="0"/>
          </a:p>
        </p:txBody>
      </p:sp>
      <p:sp>
        <p:nvSpPr>
          <p:cNvPr id="14" name="Text 12"/>
          <p:cNvSpPr/>
          <p:nvPr/>
        </p:nvSpPr>
        <p:spPr>
          <a:xfrm>
            <a:off x="548640" y="3712464"/>
            <a:ext cx="8046720" cy="457200"/>
          </a:xfrm>
          <a:prstGeom prst="rect">
            <a:avLst/>
          </a:prstGeom>
          <a:noFill/>
          <a:ln/>
        </p:spPr>
        <p:txBody>
          <a:bodyPr wrap="square" lIns="0" tIns="0" rIns="0" bIns="0" rtlCol="0" anchor="t"/>
          <a:lstStyle/>
          <a:p>
            <a:pPr algn="l" indent="0" marL="0">
              <a:lnSpc>
                <a:spcPct val="114000"/>
              </a:lnSpc>
              <a:buNone/>
            </a:pPr>
            <a:r>
              <a:rPr lang="en-US" sz="1350" dirty="0">
                <a:solidFill>
                  <a:srgbClr val="3C444C"/>
                </a:solidFill>
                <a:latin typeface="Calibri" pitchFamily="34" charset="0"/>
                <a:ea typeface="Calibri" pitchFamily="34" charset="-122"/>
                <a:cs typeface="Calibri" pitchFamily="34" charset="-120"/>
              </a:rPr>
              <a:t>Using a precedent well means naming what is the same and what is different. Both halves, every time.</a:t>
            </a:r>
            <a:endParaRPr lang="en-US" sz="1350" dirty="0"/>
          </a:p>
        </p:txBody>
      </p:sp>
      <p:sp>
        <p:nvSpPr>
          <p:cNvPr id="16" name="Text 13"/>
          <p:cNvSpPr/>
          <p:nvPr/>
        </p:nvSpPr>
        <p:spPr>
          <a:xfrm>
            <a:off x="548640" y="4668012"/>
            <a:ext cx="8046720" cy="256032"/>
          </a:xfrm>
          <a:prstGeom prst="rect">
            <a:avLst/>
          </a:prstGeom>
          <a:noFill/>
          <a:ln/>
        </p:spPr>
        <p:txBody>
          <a:bodyPr wrap="square" lIns="0" tIns="0" rIns="0" bIns="0" rtlCol="0" anchor="ctr"/>
          <a:lstStyle/>
          <a:p>
            <a:pPr indent="0" marL="0">
              <a:buNone/>
            </a:pPr>
            <a:r>
              <a:rPr lang="en-US" sz="800" spc="100" kern="0" dirty="0">
                <a:solidFill>
                  <a:srgbClr val="5C6873"/>
                </a:solidFill>
                <a:latin typeface="Courier New" pitchFamily="34" charset="0"/>
                <a:ea typeface="Courier New" pitchFamily="34" charset="-122"/>
                <a:cs typeface="Courier New" pitchFamily="34" charset="-120"/>
              </a:rPr>
              <a:t>BECURRENT  ·  SOCIAL MEDIA  ·  TOPIC 6</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2ED"/>
        </a:solidFill>
      </p:bgPr>
    </p:bg>
    <p:spTree>
      <p:nvGrpSpPr>
        <p:cNvPr id="1" name=""/>
        <p:cNvGrpSpPr/>
        <p:nvPr/>
      </p:nvGrpSpPr>
      <p:grpSpPr>
        <a:xfrm>
          <a:off x="0" y="0"/>
          <a:ext cx="0" cy="0"/>
          <a:chOff x="0" y="0"/>
          <a:chExt cx="0" cy="0"/>
        </a:xfrm>
      </p:grpSpPr>
      <p:sp>
        <p:nvSpPr>
          <p:cNvPr id="2" name="Text 0"/>
          <p:cNvSpPr/>
          <p:nvPr/>
        </p:nvSpPr>
        <p:spPr>
          <a:xfrm>
            <a:off x="548640" y="365760"/>
            <a:ext cx="8046720" cy="237744"/>
          </a:xfrm>
          <a:prstGeom prst="rect">
            <a:avLst/>
          </a:prstGeom>
          <a:noFill/>
          <a:ln/>
        </p:spPr>
        <p:txBody>
          <a:bodyPr wrap="square" lIns="0" tIns="0" rIns="0" bIns="0" rtlCol="0" anchor="ctr"/>
          <a:lstStyle/>
          <a:p>
            <a:pPr indent="0" marL="0">
              <a:buNone/>
            </a:pPr>
            <a:r>
              <a:rPr lang="en-US" sz="1000" b="1" spc="140" kern="0" dirty="0">
                <a:solidFill>
                  <a:srgbClr val="B22222"/>
                </a:solidFill>
                <a:latin typeface="Courier New" pitchFamily="34" charset="0"/>
                <a:ea typeface="Courier New" pitchFamily="34" charset="-122"/>
                <a:cs typeface="Courier New" pitchFamily="34" charset="-120"/>
              </a:rPr>
              <a:t>THE ROAD NOT TAKEN</a:t>
            </a:r>
            <a:endParaRPr lang="en-US" sz="1000" dirty="0"/>
          </a:p>
        </p:txBody>
      </p:sp>
      <p:sp>
        <p:nvSpPr>
          <p:cNvPr id="3" name="Text 1"/>
          <p:cNvSpPr/>
          <p:nvPr/>
        </p:nvSpPr>
        <p:spPr>
          <a:xfrm>
            <a:off x="548640" y="713232"/>
            <a:ext cx="8046720" cy="731520"/>
          </a:xfrm>
          <a:prstGeom prst="rect">
            <a:avLst/>
          </a:prstGeom>
          <a:noFill/>
          <a:ln/>
        </p:spPr>
        <p:txBody>
          <a:bodyPr wrap="square" lIns="0" tIns="0" rIns="0" bIns="0" rtlCol="0" anchor="t"/>
          <a:lstStyle/>
          <a:p>
            <a:pPr indent="0" marL="0">
              <a:lnSpc>
                <a:spcPct val="92000"/>
              </a:lnSpc>
              <a:buNone/>
            </a:pPr>
            <a:r>
              <a:rPr lang="en-US" sz="3000" b="1" dirty="0">
                <a:solidFill>
                  <a:srgbClr val="14171A"/>
                </a:solidFill>
                <a:latin typeface="Cambria" pitchFamily="34" charset="0"/>
                <a:ea typeface="Cambria" pitchFamily="34" charset="-122"/>
                <a:cs typeface="Cambria" pitchFamily="34" charset="-120"/>
              </a:rPr>
              <a:t>One sentence, from 1996</a:t>
            </a:r>
            <a:endParaRPr lang="en-US" sz="3000" dirty="0"/>
          </a:p>
        </p:txBody>
      </p:sp>
      <p:sp>
        <p:nvSpPr>
          <p:cNvPr id="4" name="Shape 2"/>
          <p:cNvSpPr/>
          <p:nvPr/>
        </p:nvSpPr>
        <p:spPr>
          <a:xfrm>
            <a:off x="548640" y="1463040"/>
            <a:ext cx="8046720" cy="786384"/>
          </a:xfrm>
          <a:prstGeom prst="roundRect">
            <a:avLst>
              <a:gd name="adj" fmla="val 6977"/>
            </a:avLst>
          </a:prstGeom>
          <a:solidFill>
            <a:srgbClr val="F2E1E1"/>
          </a:solidFill>
          <a:ln w="9525">
            <a:solidFill>
              <a:srgbClr val="F2E1E1"/>
            </a:solidFill>
            <a:prstDash val="solid"/>
          </a:ln>
          <a:effectLst>
            <a:outerShdw sx="100000" sy="100000" kx="0" ky="0" algn="bl" rotWithShape="0" blurRad="88900" dist="12700" dir="5400000">
              <a:srgbClr val="9A968A">
                <a:alpha val="20000"/>
              </a:srgbClr>
            </a:outerShdw>
          </a:effectLst>
        </p:spPr>
      </p:sp>
      <p:sp>
        <p:nvSpPr>
          <p:cNvPr id="5" name="Text 3"/>
          <p:cNvSpPr/>
          <p:nvPr/>
        </p:nvSpPr>
        <p:spPr>
          <a:xfrm>
            <a:off x="822960" y="1463040"/>
            <a:ext cx="7498080" cy="786384"/>
          </a:xfrm>
          <a:prstGeom prst="rect">
            <a:avLst/>
          </a:prstGeom>
          <a:noFill/>
          <a:ln/>
        </p:spPr>
        <p:txBody>
          <a:bodyPr wrap="square" lIns="0" tIns="0" rIns="0" bIns="0" rtlCol="0" anchor="ctr"/>
          <a:lstStyle/>
          <a:p>
            <a:pPr algn="l" indent="0" marL="0">
              <a:lnSpc>
                <a:spcPct val="106000"/>
              </a:lnSpc>
              <a:buNone/>
            </a:pPr>
            <a:r>
              <a:rPr lang="en-US" sz="1700" i="1" dirty="0">
                <a:solidFill>
                  <a:srgbClr val="14171A"/>
                </a:solidFill>
                <a:latin typeface="Cambria" pitchFamily="34" charset="0"/>
                <a:ea typeface="Cambria" pitchFamily="34" charset="-122"/>
                <a:cs typeface="Cambria" pitchFamily="34" charset="-120"/>
              </a:rPr>
              <a:t>In plain terms: if a user posts something illegal, the user can be held responsible. The platform usually cannot.</a:t>
            </a:r>
            <a:endParaRPr lang="en-US" sz="1700" dirty="0"/>
          </a:p>
        </p:txBody>
      </p:sp>
      <p:sp>
        <p:nvSpPr>
          <p:cNvPr id="6" name="Text 4"/>
          <p:cNvSpPr/>
          <p:nvPr/>
        </p:nvSpPr>
        <p:spPr>
          <a:xfrm>
            <a:off x="548640" y="2395728"/>
            <a:ext cx="822960" cy="365760"/>
          </a:xfrm>
          <a:prstGeom prst="rect">
            <a:avLst/>
          </a:prstGeom>
          <a:noFill/>
          <a:ln/>
        </p:spPr>
        <p:txBody>
          <a:bodyPr wrap="square" lIns="0" tIns="0" rIns="0" bIns="0" rtlCol="0" anchor="ctr"/>
          <a:lstStyle/>
          <a:p>
            <a:pPr algn="l" indent="0" marL="0">
              <a:lnSpc>
                <a:spcPct val="106000"/>
              </a:lnSpc>
              <a:buNone/>
            </a:pPr>
            <a:r>
              <a:rPr lang="en-US" sz="950" b="1" dirty="0">
                <a:solidFill>
                  <a:srgbClr val="8A1A1A"/>
                </a:solidFill>
                <a:latin typeface="Courier New" pitchFamily="34" charset="0"/>
                <a:ea typeface="Courier New" pitchFamily="34" charset="-122"/>
                <a:cs typeface="Courier New" pitchFamily="34" charset="-120"/>
              </a:rPr>
              <a:t>1996</a:t>
            </a:r>
            <a:endParaRPr lang="en-US" sz="950" dirty="0"/>
          </a:p>
        </p:txBody>
      </p:sp>
      <p:sp>
        <p:nvSpPr>
          <p:cNvPr id="7" name="Text 5"/>
          <p:cNvSpPr/>
          <p:nvPr/>
        </p:nvSpPr>
        <p:spPr>
          <a:xfrm>
            <a:off x="1463040" y="2395728"/>
            <a:ext cx="7132320" cy="402336"/>
          </a:xfrm>
          <a:prstGeom prst="rect">
            <a:avLst/>
          </a:prstGeom>
          <a:noFill/>
          <a:ln/>
        </p:spPr>
        <p:txBody>
          <a:bodyPr wrap="square" lIns="0" tIns="0" rIns="0" bIns="0" rtlCol="0" anchor="ctr"/>
          <a:lstStyle/>
          <a:p>
            <a:pPr algn="l" indent="0" marL="0">
              <a:lnSpc>
                <a:spcPct val="106000"/>
              </a:lnSpc>
              <a:buNone/>
            </a:pPr>
            <a:r>
              <a:rPr lang="en-US" sz="1150" dirty="0">
                <a:solidFill>
                  <a:srgbClr val="14171A"/>
                </a:solidFill>
                <a:latin typeface="Calibri" pitchFamily="34" charset="0"/>
                <a:ea typeface="Calibri" pitchFamily="34" charset="-122"/>
                <a:cs typeface="Calibri" pitchFamily="34" charset="-120"/>
              </a:rPr>
              <a:t>One sentence becomes part of Section 230 of the Communications Decency Act: a platform is usually not treated as the publisher of what its users post.</a:t>
            </a:r>
            <a:endParaRPr lang="en-US" sz="1150" dirty="0"/>
          </a:p>
        </p:txBody>
      </p:sp>
      <p:sp>
        <p:nvSpPr>
          <p:cNvPr id="8" name="Text 6"/>
          <p:cNvSpPr/>
          <p:nvPr/>
        </p:nvSpPr>
        <p:spPr>
          <a:xfrm>
            <a:off x="548640" y="2852928"/>
            <a:ext cx="822960" cy="365760"/>
          </a:xfrm>
          <a:prstGeom prst="rect">
            <a:avLst/>
          </a:prstGeom>
          <a:noFill/>
          <a:ln/>
        </p:spPr>
        <p:txBody>
          <a:bodyPr wrap="square" lIns="0" tIns="0" rIns="0" bIns="0" rtlCol="0" anchor="ctr"/>
          <a:lstStyle/>
          <a:p>
            <a:pPr algn="l" indent="0" marL="0">
              <a:lnSpc>
                <a:spcPct val="106000"/>
              </a:lnSpc>
              <a:buNone/>
            </a:pPr>
            <a:r>
              <a:rPr lang="en-US" sz="950" b="1" dirty="0">
                <a:solidFill>
                  <a:srgbClr val="8A1A1A"/>
                </a:solidFill>
                <a:latin typeface="Courier New" pitchFamily="34" charset="0"/>
                <a:ea typeface="Courier New" pitchFamily="34" charset="-122"/>
                <a:cs typeface="Courier New" pitchFamily="34" charset="-120"/>
              </a:rPr>
              <a:t>1997</a:t>
            </a:r>
            <a:endParaRPr lang="en-US" sz="950" dirty="0"/>
          </a:p>
        </p:txBody>
      </p:sp>
      <p:sp>
        <p:nvSpPr>
          <p:cNvPr id="9" name="Text 7"/>
          <p:cNvSpPr/>
          <p:nvPr/>
        </p:nvSpPr>
        <p:spPr>
          <a:xfrm>
            <a:off x="1463040" y="2852928"/>
            <a:ext cx="7132320" cy="402336"/>
          </a:xfrm>
          <a:prstGeom prst="rect">
            <a:avLst/>
          </a:prstGeom>
          <a:noFill/>
          <a:ln/>
        </p:spPr>
        <p:txBody>
          <a:bodyPr wrap="square" lIns="0" tIns="0" rIns="0" bIns="0" rtlCol="0" anchor="ctr"/>
          <a:lstStyle/>
          <a:p>
            <a:pPr algn="l" indent="0" marL="0">
              <a:lnSpc>
                <a:spcPct val="106000"/>
              </a:lnSpc>
              <a:buNone/>
            </a:pPr>
            <a:r>
              <a:rPr lang="en-US" sz="1150" dirty="0">
                <a:solidFill>
                  <a:srgbClr val="14171A"/>
                </a:solidFill>
                <a:latin typeface="Calibri" pitchFamily="34" charset="0"/>
                <a:ea typeface="Calibri" pitchFamily="34" charset="-122"/>
                <a:cs typeface="Calibri" pitchFamily="34" charset="-120"/>
              </a:rPr>
              <a:t>The Supreme Court strikes down the rest of that law for violating free speech. Section 230 survives.</a:t>
            </a:r>
            <a:endParaRPr lang="en-US" sz="1150" dirty="0"/>
          </a:p>
        </p:txBody>
      </p:sp>
      <p:sp>
        <p:nvSpPr>
          <p:cNvPr id="10" name="Text 8"/>
          <p:cNvSpPr/>
          <p:nvPr/>
        </p:nvSpPr>
        <p:spPr>
          <a:xfrm>
            <a:off x="548640" y="3310128"/>
            <a:ext cx="822960" cy="365760"/>
          </a:xfrm>
          <a:prstGeom prst="rect">
            <a:avLst/>
          </a:prstGeom>
          <a:noFill/>
          <a:ln/>
        </p:spPr>
        <p:txBody>
          <a:bodyPr wrap="square" lIns="0" tIns="0" rIns="0" bIns="0" rtlCol="0" anchor="ctr"/>
          <a:lstStyle/>
          <a:p>
            <a:pPr algn="l" indent="0" marL="0">
              <a:lnSpc>
                <a:spcPct val="106000"/>
              </a:lnSpc>
              <a:buNone/>
            </a:pPr>
            <a:r>
              <a:rPr lang="en-US" sz="950" b="1" dirty="0">
                <a:solidFill>
                  <a:srgbClr val="8A1A1A"/>
                </a:solidFill>
                <a:latin typeface="Courier New" pitchFamily="34" charset="0"/>
                <a:ea typeface="Courier New" pitchFamily="34" charset="-122"/>
                <a:cs typeface="Courier New" pitchFamily="34" charset="-120"/>
              </a:rPr>
              <a:t>Since</a:t>
            </a:r>
            <a:endParaRPr lang="en-US" sz="950" dirty="0"/>
          </a:p>
        </p:txBody>
      </p:sp>
      <p:sp>
        <p:nvSpPr>
          <p:cNvPr id="11" name="Text 9"/>
          <p:cNvSpPr/>
          <p:nvPr/>
        </p:nvSpPr>
        <p:spPr>
          <a:xfrm>
            <a:off x="1463040" y="3310128"/>
            <a:ext cx="7132320" cy="402336"/>
          </a:xfrm>
          <a:prstGeom prst="rect">
            <a:avLst/>
          </a:prstGeom>
          <a:noFill/>
          <a:ln/>
        </p:spPr>
        <p:txBody>
          <a:bodyPr wrap="square" lIns="0" tIns="0" rIns="0" bIns="0" rtlCol="0" anchor="ctr"/>
          <a:lstStyle/>
          <a:p>
            <a:pPr algn="l" indent="0" marL="0">
              <a:lnSpc>
                <a:spcPct val="106000"/>
              </a:lnSpc>
              <a:buNone/>
            </a:pPr>
            <a:r>
              <a:rPr lang="en-US" sz="1150" dirty="0">
                <a:solidFill>
                  <a:srgbClr val="14171A"/>
                </a:solidFill>
                <a:latin typeface="Calibri" pitchFamily="34" charset="0"/>
                <a:ea typeface="Calibri" pitchFamily="34" charset="-122"/>
                <a:cs typeface="Calibri" pitchFamily="34" charset="-120"/>
              </a:rPr>
              <a:t>Lawmakers from both parties have tried to change it or remove it, for different reasons.</a:t>
            </a:r>
            <a:endParaRPr lang="en-US" sz="1150" dirty="0"/>
          </a:p>
        </p:txBody>
      </p:sp>
      <p:sp>
        <p:nvSpPr>
          <p:cNvPr id="12" name="Text 10"/>
          <p:cNvSpPr/>
          <p:nvPr/>
        </p:nvSpPr>
        <p:spPr>
          <a:xfrm>
            <a:off x="548640" y="3767328"/>
            <a:ext cx="822960" cy="365760"/>
          </a:xfrm>
          <a:prstGeom prst="rect">
            <a:avLst/>
          </a:prstGeom>
          <a:noFill/>
          <a:ln/>
        </p:spPr>
        <p:txBody>
          <a:bodyPr wrap="square" lIns="0" tIns="0" rIns="0" bIns="0" rtlCol="0" anchor="ctr"/>
          <a:lstStyle/>
          <a:p>
            <a:pPr algn="l" indent="0" marL="0">
              <a:lnSpc>
                <a:spcPct val="106000"/>
              </a:lnSpc>
              <a:buNone/>
            </a:pPr>
            <a:r>
              <a:rPr lang="en-US" sz="950" b="1" dirty="0">
                <a:solidFill>
                  <a:srgbClr val="8A1A1A"/>
                </a:solidFill>
                <a:latin typeface="Courier New" pitchFamily="34" charset="0"/>
                <a:ea typeface="Courier New" pitchFamily="34" charset="-122"/>
                <a:cs typeface="Courier New" pitchFamily="34" charset="-120"/>
              </a:rPr>
              <a:t>Now</a:t>
            </a:r>
            <a:endParaRPr lang="en-US" sz="950" dirty="0"/>
          </a:p>
        </p:txBody>
      </p:sp>
      <p:sp>
        <p:nvSpPr>
          <p:cNvPr id="13" name="Text 11"/>
          <p:cNvSpPr/>
          <p:nvPr/>
        </p:nvSpPr>
        <p:spPr>
          <a:xfrm>
            <a:off x="1463040" y="3767328"/>
            <a:ext cx="7132320" cy="402336"/>
          </a:xfrm>
          <a:prstGeom prst="rect">
            <a:avLst/>
          </a:prstGeom>
          <a:noFill/>
          <a:ln/>
        </p:spPr>
        <p:txBody>
          <a:bodyPr wrap="square" lIns="0" tIns="0" rIns="0" bIns="0" rtlCol="0" anchor="ctr"/>
          <a:lstStyle/>
          <a:p>
            <a:pPr algn="l" indent="0" marL="0">
              <a:lnSpc>
                <a:spcPct val="106000"/>
              </a:lnSpc>
              <a:buNone/>
            </a:pPr>
            <a:r>
              <a:rPr lang="en-US" sz="1150" dirty="0">
                <a:solidFill>
                  <a:srgbClr val="14171A"/>
                </a:solidFill>
                <a:latin typeface="Calibri" pitchFamily="34" charset="0"/>
                <a:ea typeface="Calibri" pitchFamily="34" charset="-122"/>
                <a:cs typeface="Calibri" pitchFamily="34" charset="-120"/>
              </a:rPr>
              <a:t>It is still the law, and people are still fighting over it.</a:t>
            </a:r>
            <a:endParaRPr lang="en-US" sz="1150" dirty="0"/>
          </a:p>
        </p:txBody>
      </p:sp>
      <p:sp>
        <p:nvSpPr>
          <p:cNvPr id="14" name="Text 12"/>
          <p:cNvSpPr/>
          <p:nvPr/>
        </p:nvSpPr>
        <p:spPr>
          <a:xfrm>
            <a:off x="548640" y="4297680"/>
            <a:ext cx="8046720" cy="274320"/>
          </a:xfrm>
          <a:prstGeom prst="rect">
            <a:avLst/>
          </a:prstGeom>
          <a:noFill/>
          <a:ln/>
        </p:spPr>
        <p:txBody>
          <a:bodyPr wrap="square" lIns="0" tIns="0" rIns="0" bIns="0" rtlCol="0" anchor="t"/>
          <a:lstStyle/>
          <a:p>
            <a:pPr algn="l" indent="0" marL="0">
              <a:lnSpc>
                <a:spcPct val="106000"/>
              </a:lnSpc>
              <a:buNone/>
            </a:pPr>
            <a:r>
              <a:rPr lang="en-US" sz="1350" b="1" dirty="0">
                <a:solidFill>
                  <a:srgbClr val="14171A"/>
                </a:solidFill>
                <a:latin typeface="Calibri" pitchFamily="34" charset="0"/>
                <a:ea typeface="Calibri" pitchFamily="34" charset="-122"/>
                <a:cs typeface="Calibri" pitchFamily="34" charset="-120"/>
              </a:rPr>
              <a:t>The rules we have now were not the only possible outcome.</a:t>
            </a:r>
            <a:endParaRPr lang="en-US" sz="1350" dirty="0"/>
          </a:p>
        </p:txBody>
      </p:sp>
      <p:sp>
        <p:nvSpPr>
          <p:cNvPr id="16" name="Text 13"/>
          <p:cNvSpPr/>
          <p:nvPr/>
        </p:nvSpPr>
        <p:spPr>
          <a:xfrm>
            <a:off x="548640" y="4668012"/>
            <a:ext cx="8046720" cy="256032"/>
          </a:xfrm>
          <a:prstGeom prst="rect">
            <a:avLst/>
          </a:prstGeom>
          <a:noFill/>
          <a:ln/>
        </p:spPr>
        <p:txBody>
          <a:bodyPr wrap="square" lIns="0" tIns="0" rIns="0" bIns="0" rtlCol="0" anchor="ctr"/>
          <a:lstStyle/>
          <a:p>
            <a:pPr indent="0" marL="0">
              <a:buNone/>
            </a:pPr>
            <a:r>
              <a:rPr lang="en-US" sz="800" spc="100" kern="0" dirty="0">
                <a:solidFill>
                  <a:srgbClr val="5C6873"/>
                </a:solidFill>
                <a:latin typeface="Courier New" pitchFamily="34" charset="0"/>
                <a:ea typeface="Courier New" pitchFamily="34" charset="-122"/>
                <a:cs typeface="Courier New" pitchFamily="34" charset="-120"/>
              </a:rPr>
              <a:t>BECURRENT  ·  SOCIAL MEDIA  ·  TOPIC 6</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71B1F"/>
        </a:solidFill>
      </p:bgPr>
    </p:bg>
    <p:spTree>
      <p:nvGrpSpPr>
        <p:cNvPr id="1" name=""/>
        <p:cNvGrpSpPr/>
        <p:nvPr/>
      </p:nvGrpSpPr>
      <p:grpSpPr>
        <a:xfrm>
          <a:off x="0" y="0"/>
          <a:ext cx="0" cy="0"/>
          <a:chOff x="0" y="0"/>
          <a:chExt cx="0" cy="0"/>
        </a:xfrm>
      </p:grpSpPr>
      <p:sp>
        <p:nvSpPr>
          <p:cNvPr id="2" name="Text 0"/>
          <p:cNvSpPr/>
          <p:nvPr/>
        </p:nvSpPr>
        <p:spPr>
          <a:xfrm>
            <a:off x="548640" y="365760"/>
            <a:ext cx="8046720" cy="237744"/>
          </a:xfrm>
          <a:prstGeom prst="rect">
            <a:avLst/>
          </a:prstGeom>
          <a:noFill/>
          <a:ln/>
        </p:spPr>
        <p:txBody>
          <a:bodyPr wrap="square" lIns="0" tIns="0" rIns="0" bIns="0" rtlCol="0" anchor="ctr"/>
          <a:lstStyle/>
          <a:p>
            <a:pPr indent="0" marL="0">
              <a:buNone/>
            </a:pPr>
            <a:r>
              <a:rPr lang="en-US" sz="1000" b="1" spc="140" kern="0" dirty="0">
                <a:solidFill>
                  <a:srgbClr val="E8A0A0"/>
                </a:solidFill>
                <a:latin typeface="Courier New" pitchFamily="34" charset="0"/>
                <a:ea typeface="Courier New" pitchFamily="34" charset="-122"/>
                <a:cs typeface="Courier New" pitchFamily="34" charset="-120"/>
              </a:rPr>
              <a:t>SUMMARY</a:t>
            </a:r>
            <a:endParaRPr lang="en-US" sz="1000" dirty="0"/>
          </a:p>
        </p:txBody>
      </p:sp>
      <p:sp>
        <p:nvSpPr>
          <p:cNvPr id="3" name="Text 1"/>
          <p:cNvSpPr/>
          <p:nvPr/>
        </p:nvSpPr>
        <p:spPr>
          <a:xfrm>
            <a:off x="548640" y="694944"/>
            <a:ext cx="7863840" cy="694944"/>
          </a:xfrm>
          <a:prstGeom prst="rect">
            <a:avLst/>
          </a:prstGeom>
          <a:noFill/>
          <a:ln/>
        </p:spPr>
        <p:txBody>
          <a:bodyPr wrap="square" lIns="0" tIns="0" rIns="0" bIns="0" rtlCol="0" anchor="t"/>
          <a:lstStyle/>
          <a:p>
            <a:pPr algn="l" indent="0" marL="0">
              <a:lnSpc>
                <a:spcPct val="110000"/>
              </a:lnSpc>
              <a:buNone/>
            </a:pPr>
            <a:r>
              <a:rPr lang="en-US" sz="1850" b="1" dirty="0">
                <a:solidFill>
                  <a:srgbClr val="FFFEFB"/>
                </a:solidFill>
                <a:latin typeface="Cambria" pitchFamily="34" charset="0"/>
                <a:ea typeface="Cambria" pitchFamily="34" charset="-122"/>
                <a:cs typeface="Cambria" pitchFamily="34" charset="-120"/>
              </a:rPr>
              <a:t>There are three answers, and each one has a real case and a real tradeoff. Your job today is not to win the argument.</a:t>
            </a:r>
            <a:endParaRPr lang="en-US" sz="1850" dirty="0"/>
          </a:p>
        </p:txBody>
      </p:sp>
      <p:sp>
        <p:nvSpPr>
          <p:cNvPr id="4" name="Shape 2"/>
          <p:cNvSpPr/>
          <p:nvPr/>
        </p:nvSpPr>
        <p:spPr>
          <a:xfrm>
            <a:off x="548640" y="1627632"/>
            <a:ext cx="8046720" cy="2395728"/>
          </a:xfrm>
          <a:prstGeom prst="roundRect">
            <a:avLst>
              <a:gd name="adj" fmla="val 2290"/>
            </a:avLst>
          </a:prstGeom>
          <a:solidFill>
            <a:srgbClr val="2B3238"/>
          </a:solidFill>
          <a:ln w="9525">
            <a:solidFill>
              <a:srgbClr val="2B3238"/>
            </a:solidFill>
            <a:prstDash val="solid"/>
          </a:ln>
        </p:spPr>
      </p:sp>
      <p:sp>
        <p:nvSpPr>
          <p:cNvPr id="5" name="Text 3"/>
          <p:cNvSpPr/>
          <p:nvPr/>
        </p:nvSpPr>
        <p:spPr>
          <a:xfrm>
            <a:off x="804672" y="1810512"/>
            <a:ext cx="7498080" cy="219456"/>
          </a:xfrm>
          <a:prstGeom prst="rect">
            <a:avLst/>
          </a:prstGeom>
          <a:noFill/>
          <a:ln/>
        </p:spPr>
        <p:txBody>
          <a:bodyPr wrap="square" lIns="0" tIns="0" rIns="0" bIns="0" rtlCol="0" anchor="t"/>
          <a:lstStyle/>
          <a:p>
            <a:pPr algn="l" indent="0" marL="0">
              <a:lnSpc>
                <a:spcPct val="106000"/>
              </a:lnSpc>
              <a:buNone/>
            </a:pPr>
            <a:r>
              <a:rPr lang="en-US" sz="900" b="1" dirty="0">
                <a:solidFill>
                  <a:srgbClr val="E8A0A0"/>
                </a:solidFill>
                <a:latin typeface="Courier New" pitchFamily="34" charset="0"/>
                <a:ea typeface="Courier New" pitchFamily="34" charset="-122"/>
                <a:cs typeface="Courier New" pitchFamily="34" charset="-120"/>
              </a:rPr>
              <a:t>WHAT YOU WILL WRITE</a:t>
            </a:r>
            <a:endParaRPr lang="en-US" sz="900" dirty="0"/>
          </a:p>
        </p:txBody>
      </p:sp>
      <p:sp>
        <p:nvSpPr>
          <p:cNvPr id="6" name="Shape 4"/>
          <p:cNvSpPr/>
          <p:nvPr/>
        </p:nvSpPr>
        <p:spPr>
          <a:xfrm>
            <a:off x="804672" y="2176272"/>
            <a:ext cx="310896" cy="310896"/>
          </a:xfrm>
          <a:prstGeom prst="ellipse">
            <a:avLst/>
          </a:prstGeom>
          <a:solidFill>
            <a:srgbClr val="B22222"/>
          </a:solidFill>
          <a:ln w="12700">
            <a:solidFill>
              <a:srgbClr val="B22222"/>
            </a:solidFill>
            <a:prstDash val="solid"/>
          </a:ln>
        </p:spPr>
      </p:sp>
      <p:sp>
        <p:nvSpPr>
          <p:cNvPr id="7" name="Text 5"/>
          <p:cNvSpPr/>
          <p:nvPr/>
        </p:nvSpPr>
        <p:spPr>
          <a:xfrm>
            <a:off x="804672" y="2176272"/>
            <a:ext cx="310896" cy="310896"/>
          </a:xfrm>
          <a:prstGeom prst="rect">
            <a:avLst/>
          </a:prstGeom>
          <a:noFill/>
          <a:ln/>
        </p:spPr>
        <p:txBody>
          <a:bodyPr wrap="square" lIns="0" tIns="0" rIns="0" bIns="0" rtlCol="0" anchor="ctr"/>
          <a:lstStyle/>
          <a:p>
            <a:pPr algn="ctr" indent="0" marL="0">
              <a:buNone/>
            </a:pPr>
            <a:r>
              <a:rPr lang="en-US" sz="950" b="1" dirty="0">
                <a:solidFill>
                  <a:srgbClr val="FFFEFB"/>
                </a:solidFill>
                <a:latin typeface="Courier New" pitchFamily="34" charset="0"/>
                <a:ea typeface="Courier New" pitchFamily="34" charset="-122"/>
                <a:cs typeface="Courier New" pitchFamily="34" charset="-120"/>
              </a:rPr>
              <a:t>1</a:t>
            </a:r>
            <a:endParaRPr lang="en-US" sz="950" dirty="0"/>
          </a:p>
        </p:txBody>
      </p:sp>
      <p:sp>
        <p:nvSpPr>
          <p:cNvPr id="8" name="Text 6"/>
          <p:cNvSpPr/>
          <p:nvPr/>
        </p:nvSpPr>
        <p:spPr>
          <a:xfrm>
            <a:off x="1243584" y="2157984"/>
            <a:ext cx="7040880" cy="201168"/>
          </a:xfrm>
          <a:prstGeom prst="rect">
            <a:avLst/>
          </a:prstGeom>
          <a:noFill/>
          <a:ln/>
        </p:spPr>
        <p:txBody>
          <a:bodyPr wrap="square" lIns="0" tIns="0" rIns="0" bIns="0" rtlCol="0" anchor="t"/>
          <a:lstStyle/>
          <a:p>
            <a:pPr algn="l" indent="0" marL="0">
              <a:lnSpc>
                <a:spcPct val="106000"/>
              </a:lnSpc>
              <a:buNone/>
            </a:pPr>
            <a:r>
              <a:rPr lang="en-US" sz="800" b="1" dirty="0">
                <a:solidFill>
                  <a:srgbClr val="E8A0A0"/>
                </a:solidFill>
                <a:latin typeface="Courier New" pitchFamily="34" charset="0"/>
                <a:ea typeface="Courier New" pitchFamily="34" charset="-122"/>
                <a:cs typeface="Courier New" pitchFamily="34" charset="-120"/>
              </a:rPr>
              <a:t>SYNTHESIZING PATTERNS</a:t>
            </a:r>
            <a:endParaRPr lang="en-US" sz="800" dirty="0"/>
          </a:p>
        </p:txBody>
      </p:sp>
      <p:sp>
        <p:nvSpPr>
          <p:cNvPr id="9" name="Text 7"/>
          <p:cNvSpPr/>
          <p:nvPr/>
        </p:nvSpPr>
        <p:spPr>
          <a:xfrm>
            <a:off x="1243584" y="2359152"/>
            <a:ext cx="7040880" cy="420624"/>
          </a:xfrm>
          <a:prstGeom prst="rect">
            <a:avLst/>
          </a:prstGeom>
          <a:noFill/>
          <a:ln/>
        </p:spPr>
        <p:txBody>
          <a:bodyPr wrap="square" lIns="0" tIns="0" rIns="0" bIns="0" rtlCol="0" anchor="t"/>
          <a:lstStyle/>
          <a:p>
            <a:pPr algn="l" indent="0" marL="0">
              <a:lnSpc>
                <a:spcPct val="104000"/>
              </a:lnSpc>
              <a:buNone/>
            </a:pPr>
            <a:r>
              <a:rPr lang="en-US" sz="1200" dirty="0">
                <a:solidFill>
                  <a:srgbClr val="FFFEFB"/>
                </a:solidFill>
                <a:latin typeface="Calibri" pitchFamily="34" charset="0"/>
                <a:ea typeface="Calibri" pitchFamily="34" charset="-122"/>
                <a:cs typeface="Calibri" pitchFamily="34" charset="-120"/>
              </a:rPr>
              <a:t>Choose the position you do not agree with. Write the strongest case for it, in your own words.</a:t>
            </a:r>
            <a:endParaRPr lang="en-US" sz="1200" dirty="0"/>
          </a:p>
        </p:txBody>
      </p:sp>
      <p:sp>
        <p:nvSpPr>
          <p:cNvPr id="10" name="Shape 8"/>
          <p:cNvSpPr/>
          <p:nvPr/>
        </p:nvSpPr>
        <p:spPr>
          <a:xfrm>
            <a:off x="804672" y="2798064"/>
            <a:ext cx="310896" cy="310896"/>
          </a:xfrm>
          <a:prstGeom prst="ellipse">
            <a:avLst/>
          </a:prstGeom>
          <a:solidFill>
            <a:srgbClr val="B22222"/>
          </a:solidFill>
          <a:ln w="12700">
            <a:solidFill>
              <a:srgbClr val="B22222"/>
            </a:solidFill>
            <a:prstDash val="solid"/>
          </a:ln>
        </p:spPr>
      </p:sp>
      <p:sp>
        <p:nvSpPr>
          <p:cNvPr id="11" name="Text 9"/>
          <p:cNvSpPr/>
          <p:nvPr/>
        </p:nvSpPr>
        <p:spPr>
          <a:xfrm>
            <a:off x="804672" y="2798064"/>
            <a:ext cx="310896" cy="310896"/>
          </a:xfrm>
          <a:prstGeom prst="rect">
            <a:avLst/>
          </a:prstGeom>
          <a:noFill/>
          <a:ln/>
        </p:spPr>
        <p:txBody>
          <a:bodyPr wrap="square" lIns="0" tIns="0" rIns="0" bIns="0" rtlCol="0" anchor="ctr"/>
          <a:lstStyle/>
          <a:p>
            <a:pPr algn="ctr" indent="0" marL="0">
              <a:buNone/>
            </a:pPr>
            <a:r>
              <a:rPr lang="en-US" sz="950" b="1" dirty="0">
                <a:solidFill>
                  <a:srgbClr val="FFFEFB"/>
                </a:solidFill>
                <a:latin typeface="Courier New" pitchFamily="34" charset="0"/>
                <a:ea typeface="Courier New" pitchFamily="34" charset="-122"/>
                <a:cs typeface="Courier New" pitchFamily="34" charset="-120"/>
              </a:rPr>
              <a:t>2</a:t>
            </a:r>
            <a:endParaRPr lang="en-US" sz="950" dirty="0"/>
          </a:p>
        </p:txBody>
      </p:sp>
      <p:sp>
        <p:nvSpPr>
          <p:cNvPr id="12" name="Text 10"/>
          <p:cNvSpPr/>
          <p:nvPr/>
        </p:nvSpPr>
        <p:spPr>
          <a:xfrm>
            <a:off x="1243584" y="2779776"/>
            <a:ext cx="7040880" cy="201168"/>
          </a:xfrm>
          <a:prstGeom prst="rect">
            <a:avLst/>
          </a:prstGeom>
          <a:noFill/>
          <a:ln/>
        </p:spPr>
        <p:txBody>
          <a:bodyPr wrap="square" lIns="0" tIns="0" rIns="0" bIns="0" rtlCol="0" anchor="t"/>
          <a:lstStyle/>
          <a:p>
            <a:pPr algn="l" indent="0" marL="0">
              <a:lnSpc>
                <a:spcPct val="106000"/>
              </a:lnSpc>
              <a:buNone/>
            </a:pPr>
            <a:r>
              <a:rPr lang="en-US" sz="800" b="1" dirty="0">
                <a:solidFill>
                  <a:srgbClr val="E8A0A0"/>
                </a:solidFill>
                <a:latin typeface="Courier New" pitchFamily="34" charset="0"/>
                <a:ea typeface="Courier New" pitchFamily="34" charset="-122"/>
                <a:cs typeface="Courier New" pitchFamily="34" charset="-120"/>
              </a:rPr>
              <a:t>GENERALIZING FROM EVIDENCE</a:t>
            </a:r>
            <a:endParaRPr lang="en-US" sz="800" dirty="0"/>
          </a:p>
        </p:txBody>
      </p:sp>
      <p:sp>
        <p:nvSpPr>
          <p:cNvPr id="13" name="Text 11"/>
          <p:cNvSpPr/>
          <p:nvPr/>
        </p:nvSpPr>
        <p:spPr>
          <a:xfrm>
            <a:off x="1243584" y="2980944"/>
            <a:ext cx="7040880" cy="420624"/>
          </a:xfrm>
          <a:prstGeom prst="rect">
            <a:avLst/>
          </a:prstGeom>
          <a:noFill/>
          <a:ln/>
        </p:spPr>
        <p:txBody>
          <a:bodyPr wrap="square" lIns="0" tIns="0" rIns="0" bIns="0" rtlCol="0" anchor="t"/>
          <a:lstStyle/>
          <a:p>
            <a:pPr algn="l" indent="0" marL="0">
              <a:lnSpc>
                <a:spcPct val="104000"/>
              </a:lnSpc>
              <a:buNone/>
            </a:pPr>
            <a:r>
              <a:rPr lang="en-US" sz="1200" dirty="0">
                <a:solidFill>
                  <a:srgbClr val="FFFEFB"/>
                </a:solidFill>
                <a:latin typeface="Calibri" pitchFamily="34" charset="0"/>
                <a:ea typeface="Calibri" pitchFamily="34" charset="-122"/>
                <a:cs typeface="Calibri" pitchFamily="34" charset="-120"/>
              </a:rPr>
              <a:t>Choose one earlier argument: comic books, television, music lyrics, or video games. Describe what happened, then name one way social media is different from that medium.</a:t>
            </a:r>
            <a:endParaRPr lang="en-US" sz="1200" dirty="0"/>
          </a:p>
        </p:txBody>
      </p:sp>
      <p:sp>
        <p:nvSpPr>
          <p:cNvPr id="14" name="Shape 12"/>
          <p:cNvSpPr/>
          <p:nvPr/>
        </p:nvSpPr>
        <p:spPr>
          <a:xfrm>
            <a:off x="804672" y="3419856"/>
            <a:ext cx="310896" cy="310896"/>
          </a:xfrm>
          <a:prstGeom prst="ellipse">
            <a:avLst/>
          </a:prstGeom>
          <a:solidFill>
            <a:srgbClr val="B22222"/>
          </a:solidFill>
          <a:ln w="12700">
            <a:solidFill>
              <a:srgbClr val="B22222"/>
            </a:solidFill>
            <a:prstDash val="solid"/>
          </a:ln>
        </p:spPr>
      </p:sp>
      <p:sp>
        <p:nvSpPr>
          <p:cNvPr id="15" name="Text 13"/>
          <p:cNvSpPr/>
          <p:nvPr/>
        </p:nvSpPr>
        <p:spPr>
          <a:xfrm>
            <a:off x="804672" y="3419856"/>
            <a:ext cx="310896" cy="310896"/>
          </a:xfrm>
          <a:prstGeom prst="rect">
            <a:avLst/>
          </a:prstGeom>
          <a:noFill/>
          <a:ln/>
        </p:spPr>
        <p:txBody>
          <a:bodyPr wrap="square" lIns="0" tIns="0" rIns="0" bIns="0" rtlCol="0" anchor="ctr"/>
          <a:lstStyle/>
          <a:p>
            <a:pPr algn="ctr" indent="0" marL="0">
              <a:buNone/>
            </a:pPr>
            <a:r>
              <a:rPr lang="en-US" sz="950" b="1" dirty="0">
                <a:solidFill>
                  <a:srgbClr val="FFFEFB"/>
                </a:solidFill>
                <a:latin typeface="Courier New" pitchFamily="34" charset="0"/>
                <a:ea typeface="Courier New" pitchFamily="34" charset="-122"/>
                <a:cs typeface="Courier New" pitchFamily="34" charset="-120"/>
              </a:rPr>
              <a:t>3</a:t>
            </a:r>
            <a:endParaRPr lang="en-US" sz="950" dirty="0"/>
          </a:p>
        </p:txBody>
      </p:sp>
      <p:sp>
        <p:nvSpPr>
          <p:cNvPr id="16" name="Text 14"/>
          <p:cNvSpPr/>
          <p:nvPr/>
        </p:nvSpPr>
        <p:spPr>
          <a:xfrm>
            <a:off x="1243584" y="3401568"/>
            <a:ext cx="7040880" cy="201168"/>
          </a:xfrm>
          <a:prstGeom prst="rect">
            <a:avLst/>
          </a:prstGeom>
          <a:noFill/>
          <a:ln/>
        </p:spPr>
        <p:txBody>
          <a:bodyPr wrap="square" lIns="0" tIns="0" rIns="0" bIns="0" rtlCol="0" anchor="t"/>
          <a:lstStyle/>
          <a:p>
            <a:pPr algn="l" indent="0" marL="0">
              <a:lnSpc>
                <a:spcPct val="106000"/>
              </a:lnSpc>
              <a:buNone/>
            </a:pPr>
            <a:r>
              <a:rPr lang="en-US" sz="800" b="1" dirty="0">
                <a:solidFill>
                  <a:srgbClr val="E8A0A0"/>
                </a:solidFill>
                <a:latin typeface="Courier New" pitchFamily="34" charset="0"/>
                <a:ea typeface="Courier New" pitchFamily="34" charset="-122"/>
                <a:cs typeface="Courier New" pitchFamily="34" charset="-120"/>
              </a:rPr>
              <a:t>GENERALIZING FROM EVIDENCE</a:t>
            </a:r>
            <a:endParaRPr lang="en-US" sz="800" dirty="0"/>
          </a:p>
        </p:txBody>
      </p:sp>
      <p:sp>
        <p:nvSpPr>
          <p:cNvPr id="17" name="Text 15"/>
          <p:cNvSpPr/>
          <p:nvPr/>
        </p:nvSpPr>
        <p:spPr>
          <a:xfrm>
            <a:off x="1243584" y="3602736"/>
            <a:ext cx="7040880" cy="420624"/>
          </a:xfrm>
          <a:prstGeom prst="rect">
            <a:avLst/>
          </a:prstGeom>
          <a:noFill/>
          <a:ln/>
        </p:spPr>
        <p:txBody>
          <a:bodyPr wrap="square" lIns="0" tIns="0" rIns="0" bIns="0" rtlCol="0" anchor="t"/>
          <a:lstStyle/>
          <a:p>
            <a:pPr algn="l" indent="0" marL="0">
              <a:lnSpc>
                <a:spcPct val="104000"/>
              </a:lnSpc>
              <a:buNone/>
            </a:pPr>
            <a:r>
              <a:rPr lang="en-US" sz="1200" dirty="0">
                <a:solidFill>
                  <a:srgbClr val="FFFEFB"/>
                </a:solidFill>
                <a:latin typeface="Calibri" pitchFamily="34" charset="0"/>
                <a:ea typeface="Calibri" pitchFamily="34" charset="-122"/>
                <a:cs typeface="Calibri" pitchFamily="34" charset="-120"/>
              </a:rPr>
              <a:t>What evidence would change your mind about who should decide? Be specific enough that somebody could go looking for it.</a:t>
            </a:r>
            <a:endParaRPr lang="en-US" sz="1200" dirty="0"/>
          </a:p>
        </p:txBody>
      </p:sp>
      <p:sp>
        <p:nvSpPr>
          <p:cNvPr id="18" name="Text 16"/>
          <p:cNvSpPr/>
          <p:nvPr/>
        </p:nvSpPr>
        <p:spPr>
          <a:xfrm>
            <a:off x="548640" y="4114800"/>
            <a:ext cx="7863840" cy="310896"/>
          </a:xfrm>
          <a:prstGeom prst="rect">
            <a:avLst/>
          </a:prstGeom>
          <a:noFill/>
          <a:ln/>
        </p:spPr>
        <p:txBody>
          <a:bodyPr wrap="square" lIns="0" tIns="0" rIns="0" bIns="0" rtlCol="0" anchor="t"/>
          <a:lstStyle/>
          <a:p>
            <a:pPr algn="l" indent="0" marL="0">
              <a:lnSpc>
                <a:spcPct val="106000"/>
              </a:lnSpc>
              <a:buNone/>
            </a:pPr>
            <a:r>
              <a:rPr lang="en-US" sz="1500" i="1" dirty="0">
                <a:solidFill>
                  <a:srgbClr val="A8B2BA"/>
                </a:solidFill>
                <a:latin typeface="Cambria" pitchFamily="34" charset="0"/>
                <a:ea typeface="Cambria" pitchFamily="34" charset="-122"/>
                <a:cs typeface="Cambria" pitchFamily="34" charset="-120"/>
              </a:rPr>
              <a:t>State the other side well enough that somebody who holds it would say you got it right.</a:t>
            </a:r>
            <a:endParaRPr lang="en-US" sz="1500" dirty="0"/>
          </a:p>
        </p:txBody>
      </p:sp>
      <p:sp>
        <p:nvSpPr>
          <p:cNvPr id="20" name="Text 17"/>
          <p:cNvSpPr/>
          <p:nvPr/>
        </p:nvSpPr>
        <p:spPr>
          <a:xfrm>
            <a:off x="548640" y="4668012"/>
            <a:ext cx="8046720" cy="256032"/>
          </a:xfrm>
          <a:prstGeom prst="rect">
            <a:avLst/>
          </a:prstGeom>
          <a:noFill/>
          <a:ln/>
        </p:spPr>
        <p:txBody>
          <a:bodyPr wrap="square" lIns="0" tIns="0" rIns="0" bIns="0" rtlCol="0" anchor="ctr"/>
          <a:lstStyle/>
          <a:p>
            <a:pPr indent="0" marL="0">
              <a:buNone/>
            </a:pPr>
            <a:r>
              <a:rPr lang="en-US" sz="800" spc="100" kern="0" dirty="0">
                <a:solidFill>
                  <a:srgbClr val="A8B2BA"/>
                </a:solidFill>
                <a:latin typeface="Courier New" pitchFamily="34" charset="0"/>
                <a:ea typeface="Courier New" pitchFamily="34" charset="-122"/>
                <a:cs typeface="Courier New" pitchFamily="34" charset="-120"/>
              </a:rPr>
              <a:t>BECURRENT  ·  SOCIAL MEDIA  ·  TOPIC 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BeCurrent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Who Gets to Decide?, Social Media Topic 6</dc:title>
  <dc:subject>BeCurrent, Current Events</dc:subject>
  <dc:creator>BeCurrent</dc:creator>
  <cp:lastModifiedBy>BeCurrent</cp:lastModifiedBy>
  <cp:revision>1</cp:revision>
  <dcterms:created xsi:type="dcterms:W3CDTF">2026-08-21T17:52:24Z</dcterms:created>
  <dcterms:modified xsi:type="dcterms:W3CDTF">2026-08-21T17:52:24Z</dcterms:modified>
</cp:coreProperties>
</file>