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keeping the promise you made on day one. Read the question off the slide and then stop talking. Do not let anybody answer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point is that today is earned. Five topics of machinery so that this can be an argument instead of a room of opinions. Read the goal at the bottom out loud: they are graded on the side they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three answers up and take a straw poll by hands, with no discussion. Write the split on the board and leave it there. You will come back to it at the end and ask who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decides whether the argument is any good. Say it plainly: every one of these positions is held by serious people. If a position seems obviously wrong, they are arguing with a weak version of it, and beating a weak version teaches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tradeoff, then hold everybody to it for the rest of the block. An answer with no cost in it is not finished, and that is the standard you will grade against, so say so now rather than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strongest case first, and have a student who disagrees with it state it. Then the hardest problem, and do not resolve it. Thousands of engineers against one person's willpower is the honest shape of the problem, not a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self-regulation card is the one students underrate, so give it real weight: bad publicity does move companies. Then the hardest problem, which is the clearest conflict of interest in the unit. Let the silence sit for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ordinary examples, because seatbelts and cigarette advertising are what make this position normal rather than extreme. Then the hardest problem. Read it slowly: the same authority protects and controls. The Watch For belongs in the argument without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a column, as a memory aid before they write. If a student cannot state the cost of their own position, they are not ready to write about it, and this is where you find that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historical move. Four arguments, four media, and they have heard of none of them. Ask what the four have in common before you turn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halves matter. Every one ended in self-regulation under threat rather than in a law, which predicts something. And several of the strongest claims did not hold up, which predicts something else. Sincere and wrong is the pair worth sitting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break the precedent on purpose. A comic book did not know who was holding it. Any argument from 1954 has to survive these three differences, and naming what is different is half of using a precedent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230 is the fact that changes how the argument feels. The current arrangement is one sentence that survived a court case, not the natural state of things. If students think the rules are permanent, they will argue as though nothing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straw poll from the start and ask who moved and why. Then set the writing. Say out loud that Start Here and Push Further are both real answers, and that confidence is not graded. Read the last line, because it is the whole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B1F"/>
        </a:solidFill>
      </p:bgPr>
    </p:bg>
    <p:spTree>
      <p:nvGrpSpPr>
        <p:cNvPr id="1" name=""/>
        <p:cNvGrpSpPr/>
        <p:nvPr/>
      </p:nvGrpSpPr>
      <p:grpSpPr>
        <a:xfrm>
          <a:off x="0" y="0"/>
          <a:ext cx="0" cy="0"/>
          <a:chOff x="0" y="0"/>
          <a:chExt cx="0" cy="0"/>
        </a:xfrm>
      </p:grpSpPr>
      <p:sp>
        <p:nvSpPr>
          <p:cNvPr id="2" name="Shape 0"/>
          <p:cNvSpPr/>
          <p:nvPr/>
        </p:nvSpPr>
        <p:spPr>
          <a:xfrm>
            <a:off x="548640" y="548640"/>
            <a:ext cx="512064" cy="512064"/>
          </a:xfrm>
          <a:prstGeom prst="ellipse">
            <a:avLst/>
          </a:prstGeom>
          <a:solidFill>
            <a:srgbClr val="B22222"/>
          </a:solidFill>
          <a:ln w="12700">
            <a:solidFill>
              <a:srgbClr val="B22222"/>
            </a:solidFill>
            <a:prstDash val="solid"/>
          </a:ln>
        </p:spPr>
      </p:sp>
      <p:sp>
        <p:nvSpPr>
          <p:cNvPr id="3" name="Text 1"/>
          <p:cNvSpPr/>
          <p:nvPr/>
        </p:nvSpPr>
        <p:spPr>
          <a:xfrm>
            <a:off x="548640" y="548640"/>
            <a:ext cx="512064" cy="512064"/>
          </a:xfrm>
          <a:prstGeom prst="rect">
            <a:avLst/>
          </a:prstGeom>
          <a:noFill/>
          <a:ln/>
        </p:spPr>
        <p:txBody>
          <a:bodyPr wrap="square" lIns="0" tIns="0" rIns="0" bIns="0" rtlCol="0" anchor="ctr"/>
          <a:lstStyle/>
          <a:p>
            <a:pPr algn="ctr" indent="0" marL="0">
              <a:buNone/>
            </a:pPr>
            <a:r>
              <a:rPr lang="en-US" sz="1400" b="1" dirty="0">
                <a:solidFill>
                  <a:srgbClr val="FFFEFB"/>
                </a:solidFill>
                <a:latin typeface="Courier New" pitchFamily="34" charset="0"/>
                <a:ea typeface="Courier New" pitchFamily="34" charset="-122"/>
                <a:cs typeface="Courier New" pitchFamily="34" charset="-120"/>
              </a:rPr>
              <a:t>06</a:t>
            </a:r>
            <a:endParaRPr lang="en-US" sz="1400" dirty="0"/>
          </a:p>
        </p:txBody>
      </p:sp>
      <p:sp>
        <p:nvSpPr>
          <p:cNvPr id="4" name="Text 2"/>
          <p:cNvSpPr/>
          <p:nvPr/>
        </p:nvSpPr>
        <p:spPr>
          <a:xfrm>
            <a:off x="1207008" y="68580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SOCIAL MEDIA · TOPIC 6</a:t>
            </a:r>
            <a:endParaRPr lang="en-US" sz="1000" dirty="0"/>
          </a:p>
        </p:txBody>
      </p:sp>
      <p:sp>
        <p:nvSpPr>
          <p:cNvPr id="5" name="Text 3"/>
          <p:cNvSpPr/>
          <p:nvPr/>
        </p:nvSpPr>
        <p:spPr>
          <a:xfrm>
            <a:off x="548640" y="1298448"/>
            <a:ext cx="8046720" cy="868680"/>
          </a:xfrm>
          <a:prstGeom prst="rect">
            <a:avLst/>
          </a:prstGeom>
          <a:noFill/>
          <a:ln/>
        </p:spPr>
        <p:txBody>
          <a:bodyPr wrap="square" lIns="0" tIns="0" rIns="0" bIns="0" rtlCol="0" anchor="t"/>
          <a:lstStyle/>
          <a:p>
            <a:pPr indent="0" marL="0">
              <a:lnSpc>
                <a:spcPct val="92000"/>
              </a:lnSpc>
              <a:buNone/>
            </a:pPr>
            <a:r>
              <a:rPr lang="en-US" sz="4200" b="1" dirty="0">
                <a:solidFill>
                  <a:srgbClr val="FFFEFB"/>
                </a:solidFill>
                <a:latin typeface="Cambria" pitchFamily="34" charset="0"/>
                <a:ea typeface="Cambria" pitchFamily="34" charset="-122"/>
                <a:cs typeface="Cambria" pitchFamily="34" charset="-120"/>
              </a:rPr>
              <a:t>Who Gets to Decide?</a:t>
            </a:r>
            <a:endParaRPr lang="en-US" sz="4200" dirty="0"/>
          </a:p>
        </p:txBody>
      </p:sp>
      <p:sp>
        <p:nvSpPr>
          <p:cNvPr id="6" name="Text 4"/>
          <p:cNvSpPr/>
          <p:nvPr/>
        </p:nvSpPr>
        <p:spPr>
          <a:xfrm>
            <a:off x="548640" y="2286000"/>
            <a:ext cx="7040880" cy="731520"/>
          </a:xfrm>
          <a:prstGeom prst="rect">
            <a:avLst/>
          </a:prstGeom>
          <a:noFill/>
          <a:ln/>
        </p:spPr>
        <p:txBody>
          <a:bodyPr wrap="square" lIns="0" tIns="0" rIns="0" bIns="0" rtlCol="0" anchor="t"/>
          <a:lstStyle/>
          <a:p>
            <a:pPr algn="l" indent="0" marL="0">
              <a:lnSpc>
                <a:spcPct val="115000"/>
              </a:lnSpc>
              <a:buNone/>
            </a:pPr>
            <a:r>
              <a:rPr lang="en-US" sz="1700" i="1" dirty="0">
                <a:solidFill>
                  <a:srgbClr val="A8B2BA"/>
                </a:solidFill>
                <a:latin typeface="Cambria" pitchFamily="34" charset="0"/>
                <a:ea typeface="Cambria" pitchFamily="34" charset="-122"/>
                <a:cs typeface="Cambria" pitchFamily="34" charset="-120"/>
              </a:rPr>
              <a:t>On the first day I said I would ask you a hard question at the end. This is it.</a:t>
            </a:r>
            <a:endParaRPr lang="en-US" sz="1700" dirty="0"/>
          </a:p>
        </p:txBody>
      </p:sp>
      <p:sp>
        <p:nvSpPr>
          <p:cNvPr id="7" name="Shape 5"/>
          <p:cNvSpPr/>
          <p:nvPr/>
        </p:nvSpPr>
        <p:spPr>
          <a:xfrm>
            <a:off x="548640" y="3200400"/>
            <a:ext cx="1828800" cy="329184"/>
          </a:xfrm>
          <a:prstGeom prst="roundRect">
            <a:avLst>
              <a:gd name="adj" fmla="val 16667"/>
            </a:avLst>
          </a:prstGeom>
          <a:solidFill>
            <a:srgbClr val="2B3238"/>
          </a:solidFill>
          <a:ln w="9525">
            <a:solidFill>
              <a:srgbClr val="2B3238"/>
            </a:solidFill>
            <a:prstDash val="solid"/>
          </a:ln>
        </p:spPr>
      </p:sp>
      <p:sp>
        <p:nvSpPr>
          <p:cNvPr id="8" name="Text 6"/>
          <p:cNvSpPr/>
          <p:nvPr/>
        </p:nvSpPr>
        <p:spPr>
          <a:xfrm>
            <a:off x="548640" y="3200400"/>
            <a:ext cx="182880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SYNTHESIZING PATTERNS</a:t>
            </a:r>
            <a:endParaRPr lang="en-US" sz="900" dirty="0"/>
          </a:p>
        </p:txBody>
      </p:sp>
      <p:sp>
        <p:nvSpPr>
          <p:cNvPr id="9" name="Shape 7"/>
          <p:cNvSpPr/>
          <p:nvPr/>
        </p:nvSpPr>
        <p:spPr>
          <a:xfrm>
            <a:off x="2578608" y="3200400"/>
            <a:ext cx="2331720" cy="329184"/>
          </a:xfrm>
          <a:prstGeom prst="roundRect">
            <a:avLst>
              <a:gd name="adj" fmla="val 16667"/>
            </a:avLst>
          </a:prstGeom>
          <a:solidFill>
            <a:srgbClr val="2B3238"/>
          </a:solidFill>
          <a:ln w="9525">
            <a:solidFill>
              <a:srgbClr val="2B3238"/>
            </a:solidFill>
            <a:prstDash val="solid"/>
          </a:ln>
        </p:spPr>
      </p:sp>
      <p:sp>
        <p:nvSpPr>
          <p:cNvPr id="10" name="Text 8"/>
          <p:cNvSpPr/>
          <p:nvPr/>
        </p:nvSpPr>
        <p:spPr>
          <a:xfrm>
            <a:off x="2578608" y="3200400"/>
            <a:ext cx="233172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GENERALIZING FROM EVIDENCE</a:t>
            </a:r>
            <a:endParaRPr lang="en-US" sz="9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READ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What today builds on</a:t>
            </a:r>
            <a:endParaRPr lang="en-US" sz="3000" dirty="0"/>
          </a:p>
        </p:txBody>
      </p:sp>
      <p:sp>
        <p:nvSpPr>
          <p:cNvPr id="4" name="Shape 2"/>
          <p:cNvSpPr/>
          <p:nvPr/>
        </p:nvSpPr>
        <p:spPr>
          <a:xfrm>
            <a:off x="548640" y="1481328"/>
            <a:ext cx="310896" cy="310896"/>
          </a:xfrm>
          <a:prstGeom prst="ellipse">
            <a:avLst/>
          </a:prstGeom>
          <a:solidFill>
            <a:srgbClr val="2B3238"/>
          </a:solidFill>
          <a:ln w="12700">
            <a:solidFill>
              <a:srgbClr val="2B3238"/>
            </a:solidFill>
            <a:prstDash val="solid"/>
          </a:ln>
        </p:spPr>
      </p:sp>
      <p:sp>
        <p:nvSpPr>
          <p:cNvPr id="5" name="Text 3"/>
          <p:cNvSpPr/>
          <p:nvPr/>
        </p:nvSpPr>
        <p:spPr>
          <a:xfrm>
            <a:off x="548640" y="1481328"/>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6" name="Text 4"/>
          <p:cNvSpPr/>
          <p:nvPr/>
        </p:nvSpPr>
        <p:spPr>
          <a:xfrm>
            <a:off x="987552" y="1463040"/>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Where the Money Comes From</a:t>
            </a:r>
            <a:endParaRPr lang="en-US" sz="1200" dirty="0"/>
          </a:p>
        </p:txBody>
      </p:sp>
      <p:sp>
        <p:nvSpPr>
          <p:cNvPr id="7" name="Text 5"/>
          <p:cNvSpPr/>
          <p:nvPr/>
        </p:nvSpPr>
        <p:spPr>
          <a:xfrm>
            <a:off x="3730752" y="1463040"/>
            <a:ext cx="484632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built the chain from opening an app to a company getting paid.</a:t>
            </a:r>
            <a:endParaRPr lang="en-US" sz="1250" dirty="0"/>
          </a:p>
        </p:txBody>
      </p:sp>
      <p:sp>
        <p:nvSpPr>
          <p:cNvPr id="8" name="Shape 6"/>
          <p:cNvSpPr/>
          <p:nvPr/>
        </p:nvSpPr>
        <p:spPr>
          <a:xfrm>
            <a:off x="548640" y="1975104"/>
            <a:ext cx="310896" cy="310896"/>
          </a:xfrm>
          <a:prstGeom prst="ellipse">
            <a:avLst/>
          </a:prstGeom>
          <a:solidFill>
            <a:srgbClr val="2B3238"/>
          </a:solidFill>
          <a:ln w="12700">
            <a:solidFill>
              <a:srgbClr val="2B3238"/>
            </a:solidFill>
            <a:prstDash val="solid"/>
          </a:ln>
        </p:spPr>
      </p:sp>
      <p:sp>
        <p:nvSpPr>
          <p:cNvPr id="9" name="Text 7"/>
          <p:cNvSpPr/>
          <p:nvPr/>
        </p:nvSpPr>
        <p:spPr>
          <a:xfrm>
            <a:off x="548640" y="1975104"/>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0" name="Text 8"/>
          <p:cNvSpPr/>
          <p:nvPr/>
        </p:nvSpPr>
        <p:spPr>
          <a:xfrm>
            <a:off x="987552" y="1956816"/>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Somebody Made a Film About This</a:t>
            </a:r>
            <a:endParaRPr lang="en-US" sz="1200" dirty="0"/>
          </a:p>
        </p:txBody>
      </p:sp>
      <p:sp>
        <p:nvSpPr>
          <p:cNvPr id="11" name="Text 9"/>
          <p:cNvSpPr/>
          <p:nvPr/>
        </p:nvSpPr>
        <p:spPr>
          <a:xfrm>
            <a:off x="3730752" y="1956816"/>
            <a:ext cx="484632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took a film apart the same way you took your app apart.</a:t>
            </a:r>
            <a:endParaRPr lang="en-US" sz="1250" dirty="0"/>
          </a:p>
        </p:txBody>
      </p:sp>
      <p:sp>
        <p:nvSpPr>
          <p:cNvPr id="12" name="Shape 10"/>
          <p:cNvSpPr/>
          <p:nvPr/>
        </p:nvSpPr>
        <p:spPr>
          <a:xfrm>
            <a:off x="548640" y="2468880"/>
            <a:ext cx="310896" cy="310896"/>
          </a:xfrm>
          <a:prstGeom prst="ellipse">
            <a:avLst/>
          </a:prstGeom>
          <a:solidFill>
            <a:srgbClr val="2B3238"/>
          </a:solidFill>
          <a:ln w="12700">
            <a:solidFill>
              <a:srgbClr val="2B3238"/>
            </a:solidFill>
            <a:prstDash val="solid"/>
          </a:ln>
        </p:spPr>
      </p:sp>
      <p:sp>
        <p:nvSpPr>
          <p:cNvPr id="13" name="Text 11"/>
          <p:cNvSpPr/>
          <p:nvPr/>
        </p:nvSpPr>
        <p:spPr>
          <a:xfrm>
            <a:off x="548640" y="24688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4" name="Text 12"/>
          <p:cNvSpPr/>
          <p:nvPr/>
        </p:nvSpPr>
        <p:spPr>
          <a:xfrm>
            <a:off x="987552" y="2450592"/>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Inside the Algorithm Box</a:t>
            </a:r>
            <a:endParaRPr lang="en-US" sz="1200" dirty="0"/>
          </a:p>
        </p:txBody>
      </p:sp>
      <p:sp>
        <p:nvSpPr>
          <p:cNvPr id="15" name="Text 13"/>
          <p:cNvSpPr/>
          <p:nvPr/>
        </p:nvSpPr>
        <p:spPr>
          <a:xfrm>
            <a:off x="3730752" y="2450592"/>
            <a:ext cx="484632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opened the box that almost every chain had in the middle.</a:t>
            </a:r>
            <a:endParaRPr lang="en-US" sz="1250" dirty="0"/>
          </a:p>
        </p:txBody>
      </p:sp>
      <p:sp>
        <p:nvSpPr>
          <p:cNvPr id="16" name="Shape 14"/>
          <p:cNvSpPr/>
          <p:nvPr/>
        </p:nvSpPr>
        <p:spPr>
          <a:xfrm>
            <a:off x="548640" y="2962656"/>
            <a:ext cx="310896" cy="310896"/>
          </a:xfrm>
          <a:prstGeom prst="ellipse">
            <a:avLst/>
          </a:prstGeom>
          <a:solidFill>
            <a:srgbClr val="2B3238"/>
          </a:solidFill>
          <a:ln w="12700">
            <a:solidFill>
              <a:srgbClr val="2B3238"/>
            </a:solidFill>
            <a:prstDash val="solid"/>
          </a:ln>
        </p:spPr>
      </p:sp>
      <p:sp>
        <p:nvSpPr>
          <p:cNvPr id="17" name="Text 15"/>
          <p:cNvSpPr/>
          <p:nvPr/>
        </p:nvSpPr>
        <p:spPr>
          <a:xfrm>
            <a:off x="548640" y="296265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4</a:t>
            </a:r>
            <a:endParaRPr lang="en-US" sz="950" dirty="0"/>
          </a:p>
        </p:txBody>
      </p:sp>
      <p:sp>
        <p:nvSpPr>
          <p:cNvPr id="18" name="Text 16"/>
          <p:cNvSpPr/>
          <p:nvPr/>
        </p:nvSpPr>
        <p:spPr>
          <a:xfrm>
            <a:off x="987552" y="2944368"/>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The Impact and the Digital Footprint</a:t>
            </a:r>
            <a:endParaRPr lang="en-US" sz="1200" dirty="0"/>
          </a:p>
        </p:txBody>
      </p:sp>
      <p:sp>
        <p:nvSpPr>
          <p:cNvPr id="19" name="Text 17"/>
          <p:cNvSpPr/>
          <p:nvPr/>
        </p:nvSpPr>
        <p:spPr>
          <a:xfrm>
            <a:off x="3730752" y="2944368"/>
            <a:ext cx="484632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read the evidence about effects, and looked up your own record.</a:t>
            </a:r>
            <a:endParaRPr lang="en-US" sz="1250" dirty="0"/>
          </a:p>
        </p:txBody>
      </p:sp>
      <p:sp>
        <p:nvSpPr>
          <p:cNvPr id="20" name="Shape 18"/>
          <p:cNvSpPr/>
          <p:nvPr/>
        </p:nvSpPr>
        <p:spPr>
          <a:xfrm>
            <a:off x="548640" y="3456432"/>
            <a:ext cx="310896" cy="310896"/>
          </a:xfrm>
          <a:prstGeom prst="ellipse">
            <a:avLst/>
          </a:prstGeom>
          <a:solidFill>
            <a:srgbClr val="2B3238"/>
          </a:solidFill>
          <a:ln w="12700">
            <a:solidFill>
              <a:srgbClr val="2B3238"/>
            </a:solidFill>
            <a:prstDash val="solid"/>
          </a:ln>
        </p:spPr>
      </p:sp>
      <p:sp>
        <p:nvSpPr>
          <p:cNvPr id="21" name="Text 19"/>
          <p:cNvSpPr/>
          <p:nvPr/>
        </p:nvSpPr>
        <p:spPr>
          <a:xfrm>
            <a:off x="548640" y="345643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5</a:t>
            </a:r>
            <a:endParaRPr lang="en-US" sz="950" dirty="0"/>
          </a:p>
        </p:txBody>
      </p:sp>
      <p:sp>
        <p:nvSpPr>
          <p:cNvPr id="22" name="Text 20"/>
          <p:cNvSpPr/>
          <p:nvPr/>
        </p:nvSpPr>
        <p:spPr>
          <a:xfrm>
            <a:off x="987552" y="3438144"/>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How a Lie Travels</a:t>
            </a:r>
            <a:endParaRPr lang="en-US" sz="1200" dirty="0"/>
          </a:p>
        </p:txBody>
      </p:sp>
      <p:sp>
        <p:nvSpPr>
          <p:cNvPr id="23" name="Text 21"/>
          <p:cNvSpPr/>
          <p:nvPr/>
        </p:nvSpPr>
        <p:spPr>
          <a:xfrm>
            <a:off x="3730752" y="3438144"/>
            <a:ext cx="484632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followed a false story through the system.</a:t>
            </a:r>
            <a:endParaRPr lang="en-US" sz="1250" dirty="0"/>
          </a:p>
        </p:txBody>
      </p:sp>
      <p:sp>
        <p:nvSpPr>
          <p:cNvPr id="24" name="Shape 22"/>
          <p:cNvSpPr/>
          <p:nvPr/>
        </p:nvSpPr>
        <p:spPr>
          <a:xfrm>
            <a:off x="548640" y="3931920"/>
            <a:ext cx="8046720" cy="585216"/>
          </a:xfrm>
          <a:prstGeom prst="roundRect">
            <a:avLst>
              <a:gd name="adj" fmla="val 9375"/>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25" name="Text 23"/>
          <p:cNvSpPr/>
          <p:nvPr/>
        </p:nvSpPr>
        <p:spPr>
          <a:xfrm>
            <a:off x="786384" y="3931920"/>
            <a:ext cx="640080" cy="585216"/>
          </a:xfrm>
          <a:prstGeom prst="rect">
            <a:avLst/>
          </a:prstGeom>
          <a:noFill/>
          <a:ln/>
        </p:spPr>
        <p:txBody>
          <a:bodyPr wrap="square" lIns="0" tIns="0" rIns="0" bIns="0" rtlCol="0" anchor="ctr"/>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TODAY</a:t>
            </a:r>
            <a:endParaRPr lang="en-US" sz="850" dirty="0"/>
          </a:p>
        </p:txBody>
      </p:sp>
      <p:sp>
        <p:nvSpPr>
          <p:cNvPr id="26" name="Text 24"/>
          <p:cNvSpPr/>
          <p:nvPr/>
        </p:nvSpPr>
        <p:spPr>
          <a:xfrm>
            <a:off x="1481328" y="3931920"/>
            <a:ext cx="6858000" cy="585216"/>
          </a:xfrm>
          <a:prstGeom prst="rect">
            <a:avLst/>
          </a:prstGeom>
          <a:noFill/>
          <a:ln/>
        </p:spPr>
        <p:txBody>
          <a:bodyPr wrap="square" lIns="0" tIns="0" rIns="0" bIns="0" rtlCol="0" anchor="ctr"/>
          <a:lstStyle/>
          <a:p>
            <a:pPr algn="l" indent="0" marL="0">
              <a:lnSpc>
                <a:spcPct val="104000"/>
              </a:lnSpc>
              <a:buNone/>
            </a:pPr>
            <a:r>
              <a:rPr lang="en-US" sz="1200" dirty="0">
                <a:solidFill>
                  <a:srgbClr val="14171A"/>
                </a:solidFill>
                <a:latin typeface="Calibri" pitchFamily="34" charset="0"/>
                <a:ea typeface="Calibri" pitchFamily="34" charset="-122"/>
                <a:cs typeface="Calibri" pitchFamily="34" charset="-120"/>
              </a:rPr>
              <a:t>By the end you should be able to state the strongest version of a position you do not hold, well enough that somebody who holds it would say you got it right.</a:t>
            </a:r>
            <a:endParaRPr lang="en-US" sz="1200" dirty="0"/>
          </a:p>
        </p:txBody>
      </p:sp>
      <p:sp>
        <p:nvSpPr>
          <p:cNvPr id="28" name="Text 25"/>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QUESTION</a:t>
            </a:r>
            <a:endParaRPr lang="en-US" sz="1000" dirty="0"/>
          </a:p>
        </p:txBody>
      </p:sp>
      <p:sp>
        <p:nvSpPr>
          <p:cNvPr id="3" name="Text 1"/>
          <p:cNvSpPr/>
          <p:nvPr/>
        </p:nvSpPr>
        <p:spPr>
          <a:xfrm>
            <a:off x="548640" y="694944"/>
            <a:ext cx="7863840" cy="1234440"/>
          </a:xfrm>
          <a:prstGeom prst="rect">
            <a:avLst/>
          </a:prstGeom>
          <a:noFill/>
          <a:ln/>
        </p:spPr>
        <p:txBody>
          <a:bodyPr wrap="square" lIns="0" tIns="0" rIns="0" bIns="0" rtlCol="0" anchor="t"/>
          <a:lstStyle/>
          <a:p>
            <a:pPr algn="l" indent="0" marL="0">
              <a:lnSpc>
                <a:spcPct val="106000"/>
              </a:lnSpc>
              <a:buNone/>
            </a:pPr>
            <a:r>
              <a:rPr lang="en-US" sz="2500" b="1" dirty="0">
                <a:solidFill>
                  <a:srgbClr val="14171A"/>
                </a:solidFill>
                <a:latin typeface="Cambria" pitchFamily="34" charset="0"/>
                <a:ea typeface="Cambria" pitchFamily="34" charset="-122"/>
                <a:cs typeface="Cambria" pitchFamily="34" charset="-120"/>
              </a:rPr>
              <a:t>Who should get to decide what a platform is allowed to do to your attention: you, the company, or the government?</a:t>
            </a:r>
            <a:endParaRPr lang="en-US" sz="2500" dirty="0"/>
          </a:p>
        </p:txBody>
      </p:sp>
      <p:sp>
        <p:nvSpPr>
          <p:cNvPr id="4" name="Shape 2"/>
          <p:cNvSpPr/>
          <p:nvPr/>
        </p:nvSpPr>
        <p:spPr>
          <a:xfrm>
            <a:off x="548640" y="219456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68096" y="2377440"/>
            <a:ext cx="347472" cy="347472"/>
          </a:xfrm>
          <a:prstGeom prst="ellipse">
            <a:avLst/>
          </a:prstGeom>
          <a:solidFill>
            <a:srgbClr val="B22222"/>
          </a:solidFill>
          <a:ln w="12700">
            <a:solidFill>
              <a:srgbClr val="B22222"/>
            </a:solidFill>
            <a:prstDash val="solid"/>
          </a:ln>
        </p:spPr>
      </p:sp>
      <p:sp>
        <p:nvSpPr>
          <p:cNvPr id="6" name="Text 4"/>
          <p:cNvSpPr/>
          <p:nvPr/>
        </p:nvSpPr>
        <p:spPr>
          <a:xfrm>
            <a:off x="768096" y="2377440"/>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7" name="Text 5"/>
          <p:cNvSpPr/>
          <p:nvPr/>
        </p:nvSpPr>
        <p:spPr>
          <a:xfrm>
            <a:off x="768096" y="2798064"/>
            <a:ext cx="2121408"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You decide</a:t>
            </a:r>
            <a:endParaRPr lang="en-US" sz="1450" dirty="0"/>
          </a:p>
        </p:txBody>
      </p:sp>
      <p:sp>
        <p:nvSpPr>
          <p:cNvPr id="8" name="Text 6"/>
          <p:cNvSpPr/>
          <p:nvPr/>
        </p:nvSpPr>
        <p:spPr>
          <a:xfrm>
            <a:off x="768096" y="3108960"/>
            <a:ext cx="2121408" cy="402336"/>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It is your attention and your phone.</a:t>
            </a:r>
            <a:endParaRPr lang="en-US" sz="1200" dirty="0"/>
          </a:p>
        </p:txBody>
      </p:sp>
      <p:sp>
        <p:nvSpPr>
          <p:cNvPr id="9" name="Shape 7"/>
          <p:cNvSpPr/>
          <p:nvPr/>
        </p:nvSpPr>
        <p:spPr>
          <a:xfrm>
            <a:off x="3291840" y="219456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3511296" y="2377440"/>
            <a:ext cx="347472" cy="347472"/>
          </a:xfrm>
          <a:prstGeom prst="ellipse">
            <a:avLst/>
          </a:prstGeom>
          <a:solidFill>
            <a:srgbClr val="B22222"/>
          </a:solidFill>
          <a:ln w="12700">
            <a:solidFill>
              <a:srgbClr val="B22222"/>
            </a:solidFill>
            <a:prstDash val="solid"/>
          </a:ln>
        </p:spPr>
      </p:sp>
      <p:sp>
        <p:nvSpPr>
          <p:cNvPr id="11" name="Text 9"/>
          <p:cNvSpPr/>
          <p:nvPr/>
        </p:nvSpPr>
        <p:spPr>
          <a:xfrm>
            <a:off x="3511296" y="2377440"/>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12" name="Text 10"/>
          <p:cNvSpPr/>
          <p:nvPr/>
        </p:nvSpPr>
        <p:spPr>
          <a:xfrm>
            <a:off x="3511296" y="2798064"/>
            <a:ext cx="2121408"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The company decides</a:t>
            </a:r>
            <a:endParaRPr lang="en-US" sz="1450" dirty="0"/>
          </a:p>
        </p:txBody>
      </p:sp>
      <p:sp>
        <p:nvSpPr>
          <p:cNvPr id="13" name="Text 11"/>
          <p:cNvSpPr/>
          <p:nvPr/>
        </p:nvSpPr>
        <p:spPr>
          <a:xfrm>
            <a:off x="3511296" y="3108960"/>
            <a:ext cx="2121408" cy="402336"/>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They built it and they pay for it.</a:t>
            </a:r>
            <a:endParaRPr lang="en-US" sz="1200" dirty="0"/>
          </a:p>
        </p:txBody>
      </p:sp>
      <p:sp>
        <p:nvSpPr>
          <p:cNvPr id="14" name="Shape 12"/>
          <p:cNvSpPr/>
          <p:nvPr/>
        </p:nvSpPr>
        <p:spPr>
          <a:xfrm>
            <a:off x="6035040" y="219456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6254496" y="2377440"/>
            <a:ext cx="347472" cy="347472"/>
          </a:xfrm>
          <a:prstGeom prst="ellipse">
            <a:avLst/>
          </a:prstGeom>
          <a:solidFill>
            <a:srgbClr val="B22222"/>
          </a:solidFill>
          <a:ln w="12700">
            <a:solidFill>
              <a:srgbClr val="B22222"/>
            </a:solidFill>
            <a:prstDash val="solid"/>
          </a:ln>
        </p:spPr>
      </p:sp>
      <p:sp>
        <p:nvSpPr>
          <p:cNvPr id="16" name="Text 14"/>
          <p:cNvSpPr/>
          <p:nvPr/>
        </p:nvSpPr>
        <p:spPr>
          <a:xfrm>
            <a:off x="6254496" y="2377440"/>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17" name="Text 15"/>
          <p:cNvSpPr/>
          <p:nvPr/>
        </p:nvSpPr>
        <p:spPr>
          <a:xfrm>
            <a:off x="6254496" y="2798064"/>
            <a:ext cx="2121408"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The government decides</a:t>
            </a:r>
            <a:endParaRPr lang="en-US" sz="1450" dirty="0"/>
          </a:p>
        </p:txBody>
      </p:sp>
      <p:sp>
        <p:nvSpPr>
          <p:cNvPr id="18" name="Text 16"/>
          <p:cNvSpPr/>
          <p:nvPr/>
        </p:nvSpPr>
        <p:spPr>
          <a:xfrm>
            <a:off x="6254496" y="3108960"/>
            <a:ext cx="2121408" cy="402336"/>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We already do this in other places.</a:t>
            </a:r>
            <a:endParaRPr lang="en-US" sz="1200" dirty="0"/>
          </a:p>
        </p:txBody>
      </p:sp>
      <p:sp>
        <p:nvSpPr>
          <p:cNvPr id="19" name="Text 17"/>
          <p:cNvSpPr/>
          <p:nvPr/>
        </p:nvSpPr>
        <p:spPr>
          <a:xfrm>
            <a:off x="548640" y="3785616"/>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You will not be graded on which position you choose.</a:t>
            </a:r>
            <a:endParaRPr lang="en-US" sz="1800" dirty="0"/>
          </a:p>
        </p:txBody>
      </p:sp>
      <p:sp>
        <p:nvSpPr>
          <p:cNvPr id="20" name="Text 18"/>
          <p:cNvSpPr/>
          <p:nvPr/>
        </p:nvSpPr>
        <p:spPr>
          <a:xfrm>
            <a:off x="548640" y="4151376"/>
            <a:ext cx="8046720" cy="310896"/>
          </a:xfrm>
          <a:prstGeom prst="rect">
            <a:avLst/>
          </a:prstGeom>
          <a:noFill/>
          <a:ln/>
        </p:spPr>
        <p:txBody>
          <a:bodyPr wrap="square" lIns="0" tIns="0" rIns="0" bIns="0" rtlCol="0" anchor="t"/>
          <a:lstStyle/>
          <a:p>
            <a:pPr algn="l" indent="0" marL="0">
              <a:lnSpc>
                <a:spcPct val="106000"/>
              </a:lnSpc>
              <a:buNone/>
            </a:pPr>
            <a:r>
              <a:rPr lang="en-US" sz="1350" dirty="0">
                <a:solidFill>
                  <a:srgbClr val="3C444C"/>
                </a:solidFill>
                <a:latin typeface="Calibri" pitchFamily="34" charset="0"/>
                <a:ea typeface="Calibri" pitchFamily="34" charset="-122"/>
                <a:cs typeface="Calibri" pitchFamily="34" charset="-120"/>
              </a:rPr>
              <a:t>You will be graded on how well you can state the strongest version of a position you did not choose.</a:t>
            </a:r>
            <a:endParaRPr lang="en-US" sz="1350" dirty="0"/>
          </a:p>
        </p:txBody>
      </p:sp>
      <p:sp>
        <p:nvSpPr>
          <p:cNvPr id="22" name="Text 1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GROUND RULE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Argue against the real version, not the weak one</a:t>
            </a:r>
            <a:endParaRPr lang="en-US" sz="3000" dirty="0"/>
          </a:p>
        </p:txBody>
      </p:sp>
      <p:sp>
        <p:nvSpPr>
          <p:cNvPr id="4" name="Text 2"/>
          <p:cNvSpPr/>
          <p:nvPr/>
        </p:nvSpPr>
        <p:spPr>
          <a:xfrm>
            <a:off x="548640" y="1627632"/>
            <a:ext cx="4023360" cy="914400"/>
          </a:xfrm>
          <a:prstGeom prst="rect">
            <a:avLst/>
          </a:prstGeom>
          <a:noFill/>
          <a:ln/>
        </p:spPr>
        <p:txBody>
          <a:bodyPr wrap="square" lIns="0" tIns="0" rIns="0" bIns="0" rtlCol="0" anchor="t"/>
          <a:lstStyle/>
          <a:p>
            <a:pPr algn="l" indent="0" marL="0">
              <a:lnSpc>
                <a:spcPct val="120000"/>
              </a:lnSpc>
              <a:buNone/>
            </a:pPr>
            <a:r>
              <a:rPr lang="en-US" sz="1500" dirty="0">
                <a:solidFill>
                  <a:srgbClr val="14171A"/>
                </a:solidFill>
                <a:latin typeface="Calibri" pitchFamily="34" charset="0"/>
                <a:ea typeface="Calibri" pitchFamily="34" charset="-122"/>
                <a:cs typeface="Calibri" pitchFamily="34" charset="-120"/>
              </a:rPr>
              <a:t>Every one of these three positions is held by serious people who have thought about it longer than we have.</a:t>
            </a:r>
            <a:endParaRPr lang="en-US" sz="1500" dirty="0"/>
          </a:p>
        </p:txBody>
      </p:sp>
      <p:sp>
        <p:nvSpPr>
          <p:cNvPr id="5" name="Shape 3"/>
          <p:cNvSpPr/>
          <p:nvPr/>
        </p:nvSpPr>
        <p:spPr>
          <a:xfrm>
            <a:off x="4846320" y="1554480"/>
            <a:ext cx="3749040" cy="1737360"/>
          </a:xfrm>
          <a:prstGeom prst="roundRect">
            <a:avLst>
              <a:gd name="adj" fmla="val 3158"/>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6" name="Text 4"/>
          <p:cNvSpPr/>
          <p:nvPr/>
        </p:nvSpPr>
        <p:spPr>
          <a:xfrm>
            <a:off x="5102352" y="1773936"/>
            <a:ext cx="323697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TRAP</a:t>
            </a:r>
            <a:endParaRPr lang="en-US" sz="900" dirty="0"/>
          </a:p>
        </p:txBody>
      </p:sp>
      <p:sp>
        <p:nvSpPr>
          <p:cNvPr id="7" name="Text 5"/>
          <p:cNvSpPr/>
          <p:nvPr/>
        </p:nvSpPr>
        <p:spPr>
          <a:xfrm>
            <a:off x="5102352" y="2066544"/>
            <a:ext cx="3236976" cy="1005840"/>
          </a:xfrm>
          <a:prstGeom prst="rect">
            <a:avLst/>
          </a:prstGeom>
          <a:noFill/>
          <a:ln/>
        </p:spPr>
        <p:txBody>
          <a:bodyPr wrap="square" lIns="0" tIns="0" rIns="0" bIns="0" rtlCol="0" anchor="t"/>
          <a:lstStyle/>
          <a:p>
            <a:pPr algn="l" indent="0" marL="0">
              <a:lnSpc>
                <a:spcPct val="118000"/>
              </a:lnSpc>
              <a:buNone/>
            </a:pPr>
            <a:r>
              <a:rPr lang="en-US" sz="1400" dirty="0">
                <a:solidFill>
                  <a:srgbClr val="14171A"/>
                </a:solidFill>
                <a:latin typeface="Calibri" pitchFamily="34" charset="0"/>
                <a:ea typeface="Calibri" pitchFamily="34" charset="-122"/>
                <a:cs typeface="Calibri" pitchFamily="34" charset="-120"/>
              </a:rPr>
              <a:t>If a position seems obviously wrong to you, you are probably arguing against a weak version of it rather than the real one.</a:t>
            </a:r>
            <a:endParaRPr lang="en-US" sz="1400" dirty="0"/>
          </a:p>
        </p:txBody>
      </p:sp>
      <p:sp>
        <p:nvSpPr>
          <p:cNvPr id="8" name="Text 6"/>
          <p:cNvSpPr/>
          <p:nvPr/>
        </p:nvSpPr>
        <p:spPr>
          <a:xfrm>
            <a:off x="548640" y="3566160"/>
            <a:ext cx="8046720" cy="457200"/>
          </a:xfrm>
          <a:prstGeom prst="rect">
            <a:avLst/>
          </a:prstGeom>
          <a:noFill/>
          <a:ln/>
        </p:spPr>
        <p:txBody>
          <a:bodyPr wrap="square" lIns="0" tIns="0" rIns="0" bIns="0" rtlCol="0" anchor="t"/>
          <a:lstStyle/>
          <a:p>
            <a:pPr algn="l" indent="0" marL="0">
              <a:lnSpc>
                <a:spcPct val="114000"/>
              </a:lnSpc>
              <a:buNone/>
            </a:pPr>
            <a:r>
              <a:rPr lang="en-US" sz="1350" dirty="0">
                <a:solidFill>
                  <a:srgbClr val="3C444C"/>
                </a:solidFill>
                <a:latin typeface="Calibri" pitchFamily="34" charset="0"/>
                <a:ea typeface="Calibri" pitchFamily="34" charset="-122"/>
                <a:cs typeface="Calibri" pitchFamily="34" charset="-120"/>
              </a:rPr>
              <a:t>Beating the weak version of an argument teaches you nothing, and it is the easiest mistake in the room to make by accident.</a:t>
            </a:r>
            <a:endParaRPr lang="en-US" sz="1350" dirty="0"/>
          </a:p>
        </p:txBody>
      </p:sp>
      <p:sp>
        <p:nvSpPr>
          <p:cNvPr id="10" name="Text 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STANDARD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Every answer costs something</a:t>
            </a:r>
            <a:endParaRPr lang="en-US" sz="3000" dirty="0"/>
          </a:p>
        </p:txBody>
      </p:sp>
      <p:sp>
        <p:nvSpPr>
          <p:cNvPr id="4" name="Shape 2"/>
          <p:cNvSpPr/>
          <p:nvPr/>
        </p:nvSpPr>
        <p:spPr>
          <a:xfrm>
            <a:off x="548640" y="1554480"/>
            <a:ext cx="8046720" cy="914400"/>
          </a:xfrm>
          <a:prstGeom prst="roundRect">
            <a:avLst>
              <a:gd name="adj" fmla="val 6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54480"/>
            <a:ext cx="7498080" cy="914400"/>
          </a:xfrm>
          <a:prstGeom prst="rect">
            <a:avLst/>
          </a:prstGeom>
          <a:noFill/>
          <a:ln/>
        </p:spPr>
        <p:txBody>
          <a:bodyPr wrap="square" lIns="0" tIns="0" rIns="0" bIns="0" rtlCol="0" anchor="ctr"/>
          <a:lstStyle/>
          <a:p>
            <a:pPr algn="l" indent="0" marL="0">
              <a:lnSpc>
                <a:spcPct val="106000"/>
              </a:lnSpc>
              <a:buNone/>
            </a:pPr>
            <a:r>
              <a:rPr lang="en-US" sz="2200" b="1" dirty="0">
                <a:solidFill>
                  <a:srgbClr val="14171A"/>
                </a:solidFill>
                <a:latin typeface="Cambria" pitchFamily="34" charset="0"/>
                <a:ea typeface="Cambria" pitchFamily="34" charset="-122"/>
                <a:cs typeface="Cambria" pitchFamily="34" charset="-120"/>
              </a:rPr>
              <a:t>An answer with no tradeoff in it is not finished.</a:t>
            </a:r>
            <a:endParaRPr lang="en-US" sz="2200" dirty="0"/>
          </a:p>
        </p:txBody>
      </p:sp>
      <p:sp>
        <p:nvSpPr>
          <p:cNvPr id="6" name="Shape 4"/>
          <p:cNvSpPr/>
          <p:nvPr/>
        </p:nvSpPr>
        <p:spPr>
          <a:xfrm>
            <a:off x="54864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TRADEOFF</a:t>
            </a:r>
            <a:endParaRPr lang="en-US" sz="900" dirty="0"/>
          </a:p>
        </p:txBody>
      </p:sp>
      <p:sp>
        <p:nvSpPr>
          <p:cNvPr id="8" name="Text 6"/>
          <p:cNvSpPr/>
          <p:nvPr/>
        </p:nvSpPr>
        <p:spPr>
          <a:xfrm>
            <a:off x="786384" y="3200400"/>
            <a:ext cx="3364992" cy="694944"/>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What you give up in order to get something else. Every answer here has one.</a:t>
            </a:r>
            <a:endParaRPr lang="en-US" sz="1350" dirty="0"/>
          </a:p>
        </p:txBody>
      </p:sp>
      <p:sp>
        <p:nvSpPr>
          <p:cNvPr id="9" name="Shape 7"/>
          <p:cNvSpPr/>
          <p:nvPr/>
        </p:nvSpPr>
        <p:spPr>
          <a:xfrm>
            <a:off x="475488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SO, TODAY</a:t>
            </a:r>
            <a:endParaRPr lang="en-US" sz="900" dirty="0"/>
          </a:p>
        </p:txBody>
      </p:sp>
      <p:sp>
        <p:nvSpPr>
          <p:cNvPr id="11" name="Text 9"/>
          <p:cNvSpPr/>
          <p:nvPr/>
        </p:nvSpPr>
        <p:spPr>
          <a:xfrm>
            <a:off x="4992624" y="3200400"/>
            <a:ext cx="3364992" cy="694944"/>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Name your position, then name what it costs. If you cannot name the cost, you are not finished.</a:t>
            </a:r>
            <a:endParaRPr lang="en-US" sz="13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ONE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You decide</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STRONGEST CASE: OWNERSHIP</a:t>
            </a:r>
            <a:endParaRPr lang="en-US" sz="85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It is your attention and your phone.</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 controls already exist: delete the app, turn off notifications, switch to the chronological feed, set a timer.</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Adults are allowed to make poor choices about their own time. Treating teenagers as unable to choose is its own kind of disrespect.</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HARDEST PROBLEM: THE SIZE OF THE MISMATCH</a:t>
            </a:r>
            <a:endParaRPr lang="en-US" sz="85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250" dirty="0">
                <a:solidFill>
                  <a:srgbClr val="14171A"/>
                </a:solidFill>
                <a:latin typeface="Calibri" pitchFamily="34" charset="0"/>
                <a:ea typeface="Calibri" pitchFamily="34" charset="-122"/>
                <a:cs typeface="Calibri" pitchFamily="34" charset="-120"/>
              </a:rPr>
              <a:t>The app was designed by people whose job was to make it hard to put down, and they are very good at that job. On one side there are thousands of engineers and years of testing. On the other side there is your willpower. A choice made under those conditions is not obviously a free choice.</a:t>
            </a:r>
            <a:endParaRPr lang="en-US" sz="12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TWO</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company decides</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STRONGEST CASE: THEY BUILT IT</a:t>
            </a:r>
            <a:endParaRPr lang="en-US" sz="85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 company built the product, pays for it, and does not require anyone to use it.</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When a company sets its own rules, that is called self-regulation. It is not nothing: companies do change things when users complain or bad publicity costs money.</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They also understand the product better than any outside regulator will.</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HARDEST PROBLEM: A CONFLICT OF INTEREST</a:t>
            </a:r>
            <a:endParaRPr lang="en-US" sz="85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250" dirty="0">
                <a:solidFill>
                  <a:srgbClr val="14171A"/>
                </a:solidFill>
                <a:latin typeface="Calibri" pitchFamily="34" charset="0"/>
                <a:ea typeface="Calibri" pitchFamily="34" charset="-122"/>
                <a:cs typeface="Calibri" pitchFamily="34" charset="-120"/>
              </a:rPr>
              <a:t>The company earns its money from your attention. Asking that company to protect you from the thing that pays it puts the company on both sides of the question at once.</a:t>
            </a:r>
            <a:endParaRPr lang="en-US" sz="12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THREE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government decides</a:t>
            </a:r>
            <a:endParaRPr lang="en-US" sz="3200" dirty="0"/>
          </a:p>
        </p:txBody>
      </p:sp>
      <p:sp>
        <p:nvSpPr>
          <p:cNvPr id="6" name="Shape 4"/>
          <p:cNvSpPr/>
          <p:nvPr/>
        </p:nvSpPr>
        <p:spPr>
          <a:xfrm>
            <a:off x="548640" y="1627632"/>
            <a:ext cx="3840480" cy="2057400"/>
          </a:xfrm>
          <a:prstGeom prst="roundRect">
            <a:avLst>
              <a:gd name="adj" fmla="val 266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STRONGEST CASE: WE ALREADY DO THIS</a:t>
            </a:r>
            <a:endParaRPr lang="en-US" sz="850" dirty="0"/>
          </a:p>
        </p:txBody>
      </p:sp>
      <p:sp>
        <p:nvSpPr>
          <p:cNvPr id="8" name="Text 6"/>
          <p:cNvSpPr/>
          <p:nvPr/>
        </p:nvSpPr>
        <p:spPr>
          <a:xfrm>
            <a:off x="786384" y="2121408"/>
            <a:ext cx="3364992" cy="13990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Regulation means the government sets rules a company has to follow.</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Cars must have seatbelts. Cigarettes cannot be advertised on television. Children cannot work full time.</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People once argued each of those should be a personal choice. Almost nobody argues that now.</a:t>
            </a:r>
            <a:endParaRPr lang="en-US" sz="1250" dirty="0"/>
          </a:p>
        </p:txBody>
      </p:sp>
      <p:sp>
        <p:nvSpPr>
          <p:cNvPr id="9" name="Shape 7"/>
          <p:cNvSpPr/>
          <p:nvPr/>
        </p:nvSpPr>
        <p:spPr>
          <a:xfrm>
            <a:off x="4754880" y="1627632"/>
            <a:ext cx="3840480" cy="2057400"/>
          </a:xfrm>
          <a:prstGeom prst="roundRect">
            <a:avLst>
              <a:gd name="adj" fmla="val 266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HARDEST PROBLEM: THE POWER CUTS BOTH WAYS</a:t>
            </a:r>
            <a:endParaRPr lang="en-US" sz="850" dirty="0"/>
          </a:p>
        </p:txBody>
      </p:sp>
      <p:sp>
        <p:nvSpPr>
          <p:cNvPr id="11" name="Text 9"/>
          <p:cNvSpPr/>
          <p:nvPr/>
        </p:nvSpPr>
        <p:spPr>
          <a:xfrm>
            <a:off x="4992624" y="2121408"/>
            <a:ext cx="3364992" cy="1399032"/>
          </a:xfrm>
          <a:prstGeom prst="rect">
            <a:avLst/>
          </a:prstGeom>
          <a:noFill/>
          <a:ln/>
        </p:spPr>
        <p:txBody>
          <a:bodyPr wrap="square" lIns="0" tIns="0" rIns="0" bIns="0" rtlCol="0" anchor="t"/>
          <a:lstStyle/>
          <a:p>
            <a:pPr algn="l" indent="0" marL="0">
              <a:lnSpc>
                <a:spcPct val="116000"/>
              </a:lnSpc>
              <a:buNone/>
            </a:pPr>
            <a:r>
              <a:rPr lang="en-US" sz="1250" dirty="0">
                <a:solidFill>
                  <a:srgbClr val="14171A"/>
                </a:solidFill>
                <a:latin typeface="Calibri" pitchFamily="34" charset="0"/>
                <a:ea typeface="Calibri" pitchFamily="34" charset="-122"/>
                <a:cs typeface="Calibri" pitchFamily="34" charset="-120"/>
              </a:rPr>
              <a:t>A government that can require a platform to change what it shows you can use that same power for its own purposes later. Protecting people and controlling them require the same legal authority. What changes is who is holding it.</a:t>
            </a:r>
            <a:endParaRPr lang="en-US" sz="1250" dirty="0"/>
          </a:p>
        </p:txBody>
      </p:sp>
      <p:sp>
        <p:nvSpPr>
          <p:cNvPr id="12" name="Shape 10"/>
          <p:cNvSpPr/>
          <p:nvPr/>
        </p:nvSpPr>
        <p:spPr>
          <a:xfrm>
            <a:off x="548640" y="3858768"/>
            <a:ext cx="8046720" cy="640080"/>
          </a:xfrm>
          <a:prstGeom prst="roundRect">
            <a:avLst>
              <a:gd name="adj" fmla="val 8571"/>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786384" y="3986784"/>
            <a:ext cx="1188720"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WATCH FOR</a:t>
            </a:r>
            <a:endParaRPr lang="en-US" sz="850" dirty="0"/>
          </a:p>
        </p:txBody>
      </p:sp>
      <p:sp>
        <p:nvSpPr>
          <p:cNvPr id="14" name="Text 12"/>
          <p:cNvSpPr/>
          <p:nvPr/>
        </p:nvSpPr>
        <p:spPr>
          <a:xfrm>
            <a:off x="2011680" y="3931920"/>
            <a:ext cx="6309360" cy="493776"/>
          </a:xfrm>
          <a:prstGeom prst="rect">
            <a:avLst/>
          </a:prstGeom>
          <a:noFill/>
          <a:ln/>
        </p:spPr>
        <p:txBody>
          <a:bodyPr wrap="square" lIns="0" tIns="0" rIns="0" bIns="0" rtlCol="0" anchor="t"/>
          <a:lstStyle/>
          <a:p>
            <a:pPr algn="l" indent="0" marL="0">
              <a:lnSpc>
                <a:spcPct val="106000"/>
              </a:lnSpc>
              <a:buNone/>
            </a:pPr>
            <a:r>
              <a:rPr lang="en-US" sz="1200" dirty="0">
                <a:solidFill>
                  <a:srgbClr val="14171A"/>
                </a:solidFill>
                <a:latin typeface="Calibri" pitchFamily="34" charset="0"/>
                <a:ea typeface="Calibri" pitchFamily="34" charset="-122"/>
                <a:cs typeface="Calibri" pitchFamily="34" charset="-120"/>
              </a:rPr>
              <a:t>An unintended consequence is a result nobody wanted or predicted. Rules written for large platforms often land hardest on small ones, which cannot afford the lawyers.</a:t>
            </a:r>
            <a:endParaRPr lang="en-US" sz="120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WRITE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case, and the cost</a:t>
            </a:r>
            <a:endParaRPr lang="en-US" sz="3000" dirty="0"/>
          </a:p>
        </p:txBody>
      </p:sp>
      <p:sp>
        <p:nvSpPr>
          <p:cNvPr id="4" name="Shape 2"/>
          <p:cNvSpPr/>
          <p:nvPr/>
        </p:nvSpPr>
        <p:spPr>
          <a:xfrm>
            <a:off x="5486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You</a:t>
            </a:r>
            <a:endParaRPr lang="en-US" sz="1600" dirty="0"/>
          </a:p>
        </p:txBody>
      </p:sp>
      <p:sp>
        <p:nvSpPr>
          <p:cNvPr id="6" name="Text 4"/>
          <p:cNvSpPr/>
          <p:nvPr/>
        </p:nvSpPr>
        <p:spPr>
          <a:xfrm>
            <a:off x="7680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7" name="Text 5"/>
          <p:cNvSpPr/>
          <p:nvPr/>
        </p:nvSpPr>
        <p:spPr>
          <a:xfrm>
            <a:off x="7680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It is your attention, and the controls already exist.</a:t>
            </a:r>
            <a:endParaRPr lang="en-US" sz="1200" dirty="0"/>
          </a:p>
        </p:txBody>
      </p:sp>
      <p:sp>
        <p:nvSpPr>
          <p:cNvPr id="8" name="Text 6"/>
          <p:cNvSpPr/>
          <p:nvPr/>
        </p:nvSpPr>
        <p:spPr>
          <a:xfrm>
            <a:off x="7680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9" name="Text 7"/>
          <p:cNvSpPr/>
          <p:nvPr/>
        </p:nvSpPr>
        <p:spPr>
          <a:xfrm>
            <a:off x="7680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Thousands of engineers on one side, your willpower on the other.</a:t>
            </a:r>
            <a:endParaRPr lang="en-US" sz="1200" dirty="0"/>
          </a:p>
        </p:txBody>
      </p:sp>
      <p:sp>
        <p:nvSpPr>
          <p:cNvPr id="10" name="Shape 8"/>
          <p:cNvSpPr/>
          <p:nvPr/>
        </p:nvSpPr>
        <p:spPr>
          <a:xfrm>
            <a:off x="32918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35112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company</a:t>
            </a:r>
            <a:endParaRPr lang="en-US" sz="1600" dirty="0"/>
          </a:p>
        </p:txBody>
      </p:sp>
      <p:sp>
        <p:nvSpPr>
          <p:cNvPr id="12" name="Text 10"/>
          <p:cNvSpPr/>
          <p:nvPr/>
        </p:nvSpPr>
        <p:spPr>
          <a:xfrm>
            <a:off x="35112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3" name="Text 11"/>
          <p:cNvSpPr/>
          <p:nvPr/>
        </p:nvSpPr>
        <p:spPr>
          <a:xfrm>
            <a:off x="35112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They built it, and bad publicity does move them.</a:t>
            </a:r>
            <a:endParaRPr lang="en-US" sz="1200" dirty="0"/>
          </a:p>
        </p:txBody>
      </p:sp>
      <p:sp>
        <p:nvSpPr>
          <p:cNvPr id="14" name="Text 12"/>
          <p:cNvSpPr/>
          <p:nvPr/>
        </p:nvSpPr>
        <p:spPr>
          <a:xfrm>
            <a:off x="35112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15" name="Text 13"/>
          <p:cNvSpPr/>
          <p:nvPr/>
        </p:nvSpPr>
        <p:spPr>
          <a:xfrm>
            <a:off x="35112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They earn money from your attention, so you are asking the wrong party.</a:t>
            </a:r>
            <a:endParaRPr lang="en-US" sz="1200" dirty="0"/>
          </a:p>
        </p:txBody>
      </p:sp>
      <p:sp>
        <p:nvSpPr>
          <p:cNvPr id="16" name="Shape 14"/>
          <p:cNvSpPr/>
          <p:nvPr/>
        </p:nvSpPr>
        <p:spPr>
          <a:xfrm>
            <a:off x="60350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2544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government</a:t>
            </a:r>
            <a:endParaRPr lang="en-US" sz="1600" dirty="0"/>
          </a:p>
        </p:txBody>
      </p:sp>
      <p:sp>
        <p:nvSpPr>
          <p:cNvPr id="18" name="Text 16"/>
          <p:cNvSpPr/>
          <p:nvPr/>
        </p:nvSpPr>
        <p:spPr>
          <a:xfrm>
            <a:off x="62544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9" name="Text 17"/>
          <p:cNvSpPr/>
          <p:nvPr/>
        </p:nvSpPr>
        <p:spPr>
          <a:xfrm>
            <a:off x="62544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Seatbelts. Cigarette advertising. Child labor.</a:t>
            </a:r>
            <a:endParaRPr lang="en-US" sz="1200" dirty="0"/>
          </a:p>
        </p:txBody>
      </p:sp>
      <p:sp>
        <p:nvSpPr>
          <p:cNvPr id="20" name="Text 18"/>
          <p:cNvSpPr/>
          <p:nvPr/>
        </p:nvSpPr>
        <p:spPr>
          <a:xfrm>
            <a:off x="62544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21" name="Text 19"/>
          <p:cNvSpPr/>
          <p:nvPr/>
        </p:nvSpPr>
        <p:spPr>
          <a:xfrm>
            <a:off x="62544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 same authority that protects people can be used to control them.</a:t>
            </a:r>
            <a:endParaRPr lang="en-US" sz="1200" dirty="0"/>
          </a:p>
        </p:txBody>
      </p:sp>
      <p:sp>
        <p:nvSpPr>
          <p:cNvPr id="22" name="Text 20"/>
          <p:cNvSpPr/>
          <p:nvPr/>
        </p:nvSpPr>
        <p:spPr>
          <a:xfrm>
            <a:off x="548640" y="4169664"/>
            <a:ext cx="8046720" cy="310896"/>
          </a:xfrm>
          <a:prstGeom prst="rect">
            <a:avLst/>
          </a:prstGeom>
          <a:noFill/>
          <a:ln/>
        </p:spPr>
        <p:txBody>
          <a:bodyPr wrap="square" lIns="0" tIns="0" rIns="0" bIns="0" rtlCol="0" anchor="t"/>
          <a:lstStyle/>
          <a:p>
            <a:pPr algn="l" indent="0" marL="0">
              <a:lnSpc>
                <a:spcPct val="106000"/>
              </a:lnSpc>
              <a:buNone/>
            </a:pPr>
            <a:r>
              <a:rPr lang="en-US" sz="1350" i="1" dirty="0">
                <a:solidFill>
                  <a:srgbClr val="3C444C"/>
                </a:solidFill>
                <a:latin typeface="Calibri" pitchFamily="34" charset="0"/>
                <a:ea typeface="Calibri" pitchFamily="34" charset="-122"/>
                <a:cs typeface="Calibri" pitchFamily="34" charset="-120"/>
              </a:rPr>
              <a:t>If you cannot say the cost of your own position, you are not ready to write about it yet.</a:t>
            </a:r>
            <a:endParaRPr lang="en-US" sz="1350" dirty="0"/>
          </a:p>
        </p:txBody>
      </p:sp>
      <p:sp>
        <p:nvSpPr>
          <p:cNvPr id="24" name="Text 2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This argument has happened before</a:t>
            </a:r>
            <a:endParaRPr lang="en-US" sz="3000" dirty="0"/>
          </a:p>
        </p:txBody>
      </p:sp>
      <p:sp>
        <p:nvSpPr>
          <p:cNvPr id="4" name="Shape 2"/>
          <p:cNvSpPr/>
          <p:nvPr/>
        </p:nvSpPr>
        <p:spPr>
          <a:xfrm>
            <a:off x="548640"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1954</a:t>
            </a:r>
            <a:endParaRPr lang="en-US" sz="2000" dirty="0"/>
          </a:p>
        </p:txBody>
      </p:sp>
      <p:sp>
        <p:nvSpPr>
          <p:cNvPr id="6" name="Text 4"/>
          <p:cNvSpPr/>
          <p:nvPr/>
        </p:nvSpPr>
        <p:spPr>
          <a:xfrm>
            <a:off x="749808"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Comic books</a:t>
            </a:r>
            <a:endParaRPr lang="en-US" sz="1300" dirty="0"/>
          </a:p>
        </p:txBody>
      </p:sp>
      <p:sp>
        <p:nvSpPr>
          <p:cNvPr id="7" name="Text 5"/>
          <p:cNvSpPr/>
          <p:nvPr/>
        </p:nvSpPr>
        <p:spPr>
          <a:xfrm>
            <a:off x="749808"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A Senate hearing and an industry code.</a:t>
            </a:r>
            <a:endParaRPr lang="en-US" sz="1150" dirty="0"/>
          </a:p>
        </p:txBody>
      </p:sp>
      <p:sp>
        <p:nvSpPr>
          <p:cNvPr id="8" name="Shape 6"/>
          <p:cNvSpPr/>
          <p:nvPr/>
        </p:nvSpPr>
        <p:spPr>
          <a:xfrm>
            <a:off x="2587752"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9" name="Text 7"/>
          <p:cNvSpPr/>
          <p:nvPr/>
        </p:nvSpPr>
        <p:spPr>
          <a:xfrm>
            <a:off x="2788920"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1970s</a:t>
            </a:r>
            <a:endParaRPr lang="en-US" sz="2000" dirty="0"/>
          </a:p>
        </p:txBody>
      </p:sp>
      <p:sp>
        <p:nvSpPr>
          <p:cNvPr id="10" name="Text 8"/>
          <p:cNvSpPr/>
          <p:nvPr/>
        </p:nvSpPr>
        <p:spPr>
          <a:xfrm>
            <a:off x="2788920"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Television violence</a:t>
            </a:r>
            <a:endParaRPr lang="en-US" sz="1300" dirty="0"/>
          </a:p>
        </p:txBody>
      </p:sp>
      <p:sp>
        <p:nvSpPr>
          <p:cNvPr id="11" name="Text 9"/>
          <p:cNvSpPr/>
          <p:nvPr/>
        </p:nvSpPr>
        <p:spPr>
          <a:xfrm>
            <a:off x="2788920"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across the decade.</a:t>
            </a:r>
            <a:endParaRPr lang="en-US" sz="1150" dirty="0"/>
          </a:p>
        </p:txBody>
      </p:sp>
      <p:sp>
        <p:nvSpPr>
          <p:cNvPr id="12" name="Shape 10"/>
          <p:cNvSpPr/>
          <p:nvPr/>
        </p:nvSpPr>
        <p:spPr>
          <a:xfrm>
            <a:off x="4626864"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4828032"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1985</a:t>
            </a:r>
            <a:endParaRPr lang="en-US" sz="2000" dirty="0"/>
          </a:p>
        </p:txBody>
      </p:sp>
      <p:sp>
        <p:nvSpPr>
          <p:cNvPr id="14" name="Text 12"/>
          <p:cNvSpPr/>
          <p:nvPr/>
        </p:nvSpPr>
        <p:spPr>
          <a:xfrm>
            <a:off x="4828032"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Music lyrics</a:t>
            </a:r>
            <a:endParaRPr lang="en-US" sz="1300" dirty="0"/>
          </a:p>
        </p:txBody>
      </p:sp>
      <p:sp>
        <p:nvSpPr>
          <p:cNvPr id="15" name="Text 13"/>
          <p:cNvSpPr/>
          <p:nvPr/>
        </p:nvSpPr>
        <p:spPr>
          <a:xfrm>
            <a:off x="4828032"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Senate hearings and the parental advisory sticker.</a:t>
            </a:r>
            <a:endParaRPr lang="en-US" sz="1150" dirty="0"/>
          </a:p>
        </p:txBody>
      </p:sp>
      <p:sp>
        <p:nvSpPr>
          <p:cNvPr id="16" name="Shape 14"/>
          <p:cNvSpPr/>
          <p:nvPr/>
        </p:nvSpPr>
        <p:spPr>
          <a:xfrm>
            <a:off x="6665976"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867144"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1993</a:t>
            </a:r>
            <a:endParaRPr lang="en-US" sz="2000" dirty="0"/>
          </a:p>
        </p:txBody>
      </p:sp>
      <p:sp>
        <p:nvSpPr>
          <p:cNvPr id="18" name="Text 16"/>
          <p:cNvSpPr/>
          <p:nvPr/>
        </p:nvSpPr>
        <p:spPr>
          <a:xfrm>
            <a:off x="6867144"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Video games</a:t>
            </a:r>
            <a:endParaRPr lang="en-US" sz="1300" dirty="0"/>
          </a:p>
        </p:txBody>
      </p:sp>
      <p:sp>
        <p:nvSpPr>
          <p:cNvPr id="19" name="Text 17"/>
          <p:cNvSpPr/>
          <p:nvPr/>
        </p:nvSpPr>
        <p:spPr>
          <a:xfrm>
            <a:off x="6867144"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and the rating on every box today.</a:t>
            </a:r>
            <a:endParaRPr lang="en-US" sz="1150" dirty="0"/>
          </a:p>
        </p:txBody>
      </p:sp>
      <p:sp>
        <p:nvSpPr>
          <p:cNvPr id="20" name="Text 18"/>
          <p:cNvSpPr/>
          <p:nvPr/>
        </p:nvSpPr>
        <p:spPr>
          <a:xfrm>
            <a:off x="548640" y="3657600"/>
            <a:ext cx="8046720" cy="45720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A precedent is an earlier case that people point to when they decide a new one. This argument, about a new medium and what it does to young people, has happened at least four times before.</a:t>
            </a:r>
            <a:endParaRPr lang="en-US" sz="1300" dirty="0"/>
          </a:p>
        </p:txBody>
      </p:sp>
      <p:sp>
        <p:nvSpPr>
          <p:cNvPr id="21" name="Text 19"/>
          <p:cNvSpPr/>
          <p:nvPr/>
        </p:nvSpPr>
        <p:spPr>
          <a:xfrm>
            <a:off x="548640" y="4169664"/>
            <a:ext cx="8046720"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libri" pitchFamily="34" charset="0"/>
                <a:ea typeface="Calibri" pitchFamily="34" charset="-122"/>
                <a:cs typeface="Calibri" pitchFamily="34" charset="-120"/>
              </a:rPr>
              <a:t>Those four have two things in common.</a:t>
            </a:r>
            <a:endParaRPr lang="en-US" sz="1400" dirty="0"/>
          </a:p>
        </p:txBody>
      </p:sp>
      <p:sp>
        <p:nvSpPr>
          <p:cNvPr id="23" name="Text 2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 · WHAT IT TELLS YOU</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Four for four, and not one of them a law</a:t>
            </a:r>
            <a:endParaRPr lang="en-US" sz="3000" dirty="0"/>
          </a:p>
        </p:txBody>
      </p:sp>
      <p:sp>
        <p:nvSpPr>
          <p:cNvPr id="4" name="Shape 2"/>
          <p:cNvSpPr/>
          <p:nvPr/>
        </p:nvSpPr>
        <p:spPr>
          <a:xfrm>
            <a:off x="548640" y="1645920"/>
            <a:ext cx="3840480" cy="1920240"/>
          </a:xfrm>
          <a:prstGeom prst="roundRect">
            <a:avLst>
              <a:gd name="adj" fmla="val 285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847088"/>
            <a:ext cx="332841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FIRST</a:t>
            </a:r>
            <a:endParaRPr lang="en-US" sz="900" dirty="0"/>
          </a:p>
        </p:txBody>
      </p:sp>
      <p:sp>
        <p:nvSpPr>
          <p:cNvPr id="6" name="Text 4"/>
          <p:cNvSpPr/>
          <p:nvPr/>
        </p:nvSpPr>
        <p:spPr>
          <a:xfrm>
            <a:off x="804672" y="2103120"/>
            <a:ext cx="3328416" cy="512064"/>
          </a:xfrm>
          <a:prstGeom prst="rect">
            <a:avLst/>
          </a:prstGeom>
          <a:noFill/>
          <a:ln/>
        </p:spPr>
        <p:txBody>
          <a:bodyPr wrap="square" lIns="0" tIns="0" rIns="0" bIns="0" rtlCol="0" anchor="t"/>
          <a:lstStyle/>
          <a:p>
            <a:pPr algn="l" indent="0" marL="0">
              <a:lnSpc>
                <a:spcPct val="106000"/>
              </a:lnSpc>
              <a:buNone/>
            </a:pPr>
            <a:r>
              <a:rPr lang="en-US" sz="3200" b="1" dirty="0">
                <a:solidFill>
                  <a:srgbClr val="8A1A1A"/>
                </a:solidFill>
                <a:latin typeface="Cambria" pitchFamily="34" charset="0"/>
                <a:ea typeface="Cambria" pitchFamily="34" charset="-122"/>
                <a:cs typeface="Cambria" pitchFamily="34" charset="-120"/>
              </a:rPr>
              <a:t>4 of 4</a:t>
            </a:r>
            <a:endParaRPr lang="en-US" sz="3200" dirty="0"/>
          </a:p>
        </p:txBody>
      </p:sp>
      <p:sp>
        <p:nvSpPr>
          <p:cNvPr id="7" name="Text 5"/>
          <p:cNvSpPr/>
          <p:nvPr/>
        </p:nvSpPr>
        <p:spPr>
          <a:xfrm>
            <a:off x="804672" y="2688336"/>
            <a:ext cx="3328416" cy="731520"/>
          </a:xfrm>
          <a:prstGeom prst="rect">
            <a:avLst/>
          </a:prstGeom>
          <a:noFill/>
          <a:ln/>
        </p:spPr>
        <p:txBody>
          <a:bodyPr wrap="square" lIns="0" tIns="0" rIns="0" bIns="0" rtlCol="0" anchor="t"/>
          <a:lstStyle/>
          <a:p>
            <a:pPr algn="l" indent="0" marL="0">
              <a:lnSpc>
                <a:spcPct val="114000"/>
              </a:lnSpc>
              <a:buNone/>
            </a:pPr>
            <a:r>
              <a:rPr lang="en-US" sz="1300" dirty="0">
                <a:solidFill>
                  <a:srgbClr val="14171A"/>
                </a:solidFill>
                <a:latin typeface="Calibri" pitchFamily="34" charset="0"/>
                <a:ea typeface="Calibri" pitchFamily="34" charset="-122"/>
                <a:cs typeface="Calibri" pitchFamily="34" charset="-120"/>
              </a:rPr>
              <a:t>ended with the industry regulating itself under the threat of government action, rather than in a law.</a:t>
            </a:r>
            <a:endParaRPr lang="en-US" sz="1300" dirty="0"/>
          </a:p>
        </p:txBody>
      </p:sp>
      <p:sp>
        <p:nvSpPr>
          <p:cNvPr id="8" name="Shape 6"/>
          <p:cNvSpPr/>
          <p:nvPr/>
        </p:nvSpPr>
        <p:spPr>
          <a:xfrm>
            <a:off x="4754880" y="1645920"/>
            <a:ext cx="384048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9" name="Text 7"/>
          <p:cNvSpPr/>
          <p:nvPr/>
        </p:nvSpPr>
        <p:spPr>
          <a:xfrm>
            <a:off x="4992624" y="1847088"/>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SECOND</a:t>
            </a:r>
            <a:endParaRPr lang="en-US" sz="900" dirty="0"/>
          </a:p>
        </p:txBody>
      </p:sp>
      <p:sp>
        <p:nvSpPr>
          <p:cNvPr id="10" name="Text 8"/>
          <p:cNvSpPr/>
          <p:nvPr/>
        </p:nvSpPr>
        <p:spPr>
          <a:xfrm>
            <a:off x="4992624" y="2139696"/>
            <a:ext cx="3364992" cy="1188720"/>
          </a:xfrm>
          <a:prstGeom prst="rect">
            <a:avLst/>
          </a:prstGeom>
          <a:noFill/>
          <a:ln/>
        </p:spPr>
        <p:txBody>
          <a:bodyPr wrap="square" lIns="0" tIns="0" rIns="0" bIns="0" rtlCol="0" anchor="t"/>
          <a:lstStyle/>
          <a:p>
            <a:pPr algn="l" indent="0" marL="0">
              <a:lnSpc>
                <a:spcPct val="116000"/>
              </a:lnSpc>
              <a:buNone/>
            </a:pPr>
            <a:r>
              <a:rPr lang="en-US" sz="1300" dirty="0">
                <a:solidFill>
                  <a:srgbClr val="3C444C"/>
                </a:solidFill>
                <a:latin typeface="Calibri" pitchFamily="34" charset="0"/>
                <a:ea typeface="Calibri" pitchFamily="34" charset="-122"/>
                <a:cs typeface="Calibri" pitchFamily="34" charset="-120"/>
              </a:rPr>
              <a:t>The strongest claims made during several of those arguments did not hold up later. The comic book research was largely discredited. The video game research is still contested.</a:t>
            </a:r>
            <a:endParaRPr lang="en-US" sz="1300" dirty="0"/>
          </a:p>
        </p:txBody>
      </p:sp>
      <p:sp>
        <p:nvSpPr>
          <p:cNvPr id="11" name="Text 9"/>
          <p:cNvSpPr/>
          <p:nvPr/>
        </p:nvSpPr>
        <p:spPr>
          <a:xfrm>
            <a:off x="548640" y="3749040"/>
            <a:ext cx="8046720" cy="64008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That history does not tell you the answer. It tells you that "this new thing is harming children" has been said before, sometimes correctly and sometimes not, and that the people saying it believed it either way.</a:t>
            </a:r>
            <a:endParaRPr lang="en-US" sz="13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SKILL FOCUS · USING A PRECEDENT</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Social media is not a comic book</a:t>
            </a:r>
            <a:endParaRPr lang="en-US" sz="3000" dirty="0"/>
          </a:p>
        </p:txBody>
      </p:sp>
      <p:sp>
        <p:nvSpPr>
          <p:cNvPr id="4" name="Shape 2"/>
          <p:cNvSpPr/>
          <p:nvPr/>
        </p:nvSpPr>
        <p:spPr>
          <a:xfrm>
            <a:off x="5486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865376"/>
            <a:ext cx="2121408"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mbria" pitchFamily="34" charset="0"/>
                <a:ea typeface="Cambria" pitchFamily="34" charset="-122"/>
                <a:cs typeface="Cambria" pitchFamily="34" charset="-120"/>
              </a:rPr>
              <a:t>It is personalized</a:t>
            </a:r>
            <a:endParaRPr lang="en-US" sz="1400" dirty="0"/>
          </a:p>
        </p:txBody>
      </p:sp>
      <p:sp>
        <p:nvSpPr>
          <p:cNvPr id="6" name="Text 4"/>
          <p:cNvSpPr/>
          <p:nvPr/>
        </p:nvSpPr>
        <p:spPr>
          <a:xfrm>
            <a:off x="7680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 comic book did not know who was holding it.</a:t>
            </a:r>
            <a:endParaRPr lang="en-US" sz="1250" dirty="0"/>
          </a:p>
        </p:txBody>
      </p:sp>
      <p:sp>
        <p:nvSpPr>
          <p:cNvPr id="7" name="Shape 5"/>
          <p:cNvSpPr/>
          <p:nvPr/>
        </p:nvSpPr>
        <p:spPr>
          <a:xfrm>
            <a:off x="32918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511296" y="1865376"/>
            <a:ext cx="2121408"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mbria" pitchFamily="34" charset="0"/>
                <a:ea typeface="Cambria" pitchFamily="34" charset="-122"/>
                <a:cs typeface="Cambria" pitchFamily="34" charset="-120"/>
              </a:rPr>
              <a:t>It is always with you</a:t>
            </a:r>
            <a:endParaRPr lang="en-US" sz="1400" dirty="0"/>
          </a:p>
        </p:txBody>
      </p:sp>
      <p:sp>
        <p:nvSpPr>
          <p:cNvPr id="9" name="Text 7"/>
          <p:cNvSpPr/>
          <p:nvPr/>
        </p:nvSpPr>
        <p:spPr>
          <a:xfrm>
            <a:off x="35112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It is not a thing you go to and then leave behind.</a:t>
            </a:r>
            <a:endParaRPr lang="en-US" sz="1250" dirty="0"/>
          </a:p>
        </p:txBody>
      </p:sp>
      <p:sp>
        <p:nvSpPr>
          <p:cNvPr id="10" name="Shape 8"/>
          <p:cNvSpPr/>
          <p:nvPr/>
        </p:nvSpPr>
        <p:spPr>
          <a:xfrm>
            <a:off x="60350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54496" y="1865376"/>
            <a:ext cx="2121408"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mbria" pitchFamily="34" charset="0"/>
                <a:ea typeface="Cambria" pitchFamily="34" charset="-122"/>
                <a:cs typeface="Cambria" pitchFamily="34" charset="-120"/>
              </a:rPr>
              <a:t>It responds to you</a:t>
            </a:r>
            <a:endParaRPr lang="en-US" sz="1400" dirty="0"/>
          </a:p>
        </p:txBody>
      </p:sp>
      <p:sp>
        <p:nvSpPr>
          <p:cNvPr id="12" name="Text 10"/>
          <p:cNvSpPr/>
          <p:nvPr/>
        </p:nvSpPr>
        <p:spPr>
          <a:xfrm>
            <a:off x="62544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What you do changes what it shows you next.</a:t>
            </a:r>
            <a:endParaRPr lang="en-US" sz="1250" dirty="0"/>
          </a:p>
        </p:txBody>
      </p:sp>
      <p:sp>
        <p:nvSpPr>
          <p:cNvPr id="13" name="Text 11"/>
          <p:cNvSpPr/>
          <p:nvPr/>
        </p:nvSpPr>
        <p:spPr>
          <a:xfrm>
            <a:off x="548640" y="3291840"/>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Any argument from precedent has to survive those three differences.</a:t>
            </a:r>
            <a:endParaRPr lang="en-US" sz="1800" dirty="0"/>
          </a:p>
        </p:txBody>
      </p:sp>
      <p:sp>
        <p:nvSpPr>
          <p:cNvPr id="14" name="Text 12"/>
          <p:cNvSpPr/>
          <p:nvPr/>
        </p:nvSpPr>
        <p:spPr>
          <a:xfrm>
            <a:off x="548640" y="3712464"/>
            <a:ext cx="8046720" cy="457200"/>
          </a:xfrm>
          <a:prstGeom prst="rect">
            <a:avLst/>
          </a:prstGeom>
          <a:noFill/>
          <a:ln/>
        </p:spPr>
        <p:txBody>
          <a:bodyPr wrap="square" lIns="0" tIns="0" rIns="0" bIns="0" rtlCol="0" anchor="t"/>
          <a:lstStyle/>
          <a:p>
            <a:pPr algn="l" indent="0" marL="0">
              <a:lnSpc>
                <a:spcPct val="114000"/>
              </a:lnSpc>
              <a:buNone/>
            </a:pPr>
            <a:r>
              <a:rPr lang="en-US" sz="1350" dirty="0">
                <a:solidFill>
                  <a:srgbClr val="3C444C"/>
                </a:solidFill>
                <a:latin typeface="Calibri" pitchFamily="34" charset="0"/>
                <a:ea typeface="Calibri" pitchFamily="34" charset="-122"/>
                <a:cs typeface="Calibri" pitchFamily="34" charset="-120"/>
              </a:rPr>
              <a:t>Using a precedent well means naming what is the same and what is different. Both halves, every time.</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ROAD NOT TAKEN</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One sentence, written in 1996</a:t>
            </a:r>
            <a:endParaRPr lang="en-US" sz="3000" dirty="0"/>
          </a:p>
        </p:txBody>
      </p:sp>
      <p:sp>
        <p:nvSpPr>
          <p:cNvPr id="4" name="Shape 2"/>
          <p:cNvSpPr/>
          <p:nvPr/>
        </p:nvSpPr>
        <p:spPr>
          <a:xfrm>
            <a:off x="548640" y="1517904"/>
            <a:ext cx="8046720" cy="859536"/>
          </a:xfrm>
          <a:prstGeom prst="roundRect">
            <a:avLst>
              <a:gd name="adj" fmla="val 6383"/>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17904"/>
            <a:ext cx="7498080" cy="859536"/>
          </a:xfrm>
          <a:prstGeom prst="rect">
            <a:avLst/>
          </a:prstGeom>
          <a:noFill/>
          <a:ln/>
        </p:spPr>
        <p:txBody>
          <a:bodyPr wrap="square" lIns="0" tIns="0" rIns="0" bIns="0" rtlCol="0" anchor="ctr"/>
          <a:lstStyle/>
          <a:p>
            <a:pPr algn="l" indent="0" marL="0">
              <a:lnSpc>
                <a:spcPct val="106000"/>
              </a:lnSpc>
              <a:buNone/>
            </a:pPr>
            <a:r>
              <a:rPr lang="en-US" sz="1800" i="1" dirty="0">
                <a:solidFill>
                  <a:srgbClr val="14171A"/>
                </a:solidFill>
                <a:latin typeface="Cambria" pitchFamily="34" charset="0"/>
                <a:ea typeface="Cambria" pitchFamily="34" charset="-122"/>
                <a:cs typeface="Cambria" pitchFamily="34" charset="-120"/>
              </a:rPr>
              <a:t>"A platform is generally not treated as the publisher of what its users post."</a:t>
            </a:r>
            <a:endParaRPr lang="en-US" sz="1800" dirty="0"/>
          </a:p>
        </p:txBody>
      </p:sp>
      <p:sp>
        <p:nvSpPr>
          <p:cNvPr id="6" name="Text 4"/>
          <p:cNvSpPr/>
          <p:nvPr/>
        </p:nvSpPr>
        <p:spPr>
          <a:xfrm>
            <a:off x="548640" y="2487168"/>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1996</a:t>
            </a:r>
            <a:endParaRPr lang="en-US" sz="1050" dirty="0"/>
          </a:p>
        </p:txBody>
      </p:sp>
      <p:sp>
        <p:nvSpPr>
          <p:cNvPr id="7" name="Text 5"/>
          <p:cNvSpPr/>
          <p:nvPr/>
        </p:nvSpPr>
        <p:spPr>
          <a:xfrm>
            <a:off x="1298448" y="2487168"/>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That sentence becomes part of Section 230 of the Communications Decency Act.</a:t>
            </a:r>
            <a:endParaRPr lang="en-US" sz="1250" dirty="0"/>
          </a:p>
        </p:txBody>
      </p:sp>
      <p:sp>
        <p:nvSpPr>
          <p:cNvPr id="8" name="Text 6"/>
          <p:cNvSpPr/>
          <p:nvPr/>
        </p:nvSpPr>
        <p:spPr>
          <a:xfrm>
            <a:off x="548640" y="2926080"/>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1997</a:t>
            </a:r>
            <a:endParaRPr lang="en-US" sz="1050" dirty="0"/>
          </a:p>
        </p:txBody>
      </p:sp>
      <p:sp>
        <p:nvSpPr>
          <p:cNvPr id="9" name="Text 7"/>
          <p:cNvSpPr/>
          <p:nvPr/>
        </p:nvSpPr>
        <p:spPr>
          <a:xfrm>
            <a:off x="1298448" y="2926080"/>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The Supreme Court strikes down the rest of the law for violating free speech. Section 230 survives.</a:t>
            </a:r>
            <a:endParaRPr lang="en-US" sz="1250" dirty="0"/>
          </a:p>
        </p:txBody>
      </p:sp>
      <p:sp>
        <p:nvSpPr>
          <p:cNvPr id="10" name="Text 8"/>
          <p:cNvSpPr/>
          <p:nvPr/>
        </p:nvSpPr>
        <p:spPr>
          <a:xfrm>
            <a:off x="548640" y="3364992"/>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Since</a:t>
            </a:r>
            <a:endParaRPr lang="en-US" sz="1050" dirty="0"/>
          </a:p>
        </p:txBody>
      </p:sp>
      <p:sp>
        <p:nvSpPr>
          <p:cNvPr id="11" name="Text 9"/>
          <p:cNvSpPr/>
          <p:nvPr/>
        </p:nvSpPr>
        <p:spPr>
          <a:xfrm>
            <a:off x="1298448" y="3364992"/>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Politicians in both parties have proposed repealing it or narrowing it, for opposite reasons.</a:t>
            </a:r>
            <a:endParaRPr lang="en-US" sz="1250" dirty="0"/>
          </a:p>
        </p:txBody>
      </p:sp>
      <p:sp>
        <p:nvSpPr>
          <p:cNvPr id="12" name="Text 10"/>
          <p:cNvSpPr/>
          <p:nvPr/>
        </p:nvSpPr>
        <p:spPr>
          <a:xfrm>
            <a:off x="548640" y="3803904"/>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Now</a:t>
            </a:r>
            <a:endParaRPr lang="en-US" sz="1050" dirty="0"/>
          </a:p>
        </p:txBody>
      </p:sp>
      <p:sp>
        <p:nvSpPr>
          <p:cNvPr id="13" name="Text 11"/>
          <p:cNvSpPr/>
          <p:nvPr/>
        </p:nvSpPr>
        <p:spPr>
          <a:xfrm>
            <a:off x="1298448" y="3803904"/>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It is still in place, and people are still arguing about it.</a:t>
            </a:r>
            <a:endParaRPr lang="en-US" sz="1250" dirty="0"/>
          </a:p>
        </p:txBody>
      </p:sp>
      <p:sp>
        <p:nvSpPr>
          <p:cNvPr id="14" name="Text 12"/>
          <p:cNvSpPr/>
          <p:nvPr/>
        </p:nvSpPr>
        <p:spPr>
          <a:xfrm>
            <a:off x="548640" y="4279392"/>
            <a:ext cx="8046720" cy="274320"/>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libri" pitchFamily="34" charset="0"/>
                <a:ea typeface="Calibri" pitchFamily="34" charset="-122"/>
                <a:cs typeface="Calibri" pitchFamily="34" charset="-120"/>
              </a:rPr>
              <a:t>The arrangement we have now was not inevitable.</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B1F"/>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SUMMARY</a:t>
            </a:r>
            <a:endParaRPr lang="en-US" sz="1000" dirty="0"/>
          </a:p>
        </p:txBody>
      </p:sp>
      <p:sp>
        <p:nvSpPr>
          <p:cNvPr id="3" name="Text 1"/>
          <p:cNvSpPr/>
          <p:nvPr/>
        </p:nvSpPr>
        <p:spPr>
          <a:xfrm>
            <a:off x="548640" y="694944"/>
            <a:ext cx="7863840" cy="694944"/>
          </a:xfrm>
          <a:prstGeom prst="rect">
            <a:avLst/>
          </a:prstGeom>
          <a:noFill/>
          <a:ln/>
        </p:spPr>
        <p:txBody>
          <a:bodyPr wrap="square" lIns="0" tIns="0" rIns="0" bIns="0" rtlCol="0" anchor="t"/>
          <a:lstStyle/>
          <a:p>
            <a:pPr algn="l" indent="0" marL="0">
              <a:lnSpc>
                <a:spcPct val="110000"/>
              </a:lnSpc>
              <a:buNone/>
            </a:pPr>
            <a:r>
              <a:rPr lang="en-US" sz="1850" b="1" dirty="0">
                <a:solidFill>
                  <a:srgbClr val="FFFEFB"/>
                </a:solidFill>
                <a:latin typeface="Cambria" pitchFamily="34" charset="0"/>
                <a:ea typeface="Cambria" pitchFamily="34" charset="-122"/>
                <a:cs typeface="Cambria" pitchFamily="34" charset="-120"/>
              </a:rPr>
              <a:t>There are three answers, and each one has a real case and a real cost. Your job today is not to win the argument.</a:t>
            </a:r>
            <a:endParaRPr lang="en-US" sz="1850" dirty="0"/>
          </a:p>
        </p:txBody>
      </p:sp>
      <p:sp>
        <p:nvSpPr>
          <p:cNvPr id="4" name="Shape 2"/>
          <p:cNvSpPr/>
          <p:nvPr/>
        </p:nvSpPr>
        <p:spPr>
          <a:xfrm>
            <a:off x="548640" y="1627632"/>
            <a:ext cx="8046720" cy="2395728"/>
          </a:xfrm>
          <a:prstGeom prst="roundRect">
            <a:avLst>
              <a:gd name="adj" fmla="val 2290"/>
            </a:avLst>
          </a:prstGeom>
          <a:solidFill>
            <a:srgbClr val="2B3238"/>
          </a:solidFill>
          <a:ln w="9525">
            <a:solidFill>
              <a:srgbClr val="2B3238"/>
            </a:solidFill>
            <a:prstDash val="solid"/>
          </a:ln>
        </p:spPr>
      </p:sp>
      <p:sp>
        <p:nvSpPr>
          <p:cNvPr id="5" name="Text 3"/>
          <p:cNvSpPr/>
          <p:nvPr/>
        </p:nvSpPr>
        <p:spPr>
          <a:xfrm>
            <a:off x="804672" y="1810512"/>
            <a:ext cx="7498080" cy="219456"/>
          </a:xfrm>
          <a:prstGeom prst="rect">
            <a:avLst/>
          </a:prstGeom>
          <a:noFill/>
          <a:ln/>
        </p:spPr>
        <p:txBody>
          <a:bodyPr wrap="square" lIns="0" tIns="0" rIns="0" bIns="0" rtlCol="0" anchor="t"/>
          <a:lstStyle/>
          <a:p>
            <a:pPr algn="l"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WHAT YOU WILL WRITE</a:t>
            </a:r>
            <a:endParaRPr lang="en-US" sz="900" dirty="0"/>
          </a:p>
        </p:txBody>
      </p:sp>
      <p:sp>
        <p:nvSpPr>
          <p:cNvPr id="6" name="Shape 4"/>
          <p:cNvSpPr/>
          <p:nvPr/>
        </p:nvSpPr>
        <p:spPr>
          <a:xfrm>
            <a:off x="804672" y="2176272"/>
            <a:ext cx="310896" cy="310896"/>
          </a:xfrm>
          <a:prstGeom prst="ellipse">
            <a:avLst/>
          </a:prstGeom>
          <a:solidFill>
            <a:srgbClr val="B22222"/>
          </a:solidFill>
          <a:ln w="12700">
            <a:solidFill>
              <a:srgbClr val="B22222"/>
            </a:solidFill>
            <a:prstDash val="solid"/>
          </a:ln>
        </p:spPr>
      </p:sp>
      <p:sp>
        <p:nvSpPr>
          <p:cNvPr id="7" name="Text 5"/>
          <p:cNvSpPr/>
          <p:nvPr/>
        </p:nvSpPr>
        <p:spPr>
          <a:xfrm>
            <a:off x="804672" y="217627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8" name="Text 6"/>
          <p:cNvSpPr/>
          <p:nvPr/>
        </p:nvSpPr>
        <p:spPr>
          <a:xfrm>
            <a:off x="1243584" y="2157984"/>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SYNTHESIZING PATTERNS</a:t>
            </a:r>
            <a:endParaRPr lang="en-US" sz="800" dirty="0"/>
          </a:p>
        </p:txBody>
      </p:sp>
      <p:sp>
        <p:nvSpPr>
          <p:cNvPr id="9" name="Text 7"/>
          <p:cNvSpPr/>
          <p:nvPr/>
        </p:nvSpPr>
        <p:spPr>
          <a:xfrm>
            <a:off x="1243584" y="2359152"/>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Choose the position you do not agree with. Write the strongest case for it, in your own words.</a:t>
            </a:r>
            <a:endParaRPr lang="en-US" sz="1200" dirty="0"/>
          </a:p>
        </p:txBody>
      </p:sp>
      <p:sp>
        <p:nvSpPr>
          <p:cNvPr id="10" name="Shape 8"/>
          <p:cNvSpPr/>
          <p:nvPr/>
        </p:nvSpPr>
        <p:spPr>
          <a:xfrm>
            <a:off x="804672" y="2798064"/>
            <a:ext cx="310896" cy="310896"/>
          </a:xfrm>
          <a:prstGeom prst="ellipse">
            <a:avLst/>
          </a:prstGeom>
          <a:solidFill>
            <a:srgbClr val="B22222"/>
          </a:solidFill>
          <a:ln w="12700">
            <a:solidFill>
              <a:srgbClr val="B22222"/>
            </a:solidFill>
            <a:prstDash val="solid"/>
          </a:ln>
        </p:spPr>
      </p:sp>
      <p:sp>
        <p:nvSpPr>
          <p:cNvPr id="11" name="Text 9"/>
          <p:cNvSpPr/>
          <p:nvPr/>
        </p:nvSpPr>
        <p:spPr>
          <a:xfrm>
            <a:off x="804672" y="2798064"/>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2" name="Text 10"/>
          <p:cNvSpPr/>
          <p:nvPr/>
        </p:nvSpPr>
        <p:spPr>
          <a:xfrm>
            <a:off x="1243584" y="2779776"/>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3" name="Text 11"/>
          <p:cNvSpPr/>
          <p:nvPr/>
        </p:nvSpPr>
        <p:spPr>
          <a:xfrm>
            <a:off x="1243584" y="2980944"/>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Choose one earlier argument: comic books, television, music lyrics, or video games. Describe what happened, then name one way social media is different from that medium.</a:t>
            </a:r>
            <a:endParaRPr lang="en-US" sz="1200" dirty="0"/>
          </a:p>
        </p:txBody>
      </p:sp>
      <p:sp>
        <p:nvSpPr>
          <p:cNvPr id="14" name="Shape 12"/>
          <p:cNvSpPr/>
          <p:nvPr/>
        </p:nvSpPr>
        <p:spPr>
          <a:xfrm>
            <a:off x="804672" y="3419856"/>
            <a:ext cx="310896" cy="310896"/>
          </a:xfrm>
          <a:prstGeom prst="ellipse">
            <a:avLst/>
          </a:prstGeom>
          <a:solidFill>
            <a:srgbClr val="B22222"/>
          </a:solidFill>
          <a:ln w="12700">
            <a:solidFill>
              <a:srgbClr val="B22222"/>
            </a:solidFill>
            <a:prstDash val="solid"/>
          </a:ln>
        </p:spPr>
      </p:sp>
      <p:sp>
        <p:nvSpPr>
          <p:cNvPr id="15" name="Text 13"/>
          <p:cNvSpPr/>
          <p:nvPr/>
        </p:nvSpPr>
        <p:spPr>
          <a:xfrm>
            <a:off x="804672" y="341985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1243584" y="3401568"/>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7" name="Text 15"/>
          <p:cNvSpPr/>
          <p:nvPr/>
        </p:nvSpPr>
        <p:spPr>
          <a:xfrm>
            <a:off x="1243584" y="3602736"/>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What evidence would change your mind about who should decide? Be specific enough that somebody could go looking for it.</a:t>
            </a:r>
            <a:endParaRPr lang="en-US" sz="1200" dirty="0"/>
          </a:p>
        </p:txBody>
      </p:sp>
      <p:sp>
        <p:nvSpPr>
          <p:cNvPr id="18" name="Text 16"/>
          <p:cNvSpPr/>
          <p:nvPr/>
        </p:nvSpPr>
        <p:spPr>
          <a:xfrm>
            <a:off x="548640" y="4114800"/>
            <a:ext cx="7863840" cy="310896"/>
          </a:xfrm>
          <a:prstGeom prst="rect">
            <a:avLst/>
          </a:prstGeom>
          <a:noFill/>
          <a:ln/>
        </p:spPr>
        <p:txBody>
          <a:bodyPr wrap="square" lIns="0" tIns="0" rIns="0" bIns="0" rtlCol="0" anchor="t"/>
          <a:lstStyle/>
          <a:p>
            <a:pPr algn="l" indent="0" marL="0">
              <a:lnSpc>
                <a:spcPct val="106000"/>
              </a:lnSpc>
              <a:buNone/>
            </a:pPr>
            <a:r>
              <a:rPr lang="en-US" sz="1500" i="1" dirty="0">
                <a:solidFill>
                  <a:srgbClr val="A8B2BA"/>
                </a:solidFill>
                <a:latin typeface="Cambria" pitchFamily="34" charset="0"/>
                <a:ea typeface="Cambria" pitchFamily="34" charset="-122"/>
                <a:cs typeface="Cambria" pitchFamily="34" charset="-120"/>
              </a:rPr>
              <a:t>State the other side well enough that somebody who holds it would say you got it right.</a:t>
            </a:r>
            <a:endParaRPr lang="en-US" sz="150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BeCurrent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Gets to Decide?, Social Media Topic 6</dc:title>
  <dc:subject>BeCurrent, Current Events</dc:subject>
  <dc:creator>BeCurrent</dc:creator>
  <cp:lastModifiedBy>BeCurrent</cp:lastModifiedBy>
  <cp:revision>1</cp:revision>
  <dcterms:created xsi:type="dcterms:W3CDTF">2026-08-20T19:24:09Z</dcterms:created>
  <dcterms:modified xsi:type="dcterms:W3CDTF">2026-08-20T19:24:09Z</dcterms:modified>
</cp:coreProperties>
</file>